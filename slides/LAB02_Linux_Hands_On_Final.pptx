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3097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10.png"/><Relationship Id="rId4" Type="http://schemas.openxmlformats.org/officeDocument/2006/relationships/image" Target="../media/image3.png"/><Relationship Id="rId9" Type="http://schemas.openxmlformats.org/officeDocument/2006/relationships/image" Target="../media/image12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228600"/>
            <a:ext cx="914400" cy="603504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246888"/>
            <a:ext cx="1005840" cy="51206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24688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40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COMP6991031   |   PRAKTIKUM 2   |   DEMO 90 MENIT</a:t>
            </a:r>
            <a:endParaRPr lang="en-US" sz="1400" dirty="0"/>
          </a:p>
        </p:txBody>
      </p:sp>
      <p:sp>
        <p:nvSpPr>
          <p:cNvPr id="5" name="Text 1"/>
          <p:cNvSpPr/>
          <p:nvPr/>
        </p:nvSpPr>
        <p:spPr>
          <a:xfrm>
            <a:off x="457200" y="27889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HANDS-ON</a:t>
            </a:r>
            <a:endParaRPr lang="en-US" sz="5000" dirty="0"/>
          </a:p>
        </p:txBody>
      </p:sp>
      <p:sp>
        <p:nvSpPr>
          <p:cNvPr id="6" name="Text 2"/>
          <p:cNvSpPr/>
          <p:nvPr/>
        </p:nvSpPr>
        <p:spPr>
          <a:xfrm>
            <a:off x="457200" y="36118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LINE FUNDAMENTALS</a:t>
            </a:r>
            <a:endParaRPr lang="en-US" sz="2600" dirty="0"/>
          </a:p>
        </p:txBody>
      </p:sp>
      <p:sp>
        <p:nvSpPr>
          <p:cNvPr id="7" name="Text 3"/>
          <p:cNvSpPr/>
          <p:nvPr/>
        </p:nvSpPr>
        <p:spPr>
          <a:xfrm>
            <a:off x="457200" y="425196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Navigasi, file dan log, permission, pipe, klasifikasi HTTP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5715000" y="4800600"/>
            <a:ext cx="731520" cy="54864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57200" y="49377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kern="0" spc="300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PERTEMUAN 2  |  LINUX FUNDAMENTALS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Budi Juarto, S.T., M.Kom.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457200" y="62179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Departemen Informatika  -  BINUS @Bandung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Praktikum 2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 Linux umum; tugas inti pada slide 32-36 dan modul repo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AKAN DIPELAJARI</a:t>
            </a:r>
            <a:endParaRPr lang="en-US" sz="11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20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Line Basics</a:t>
            </a:r>
            <a:endParaRPr lang="en-US" sz="11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34440" y="260604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 Bash (Git Bash, WSL, Linux, macOS, Codespaces)</a:t>
            </a:r>
            <a:endParaRPr lang="en-US" sz="11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64408"/>
            <a:ext cx="320040" cy="32004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3172968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Buat workspace dengan setup.sh dan inspeksi file</a:t>
            </a:r>
            <a:endParaRPr lang="en-US" sz="11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831336"/>
            <a:ext cx="320040" cy="32004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34440" y="3739896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 pwd, cd, ls, head, tail, grep</a:t>
            </a:r>
            <a:endParaRPr lang="en-US" sz="11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398264"/>
            <a:ext cx="320040" cy="32004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234440" y="430682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Buat artefak cp, mv, touch, pipe, redirect</a:t>
            </a:r>
            <a:endParaRPr lang="en-US" sz="1100" dirty="0"/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965192"/>
            <a:ext cx="320040" cy="320040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1234440" y="4873752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 check-status.sh dan baca izin execute</a:t>
            </a:r>
            <a:endParaRPr lang="en-US" sz="1100" dirty="0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532120"/>
            <a:ext cx="320040" cy="320040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1234440" y="54406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Jalankan verify.sh sampai 0 gagal</a:t>
            </a:r>
            <a:endParaRPr lang="en-US" sz="1100" dirty="0"/>
          </a:p>
        </p:txBody>
      </p:sp>
      <p:sp>
        <p:nvSpPr>
          <p:cNvPr id="24" name="Shape 14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5" name="Text 15"/>
          <p:cNvSpPr/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</a:t>
            </a:r>
            <a:endParaRPr lang="en-US" sz="11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Dikumpul</a:t>
            </a:r>
            <a:endParaRPr lang="en-US" sz="1100" dirty="0"/>
          </a:p>
        </p:txBody>
      </p:sp>
      <p:sp>
        <p:nvSpPr>
          <p:cNvPr id="26" name="Text 16"/>
          <p:cNvSpPr/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2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URL repo pribadi meet2CloudService
2. workspace/ berisi lima artefak tugas
3. check-status.sh dan Hasil: 0 gagal
4. hasil/lab02.md dan bukti screenshot
5. Jawaban lima pertanyaan modul mahasiswa</a:t>
            </a:r>
            <a:endParaRPr lang="en-US" sz="1200" dirty="0"/>
          </a:p>
        </p:txBody>
      </p:sp>
      <p:sp>
        <p:nvSpPr>
          <p:cNvPr id="27" name="Shape 17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8" name="Text 18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Waktu kumpul mengikuti LMS/dosen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Pra-requisite - Pilih 1 Path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Pilih Bash yang tersedia; Git Bash cukup untuk lab inti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370332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3703320" cy="9144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94360" y="150876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594360" y="178308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640080" y="2468880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Bash / WSL2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640080" y="2834640"/>
            <a:ext cx="33375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Windows: Git Bash paling cepat; WSL2 juga didukung.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40080" y="4114800"/>
            <a:ext cx="3337560" cy="36576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40080" y="41148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Gunakan yang sudah siap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640080" y="4572000"/>
            <a:ext cx="3337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Pros: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640080" y="480060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Bash siap pakai
+ File kerja lokal
+ Tidak perlu Docker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640080" y="5806440"/>
            <a:ext cx="333756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57200" y="58064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SEMUA JALUR VALID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4297680" y="1417320"/>
            <a:ext cx="370332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4297680" y="1417320"/>
            <a:ext cx="3703320" cy="9144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4434840" y="150876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4434840" y="178308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</a:t>
            </a:r>
            <a:endParaRPr lang="en-US" sz="2200" dirty="0"/>
          </a:p>
        </p:txBody>
      </p:sp>
      <p:sp>
        <p:nvSpPr>
          <p:cNvPr id="26" name="Text 22"/>
          <p:cNvSpPr/>
          <p:nvPr/>
        </p:nvSpPr>
        <p:spPr>
          <a:xfrm>
            <a:off x="4480560" y="2468880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Native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4480560" y="2834640"/>
            <a:ext cx="33375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BSD Unix-based - terminal sudah ada di Applications/Utilities.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4480560" y="4114800"/>
            <a:ext cx="3337560" cy="36576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4480560" y="41148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0 menit</a:t>
            </a:r>
            <a:endParaRPr lang="en-US" sz="1100" dirty="0"/>
          </a:p>
        </p:txBody>
      </p:sp>
      <p:sp>
        <p:nvSpPr>
          <p:cNvPr id="30" name="Text 26"/>
          <p:cNvSpPr/>
          <p:nvPr/>
        </p:nvSpPr>
        <p:spPr>
          <a:xfrm>
            <a:off x="4480560" y="4572000"/>
            <a:ext cx="3337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Pros: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4480560" y="480060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Sudah install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Familiar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BSD = mostly compatible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4480560" y="5806440"/>
            <a:ext cx="333756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4297680" y="58064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- START HERE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8138160" y="1417320"/>
            <a:ext cx="370332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8138160" y="1417320"/>
            <a:ext cx="3703320" cy="914400"/>
          </a:xfrm>
          <a:prstGeom prst="rect">
            <a:avLst/>
          </a:prstGeom>
          <a:solidFill>
            <a:srgbClr val="238636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8275320" y="150876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8275320" y="178308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OS</a:t>
            </a:r>
            <a:endParaRPr lang="en-US" sz="2200" dirty="0"/>
          </a:p>
        </p:txBody>
      </p:sp>
      <p:sp>
        <p:nvSpPr>
          <p:cNvPr id="38" name="Text 34"/>
          <p:cNvSpPr/>
          <p:nvPr/>
        </p:nvSpPr>
        <p:spPr>
          <a:xfrm>
            <a:off x="8321040" y="2468880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Codespaces</a:t>
            </a:r>
            <a:endParaRPr lang="en-US" sz="1400" dirty="0"/>
          </a:p>
        </p:txBody>
      </p:sp>
      <p:sp>
        <p:nvSpPr>
          <p:cNvPr id="39" name="Text 35"/>
          <p:cNvSpPr/>
          <p:nvPr/>
        </p:nvSpPr>
        <p:spPr>
          <a:xfrm>
            <a:off x="8321040" y="2834640"/>
            <a:ext cx="33375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full di browser - pakai akun GitHub Anda dari Praktikum 1.</a:t>
            </a:r>
            <a:endParaRPr lang="en-US" sz="1100" dirty="0"/>
          </a:p>
        </p:txBody>
      </p:sp>
      <p:sp>
        <p:nvSpPr>
          <p:cNvPr id="40" name="Shape 36"/>
          <p:cNvSpPr/>
          <p:nvPr/>
        </p:nvSpPr>
        <p:spPr>
          <a:xfrm>
            <a:off x="8321040" y="4114800"/>
            <a:ext cx="3337560" cy="36576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8321040" y="41148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2 menit</a:t>
            </a:r>
            <a:endParaRPr lang="en-US" sz="1100" dirty="0"/>
          </a:p>
        </p:txBody>
      </p:sp>
      <p:sp>
        <p:nvSpPr>
          <p:cNvPr id="42" name="Text 38"/>
          <p:cNvSpPr/>
          <p:nvPr/>
        </p:nvSpPr>
        <p:spPr>
          <a:xfrm>
            <a:off x="8321040" y="4572000"/>
            <a:ext cx="3337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Pros:</a:t>
            </a:r>
            <a:endParaRPr lang="en-US" sz="1000" dirty="0"/>
          </a:p>
        </p:txBody>
      </p:sp>
      <p:sp>
        <p:nvSpPr>
          <p:cNvPr id="43" name="Text 39"/>
          <p:cNvSpPr/>
          <p:nvPr/>
        </p:nvSpPr>
        <p:spPr>
          <a:xfrm>
            <a:off x="8321040" y="480060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Browser Linux  | + Akses repo GitHub  | + Alternatif jika lokal macet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6400800" cy="6400800"/>
          </a:xfrm>
          <a:prstGeom prst="ellipse">
            <a:avLst/>
          </a:prstGeom>
          <a:solidFill>
            <a:srgbClr val="1565C0">
              <a:alpha val="25000"/>
            </a:srgbClr>
          </a:solidFill>
          <a:ln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914400"/>
            <a:ext cx="7315200" cy="7315200"/>
          </a:xfrm>
          <a:prstGeom prst="ellipse">
            <a:avLst/>
          </a:prstGeom>
          <a:solidFill>
            <a:srgbClr val="1976D2">
              <a:alpha val="20000"/>
            </a:srgbClr>
          </a:solidFill>
          <a:ln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8100000">
            <a:off x="5852160" y="-182880"/>
            <a:ext cx="1188720" cy="1188720"/>
          </a:xfrm>
          <a:prstGeom prst="rtTriangl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5080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56248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57416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57200" y="4114800"/>
            <a:ext cx="3657600" cy="1828800"/>
          </a:xfrm>
          <a:prstGeom prst="line">
            <a:avLst/>
          </a:prstGeom>
          <a:noFill/>
          <a:ln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28600"/>
            <a:ext cx="914400" cy="603504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246888"/>
            <a:ext cx="1005840" cy="5120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2560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6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01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57200" y="301752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Linux</a:t>
            </a:r>
            <a:endParaRPr lang="en-US" sz="5200" dirty="0"/>
          </a:p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5200" dirty="0"/>
          </a:p>
        </p:txBody>
      </p:sp>
      <p:sp>
        <p:nvSpPr>
          <p:cNvPr id="13" name="Shape 9"/>
          <p:cNvSpPr/>
          <p:nvPr/>
        </p:nvSpPr>
        <p:spPr>
          <a:xfrm>
            <a:off x="5715000" y="5029200"/>
            <a:ext cx="731520" cy="54864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57200" y="52120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Pilih path Anda + ikuti setup sebelum 15 menit pertama habis.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- WSL2 Install (Windows 10/11)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Sekali install, dipakai selamanya. Butuh ~15 menit.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PowerShell - run as Administrator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Klik Start -&gt; ketik 'PowerShell'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Klik kanan -&gt; 'Run as administrator'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Install WSL + Ubuntu (default):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PS&gt;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wsl --install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Installing: Virtual Machine Platform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Installing: Windows Subsystem for Linux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Installing: Ubuntu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requested operation is successful.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Changes will not be effective until reboot.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REBOOT laptop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PS&gt;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Restart-Computer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Setelah reboot - Ubuntu auto-launch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Pertama kali butuh ~2 menit setup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5. Isi user + password Linux: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Enter new UNIX username: 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budi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 password: 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********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Welcome to Ubuntu 24.04 LTS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budi@laptop:~$ _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0" y="1554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Verifikasi Berhasil</a:t>
            </a:r>
            <a:endParaRPr lang="en-US" sz="14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2148840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858000" y="207568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Ubuntu terbuka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6858000" y="235000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Prompt: user@hostname:~$</a:t>
            </a:r>
            <a:endParaRPr lang="en-US" sz="950" dirty="0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2788920"/>
            <a:ext cx="320040" cy="3200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858000" y="271576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Cek versi Ubuntu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6858000" y="299008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lsb_release -a</a:t>
            </a:r>
            <a:endParaRPr lang="en-US" sz="95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429000"/>
            <a:ext cx="320040" cy="32004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6858000" y="335584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Cek versi WSL</a:t>
            </a:r>
            <a:endParaRPr lang="en-US" sz="1100" dirty="0"/>
          </a:p>
        </p:txBody>
      </p:sp>
      <p:sp>
        <p:nvSpPr>
          <p:cNvPr id="27" name="Text 20"/>
          <p:cNvSpPr/>
          <p:nvPr/>
        </p:nvSpPr>
        <p:spPr>
          <a:xfrm>
            <a:off x="6858000" y="363016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PS&gt; wsl --version</a:t>
            </a:r>
            <a:endParaRPr lang="en-US" sz="950" dirty="0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4069080"/>
            <a:ext cx="320040" cy="320040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6858000" y="399592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package list</a:t>
            </a:r>
            <a:endParaRPr lang="en-US" sz="1100" dirty="0"/>
          </a:p>
        </p:txBody>
      </p:sp>
      <p:sp>
        <p:nvSpPr>
          <p:cNvPr id="30" name="Text 22"/>
          <p:cNvSpPr/>
          <p:nvPr/>
        </p:nvSpPr>
        <p:spPr>
          <a:xfrm>
            <a:off x="6858000" y="427024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sudo apt update</a:t>
            </a:r>
            <a:endParaRPr lang="en-US" sz="950" dirty="0"/>
          </a:p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4709160"/>
            <a:ext cx="320040" cy="320040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6858000" y="46360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Kalau 'WSL2 requires Hyper-V'</a:t>
            </a:r>
            <a:endParaRPr lang="en-US" sz="1100" dirty="0"/>
          </a:p>
        </p:txBody>
      </p:sp>
      <p:sp>
        <p:nvSpPr>
          <p:cNvPr id="33" name="Text 24"/>
          <p:cNvSpPr/>
          <p:nvPr/>
        </p:nvSpPr>
        <p:spPr>
          <a:xfrm>
            <a:off x="6858000" y="491032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BIOS -&gt; enable virtualization (VT-x)</a:t>
            </a:r>
            <a:endParaRPr lang="en-US" sz="950" dirty="0"/>
          </a:p>
        </p:txBody>
      </p:sp>
      <p:pic>
        <p:nvPicPr>
          <p:cNvPr id="34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5349240"/>
            <a:ext cx="320040" cy="320040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6858000" y="527608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Kalau bingung, panggil dosen</a:t>
            </a:r>
            <a:endParaRPr lang="en-US" sz="1100" dirty="0"/>
          </a:p>
        </p:txBody>
      </p:sp>
      <p:sp>
        <p:nvSpPr>
          <p:cNvPr id="36" name="Text 26"/>
          <p:cNvSpPr/>
          <p:nvPr/>
        </p:nvSpPr>
        <p:spPr>
          <a:xfrm>
            <a:off x="6858000" y="555040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Hubungi dosen atau kanal LMS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- macOS / Path C - GitHub Codespaces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sudah punya terminal; Codespaces dapat dipakai dari repo pribadi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 B - macOS Terminal (Mac users)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>
                <a:solidFill>
                  <a:srgbClr val="E2E8F0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# 1. Cmd + Space &gt; Terminal
#    Atau Applications &gt; Utilities &gt; Terminal
# 2. Periksa shell dan Bash
echo $SHELL
bash --version
# 3. Clone repo pribadi Lab 02
git clone https://github.com/USERNAME/NAMA-REPO.git
cd NAMA-REPO
# 4. Buat data latihan
bash scripts/setup.sh
bash scripts/inspect.sh
# Utilitas bawaan macOS cukup untuk tugas inti.</a:t>
            </a:r>
            <a:endParaRPr lang="en-US" sz="1300" dirty="0">
              <a:solidFill>
                <a:srgbClr val="E2E8F0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 C - GitHub Codespaces (Backup)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>
                <a:solidFill>
                  <a:srgbClr val="E2E8F0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# 1. Buka repo pribadi meet2CloudService di GitHub.
# 2. Buka Codespace untuk repo itu dari menu Code.
# 3. Di VS Code browser, buka Terminal &gt; New Terminal.
# 4. Pastikan pwd menunjuk root repo Lab 02.
# 5. Jalankan bash scripts/setup.sh dan inspect.sh.
# 6. Simpan hasil dengan git commit/push.
Kuota dan batas waktu Codespaces mengikuti akun Anda.
Hentikan Codespace setelah kelas bila tidak dipakai.</a:t>
            </a:r>
            <a:endParaRPr lang="en-US" sz="1300" dirty="0">
              <a:solidFill>
                <a:srgbClr val="E2E8F0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6400800" cy="6400800"/>
          </a:xfrm>
          <a:prstGeom prst="ellipse">
            <a:avLst/>
          </a:prstGeom>
          <a:solidFill>
            <a:srgbClr val="1565C0">
              <a:alpha val="25000"/>
            </a:srgbClr>
          </a:solidFill>
          <a:ln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914400"/>
            <a:ext cx="7315200" cy="7315200"/>
          </a:xfrm>
          <a:prstGeom prst="ellipse">
            <a:avLst/>
          </a:prstGeom>
          <a:solidFill>
            <a:srgbClr val="1976D2">
              <a:alpha val="20000"/>
            </a:srgbClr>
          </a:solidFill>
          <a:ln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8100000">
            <a:off x="5852160" y="-182880"/>
            <a:ext cx="1188720" cy="1188720"/>
          </a:xfrm>
          <a:prstGeom prst="rtTriangl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5080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56248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57416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57200" y="4114800"/>
            <a:ext cx="3657600" cy="1828800"/>
          </a:xfrm>
          <a:prstGeom prst="line">
            <a:avLst/>
          </a:prstGeom>
          <a:noFill/>
          <a:ln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28600"/>
            <a:ext cx="914400" cy="603504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246888"/>
            <a:ext cx="1005840" cy="5120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2560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6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02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57200" y="301752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&amp;</a:t>
            </a:r>
            <a:endParaRPr lang="en-US" sz="5200" dirty="0"/>
          </a:p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Ops</a:t>
            </a:r>
            <a:endParaRPr lang="en-US" sz="5200" dirty="0"/>
          </a:p>
        </p:txBody>
      </p:sp>
      <p:sp>
        <p:nvSpPr>
          <p:cNvPr id="13" name="Shape 9"/>
          <p:cNvSpPr/>
          <p:nvPr/>
        </p:nvSpPr>
        <p:spPr>
          <a:xfrm>
            <a:off x="5715000" y="5029200"/>
            <a:ext cx="731520" cy="54864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57200" y="52120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sv-SE" sz="1400" i="1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Pengayaan konsep Linux; tugas inti dan bukti ada di slide 32-36.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 1 - Navigation (10 menit)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pwd, ls, cd - command yang paling sering dipakai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84632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Ketik command satu per satu, observe output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Cek lokasi sekarang (Print Working Directory)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pwd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/home/budi  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&lt;- ini home directory Anda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Lihat isi folder current (List)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Desktop  Documents  Downloads  Music  Pictures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ls dengan detail (long format) + hidden file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-la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drwxr-xr-x  5 budi budi  4096 May 16 10:00 .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drwxr-xr-x 22 root root  4096 May 16 09:50 ..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-rw-r--r--  1 budi budi   220 May 16 09:50 .bashrc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-rw-r--r--  1 budi budi   807 May 16 09:50 .profile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Pindah ke folder (Change Directory)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Documents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pwd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/home/budi/Documents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5. Shortcut yang sering dipakai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..</a:t>
            </a: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&lt;- naik 1 level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~</a:t>
            </a: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&lt;- balik ke home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-</a:t>
            </a: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&lt;- balik ke folder sebelumnya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/</a:t>
            </a: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&lt;- ke root filesystem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 2 - Create &amp; Manipulasi File (10 menit)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mkdir, touch, cat, echo, cp, mv, rm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Bagian A - Create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Pastikan di home dulu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~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Buat folder baru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prak2-linux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prak2-linux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Buat file kosong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touch notes.txt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notes.txt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Isi file dengan echo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"Hello Linux!" &gt; notes.txt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Append (tambah baris) - pakai &gt;&gt;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"Praktikum 2" &gt;&gt; notes.txt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"Nama: [Anda]" &gt;&gt; notes.txt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5. Lihat isi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 notes.txt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Hello Linux!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Praktikum 2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Nama: [Anda]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Bagian B - Copy, Move, Delete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Copy file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 notes.txt notes-backup.txt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notes-backup.txt  notes.txt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Rename / Move file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 notes-backup.txt backup.txt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backup.txt  notes.txt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Buat subfolder + pindahkan file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arsip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 backup.txt arsip/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arsip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backup.txt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Hapus file - HATI-HATI no undo!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 arsip/backup.txt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5. Hapus folder (kosong)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rmdir arsip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Hapus folder + isinya: rm -r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JANGAN PERNAH: rm -rf /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 3 - Baca File (8 menit)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Gunakan docs/ dan logs/ dari repo; tidak perlu unduh data eksternal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84632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latihan dibuat oleh scripts/setup.sh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>
                <a:solidFill>
                  <a:srgbClr val="E2E8F0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# Dari root repo pribadi Lab 02
bash scripts/setup.sh
cd workspace
# 1. Baca file kecil
cat docs/readme.txt
# 2. Awal CSV dan akhir log
head -n 2 docs/requests.csv
tail -n 2 logs/app.log
# 3. Pembaca bertahap (tekan q untuk keluar)
less logs/app.log
# 4. Pilih baris error
grep 'ERROR' logs/app.log
# Path relatif dihitung dari workspace/</a:t>
            </a:r>
            <a:endParaRPr lang="en-US" sz="1300" dirty="0">
              <a:solidFill>
                <a:srgbClr val="E2E8F0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 4 - Edit File dengan nano (5 menit)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nano = editor termudah. vim untuk yang sudah comfortable.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nano - editor terminal beginner-friendly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Buka file dengan nano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nano notes.txt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Layar editor terbuka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+-----------------------------+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GNU nano 7.2     notes.txt  |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                           |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Hello Linux!                |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Praktikum 2                 |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Nama: [Anda]                |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                           |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^G Help  ^X Exit  ^O Save   |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+-----------------------------+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Edit text seperti biasa (arrow keys)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Tambah baris: NIM: [Anda]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Shortcut PENTING: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Ctrl+O = save file (write Out)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Ctrl+X = exit nano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Ctrl+K = cut line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Ctrl+W = search (Where)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Ctrl+G = help screen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Symbol ^ di nano = Ctrl key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0" y="1554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- vim Quick Survival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6400800" y="19202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vim lebih powerful tapi steep learning curve - basic survival kit: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6400800" y="2468880"/>
            <a:ext cx="5120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537960" y="24688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vim file.txt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8229600" y="24688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 file dengan vim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6400800" y="2926080"/>
            <a:ext cx="5120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537960" y="29260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8229600" y="29260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Masuk INSERT mode (bisa ketik)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400800" y="3383280"/>
            <a:ext cx="5120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537960" y="33832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Esc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8229600" y="33832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Kembali ke NORMAL mode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6400800" y="3840480"/>
            <a:ext cx="5120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6537960" y="38404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:w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8229600" y="38404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file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6400800" y="4297680"/>
            <a:ext cx="5120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6537960" y="4297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:q</a:t>
            </a:r>
            <a:endParaRPr lang="en-US" sz="1100" dirty="0"/>
          </a:p>
        </p:txBody>
      </p:sp>
      <p:sp>
        <p:nvSpPr>
          <p:cNvPr id="34" name="Text 30"/>
          <p:cNvSpPr/>
          <p:nvPr/>
        </p:nvSpPr>
        <p:spPr>
          <a:xfrm>
            <a:off x="8229600" y="42976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Quit (kalau ada perubahan: q!)</a:t>
            </a:r>
            <a:endParaRPr lang="en-US" sz="1000" dirty="0"/>
          </a:p>
        </p:txBody>
      </p:sp>
      <p:sp>
        <p:nvSpPr>
          <p:cNvPr id="35" name="Shape 31"/>
          <p:cNvSpPr/>
          <p:nvPr/>
        </p:nvSpPr>
        <p:spPr>
          <a:xfrm>
            <a:off x="6400800" y="4754880"/>
            <a:ext cx="5120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6537960" y="47548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:wq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8229600" y="47548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&amp; quit sekaligus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6400800" y="5212080"/>
            <a:ext cx="5120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537960" y="52120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/text</a:t>
            </a:r>
            <a:endParaRPr lang="en-US" sz="1100" dirty="0"/>
          </a:p>
        </p:txBody>
      </p:sp>
      <p:sp>
        <p:nvSpPr>
          <p:cNvPr id="40" name="Text 36"/>
          <p:cNvSpPr/>
          <p:nvPr/>
        </p:nvSpPr>
        <p:spPr>
          <a:xfrm>
            <a:off x="8229600" y="52120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'text'</a:t>
            </a:r>
            <a:endParaRPr lang="en-US" sz="1000" dirty="0"/>
          </a:p>
        </p:txBody>
      </p:sp>
      <p:sp>
        <p:nvSpPr>
          <p:cNvPr id="41" name="Shape 37"/>
          <p:cNvSpPr/>
          <p:nvPr/>
        </p:nvSpPr>
        <p:spPr>
          <a:xfrm>
            <a:off x="6400800" y="5669280"/>
            <a:ext cx="5120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6537960" y="56692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dd</a:t>
            </a:r>
            <a:endParaRPr lang="en-US" sz="1100" dirty="0"/>
          </a:p>
        </p:txBody>
      </p:sp>
      <p:sp>
        <p:nvSpPr>
          <p:cNvPr id="43" name="Text 39"/>
          <p:cNvSpPr/>
          <p:nvPr/>
        </p:nvSpPr>
        <p:spPr>
          <a:xfrm>
            <a:off x="8229600" y="56692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1 line di NORMAL mode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6400800" cy="6400800"/>
          </a:xfrm>
          <a:prstGeom prst="ellipse">
            <a:avLst/>
          </a:prstGeom>
          <a:solidFill>
            <a:srgbClr val="1565C0">
              <a:alpha val="25000"/>
            </a:srgbClr>
          </a:solidFill>
          <a:ln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914400"/>
            <a:ext cx="7315200" cy="7315200"/>
          </a:xfrm>
          <a:prstGeom prst="ellipse">
            <a:avLst/>
          </a:prstGeom>
          <a:solidFill>
            <a:srgbClr val="1976D2">
              <a:alpha val="20000"/>
            </a:srgbClr>
          </a:solidFill>
          <a:ln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8100000">
            <a:off x="5852160" y="-182880"/>
            <a:ext cx="1188720" cy="1188720"/>
          </a:xfrm>
          <a:prstGeom prst="rtTriangl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5080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56248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57416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57200" y="4114800"/>
            <a:ext cx="3657600" cy="1828800"/>
          </a:xfrm>
          <a:prstGeom prst="line">
            <a:avLst/>
          </a:prstGeom>
          <a:noFill/>
          <a:ln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28600"/>
            <a:ext cx="914400" cy="603504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246888"/>
            <a:ext cx="1005840" cy="5120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2560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6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03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57200" y="301752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5200" dirty="0"/>
          </a:p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Ownership</a:t>
            </a:r>
            <a:endParaRPr lang="en-US" sz="5200" dirty="0"/>
          </a:p>
        </p:txBody>
      </p:sp>
      <p:sp>
        <p:nvSpPr>
          <p:cNvPr id="13" name="Shape 9"/>
          <p:cNvSpPr/>
          <p:nvPr/>
        </p:nvSpPr>
        <p:spPr>
          <a:xfrm>
            <a:off x="5715000" y="5029200"/>
            <a:ext cx="731520" cy="54864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57200" y="52120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 siapa bisa read/write/execute file - foundation security Linux.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 5 - Anatomi 'ls -l' Output (5 menit)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karakter di kolom permission punya arti spesifik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210312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-l output - dari command sebelumnya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10972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-l notes.txt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-rw-r--r--  1  budi  budi  47  May 16 10:00  notes.txt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|||||||||||   |    |     |    |       |          |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|||||||||||   |    |     |    |       |          file name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|||||||||||   |    |     |    |       last modified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|||||||||||   |    |     |    size (bytes)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|||||||||||   |    |     group owner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|||||||||||   |    user owner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|||||||||||   number of hard links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+--+--+--+--- permissions (10 char)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57200" y="3611880"/>
            <a:ext cx="11247120" cy="26517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" y="3703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Breakdown 10 Karakter Permission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640080" y="4160520"/>
            <a:ext cx="10972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40080" y="4160520"/>
            <a:ext cx="137160" cy="45720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868680" y="41605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 1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1874520" y="41605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Tipe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4526280" y="4206240"/>
            <a:ext cx="914400" cy="3657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4526280" y="4206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5577840" y="416052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= file, d = directory, l = symlink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40080" y="4663440"/>
            <a:ext cx="10972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40080" y="4663440"/>
            <a:ext cx="137160" cy="4572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868680" y="46634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 2-4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1874520" y="4663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(User)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4526280" y="4709160"/>
            <a:ext cx="914400" cy="3657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4526280" y="47091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rw-</a:t>
            </a:r>
            <a:endParaRPr lang="en-US" sz="1200" dirty="0"/>
          </a:p>
        </p:txBody>
      </p:sp>
      <p:sp>
        <p:nvSpPr>
          <p:cNvPr id="32" name="Text 28"/>
          <p:cNvSpPr/>
          <p:nvPr/>
        </p:nvSpPr>
        <p:spPr>
          <a:xfrm>
            <a:off x="5577840" y="466344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r=read, w=write, x=execute (- = no permission)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40080" y="5166360"/>
            <a:ext cx="10972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40080" y="5166360"/>
            <a:ext cx="137160" cy="457200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868680" y="51663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 5-7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1874520" y="51663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4526280" y="5212080"/>
            <a:ext cx="914400" cy="3657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4526280" y="5212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r--</a:t>
            </a:r>
            <a:endParaRPr lang="en-US" sz="1200" dirty="0"/>
          </a:p>
        </p:txBody>
      </p:sp>
      <p:sp>
        <p:nvSpPr>
          <p:cNvPr id="39" name="Text 35"/>
          <p:cNvSpPr/>
          <p:nvPr/>
        </p:nvSpPr>
        <p:spPr>
          <a:xfrm>
            <a:off x="5577840" y="516636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untuk anggota group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640080" y="5669280"/>
            <a:ext cx="137160" cy="4572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868680" y="56692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 8-10</a:t>
            </a:r>
            <a:endParaRPr lang="en-US" sz="1000" dirty="0"/>
          </a:p>
        </p:txBody>
      </p:sp>
      <p:sp>
        <p:nvSpPr>
          <p:cNvPr id="43" name="Text 39"/>
          <p:cNvSpPr/>
          <p:nvPr/>
        </p:nvSpPr>
        <p:spPr>
          <a:xfrm>
            <a:off x="1874520" y="5669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Others (everyone)</a:t>
            </a:r>
            <a:endParaRPr lang="en-US" sz="1100" dirty="0"/>
          </a:p>
        </p:txBody>
      </p:sp>
      <p:sp>
        <p:nvSpPr>
          <p:cNvPr id="44" name="Shape 40"/>
          <p:cNvSpPr/>
          <p:nvPr/>
        </p:nvSpPr>
        <p:spPr>
          <a:xfrm>
            <a:off x="4526280" y="5715000"/>
            <a:ext cx="914400" cy="3657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45" name="Text 41"/>
          <p:cNvSpPr/>
          <p:nvPr/>
        </p:nvSpPr>
        <p:spPr>
          <a:xfrm>
            <a:off x="4526280" y="57150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r--</a:t>
            </a:r>
            <a:endParaRPr lang="en-US" sz="1200" dirty="0"/>
          </a:p>
        </p:txBody>
      </p:sp>
      <p:sp>
        <p:nvSpPr>
          <p:cNvPr id="46" name="Text 42"/>
          <p:cNvSpPr/>
          <p:nvPr/>
        </p:nvSpPr>
        <p:spPr>
          <a:xfrm>
            <a:off x="5577840" y="56692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untuk semua user lain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 6 - chmod &amp; chown (10 menit)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Ubah permission + ownership file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chmod - dua cara: symbolic atau octal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Cek permission awal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-l notes.txt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-rw-r--r-- 1 budi budi 47 ... notes.txt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CARA 1: Symbolic (mudah dibaca)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chmod u+x notes.txt</a:t>
            </a: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User: tambah execute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chmod g-r notes.txt</a:t>
            </a: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Group: hapus read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chmod o=rw notes.txt</a:t>
            </a: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Others: set jadi rw saja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CARA 2: Octal (lebih cepat ketik)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chmod 644 notes.txt</a:t>
            </a: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rw-r--r-- (default file)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chmod 755 script.sh</a:t>
            </a: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rwxr-xr-x (default script)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chmod 700 secret.txt</a:t>
            </a: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rwx------ (private)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chmod 777 public/</a:t>
            </a: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rwxrwxrwx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HINDARI 777 - terlalu open!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0" y="1554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Octal Permission Cheat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6400800" y="19202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digit = rwx jadi binary 4+2+1: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400800" y="2423160"/>
            <a:ext cx="5120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537960" y="24231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7040880" y="24231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111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7909560" y="24231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rwx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8778240" y="24231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access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6400800" y="2834640"/>
            <a:ext cx="5120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537960" y="28346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7040880" y="28346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110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7909560" y="28346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rw-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8778240" y="283464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+ write (default file)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6400800" y="3246120"/>
            <a:ext cx="5120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537960" y="32461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28"/>
          <p:cNvSpPr/>
          <p:nvPr/>
        </p:nvSpPr>
        <p:spPr>
          <a:xfrm>
            <a:off x="7040880" y="32461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101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7909560" y="32461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r-x</a:t>
            </a:r>
            <a:endParaRPr lang="en-US" sz="1100" dirty="0"/>
          </a:p>
        </p:txBody>
      </p:sp>
      <p:sp>
        <p:nvSpPr>
          <p:cNvPr id="34" name="Text 30"/>
          <p:cNvSpPr/>
          <p:nvPr/>
        </p:nvSpPr>
        <p:spPr>
          <a:xfrm>
            <a:off x="8778240" y="32461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+ execute</a:t>
            </a:r>
            <a:endParaRPr lang="en-US" sz="1000" dirty="0"/>
          </a:p>
        </p:txBody>
      </p:sp>
      <p:sp>
        <p:nvSpPr>
          <p:cNvPr id="35" name="Shape 31"/>
          <p:cNvSpPr/>
          <p:nvPr/>
        </p:nvSpPr>
        <p:spPr>
          <a:xfrm>
            <a:off x="6400800" y="3657600"/>
            <a:ext cx="5120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6537960" y="36576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</p:txBody>
      </p:sp>
      <p:sp>
        <p:nvSpPr>
          <p:cNvPr id="37" name="Text 33"/>
          <p:cNvSpPr/>
          <p:nvPr/>
        </p:nvSpPr>
        <p:spPr>
          <a:xfrm>
            <a:off x="7040880" y="36576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000" dirty="0"/>
          </a:p>
        </p:txBody>
      </p:sp>
      <p:sp>
        <p:nvSpPr>
          <p:cNvPr id="38" name="Text 34"/>
          <p:cNvSpPr/>
          <p:nvPr/>
        </p:nvSpPr>
        <p:spPr>
          <a:xfrm>
            <a:off x="7909560" y="36576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r--</a:t>
            </a:r>
            <a:endParaRPr lang="en-US" sz="1100" dirty="0"/>
          </a:p>
        </p:txBody>
      </p:sp>
      <p:sp>
        <p:nvSpPr>
          <p:cNvPr id="39" name="Text 35"/>
          <p:cNvSpPr/>
          <p:nvPr/>
        </p:nvSpPr>
        <p:spPr>
          <a:xfrm>
            <a:off x="8778240" y="36576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only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6400800" y="4069080"/>
            <a:ext cx="5120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6537960" y="40690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400" dirty="0"/>
          </a:p>
        </p:txBody>
      </p:sp>
      <p:sp>
        <p:nvSpPr>
          <p:cNvPr id="42" name="Text 38"/>
          <p:cNvSpPr/>
          <p:nvPr/>
        </p:nvSpPr>
        <p:spPr>
          <a:xfrm>
            <a:off x="7040880" y="406908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</a:t>
            </a:r>
            <a:endParaRPr lang="en-US" sz="1000" dirty="0"/>
          </a:p>
        </p:txBody>
      </p:sp>
      <p:sp>
        <p:nvSpPr>
          <p:cNvPr id="43" name="Text 39"/>
          <p:cNvSpPr/>
          <p:nvPr/>
        </p:nvSpPr>
        <p:spPr>
          <a:xfrm>
            <a:off x="7909560" y="406908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100" dirty="0"/>
          </a:p>
        </p:txBody>
      </p:sp>
      <p:sp>
        <p:nvSpPr>
          <p:cNvPr id="44" name="Text 40"/>
          <p:cNvSpPr/>
          <p:nvPr/>
        </p:nvSpPr>
        <p:spPr>
          <a:xfrm>
            <a:off x="8778240" y="40690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access</a:t>
            </a:r>
            <a:endParaRPr lang="en-US" sz="1000" dirty="0"/>
          </a:p>
        </p:txBody>
      </p:sp>
      <p:sp>
        <p:nvSpPr>
          <p:cNvPr id="45" name="Shape 41"/>
          <p:cNvSpPr/>
          <p:nvPr/>
        </p:nvSpPr>
        <p:spPr>
          <a:xfrm>
            <a:off x="6400800" y="4572000"/>
            <a:ext cx="5120640" cy="1554480"/>
          </a:xfrm>
          <a:prstGeom prst="rect">
            <a:avLst/>
          </a:prstGeom>
          <a:solidFill>
            <a:srgbClr val="FEF3C7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4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4709160"/>
            <a:ext cx="365760" cy="365760"/>
          </a:xfrm>
          <a:prstGeom prst="rect">
            <a:avLst/>
          </a:prstGeom>
        </p:spPr>
      </p:pic>
      <p:sp>
        <p:nvSpPr>
          <p:cNvPr id="47" name="Text 42"/>
          <p:cNvSpPr/>
          <p:nvPr/>
        </p:nvSpPr>
        <p:spPr>
          <a:xfrm>
            <a:off x="6949440" y="4663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chown - ganti owner (perlu sudo)</a:t>
            </a:r>
            <a:endParaRPr lang="en-US" sz="1200" dirty="0"/>
          </a:p>
        </p:txBody>
      </p:sp>
      <p:sp>
        <p:nvSpPr>
          <p:cNvPr id="48" name="Text 43"/>
          <p:cNvSpPr/>
          <p:nvPr/>
        </p:nvSpPr>
        <p:spPr>
          <a:xfrm>
            <a:off x="6537960" y="507492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sudo chown user:group file.txt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sudo chown -R budi:budi folder/   # -R = rekursif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6400800" cy="6400800"/>
          </a:xfrm>
          <a:prstGeom prst="ellipse">
            <a:avLst/>
          </a:prstGeom>
          <a:solidFill>
            <a:srgbClr val="1565C0">
              <a:alpha val="25000"/>
            </a:srgbClr>
          </a:solidFill>
          <a:ln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914400"/>
            <a:ext cx="7315200" cy="7315200"/>
          </a:xfrm>
          <a:prstGeom prst="ellipse">
            <a:avLst/>
          </a:prstGeom>
          <a:solidFill>
            <a:srgbClr val="1976D2">
              <a:alpha val="20000"/>
            </a:srgbClr>
          </a:solidFill>
          <a:ln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8100000">
            <a:off x="5852160" y="-182880"/>
            <a:ext cx="1188720" cy="1188720"/>
          </a:xfrm>
          <a:prstGeom prst="rtTriangl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5080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56248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57416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57200" y="4114800"/>
            <a:ext cx="3657600" cy="1828800"/>
          </a:xfrm>
          <a:prstGeom prst="line">
            <a:avLst/>
          </a:prstGeom>
          <a:noFill/>
          <a:ln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28600"/>
            <a:ext cx="914400" cy="603504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246888"/>
            <a:ext cx="1005840" cy="5120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2560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6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04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57200" y="301752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&amp;</a:t>
            </a:r>
            <a:endParaRPr lang="en-US" sz="5200" dirty="0"/>
          </a:p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Info</a:t>
            </a:r>
            <a:endParaRPr lang="en-US" sz="5200" dirty="0"/>
          </a:p>
        </p:txBody>
      </p:sp>
      <p:sp>
        <p:nvSpPr>
          <p:cNvPr id="13" name="Shape 9"/>
          <p:cNvSpPr/>
          <p:nvPr/>
        </p:nvSpPr>
        <p:spPr>
          <a:xfrm>
            <a:off x="5715000" y="5029200"/>
            <a:ext cx="731520" cy="54864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57200" y="52120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Lihat apa yang jalan + resource laptop sedang dipakai.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 7 - Process Management (8 menit)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ps, top, kill - lihat program jalan + stop yang nyangkut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 - process snapshot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Lihat process Anda (user current)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PID TTY      TIME CMD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1234 pts/0    00:00:00 bash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5678 pts/0    00:00:00 ps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Semua process di sistem (BSD style)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 aux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  PID  %CPU  %MEM  COMMAND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  1    0.0   0.1   /sbin/init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budi  1234 0.5   2.1   bash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Filter pakai grep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 aux | grep firefox</a:t>
            </a: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cari process firefox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Kill process by PID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kill 1234</a:t>
            </a: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signal SIGTERM (15) - polite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kill -9 1234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SIGKILL - force, no cleanup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5. Kill by name (semua matching)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killall firefox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 - real-time process monitor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Buka real-time process viewer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 - 10:00:00 up 2:30  load avg: 0.5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Tasks: 145 total, 1 running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%Cpu(s): 12.3 us, 5.1 sy, 0.0 ni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MiB Mem: 8000.0 total, 3200.5 free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PID USER %CPU %MEM COMMAND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1234 budi 25.0  5.2  firefox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5678 budi 10.5  2.1  node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9012 root  2.0  0.5  systemd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Sortir / filter di top: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 = quit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sort by Memory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sort by CPU (default)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 = kill process (ketik PID)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 = filter by user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htop - top yang lebih cantik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 apt install htop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htop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 8 - Disk &amp; Memory (5 menit)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df, du, free - cek storage + RAM sistem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84632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Disk usage + memory info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df - DISK FREE - kapasitas partition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 -h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Filesystem  Size  Used  Avail  Use%  Mounted on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/dev/sda1   100G  45G   55G    45%   /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tmpfs       4.0G  10M   3.9G   1%    /dev/shm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-h = human readable (GB, MB), tanpa -h = bytes mentah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du - DISK USAGE - ukuran folder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 -sh ~/prak2-linux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248K  /home/budi/prak2-linux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-s = summary (total), -h = human readable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du tiap subfolder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 -sh ~/* | sort -h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4.0K  /home/budi/Desktop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248K  /home/budi/prak2-linux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1.2G  /home/budi/Downloads  &lt;- biang kerok!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free - RAM usage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free -h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total  used  free  shared  buff/cache  available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Mem:    7.7G   3.2G  1.5G  256M    3.0G        4.1G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Swap:   2.0G   0B    2.0G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5. uptime - sudah berapa lama nyala + load average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uptime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10:00:00 up 2:30, 1 user, load average: 0.45, 0.32, 0.28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6400800" cy="6400800"/>
          </a:xfrm>
          <a:prstGeom prst="ellipse">
            <a:avLst/>
          </a:prstGeom>
          <a:solidFill>
            <a:srgbClr val="1565C0">
              <a:alpha val="25000"/>
            </a:srgbClr>
          </a:solidFill>
          <a:ln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914400"/>
            <a:ext cx="7315200" cy="7315200"/>
          </a:xfrm>
          <a:prstGeom prst="ellipse">
            <a:avLst/>
          </a:prstGeom>
          <a:solidFill>
            <a:srgbClr val="1976D2">
              <a:alpha val="20000"/>
            </a:srgbClr>
          </a:solidFill>
          <a:ln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8100000">
            <a:off x="5852160" y="-182880"/>
            <a:ext cx="1188720" cy="1188720"/>
          </a:xfrm>
          <a:prstGeom prst="rtTriangl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5080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56248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57416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57200" y="4114800"/>
            <a:ext cx="3657600" cy="1828800"/>
          </a:xfrm>
          <a:prstGeom prst="line">
            <a:avLst/>
          </a:prstGeom>
          <a:noFill/>
          <a:ln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28600"/>
            <a:ext cx="914400" cy="603504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246888"/>
            <a:ext cx="1005840" cy="5120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2560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6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05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57200" y="301752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Pipes &amp;</a:t>
            </a:r>
            <a:endParaRPr lang="en-US" sz="5200" dirty="0"/>
          </a:p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Redirects</a:t>
            </a:r>
            <a:endParaRPr lang="en-US" sz="5200" dirty="0"/>
          </a:p>
        </p:txBody>
      </p:sp>
      <p:sp>
        <p:nvSpPr>
          <p:cNvPr id="13" name="Shape 9"/>
          <p:cNvSpPr/>
          <p:nvPr/>
        </p:nvSpPr>
        <p:spPr>
          <a:xfrm>
            <a:off x="5715000" y="5029200"/>
            <a:ext cx="731520" cy="54864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57200" y="52120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command jadi pipeline - power user move.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 9 - Pipes (|) &amp; Redirects (&gt;, &gt;&gt;, &lt;) (10 menit)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workspace/: olah log latihan tanpa proses lain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menulis ulang, &gt;&gt; menambah, &lt; membaca input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50">
                <a:solidFill>
                  <a:srgbClr val="E2E8F0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# Dari root repo: bash scripts/setup.sh
cd workspace
# &gt; memilih error dan menyimpan hasil
grep 'ERROR' logs/app.log &gt; results/errors.txt
cat results/errors.txt  # dua baris
# &gt;&gt; menambah catatan pada akhir file
printf 'Perlu cek endpoint.\n' &gt;&gt; results/incident.txt
# &lt; memberi file sebagai stdin
wc -l &lt; logs/app.log  # lima baris
# 2&gt; memisahkan pesan error dari stdout
ls /tidak-ada 2&gt; results/command-error.txt</a:t>
            </a:r>
            <a:endParaRPr lang="en-US" sz="1250" dirty="0">
              <a:solidFill>
                <a:srgbClr val="E2E8F0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i-FI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 (|): output kiri menjadi input kanan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50">
                <a:solidFill>
                  <a:srgbClr val="E2E8F0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# Jumlah baris WARN untuk tugas inti
grep 'WARN' logs/app.log | wc -l &gt; results/warn-count.txt
cat results/warn-count.txt  # 2
# Hitung ERROR tanpa mengubah sumber
grep 'ERROR' logs/app.log | wc -l  # 2
# Bandingkan dengan redirection &gt;
# Pipe mengirim data antaraproses.
# &gt; menyimpan stdout ke berkas hasil.
# &gt;&gt; menambah pada akhir berkas lama.
# Lihat hasil: find results -type f | sort</a:t>
            </a:r>
            <a:endParaRPr lang="en-US" sz="1250" dirty="0">
              <a:solidFill>
                <a:srgbClr val="E2E8F0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 10 - grep Power Use (5 menit)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 INFO, WARN, ERROR dan status dari logs/app.log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84632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Variasi grep pada data asli Lab 02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50">
                <a:solidFill>
                  <a:srgbClr val="E2E8F0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# Dari workspace/ sesudah setup.sh
# 1. Pilih dua error
grep 'ERROR' logs/app.log
# 2. Abaikan kapitalisasi
grep -i 'warn' logs/app.log
# 3. Hitung baris ERROR
grep -c 'ERROR' logs/app.log  # 2
# 4. Tampilkan nomor baris
grep -n 'ERROR' logs/app.log
# 5. Kecualikan INFO
grep -v 'INFO' logs/app.log
# 6. Pilih status 4xx atau 5xx di akhir baris
grep -E ' (4[0-9]{2}|5[0-9]{2})$' logs/app.log</a:t>
            </a:r>
            <a:endParaRPr lang="en-US" sz="1250" dirty="0">
              <a:solidFill>
                <a:srgbClr val="E2E8F0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6400800" cy="6400800"/>
          </a:xfrm>
          <a:prstGeom prst="ellipse">
            <a:avLst/>
          </a:prstGeom>
          <a:solidFill>
            <a:srgbClr val="1565C0">
              <a:alpha val="25000"/>
            </a:srgbClr>
          </a:solidFill>
          <a:ln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914400"/>
            <a:ext cx="7315200" cy="7315200"/>
          </a:xfrm>
          <a:prstGeom prst="ellipse">
            <a:avLst/>
          </a:prstGeom>
          <a:solidFill>
            <a:srgbClr val="1976D2">
              <a:alpha val="20000"/>
            </a:srgbClr>
          </a:solidFill>
          <a:ln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8100000">
            <a:off x="5852160" y="-182880"/>
            <a:ext cx="1188720" cy="1188720"/>
          </a:xfrm>
          <a:prstGeom prst="rtTriangl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5080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56248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57416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57200" y="4114800"/>
            <a:ext cx="3657600" cy="1828800"/>
          </a:xfrm>
          <a:prstGeom prst="line">
            <a:avLst/>
          </a:prstGeom>
          <a:noFill/>
          <a:ln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28600"/>
            <a:ext cx="914400" cy="603504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246888"/>
            <a:ext cx="1005840" cy="5120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2560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6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06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57200" y="301752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Script</a:t>
            </a:r>
            <a:endParaRPr lang="en-US" sz="5200" dirty="0"/>
          </a:p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5200" dirty="0"/>
          </a:p>
        </p:txBody>
      </p:sp>
      <p:sp>
        <p:nvSpPr>
          <p:cNvPr id="13" name="Shape 9"/>
          <p:cNvSpPr/>
          <p:nvPr/>
        </p:nvSpPr>
        <p:spPr>
          <a:xfrm>
            <a:off x="5715000" y="5029200"/>
            <a:ext cx="731520" cy="54864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57200" y="52120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Otomasi tugas berulang - foundation untuk DevOps.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 11 - Hello World Bash Script (5 menit)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= sequence of commands di 1 file - ekekusi sekaligus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+ run first bash script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Buka editor untuk file baru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~/prak2-linux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nano hello.sh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Isi file (paste dari kanan -&gt;)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Ctrl+O save, Ctrl+X exit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Run cara 1: pakai bash interpreter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hello.sh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Hello, Linux!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Sekarang: Thu May 16 10:00:00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budi  -  Folder: /home/budi/prak2-linux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5. Run cara 2: jadikan executable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chmod +x hello.sh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./hello.sh</a:t>
            </a: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./ = run dari current folder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Hello, Linux!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Bedanya: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bash hello.sh = pakai interpreter manual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./hello.sh = OS baca shebang line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hello.sh - isi file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#!/bin/bash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^^^ Shebang line - WAJIB di baris 1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Bilang OS: pakai bash untuk run ini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Output ke layar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"Hello, Linux!"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Pakai command - hasil di-inject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"Sekarang: $(date '+%a %b %d %H:%M:%S')"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Pakai environment variable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"User: $USER  -  Folder: $PWD"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Variable kustom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name="BINUS"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"Selamat belajar di $name!"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Exit dengan status code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exit 0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 = success, lainnya = error code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 12 - Variables + if + for (10 menit)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control dasar - hampir semua script perlu ini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backup.sh - script praktikal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#!/bin/bash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Script backup - copy file .txt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ke folder backup-[tanggal]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Variable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SOURCE_DIR="$HOME/prak2-linux"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DATE=$(date +%Y%m%d)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BACKUP_DIR="$HOME/backups/$DATE"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Cek folder source ada?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[ ! -d "$SOURCE_DIR" ]; then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echo "Error: $SOURCE_DIR not found"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exit 1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Buat folder backup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-p "$BACKUP_DIR"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Loop semua file .txt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file in $SOURCE_DIR/*.txt; do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cp "$file" "$BACKUP_DIR/"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echo "Backed up: $(basename $file)"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done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Summary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count=$(ls $BACKUP_DIR | wc -l)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"Done! $count file di $BACKUP_DIR"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+ verify backup.sh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Buat dulu sample file 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~/prak2-linux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"file 1" &gt; test1.txt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"file 2" &gt; test2.txt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Save backup.sh + permission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nano backup.sh</a:t>
            </a: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paste isi dari kiri, save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chmod +x backup.sh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Run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./backup.sh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Backed up: notes.txt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Backed up: test1.txt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Backed up: test2.txt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Done! 3 file di /home/budi/backups/20260516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Verify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~/backups/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20260516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~/backups/20260516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notes.txt  test1.txt  test2.txt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6400800" cy="6400800"/>
          </a:xfrm>
          <a:prstGeom prst="ellipse">
            <a:avLst/>
          </a:prstGeom>
          <a:solidFill>
            <a:srgbClr val="1565C0">
              <a:alpha val="25000"/>
            </a:srgbClr>
          </a:solidFill>
          <a:ln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914400"/>
            <a:ext cx="7315200" cy="7315200"/>
          </a:xfrm>
          <a:prstGeom prst="ellipse">
            <a:avLst/>
          </a:prstGeom>
          <a:solidFill>
            <a:srgbClr val="1976D2">
              <a:alpha val="20000"/>
            </a:srgbClr>
          </a:solidFill>
          <a:ln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8100000">
            <a:off x="5852160" y="-182880"/>
            <a:ext cx="1188720" cy="1188720"/>
          </a:xfrm>
          <a:prstGeom prst="rtTriangl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5080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56248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57416" y="45720"/>
            <a:ext cx="73152" cy="73152"/>
          </a:xfrm>
          <a:prstGeom prst="ellipse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57200" y="4114800"/>
            <a:ext cx="3657600" cy="1828800"/>
          </a:xfrm>
          <a:prstGeom prst="line">
            <a:avLst/>
          </a:prstGeom>
          <a:noFill/>
          <a:ln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28600"/>
            <a:ext cx="914400" cy="603504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246888"/>
            <a:ext cx="1005840" cy="5120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2560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6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07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57200" y="301752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Project</a:t>
            </a:r>
            <a:endParaRPr lang="en-US" sz="5200" dirty="0"/>
          </a:p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Submission</a:t>
            </a:r>
            <a:endParaRPr lang="en-US" sz="5200" dirty="0"/>
          </a:p>
        </p:txBody>
      </p:sp>
      <p:sp>
        <p:nvSpPr>
          <p:cNvPr id="13" name="Shape 9"/>
          <p:cNvSpPr/>
          <p:nvPr/>
        </p:nvSpPr>
        <p:spPr>
          <a:xfrm>
            <a:off x="5715000" y="5029200"/>
            <a:ext cx="731520" cy="54864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57200" y="52120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Tugas inti memakai check-status.sh dan verifier dari repo Lab 02.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Kunci challenge - check-status.sh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i-FI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Klasifikasi HTTP 1xx/2xx/3xx/4xx-5xx dan tolak input salah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84632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Isi workspace/scripts/check-status.sh; cek kunci di modul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>
                <a:solidFill>
                  <a:srgbClr val="E2E8F0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#!/usr/bin/env bash
set -euo pipefail
code="${1:-}"
if [[ ! "$code" =~ ^[1-5][0-9][0-9]$ ]]; then
  printf 'Usage: check-status.sh &lt;HTTP-code&gt;\n' &gt;&amp;2
  exit 2
elif (( code &lt; 200 )); then
  printf 'INFO: HTTP %s\n' "$code"
elif (( code &lt; 300 )); then
  printf 'OK: HTTP %s\n' "$code"
elif (( code &lt; 400 )); then
  printf 'REDIRECT: HTTP %s\n' "$code"
else
  printf 'ALERT: HTTP %s\n' "$code"
fi
# Dari root repo: bash scripts/verify.sh -&gt; 0 gagal</a:t>
            </a:r>
            <a:endParaRPr lang="en-US" sz="1400" dirty="0">
              <a:solidFill>
                <a:srgbClr val="E2E8F0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 Lab 02: hasil/lab02.md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Salin hasil/TEMPLATE_LAPORAN.md dan isi hasil kerja pribadi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8463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50292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40080" y="14173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 LAB 02 - LINUX DAN BASH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640080" y="2011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Nama: ___________________________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6217920" y="2011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NIM: ___________________________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40080" y="24231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Lingkungan dan path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777240" y="2697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Shell: __________  Path root repo: _______________________________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640080" y="30632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Lima artefak file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777240" y="33375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cp, mv, touch, errors.txt, warn-count.txt: jelaskan perintah dan hasil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640080" y="37033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Script klasifikasi HTTP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777240" y="39776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103=INFO, 200=OK, 302=REDIRECT, 503=ALERT, 99=exit 2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40080" y="43434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Hasil verifier dan refleksi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777240" y="46177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nl-NL" sz="10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Hasil: ____ gagal; jelaskan pipe, redirect, dan chmod u+x.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777240" y="48920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___________________________________________________________________________________________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777240" y="5166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___________________________________________________________________________________________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777240" y="54406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___________________________________________________________________________________________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777240" y="58521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Lampiran: screenshot setup, artefak, hasil 0 gagal, serta jawaban modul.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formatif Praktikum 2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Contoh pembobotan; dosen dapat menyesuaikan dengan LMS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114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0080" y="14173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Komponen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3383280" y="141732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Bobot contoh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4297680" y="14173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 (A)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676656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(B)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9144000" y="14173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Work (C)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57200" y="1874520"/>
            <a:ext cx="112471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57200" y="1874520"/>
            <a:ext cx="137160" cy="82296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77240" y="187452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+ artefak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3383280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30%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4297680" y="18745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 benar, lima artefak lengkap, hasil grep dan WARN = 2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6766560" y="18745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 benar, sebagian artefak perlu koreksi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9144000" y="18745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Workspace/artefak tidak dapat diverifikasi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457200" y="2743200"/>
            <a:ext cx="11247120" cy="822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57200" y="2743200"/>
            <a:ext cx="137160" cy="82296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777240" y="274320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check-status.sh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3383280" y="27432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25%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4297680" y="27432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 kelas HTTP tepat, input salah exit 2, dapat menjelaskan logika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6766560" y="27432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benar dengan penjelasan kurang lengkap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9144000" y="27432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Skrip tidak jalan atau hasil salah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457200" y="3611880"/>
            <a:ext cx="112471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457200" y="3611880"/>
            <a:ext cx="137160" cy="822960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777240" y="361188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 + izin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3383280" y="3611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15%</a:t>
            </a:r>
            <a:endParaRPr lang="en-US" sz="1400" dirty="0"/>
          </a:p>
        </p:txBody>
      </p:sp>
      <p:sp>
        <p:nvSpPr>
          <p:cNvPr id="34" name="Text 30"/>
          <p:cNvSpPr/>
          <p:nvPr/>
        </p:nvSpPr>
        <p:spPr>
          <a:xfrm>
            <a:off x="4297680" y="36118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Hasil: 0 gagal dan chmod u+x dipahami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6766560" y="36118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mendekati lulus; izin belum jelas</a:t>
            </a:r>
            <a:endParaRPr lang="en-US" sz="900" dirty="0"/>
          </a:p>
        </p:txBody>
      </p:sp>
      <p:sp>
        <p:nvSpPr>
          <p:cNvPr id="36" name="Text 32"/>
          <p:cNvSpPr/>
          <p:nvPr/>
        </p:nvSpPr>
        <p:spPr>
          <a:xfrm>
            <a:off x="9144000" y="36118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Banyak FAIL atau execute bit tidak ada</a:t>
            </a:r>
            <a:endParaRPr lang="en-US" sz="900" dirty="0"/>
          </a:p>
        </p:txBody>
      </p:sp>
      <p:sp>
        <p:nvSpPr>
          <p:cNvPr id="37" name="Shape 33"/>
          <p:cNvSpPr/>
          <p:nvPr/>
        </p:nvSpPr>
        <p:spPr>
          <a:xfrm>
            <a:off x="457200" y="4480560"/>
            <a:ext cx="11247120" cy="822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57200" y="4480560"/>
            <a:ext cx="137160" cy="8229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777240" y="448056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 Git</a:t>
            </a:r>
            <a:endParaRPr lang="en-US" sz="1100" dirty="0"/>
          </a:p>
        </p:txBody>
      </p:sp>
      <p:sp>
        <p:nvSpPr>
          <p:cNvPr id="40" name="Text 36"/>
          <p:cNvSpPr/>
          <p:nvPr/>
        </p:nvSpPr>
        <p:spPr>
          <a:xfrm>
            <a:off x="3383280" y="4480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20%</a:t>
            </a:r>
            <a:endParaRPr lang="en-US" sz="1400" dirty="0"/>
          </a:p>
        </p:txBody>
      </p:sp>
      <p:sp>
        <p:nvSpPr>
          <p:cNvPr id="41" name="Text 37"/>
          <p:cNvSpPr/>
          <p:nvPr/>
        </p:nvSpPr>
        <p:spPr>
          <a:xfrm>
            <a:off x="4297680" y="44805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hasil/lab02.md, bukti, commit, dan riwayat jelas</a:t>
            </a:r>
            <a:endParaRPr lang="en-US" sz="900" dirty="0"/>
          </a:p>
        </p:txBody>
      </p:sp>
      <p:sp>
        <p:nvSpPr>
          <p:cNvPr id="42" name="Text 38"/>
          <p:cNvSpPr/>
          <p:nvPr/>
        </p:nvSpPr>
        <p:spPr>
          <a:xfrm>
            <a:off x="6766560" y="44805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i-FI" sz="9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 ada tetapi bukti kurang</a:t>
            </a:r>
            <a:endParaRPr lang="en-US" sz="900" dirty="0"/>
          </a:p>
        </p:txBody>
      </p:sp>
      <p:sp>
        <p:nvSpPr>
          <p:cNvPr id="43" name="Text 39"/>
          <p:cNvSpPr/>
          <p:nvPr/>
        </p:nvSpPr>
        <p:spPr>
          <a:xfrm>
            <a:off x="9144000" y="44805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 atau commit belum ada</a:t>
            </a:r>
            <a:endParaRPr lang="en-US" sz="900" dirty="0"/>
          </a:p>
        </p:txBody>
      </p:sp>
      <p:sp>
        <p:nvSpPr>
          <p:cNvPr id="44" name="Shape 40"/>
          <p:cNvSpPr/>
          <p:nvPr/>
        </p:nvSpPr>
        <p:spPr>
          <a:xfrm>
            <a:off x="457200" y="5349240"/>
            <a:ext cx="112471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457200" y="5349240"/>
            <a:ext cx="137160" cy="822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777240" y="534924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Refleksi Konseptual</a:t>
            </a:r>
            <a:endParaRPr lang="en-US" sz="1100" dirty="0"/>
          </a:p>
        </p:txBody>
      </p:sp>
      <p:sp>
        <p:nvSpPr>
          <p:cNvPr id="47" name="Text 43"/>
          <p:cNvSpPr/>
          <p:nvPr/>
        </p:nvSpPr>
        <p:spPr>
          <a:xfrm>
            <a:off x="3383280" y="5349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70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10%</a:t>
            </a:r>
            <a:endParaRPr lang="en-US" sz="1400" dirty="0"/>
          </a:p>
        </p:txBody>
      </p:sp>
      <p:sp>
        <p:nvSpPr>
          <p:cNvPr id="48" name="Text 44"/>
          <p:cNvSpPr/>
          <p:nvPr/>
        </p:nvSpPr>
        <p:spPr>
          <a:xfrm>
            <a:off x="4297680" y="53492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Tunjukkan paham WHY bukan cuma HOW (mis. kenapa chmod 755)</a:t>
            </a:r>
            <a:endParaRPr lang="en-US" sz="900" dirty="0"/>
          </a:p>
        </p:txBody>
      </p:sp>
      <p:sp>
        <p:nvSpPr>
          <p:cNvPr id="49" name="Text 45"/>
          <p:cNvSpPr/>
          <p:nvPr/>
        </p:nvSpPr>
        <p:spPr>
          <a:xfrm>
            <a:off x="6766560" y="53492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Tahu HOW tapi belum WHY</a:t>
            </a:r>
            <a:endParaRPr lang="en-US" sz="900" dirty="0"/>
          </a:p>
        </p:txBody>
      </p:sp>
      <p:sp>
        <p:nvSpPr>
          <p:cNvPr id="50" name="Text 46"/>
          <p:cNvSpPr/>
          <p:nvPr/>
        </p:nvSpPr>
        <p:spPr>
          <a:xfrm>
            <a:off x="9144000" y="53492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v-SE" sz="90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Belum dapat menjelaskan alasan di balik command</a:t>
            </a:r>
            <a:endParaRPr lang="en-US" sz="900" dirty="0"/>
          </a:p>
        </p:txBody>
      </p:sp>
      <p:sp>
        <p:nvSpPr>
          <p:cNvPr id="51" name="Text 47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i="1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Kumpulkan melalui repo pribadi dan kanal kelas yang ditetapkan dosen.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Common Pitfalls - Hindari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sering bikin stuck atau nilai turun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3703320" cy="4572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94360" y="141732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Lupa chmod +x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640080" y="196596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Bikin script lalu ./script.sh - 'Permission denied'.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40080" y="2880360"/>
            <a:ext cx="3337560" cy="685800"/>
          </a:xfrm>
          <a:prstGeom prst="rect">
            <a:avLst/>
          </a:prstGeom>
          <a:solidFill>
            <a:srgbClr val="DCFCE7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31520" y="2926080"/>
            <a:ext cx="3154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chmod +x script.sh dulu sebelum ./script.sh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297680" y="141732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97680" y="1417320"/>
            <a:ext cx="3703320" cy="4572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434840" y="141732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vs sh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480560" y="196596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Pakai 'sh script.sh' padahal ada syntax bash specific - error.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4480560" y="2880360"/>
            <a:ext cx="3337560" cy="685800"/>
          </a:xfrm>
          <a:prstGeom prst="rect">
            <a:avLst/>
          </a:prstGeom>
          <a:solidFill>
            <a:srgbClr val="DCFCE7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572000" y="2926080"/>
            <a:ext cx="3154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Selalu 'bash script.sh' atau ./script.sh dengan shebang #!/bin/bash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8138160" y="141732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138160" y="1417320"/>
            <a:ext cx="3703320" cy="4572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275320" y="141732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Spasi di if condition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8321040" y="196596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Tulis 'if [$x = 5]' - error syntax. Bash sensitif spasi.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8321040" y="2880360"/>
            <a:ext cx="3337560" cy="685800"/>
          </a:xfrm>
          <a:prstGeom prst="rect">
            <a:avLst/>
          </a:prstGeom>
          <a:solidFill>
            <a:srgbClr val="DCFCE7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412480" y="2926080"/>
            <a:ext cx="3154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Selalu pakai spasi: 'if [ $x = 5 ]' (spasi di dalam bracket)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57200" y="379476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57200" y="3794760"/>
            <a:ext cx="3703320" cy="4572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594360" y="379476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 dalam quotes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640080" y="434340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 'Hello $USER' tidak expand variable - print literal '$USER'.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640080" y="5257800"/>
            <a:ext cx="3337560" cy="685800"/>
          </a:xfrm>
          <a:prstGeom prst="rect">
            <a:avLst/>
          </a:prstGeom>
          <a:solidFill>
            <a:srgbClr val="DCFCE7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31520" y="5303520"/>
            <a:ext cx="3154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Pakai double quotes: echo "Hello $USER" untuk variable expansion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4297680" y="379476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297680" y="3794760"/>
            <a:ext cx="3703320" cy="4572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4434840" y="379476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tanpa konfirmasi</a:t>
            </a:r>
            <a:endParaRPr lang="en-US" sz="1200" dirty="0"/>
          </a:p>
        </p:txBody>
      </p:sp>
      <p:sp>
        <p:nvSpPr>
          <p:cNvPr id="37" name="Text 33"/>
          <p:cNvSpPr/>
          <p:nvPr/>
        </p:nvSpPr>
        <p:spPr>
          <a:xfrm>
            <a:off x="4480560" y="434340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-rf folder/ - hapus semua tanpa undo. Hilang selamanya.</a:t>
            </a:r>
            <a:endParaRPr lang="en-US" sz="1050" dirty="0"/>
          </a:p>
        </p:txBody>
      </p:sp>
      <p:sp>
        <p:nvSpPr>
          <p:cNvPr id="38" name="Shape 34"/>
          <p:cNvSpPr/>
          <p:nvPr/>
        </p:nvSpPr>
        <p:spPr>
          <a:xfrm>
            <a:off x="4480560" y="5257800"/>
            <a:ext cx="3337560" cy="685800"/>
          </a:xfrm>
          <a:prstGeom prst="rect">
            <a:avLst/>
          </a:prstGeom>
          <a:solidFill>
            <a:srgbClr val="DCFCE7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4572000" y="5303520"/>
            <a:ext cx="3154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Pakai rm -i untuk konfirmasi, atau ls dulu untuk verify path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8138160" y="3794760"/>
            <a:ext cx="370332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8138160" y="3794760"/>
            <a:ext cx="3703320" cy="4572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8275320" y="379476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Lupa redirect 2&gt;</a:t>
            </a:r>
            <a:endParaRPr lang="en-US" sz="1200" dirty="0"/>
          </a:p>
        </p:txBody>
      </p:sp>
      <p:sp>
        <p:nvSpPr>
          <p:cNvPr id="43" name="Text 39"/>
          <p:cNvSpPr/>
          <p:nvPr/>
        </p:nvSpPr>
        <p:spPr>
          <a:xfrm>
            <a:off x="8321040" y="434340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stdout tapi error muncul di screen - script lihat clean.</a:t>
            </a:r>
            <a:endParaRPr lang="en-US" sz="1050" dirty="0"/>
          </a:p>
        </p:txBody>
      </p:sp>
      <p:sp>
        <p:nvSpPr>
          <p:cNvPr id="44" name="Shape 40"/>
          <p:cNvSpPr/>
          <p:nvPr/>
        </p:nvSpPr>
        <p:spPr>
          <a:xfrm>
            <a:off x="8321040" y="5257800"/>
            <a:ext cx="3337560" cy="685800"/>
          </a:xfrm>
          <a:prstGeom prst="rect">
            <a:avLst/>
          </a:prstGeom>
          <a:solidFill>
            <a:srgbClr val="DCFCE7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5" name="Text 41"/>
          <p:cNvSpPr/>
          <p:nvPr/>
        </p:nvSpPr>
        <p:spPr>
          <a:xfrm>
            <a:off x="8412480" y="5303520"/>
            <a:ext cx="3154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Pakai &amp;&gt; log.txt untuk capture stdout + stderr sekaligus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Cheat Sheet - Linux Command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Print, tempel - sering dipakai dari Praktikum 3 dan seterusnya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278892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2788920" cy="36576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57200" y="14173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640080" y="1874520"/>
            <a:ext cx="24231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pwd - lokasi current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-la - list detail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folder - pindah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.. - naik 1 level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~ - ke home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- - folder lalu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3364992" y="1417320"/>
            <a:ext cx="278892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3364992" y="1417320"/>
            <a:ext cx="2788920" cy="36576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364992" y="14173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Ops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3547872" y="1874520"/>
            <a:ext cx="24231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touch file.txt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folder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 src dest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 src dest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 file (-r folder)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rmdir empty-folder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272784" y="1417320"/>
            <a:ext cx="278892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272784" y="1417320"/>
            <a:ext cx="278892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272784" y="14173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File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6455664" y="1874520"/>
            <a:ext cx="24231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 file - all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less file - paginate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 -n 5 file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 -n 5 file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 -f file - follow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wc -l file - count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9180576" y="1417320"/>
            <a:ext cx="278892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9180576" y="1417320"/>
            <a:ext cx="2788920" cy="36576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9180576" y="14173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9363456" y="1874520"/>
            <a:ext cx="24231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-l - lihat perm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chmod +x file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chmod 644 file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chmod 755 script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chown user:grp file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 - root access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457200" y="3886200"/>
            <a:ext cx="278892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457200" y="3886200"/>
            <a:ext cx="2788920" cy="36576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457200" y="38862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sz="1300" dirty="0"/>
          </a:p>
        </p:txBody>
      </p:sp>
      <p:sp>
        <p:nvSpPr>
          <p:cNvPr id="29" name="Text 25"/>
          <p:cNvSpPr/>
          <p:nvPr/>
        </p:nvSpPr>
        <p:spPr>
          <a:xfrm>
            <a:off x="640080" y="4343400"/>
            <a:ext cx="24231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 aux - all proc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 / htop - live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kill PID - polite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kill -9 PID - force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killall name - by name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Ctrl+C - stop current</a:t>
            </a:r>
            <a:endParaRPr lang="en-US" sz="1050" dirty="0"/>
          </a:p>
        </p:txBody>
      </p:sp>
      <p:sp>
        <p:nvSpPr>
          <p:cNvPr id="30" name="Shape 26"/>
          <p:cNvSpPr/>
          <p:nvPr/>
        </p:nvSpPr>
        <p:spPr>
          <a:xfrm>
            <a:off x="3364992" y="3886200"/>
            <a:ext cx="278892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3364992" y="3886200"/>
            <a:ext cx="278892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3364992" y="38862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Pipes Redirect</a:t>
            </a:r>
            <a:endParaRPr lang="en-US" sz="1300" dirty="0"/>
          </a:p>
        </p:txBody>
      </p:sp>
      <p:sp>
        <p:nvSpPr>
          <p:cNvPr id="33" name="Text 29"/>
          <p:cNvSpPr/>
          <p:nvPr/>
        </p:nvSpPr>
        <p:spPr>
          <a:xfrm>
            <a:off x="3547872" y="4343400"/>
            <a:ext cx="24231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&gt; file - save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&gt;&gt; file - append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&lt; file - input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cmd1 | cmd2 - chain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2&gt; err.log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&amp;&gt; all.log</a:t>
            </a:r>
            <a:endParaRPr lang="en-US" sz="1050" dirty="0"/>
          </a:p>
        </p:txBody>
      </p:sp>
      <p:sp>
        <p:nvSpPr>
          <p:cNvPr id="34" name="Shape 30"/>
          <p:cNvSpPr/>
          <p:nvPr/>
        </p:nvSpPr>
        <p:spPr>
          <a:xfrm>
            <a:off x="6272784" y="3886200"/>
            <a:ext cx="278892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6272784" y="3886200"/>
            <a:ext cx="2788920" cy="36576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6272784" y="38862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Script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6455664" y="4343400"/>
            <a:ext cx="24231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#!/bin/bash - shebang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VAR=value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"$VAR"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[ test ]; then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x in list; do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exit 0 - success</a:t>
            </a:r>
            <a:endParaRPr lang="en-US" sz="1050" dirty="0"/>
          </a:p>
        </p:txBody>
      </p:sp>
      <p:sp>
        <p:nvSpPr>
          <p:cNvPr id="38" name="Shape 34"/>
          <p:cNvSpPr/>
          <p:nvPr/>
        </p:nvSpPr>
        <p:spPr>
          <a:xfrm>
            <a:off x="9180576" y="3886200"/>
            <a:ext cx="278892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9180576" y="3886200"/>
            <a:ext cx="2788920" cy="36576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9180576" y="38862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 Avoid</a:t>
            </a:r>
            <a:endParaRPr lang="en-US" sz="1300" dirty="0"/>
          </a:p>
        </p:txBody>
      </p:sp>
      <p:sp>
        <p:nvSpPr>
          <p:cNvPr id="41" name="Text 37"/>
          <p:cNvSpPr/>
          <p:nvPr/>
        </p:nvSpPr>
        <p:spPr>
          <a:xfrm>
            <a:off x="9363456" y="4343400"/>
            <a:ext cx="24231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chmod +x dulu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Spasi di [ ]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 quotes "$"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 -i konfirmasi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Verify path dulu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Backup before edit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90 Menit - Alur Lab 02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Lihat panduan dosen untuk checkpoint dan kunci lengkap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7132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37160" cy="713232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777240" y="1554480"/>
            <a:ext cx="1463040" cy="45720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77240" y="1554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0-10 min</a:t>
            </a:r>
            <a:endParaRPr lang="en-US" sz="11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3160" y="1600200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926080" y="14630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dan working directory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2926080" y="17830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 Git Bash/WSL/Linux/macOS/Codespaces; pwd dan jelaskan path.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457200" y="2212848"/>
            <a:ext cx="11247120" cy="7132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57200" y="2212848"/>
            <a:ext cx="137160" cy="713232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77240" y="2350008"/>
            <a:ext cx="1463040" cy="457200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777240" y="2350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10-20 min</a:t>
            </a:r>
            <a:endParaRPr lang="en-US" sz="110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23160" y="2395728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2926080" y="225856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dan inspect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2926080" y="2578608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scripts/setup.sh dan inspect.sh; cek WARN = 2.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457200" y="3008376"/>
            <a:ext cx="11247120" cy="7132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7200" y="3008376"/>
            <a:ext cx="137160" cy="713232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777240" y="3145536"/>
            <a:ext cx="1463040" cy="45720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777240" y="314553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20-35 min</a:t>
            </a:r>
            <a:endParaRPr lang="en-US" sz="1100" dirty="0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23160" y="3191256"/>
            <a:ext cx="365760" cy="36576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2926080" y="3054096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Navigasi dan log</a:t>
            </a:r>
            <a:endParaRPr lang="en-US" sz="1200" dirty="0"/>
          </a:p>
        </p:txBody>
      </p:sp>
      <p:sp>
        <p:nvSpPr>
          <p:cNvPr id="30" name="Text 23"/>
          <p:cNvSpPr/>
          <p:nvPr/>
        </p:nvSpPr>
        <p:spPr>
          <a:xfrm>
            <a:off x="2926080" y="3374136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cd, ls, find, head, tail, grep; baca path relatif dan izin.</a:t>
            </a:r>
            <a:endParaRPr lang="en-US" sz="950" dirty="0"/>
          </a:p>
        </p:txBody>
      </p:sp>
      <p:sp>
        <p:nvSpPr>
          <p:cNvPr id="31" name="Shape 24"/>
          <p:cNvSpPr/>
          <p:nvPr/>
        </p:nvSpPr>
        <p:spPr>
          <a:xfrm>
            <a:off x="457200" y="3803904"/>
            <a:ext cx="11247120" cy="7132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457200" y="3803904"/>
            <a:ext cx="137160" cy="7132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777240" y="3941064"/>
            <a:ext cx="1463040" cy="4572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777240" y="394106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35-50 min</a:t>
            </a:r>
            <a:endParaRPr lang="en-US" sz="1100" dirty="0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23160" y="3986784"/>
            <a:ext cx="365760" cy="36576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2926080" y="3849624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Lima artefak file</a:t>
            </a:r>
            <a:endParaRPr lang="en-US" sz="1200" dirty="0"/>
          </a:p>
        </p:txBody>
      </p:sp>
      <p:sp>
        <p:nvSpPr>
          <p:cNvPr id="37" name="Text 29"/>
          <p:cNvSpPr/>
          <p:nvPr/>
        </p:nvSpPr>
        <p:spPr>
          <a:xfrm>
            <a:off x="2926080" y="416966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cp, mv, touch, grep &gt;, grep | wc -l &gt;; cek output.</a:t>
            </a:r>
            <a:endParaRPr lang="en-US" sz="950" dirty="0"/>
          </a:p>
        </p:txBody>
      </p:sp>
      <p:sp>
        <p:nvSpPr>
          <p:cNvPr id="38" name="Shape 30"/>
          <p:cNvSpPr/>
          <p:nvPr/>
        </p:nvSpPr>
        <p:spPr>
          <a:xfrm>
            <a:off x="457200" y="4599432"/>
            <a:ext cx="11247120" cy="7132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457200" y="4599432"/>
            <a:ext cx="137160" cy="7132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777240" y="4736592"/>
            <a:ext cx="1463040" cy="4572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1" name="Text 33"/>
          <p:cNvSpPr/>
          <p:nvPr/>
        </p:nvSpPr>
        <p:spPr>
          <a:xfrm>
            <a:off x="777240" y="473659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50-68 min</a:t>
            </a:r>
            <a:endParaRPr lang="en-US" sz="1100" dirty="0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23160" y="4782312"/>
            <a:ext cx="365760" cy="365760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2926080" y="464515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Skrip kondisi Bash</a:t>
            </a:r>
            <a:endParaRPr lang="en-US" sz="1200" dirty="0"/>
          </a:p>
        </p:txBody>
      </p:sp>
      <p:sp>
        <p:nvSpPr>
          <p:cNvPr id="44" name="Text 35"/>
          <p:cNvSpPr/>
          <p:nvPr/>
        </p:nvSpPr>
        <p:spPr>
          <a:xfrm>
            <a:off x="2926080" y="4965192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input, if/elif/else, stdout/stderr, chmod u+x.</a:t>
            </a:r>
            <a:endParaRPr lang="en-US" sz="950" dirty="0"/>
          </a:p>
        </p:txBody>
      </p:sp>
      <p:sp>
        <p:nvSpPr>
          <p:cNvPr id="45" name="Shape 36"/>
          <p:cNvSpPr/>
          <p:nvPr/>
        </p:nvSpPr>
        <p:spPr>
          <a:xfrm>
            <a:off x="457200" y="5394960"/>
            <a:ext cx="11247120" cy="7132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Shape 37"/>
          <p:cNvSpPr/>
          <p:nvPr/>
        </p:nvSpPr>
        <p:spPr>
          <a:xfrm>
            <a:off x="457200" y="5394960"/>
            <a:ext cx="137160" cy="71323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7" name="Shape 38"/>
          <p:cNvSpPr/>
          <p:nvPr/>
        </p:nvSpPr>
        <p:spPr>
          <a:xfrm>
            <a:off x="777240" y="5532120"/>
            <a:ext cx="1463040" cy="4572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39"/>
          <p:cNvSpPr/>
          <p:nvPr/>
        </p:nvSpPr>
        <p:spPr>
          <a:xfrm>
            <a:off x="777240" y="55321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68-90 min</a:t>
            </a:r>
            <a:endParaRPr lang="en-US" sz="1100" dirty="0"/>
          </a:p>
        </p:txBody>
      </p:sp>
      <p:pic>
        <p:nvPicPr>
          <p:cNvPr id="4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23160" y="5577840"/>
            <a:ext cx="365760" cy="365760"/>
          </a:xfrm>
          <a:prstGeom prst="rect">
            <a:avLst/>
          </a:prstGeom>
        </p:spPr>
      </p:pic>
      <p:sp>
        <p:nvSpPr>
          <p:cNvPr id="50" name="Text 40"/>
          <p:cNvSpPr/>
          <p:nvPr/>
        </p:nvSpPr>
        <p:spPr>
          <a:xfrm>
            <a:off x="2926080" y="54406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Verify, diskusi, Git</a:t>
            </a:r>
            <a:endParaRPr lang="en-US" sz="1200" dirty="0"/>
          </a:p>
        </p:txBody>
      </p:sp>
      <p:sp>
        <p:nvSpPr>
          <p:cNvPr id="51" name="Text 41"/>
          <p:cNvSpPr/>
          <p:nvPr/>
        </p:nvSpPr>
        <p:spPr>
          <a:xfrm>
            <a:off x="2926080" y="576072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scripts/verify.sh -&gt; 0 gagal; isi laporan dan push.</a:t>
            </a:r>
            <a:endParaRPr lang="en-US" sz="950" dirty="0"/>
          </a:p>
        </p:txBody>
      </p:sp>
      <p:sp>
        <p:nvSpPr>
          <p:cNvPr id="52" name="Text 42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i="1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Jika setup lokal macet, gunakan salinan repo pada Bash lain; jangan hapus kerja siswa.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 &amp; Persiapan Praktikum 3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Lima artefak, skrip Bash, verifier, dan bukti Git siap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457200" y="1417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Sudah Anda Lakukan Hari Ini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457200" y="1874520"/>
            <a:ext cx="274320" cy="27432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874520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68680" y="1828800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terbuka dan workspace dibuat oleh setup.sh.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457200" y="2331720"/>
            <a:ext cx="274320" cy="27432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331720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68680" y="2286000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dan file ops: pwd, cd, cp, mv, touch.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457200" y="2788920"/>
            <a:ext cx="274320" cy="27432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788920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868680" y="2743200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Baca log dengan head, tail, grep, dan pipe.</a:t>
            </a:r>
            <a:endParaRPr lang="en-US" sz="1100" dirty="0"/>
          </a:p>
        </p:txBody>
      </p:sp>
      <p:sp>
        <p:nvSpPr>
          <p:cNvPr id="20" name="Shape 13"/>
          <p:cNvSpPr/>
          <p:nvPr/>
        </p:nvSpPr>
        <p:spPr>
          <a:xfrm>
            <a:off x="457200" y="3246120"/>
            <a:ext cx="274320" cy="27432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246120"/>
            <a:ext cx="274320" cy="27432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868680" y="3200400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Izin execute check-status.sh aktif dengan chmod u+x.</a:t>
            </a:r>
            <a:endParaRPr lang="en-US" sz="1100" dirty="0"/>
          </a:p>
        </p:txBody>
      </p:sp>
      <p:sp>
        <p:nvSpPr>
          <p:cNvPr id="23" name="Shape 15"/>
          <p:cNvSpPr/>
          <p:nvPr/>
        </p:nvSpPr>
        <p:spPr>
          <a:xfrm>
            <a:off x="457200" y="3703320"/>
            <a:ext cx="274320" cy="27432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703320"/>
            <a:ext cx="274320" cy="274320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868680" y="3657600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HTTP valid/invalid diproses dengan exit code tepat.</a:t>
            </a:r>
            <a:endParaRPr lang="en-US" sz="1100" dirty="0"/>
          </a:p>
        </p:txBody>
      </p:sp>
      <p:sp>
        <p:nvSpPr>
          <p:cNvPr id="26" name="Shape 17"/>
          <p:cNvSpPr/>
          <p:nvPr/>
        </p:nvSpPr>
        <p:spPr>
          <a:xfrm>
            <a:off x="457200" y="4160520"/>
            <a:ext cx="274320" cy="27432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160520"/>
            <a:ext cx="274320" cy="274320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868680" y="4114800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Redirection membuat errors.txt dan warn-count.txt.</a:t>
            </a:r>
            <a:endParaRPr lang="en-US" sz="1100" dirty="0"/>
          </a:p>
        </p:txBody>
      </p:sp>
      <p:sp>
        <p:nvSpPr>
          <p:cNvPr id="29" name="Shape 19"/>
          <p:cNvSpPr/>
          <p:nvPr/>
        </p:nvSpPr>
        <p:spPr>
          <a:xfrm>
            <a:off x="457200" y="4617720"/>
            <a:ext cx="274320" cy="27432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30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617720"/>
            <a:ext cx="274320" cy="274320"/>
          </a:xfrm>
          <a:prstGeom prst="rect">
            <a:avLst/>
          </a:prstGeom>
        </p:spPr>
      </p:pic>
      <p:sp>
        <p:nvSpPr>
          <p:cNvPr id="31" name="Text 20"/>
          <p:cNvSpPr/>
          <p:nvPr/>
        </p:nvSpPr>
        <p:spPr>
          <a:xfrm>
            <a:off x="868680" y="4572000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scripts/verify.sh memberi Hasil: 0 gagal.</a:t>
            </a:r>
            <a:endParaRPr lang="en-US" sz="1100" dirty="0"/>
          </a:p>
        </p:txBody>
      </p:sp>
      <p:sp>
        <p:nvSpPr>
          <p:cNvPr id="32" name="Shape 21"/>
          <p:cNvSpPr/>
          <p:nvPr/>
        </p:nvSpPr>
        <p:spPr>
          <a:xfrm>
            <a:off x="6217920" y="1417320"/>
            <a:ext cx="5486400" cy="228600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pic>
        <p:nvPicPr>
          <p:cNvPr id="33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1554480"/>
            <a:ext cx="457200" cy="457200"/>
          </a:xfrm>
          <a:prstGeom prst="rect">
            <a:avLst/>
          </a:prstGeom>
        </p:spPr>
      </p:pic>
      <p:sp>
        <p:nvSpPr>
          <p:cNvPr id="34" name="Text 22"/>
          <p:cNvSpPr/>
          <p:nvPr/>
        </p:nvSpPr>
        <p:spPr>
          <a:xfrm>
            <a:off x="6949440" y="1554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BEFORE PRAKTIKUM 3</a:t>
            </a:r>
            <a:endParaRPr lang="en-US" sz="1100" dirty="0"/>
          </a:p>
        </p:txBody>
      </p:sp>
      <p:sp>
        <p:nvSpPr>
          <p:cNvPr id="35" name="Text 23"/>
          <p:cNvSpPr/>
          <p:nvPr/>
        </p:nvSpPr>
        <p:spPr>
          <a:xfrm>
            <a:off x="6400800" y="201168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Deadline submission</a:t>
            </a:r>
            <a:endParaRPr lang="en-US" sz="1400" dirty="0"/>
          </a:p>
        </p:txBody>
      </p:sp>
      <p:sp>
        <p:nvSpPr>
          <p:cNvPr id="36" name="Text 24"/>
          <p:cNvSpPr/>
          <p:nvPr/>
        </p:nvSpPr>
        <p:spPr>
          <a:xfrm>
            <a:off x="6400800" y="2331720"/>
            <a:ext cx="5212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1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] Lima artefak workspace/
[ ] check-status.sh dan Hasil: 0 gagal
[ ] hasil/lab02.md dan screenshot pribadi
[ ] Commit/push repo sendiri</a:t>
            </a:r>
            <a:endParaRPr lang="en-US" sz="1100" dirty="0"/>
          </a:p>
        </p:txBody>
      </p:sp>
      <p:sp>
        <p:nvSpPr>
          <p:cNvPr id="37" name="Shape 25"/>
          <p:cNvSpPr/>
          <p:nvPr/>
        </p:nvSpPr>
        <p:spPr>
          <a:xfrm>
            <a:off x="6217920" y="3840480"/>
            <a:ext cx="548640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38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3977640"/>
            <a:ext cx="457200" cy="457200"/>
          </a:xfrm>
          <a:prstGeom prst="rect">
            <a:avLst/>
          </a:prstGeom>
        </p:spPr>
      </p:pic>
      <p:sp>
        <p:nvSpPr>
          <p:cNvPr id="39" name="Text 26"/>
          <p:cNvSpPr/>
          <p:nvPr/>
        </p:nvSpPr>
        <p:spPr>
          <a:xfrm>
            <a:off x="6949440" y="3977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PRAKTIKUM 3 - MINGGU DEPAN</a:t>
            </a:r>
            <a:endParaRPr lang="en-US" sz="1100" dirty="0"/>
          </a:p>
        </p:txBody>
      </p:sp>
      <p:sp>
        <p:nvSpPr>
          <p:cNvPr id="40" name="Text 27"/>
          <p:cNvSpPr/>
          <p:nvPr/>
        </p:nvSpPr>
        <p:spPr>
          <a:xfrm>
            <a:off x="6400800" y="44348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2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Networking Hands-On</a:t>
            </a:r>
            <a:endParaRPr lang="en-US" sz="1400" dirty="0"/>
          </a:p>
        </p:txBody>
      </p:sp>
      <p:sp>
        <p:nvSpPr>
          <p:cNvPr id="41" name="Text 28"/>
          <p:cNvSpPr/>
          <p:nvPr/>
        </p:nvSpPr>
        <p:spPr>
          <a:xfrm>
            <a:off x="6400800" y="4800600"/>
            <a:ext cx="5212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lookup, traceroute, ping, curl, port scan - dasar network engineer. Pertahankan WSL/Terminal Anda!</a:t>
            </a:r>
            <a:endParaRPr lang="en-US" sz="1100" dirty="0"/>
          </a:p>
        </p:txBody>
      </p:sp>
      <p:sp>
        <p:nvSpPr>
          <p:cNvPr id="42" name="Shape 29"/>
          <p:cNvSpPr/>
          <p:nvPr/>
        </p:nvSpPr>
        <p:spPr>
          <a:xfrm>
            <a:off x="457200" y="5120640"/>
            <a:ext cx="5486400" cy="11887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43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5349240"/>
            <a:ext cx="640080" cy="640080"/>
          </a:xfrm>
          <a:prstGeom prst="rect">
            <a:avLst/>
          </a:prstGeom>
        </p:spPr>
      </p:pic>
      <p:sp>
        <p:nvSpPr>
          <p:cNvPr id="44" name="Text 30"/>
          <p:cNvSpPr/>
          <p:nvPr/>
        </p:nvSpPr>
        <p:spPr>
          <a:xfrm>
            <a:off x="1417320" y="51663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Pertanyaan?</a:t>
            </a:r>
            <a:endParaRPr lang="en-US" sz="2200" dirty="0"/>
          </a:p>
        </p:txBody>
      </p:sp>
      <p:sp>
        <p:nvSpPr>
          <p:cNvPr id="45" name="Text 31"/>
          <p:cNvSpPr/>
          <p:nvPr/>
        </p:nvSpPr>
        <p:spPr>
          <a:xfrm>
            <a:off x="1417320" y="56692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1200" i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Tanya dosen atau lihat PANDUAN_DOSEN.md di repo.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Jalur kode Lab 02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mandiri: github.com/SeedFlora/meet2CloudService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LANGKAH DI KELAS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6974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34440" y="260604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Bash: Git Bash, WSL, Linux, macOS, Codespaces</a:t>
            </a:r>
            <a:endParaRPr lang="en-US" sz="11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264408"/>
            <a:ext cx="320040" cy="32004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3172968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scripts/setup.sh; bash scripts/inspect.sh</a:t>
            </a:r>
            <a:endParaRPr lang="en-US" sz="11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831336"/>
            <a:ext cx="320040" cy="32004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34440" y="3739896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Buat artefak di folder workspace/</a:t>
            </a:r>
            <a:endParaRPr lang="en-US" sz="11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398264"/>
            <a:ext cx="320040" cy="32004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234440" y="430682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 check-status.sh; chmod u+x</a:t>
            </a:r>
            <a:endParaRPr lang="en-US" sz="1100" dirty="0"/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965192"/>
            <a:ext cx="320040" cy="320040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1234440" y="4873752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scripts/verify.sh hingga 0 gagal</a:t>
            </a:r>
            <a:endParaRPr lang="en-US" sz="1100" dirty="0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5532120"/>
            <a:ext cx="320040" cy="320040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1234440" y="54406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hasil/lab02.md dan bukti pribadi</a:t>
            </a:r>
            <a:endParaRPr lang="en-US" sz="1100" dirty="0"/>
          </a:p>
        </p:txBody>
      </p:sp>
      <p:sp>
        <p:nvSpPr>
          <p:cNvPr id="24" name="Shape 14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5" name="Text 15"/>
          <p:cNvSpPr/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BERKAS PENDAMPING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  <p:sp>
        <p:nvSpPr>
          <p:cNvPr id="26" name="Text 16"/>
          <p:cNvSpPr/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2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README, MODUL_MAHASISWA, hasil/lab02.md, screenshots/</a:t>
            </a:r>
            <a:endParaRPr lang="en-US" sz="1200" dirty="0"/>
          </a:p>
        </p:txBody>
      </p:sp>
      <p:sp>
        <p:nvSpPr>
          <p:cNvPr id="27" name="Shape 17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8" name="Text 18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Kunci lengkap dan screenshot ada di modul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Siapkan dan inspeksi workspace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meet2CloudService  |  bukti: screenshots/lab02_setup_inspect.png</a:t>
            </a:r>
            <a:endParaRPr lang="en-US" sz="120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021475D-1148-C76A-2BC3-547F3CAE7B1C}"/>
              </a:ext>
            </a:extLst>
          </p:cNvPr>
          <p:cNvSpPr/>
          <p:nvPr/>
        </p:nvSpPr>
        <p:spPr>
          <a:xfrm>
            <a:off x="457200" y="1447800"/>
            <a:ext cx="5562600" cy="4724400"/>
          </a:xfrm>
          <a:prstGeom prst="rect">
            <a:avLst/>
          </a:prstGeom>
          <a:solidFill>
            <a:srgbClr val="F6F8FC"/>
          </a:solidFill>
          <a:ln>
            <a:solidFill>
              <a:srgbClr val="D3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9F6B68C4-0BBD-4C30-AAB2-192BE6A5F2C9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38660" y="1536700"/>
            <a:ext cx="5199680" cy="4546600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92569745-EAEB-583F-44AF-833B0E8CC273}"/>
              </a:ext>
            </a:extLst>
          </p:cNvPr>
          <p:cNvSpPr/>
          <p:nvPr/>
        </p:nvSpPr>
        <p:spPr>
          <a:xfrm>
            <a:off x="6197600" y="1435100"/>
            <a:ext cx="5511800" cy="4737100"/>
          </a:xfrm>
          <a:prstGeom prst="rect">
            <a:avLst/>
          </a:prstGeom>
          <a:solidFill>
            <a:srgbClr val="F6F8FC"/>
          </a:solidFill>
          <a:ln>
            <a:solidFill>
              <a:srgbClr val="D3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30B6432-AC3B-D55E-3753-849C8F809201}"/>
              </a:ext>
            </a:extLst>
          </p:cNvPr>
          <p:cNvSpPr/>
          <p:nvPr/>
        </p:nvSpPr>
        <p:spPr>
          <a:xfrm>
            <a:off x="6197600" y="1435100"/>
            <a:ext cx="5511800" cy="63500"/>
          </a:xfrm>
          <a:prstGeom prst="rect">
            <a:avLst/>
          </a:prstGeom>
          <a:solidFill>
            <a:srgbClr val="F3702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3E2F6D7-1C67-3AA2-EFA8-62226E49C6B5}"/>
              </a:ext>
            </a:extLst>
          </p:cNvPr>
          <p:cNvSpPr txBox="1"/>
          <p:nvPr/>
        </p:nvSpPr>
        <p:spPr>
          <a:xfrm>
            <a:off x="6388100" y="1676400"/>
            <a:ext cx="5130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PERINTAH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5D7460E-1BEA-63EE-BDA4-8CFDB916230A}"/>
              </a:ext>
            </a:extLst>
          </p:cNvPr>
          <p:cNvSpPr txBox="1"/>
          <p:nvPr/>
        </p:nvSpPr>
        <p:spPr>
          <a:xfrm>
            <a:off x="6388100" y="1917700"/>
            <a:ext cx="5130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50">
                <a:solidFill>
                  <a:srgbClr val="192A44"/>
                </a:solidFill>
                <a:latin typeface="Consolas" panose="020B0609020204030204" pitchFamily="49" charset="0"/>
              </a:rPr>
              <a:t>bash scripts/setup.sh
bash scripts/inspect.sh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559412D-71E7-74C4-3436-48F428E84A9A}"/>
              </a:ext>
            </a:extLst>
          </p:cNvPr>
          <p:cNvSpPr txBox="1"/>
          <p:nvPr/>
        </p:nvSpPr>
        <p:spPr>
          <a:xfrm>
            <a:off x="6388100" y="2895600"/>
            <a:ext cx="5130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FUNGSI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48C5D8B-6B91-9474-2486-6075BEF2FC57}"/>
              </a:ext>
            </a:extLst>
          </p:cNvPr>
          <p:cNvSpPr txBox="1"/>
          <p:nvPr/>
        </p:nvSpPr>
        <p:spPr>
          <a:xfrm>
            <a:off x="6388100" y="3136900"/>
            <a:ext cx="5130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20">
                <a:solidFill>
                  <a:srgbClr val="192A44"/>
                </a:solidFill>
                <a:latin typeface="Arial" panose="020B0604020202020204" pitchFamily="34" charset="0"/>
              </a:rPr>
              <a:t>setup membuat data latihan; inspect membaca path, daftar berkas, CSV, log, dan WARN.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3BB1072-EB55-7257-CDFE-EC7211F3FDE8}"/>
              </a:ext>
            </a:extLst>
          </p:cNvPr>
          <p:cNvSpPr txBox="1"/>
          <p:nvPr/>
        </p:nvSpPr>
        <p:spPr>
          <a:xfrm>
            <a:off x="6388100" y="4343400"/>
            <a:ext cx="5130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BACA SCREENSHOT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B6EFB4B-1CE8-0525-6D17-5666B5BE6007}"/>
              </a:ext>
            </a:extLst>
          </p:cNvPr>
          <p:cNvSpPr txBox="1"/>
          <p:nvPr/>
        </p:nvSpPr>
        <p:spPr>
          <a:xfrm>
            <a:off x="6388100" y="4584700"/>
            <a:ext cx="5130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20">
                <a:solidFill>
                  <a:srgbClr val="192A44"/>
                </a:solidFill>
                <a:latin typeface="Arial" panose="020B0604020202020204" pitchFamily="34" charset="0"/>
              </a:rPr>
              <a:t>Folder workspace/ tercipta; dua baris CSV, dua log terakhir, dan WARN = 2 terlihat.</a:t>
            </a:r>
          </a:p>
        </p:txBody>
      </p:sp>
    </p:spTree>
    <p:extLst>
      <p:ext uri="{BB962C8B-B14F-4D97-AF65-F5344CB8AC3E}">
        <p14:creationId xmlns:p14="http://schemas.microsoft.com/office/powerpoint/2010/main" val="3551684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nl-NL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Telusuri path, izin, dan log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Perintah relatif terhadap workspace/  |  screenshots/lab02_navigasi.png</a:t>
            </a:r>
            <a:endParaRPr lang="en-US" sz="120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B5F3669-7DA7-4AAD-F707-AB86DD07B5D9}"/>
              </a:ext>
            </a:extLst>
          </p:cNvPr>
          <p:cNvSpPr/>
          <p:nvPr/>
        </p:nvSpPr>
        <p:spPr>
          <a:xfrm>
            <a:off x="457200" y="1447800"/>
            <a:ext cx="7810500" cy="4724400"/>
          </a:xfrm>
          <a:prstGeom prst="rect">
            <a:avLst/>
          </a:prstGeom>
          <a:solidFill>
            <a:srgbClr val="F6F8FC"/>
          </a:solidFill>
          <a:ln>
            <a:solidFill>
              <a:srgbClr val="D3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EDB23293-0B7A-50E4-11AA-25962A08913F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546100" y="1809494"/>
            <a:ext cx="7632700" cy="4001012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59245063-073F-9035-A628-2FDDE9FE1899}"/>
              </a:ext>
            </a:extLst>
          </p:cNvPr>
          <p:cNvSpPr/>
          <p:nvPr/>
        </p:nvSpPr>
        <p:spPr>
          <a:xfrm>
            <a:off x="8445500" y="1435100"/>
            <a:ext cx="3263900" cy="4737100"/>
          </a:xfrm>
          <a:prstGeom prst="rect">
            <a:avLst/>
          </a:prstGeom>
          <a:solidFill>
            <a:srgbClr val="F6F8FC"/>
          </a:solidFill>
          <a:ln>
            <a:solidFill>
              <a:srgbClr val="D3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513EDD6-C9A5-35AC-A6A8-709294707304}"/>
              </a:ext>
            </a:extLst>
          </p:cNvPr>
          <p:cNvSpPr/>
          <p:nvPr/>
        </p:nvSpPr>
        <p:spPr>
          <a:xfrm>
            <a:off x="8445500" y="1435100"/>
            <a:ext cx="3263900" cy="63500"/>
          </a:xfrm>
          <a:prstGeom prst="rect">
            <a:avLst/>
          </a:prstGeom>
          <a:solidFill>
            <a:srgbClr val="F3702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5ED0BCB-9789-70AA-EC48-4FC411C04F24}"/>
              </a:ext>
            </a:extLst>
          </p:cNvPr>
          <p:cNvSpPr txBox="1"/>
          <p:nvPr/>
        </p:nvSpPr>
        <p:spPr>
          <a:xfrm>
            <a:off x="8636000" y="1676400"/>
            <a:ext cx="2882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PERINTAH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95DFAEB-E038-D893-CDE8-B9ADF2D5DB08}"/>
              </a:ext>
            </a:extLst>
          </p:cNvPr>
          <p:cNvSpPr txBox="1"/>
          <p:nvPr/>
        </p:nvSpPr>
        <p:spPr>
          <a:xfrm>
            <a:off x="8636000" y="1917700"/>
            <a:ext cx="2882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50">
                <a:solidFill>
                  <a:srgbClr val="192A44"/>
                </a:solidFill>
                <a:latin typeface="Consolas" panose="020B0609020204030204" pitchFamily="49" charset="0"/>
              </a:rPr>
              <a:t>pwd; ls -l
head -n 2 docs/requests.csv
tail -n 2 logs/app.log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11421B9-088B-A0FD-2106-F2F093D3B55E}"/>
              </a:ext>
            </a:extLst>
          </p:cNvPr>
          <p:cNvSpPr txBox="1"/>
          <p:nvPr/>
        </p:nvSpPr>
        <p:spPr>
          <a:xfrm>
            <a:off x="8636000" y="3136900"/>
            <a:ext cx="2882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FUNGSI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A99E58A-2DB2-AB53-C38F-33BC33E182A4}"/>
              </a:ext>
            </a:extLst>
          </p:cNvPr>
          <p:cNvSpPr txBox="1"/>
          <p:nvPr/>
        </p:nvSpPr>
        <p:spPr>
          <a:xfrm>
            <a:off x="8636000" y="3378200"/>
            <a:ext cx="2882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20">
                <a:solidFill>
                  <a:srgbClr val="192A44"/>
                </a:solidFill>
                <a:latin typeface="Arial" panose="020B0604020202020204" pitchFamily="34" charset="0"/>
              </a:rPr>
              <a:t>Periksa lokasi, izin rwx, awal CSV, dan akhir log.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B825E00-08A1-1F67-F4C5-DCB5CD270F1D}"/>
              </a:ext>
            </a:extLst>
          </p:cNvPr>
          <p:cNvSpPr txBox="1"/>
          <p:nvPr/>
        </p:nvSpPr>
        <p:spPr>
          <a:xfrm>
            <a:off x="8636000" y="4508500"/>
            <a:ext cx="2882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HASIL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9F195CE-CB6C-DB27-E5C5-D02466D9CB5C}"/>
              </a:ext>
            </a:extLst>
          </p:cNvPr>
          <p:cNvSpPr txBox="1"/>
          <p:nvPr/>
        </p:nvSpPr>
        <p:spPr>
          <a:xfrm>
            <a:off x="8636000" y="4749800"/>
            <a:ext cx="2882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20">
                <a:solidFill>
                  <a:srgbClr val="192A44"/>
                </a:solidFill>
                <a:latin typeface="Arial" panose="020B0604020202020204" pitchFamily="34" charset="0"/>
              </a:rPr>
              <a:t>ERROR di log dapat dicari dengan grep untuk analisis incident.</a:t>
            </a:r>
          </a:p>
        </p:txBody>
      </p:sp>
    </p:spTree>
    <p:extLst>
      <p:ext uri="{BB962C8B-B14F-4D97-AF65-F5344CB8AC3E}">
        <p14:creationId xmlns:p14="http://schemas.microsoft.com/office/powerpoint/2010/main" val="4588590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Bangun artefak dengan pipe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kerja nyata  |  screenshots/lab02_artefak.png</a:t>
            </a:r>
            <a:endParaRPr lang="en-US" sz="120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C12FE11-E8BE-D2F0-D9C9-F08B30209BBB}"/>
              </a:ext>
            </a:extLst>
          </p:cNvPr>
          <p:cNvSpPr/>
          <p:nvPr/>
        </p:nvSpPr>
        <p:spPr>
          <a:xfrm>
            <a:off x="457200" y="1447800"/>
            <a:ext cx="7810500" cy="4724400"/>
          </a:xfrm>
          <a:prstGeom prst="rect">
            <a:avLst/>
          </a:prstGeom>
          <a:solidFill>
            <a:srgbClr val="F6F8FC"/>
          </a:solidFill>
          <a:ln>
            <a:solidFill>
              <a:srgbClr val="D3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62490CF2-486B-9A4D-2285-F4062F5A729A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546100" y="1686386"/>
            <a:ext cx="7632700" cy="4247228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43326FA2-BB93-1D28-219C-70299374F973}"/>
              </a:ext>
            </a:extLst>
          </p:cNvPr>
          <p:cNvSpPr/>
          <p:nvPr/>
        </p:nvSpPr>
        <p:spPr>
          <a:xfrm>
            <a:off x="8445500" y="1435100"/>
            <a:ext cx="3263900" cy="4737100"/>
          </a:xfrm>
          <a:prstGeom prst="rect">
            <a:avLst/>
          </a:prstGeom>
          <a:solidFill>
            <a:srgbClr val="F6F8FC"/>
          </a:solidFill>
          <a:ln>
            <a:solidFill>
              <a:srgbClr val="D3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2C04060-775E-C9F4-1785-62428C439807}"/>
              </a:ext>
            </a:extLst>
          </p:cNvPr>
          <p:cNvSpPr/>
          <p:nvPr/>
        </p:nvSpPr>
        <p:spPr>
          <a:xfrm>
            <a:off x="8445500" y="1435100"/>
            <a:ext cx="3263900" cy="63500"/>
          </a:xfrm>
          <a:prstGeom prst="rect">
            <a:avLst/>
          </a:prstGeom>
          <a:solidFill>
            <a:srgbClr val="F3702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8E98E27-C8FB-4DB2-6E9E-3472719FD79D}"/>
              </a:ext>
            </a:extLst>
          </p:cNvPr>
          <p:cNvSpPr txBox="1"/>
          <p:nvPr/>
        </p:nvSpPr>
        <p:spPr>
          <a:xfrm>
            <a:off x="8636000" y="1676400"/>
            <a:ext cx="2882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PERINTAH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772DD4E-4213-5802-DD05-C3FDB8F09EC9}"/>
              </a:ext>
            </a:extLst>
          </p:cNvPr>
          <p:cNvSpPr txBox="1"/>
          <p:nvPr/>
        </p:nvSpPr>
        <p:spPr>
          <a:xfrm>
            <a:off x="8636000" y="1917700"/>
            <a:ext cx="2882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50">
                <a:solidFill>
                  <a:srgbClr val="192A44"/>
                </a:solidFill>
                <a:latin typeface="Consolas" panose="020B0609020204030204" pitchFamily="49" charset="0"/>
              </a:rPr>
              <a:t>grep 'ERROR' logs/app.log &gt; results/errors.txt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6307059-9AB3-02F2-4A5F-049718B6831E}"/>
              </a:ext>
            </a:extLst>
          </p:cNvPr>
          <p:cNvSpPr txBox="1"/>
          <p:nvPr/>
        </p:nvSpPr>
        <p:spPr>
          <a:xfrm>
            <a:off x="8636000" y="3111500"/>
            <a:ext cx="2882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FUNGSI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CFFE152-AF3A-4B12-29AA-55A40480DDA1}"/>
              </a:ext>
            </a:extLst>
          </p:cNvPr>
          <p:cNvSpPr txBox="1"/>
          <p:nvPr/>
        </p:nvSpPr>
        <p:spPr>
          <a:xfrm>
            <a:off x="8636000" y="3352800"/>
            <a:ext cx="2882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20">
                <a:solidFill>
                  <a:srgbClr val="192A44"/>
                </a:solidFill>
                <a:latin typeface="Arial" panose="020B0604020202020204" pitchFamily="34" charset="0"/>
              </a:rPr>
              <a:t>grep memilih baris; &gt; menyimpan output. Pipe dan wc -l menghitung WARN = 2.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2CF913C-6468-1117-4C21-D36EA03E1644}"/>
              </a:ext>
            </a:extLst>
          </p:cNvPr>
          <p:cNvSpPr txBox="1"/>
          <p:nvPr/>
        </p:nvSpPr>
        <p:spPr>
          <a:xfrm>
            <a:off x="8636000" y="4597400"/>
            <a:ext cx="2882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HASIL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4670C91-F9A2-9F5C-9DC6-104B458A9A30}"/>
              </a:ext>
            </a:extLst>
          </p:cNvPr>
          <p:cNvSpPr txBox="1"/>
          <p:nvPr/>
        </p:nvSpPr>
        <p:spPr>
          <a:xfrm>
            <a:off x="8636000" y="4838700"/>
            <a:ext cx="2882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20">
                <a:solidFill>
                  <a:srgbClr val="192A44"/>
                </a:solidFill>
                <a:latin typeface="Arial" panose="020B0604020202020204" pitchFamily="34" charset="0"/>
              </a:rPr>
              <a:t>Periksa files dengan find dan cat; incident.txt mencatat interpretasi log.</a:t>
            </a:r>
          </a:p>
        </p:txBody>
      </p:sp>
    </p:spTree>
    <p:extLst>
      <p:ext uri="{BB962C8B-B14F-4D97-AF65-F5344CB8AC3E}">
        <p14:creationId xmlns:p14="http://schemas.microsoft.com/office/powerpoint/2010/main" val="12690011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skrip Bash sampai lulus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Kunci lengkap ada di modul  |  bukti: screenshots/lab02_uji_terkini.png</a:t>
            </a:r>
            <a:endParaRPr lang="en-US" sz="120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B38BBE0-15B3-8B73-4020-567D35EBFFB0}"/>
              </a:ext>
            </a:extLst>
          </p:cNvPr>
          <p:cNvSpPr/>
          <p:nvPr/>
        </p:nvSpPr>
        <p:spPr>
          <a:xfrm>
            <a:off x="457200" y="1447800"/>
            <a:ext cx="7747000" cy="4724400"/>
          </a:xfrm>
          <a:prstGeom prst="rect">
            <a:avLst/>
          </a:prstGeom>
          <a:solidFill>
            <a:srgbClr val="F6F8FC"/>
          </a:solidFill>
          <a:ln>
            <a:solidFill>
              <a:srgbClr val="D3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E4F208D6-6BD1-18DF-A3D5-10615E35CFD4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546100" y="1735748"/>
            <a:ext cx="7569200" cy="4148504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911A1ED4-51FD-C6B0-2277-6D2AFA75ED3C}"/>
              </a:ext>
            </a:extLst>
          </p:cNvPr>
          <p:cNvSpPr/>
          <p:nvPr/>
        </p:nvSpPr>
        <p:spPr>
          <a:xfrm>
            <a:off x="8382000" y="1435100"/>
            <a:ext cx="3327400" cy="4737100"/>
          </a:xfrm>
          <a:prstGeom prst="rect">
            <a:avLst/>
          </a:prstGeom>
          <a:solidFill>
            <a:srgbClr val="F6F8FC"/>
          </a:solidFill>
          <a:ln>
            <a:solidFill>
              <a:srgbClr val="D3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273A598-7EB6-9C10-0B1C-EEBF7B85FAA4}"/>
              </a:ext>
            </a:extLst>
          </p:cNvPr>
          <p:cNvSpPr/>
          <p:nvPr/>
        </p:nvSpPr>
        <p:spPr>
          <a:xfrm>
            <a:off x="8382000" y="1435100"/>
            <a:ext cx="3327400" cy="63500"/>
          </a:xfrm>
          <a:prstGeom prst="rect">
            <a:avLst/>
          </a:prstGeom>
          <a:solidFill>
            <a:srgbClr val="F3702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FAD026C-2E28-BE33-9F61-4E0695B5B896}"/>
              </a:ext>
            </a:extLst>
          </p:cNvPr>
          <p:cNvSpPr txBox="1"/>
          <p:nvPr/>
        </p:nvSpPr>
        <p:spPr>
          <a:xfrm>
            <a:off x="8572500" y="1676400"/>
            <a:ext cx="2946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PERINTAH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50811BE-47DD-B22F-A0DE-0D18C6785C46}"/>
              </a:ext>
            </a:extLst>
          </p:cNvPr>
          <p:cNvSpPr txBox="1"/>
          <p:nvPr/>
        </p:nvSpPr>
        <p:spPr>
          <a:xfrm>
            <a:off x="8572500" y="1917700"/>
            <a:ext cx="2946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50">
                <a:solidFill>
                  <a:srgbClr val="192A44"/>
                </a:solidFill>
                <a:latin typeface="Consolas" panose="020B0609020204030204" pitchFamily="49" charset="0"/>
              </a:rPr>
              <a:t>cd workspace
chmod u+x scripts/check-status.sh
cd ..
bash scripts/verify.sh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F73FC4F-0655-80E9-5823-821D6FCEB950}"/>
              </a:ext>
            </a:extLst>
          </p:cNvPr>
          <p:cNvSpPr txBox="1"/>
          <p:nvPr/>
        </p:nvSpPr>
        <p:spPr>
          <a:xfrm>
            <a:off x="8572500" y="3124200"/>
            <a:ext cx="2946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FUNGSI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DC85F5C-79CD-BF65-6520-AFA72D494595}"/>
              </a:ext>
            </a:extLst>
          </p:cNvPr>
          <p:cNvSpPr txBox="1"/>
          <p:nvPr/>
        </p:nvSpPr>
        <p:spPr>
          <a:xfrm>
            <a:off x="8572500" y="3365500"/>
            <a:ext cx="2946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20">
                <a:solidFill>
                  <a:srgbClr val="192A44"/>
                </a:solidFill>
                <a:latin typeface="Arial" panose="020B0604020202020204" pitchFamily="34" charset="0"/>
              </a:rPr>
              <a:t>Verifier memeriksa berkas, permission, grep, pipe, dan klasifikasi HTTP.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97D064-C17E-3AE3-0863-A1B425713F45}"/>
              </a:ext>
            </a:extLst>
          </p:cNvPr>
          <p:cNvSpPr txBox="1"/>
          <p:nvPr/>
        </p:nvSpPr>
        <p:spPr>
          <a:xfrm>
            <a:off x="8572500" y="4533900"/>
            <a:ext cx="2946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37021"/>
                </a:solidFill>
                <a:latin typeface="Arial" panose="020B0604020202020204" pitchFamily="34" charset="0"/>
              </a:rPr>
              <a:t>BACA SCREENSHOT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65FE5BA-F8B6-16EF-EB49-A35E0E44D88C}"/>
              </a:ext>
            </a:extLst>
          </p:cNvPr>
          <p:cNvSpPr txBox="1"/>
          <p:nvPr/>
        </p:nvSpPr>
        <p:spPr>
          <a:xfrm>
            <a:off x="8572500" y="4775200"/>
            <a:ext cx="2946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20">
                <a:solidFill>
                  <a:srgbClr val="192A44"/>
                </a:solidFill>
                <a:latin typeface="Arial" panose="020B0604020202020204" pitchFamily="34" charset="0"/>
              </a:rPr>
              <a:t>Hasil: 0 gagal; status 99 ditolak dengan exit code 2. Commit hasil/lab02.md.</a:t>
            </a:r>
          </a:p>
        </p:txBody>
      </p:sp>
    </p:spTree>
    <p:extLst>
      <p:ext uri="{BB962C8B-B14F-4D97-AF65-F5344CB8AC3E}">
        <p14:creationId xmlns:p14="http://schemas.microsoft.com/office/powerpoint/2010/main" val="28114992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5544</Words>
  <Application>Microsoft Office PowerPoint</Application>
  <PresentationFormat>Widescreen</PresentationFormat>
  <Paragraphs>820</Paragraphs>
  <Slides>36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0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Linux Fundamentals - Hands-On - Praktikum 2</dc:title>
  <dc:subject>PptxGenJS Presentation</dc:subject>
  <dc:creator>PptxGenJS</dc:creator>
  <cp:lastModifiedBy>Budi Juarto</cp:lastModifiedBy>
  <cp:revision>2</cp:revision>
  <dcterms:created xsi:type="dcterms:W3CDTF">2026-05-16T03:06:23Z</dcterms:created>
  <dcterms:modified xsi:type="dcterms:W3CDTF">2026-10-07T13:20:16Z</dcterms:modified>
</cp:coreProperties>
</file>