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afae1e637f14b18" /><Relationship Type="http://schemas.openxmlformats.org/officeDocument/2006/relationships/extended-properties" Target="/docProps/app.xml" Id="R68ef286e0c9d4708" /><Relationship Type="http://schemas.openxmlformats.org/officeDocument/2006/relationships/officeDocument" Target="/ppt/presentation.xml" Id="R332849e4840f46e9" /></Relationships>
</file>

<file path=ppt/presentation.xml><?xml version="1.0" encoding="utf-8"?>
<p:presentation xmlns:p="http://schemas.openxmlformats.org/presentationml/2006/main">
  <p:sldMasterIdLst>
    <p:sldMasterId xmlns:r="http://schemas.openxmlformats.org/officeDocument/2006/relationships" id="2147483648" r:id="R333215940e054079"/>
  </p:sldMasterIdLst>
  <p:notesMasterIdLst>
    <p:notesMasterId xmlns:r="http://schemas.openxmlformats.org/officeDocument/2006/relationships" r:id="Rb5e04b44030d48e4"/>
  </p:notesMasterIdLst>
  <p:sldIdLst>
    <p:sldId xmlns:r="http://schemas.openxmlformats.org/officeDocument/2006/relationships" id="256" r:id="R60fa5fe11dbc4fbb"/>
    <p:sldId xmlns:r="http://schemas.openxmlformats.org/officeDocument/2006/relationships" id="257" r:id="Ra04106ac5772431d"/>
    <p:sldId xmlns:r="http://schemas.openxmlformats.org/officeDocument/2006/relationships" id="258" r:id="Rebf86add75a14c93"/>
    <p:sldId xmlns:r="http://schemas.openxmlformats.org/officeDocument/2006/relationships" id="259" r:id="Re164012cde7b4c04"/>
    <p:sldId xmlns:r="http://schemas.openxmlformats.org/officeDocument/2006/relationships" id="260" r:id="R29397a8b91424ee0"/>
    <p:sldId xmlns:r="http://schemas.openxmlformats.org/officeDocument/2006/relationships" id="261" r:id="Rfde2c57f74274d4a"/>
    <p:sldId xmlns:r="http://schemas.openxmlformats.org/officeDocument/2006/relationships" id="262" r:id="R0f5c38a6bc8f43ff"/>
    <p:sldId xmlns:r="http://schemas.openxmlformats.org/officeDocument/2006/relationships" id="263" r:id="Ra90cbdd5d7ef48bf"/>
    <p:sldId xmlns:r="http://schemas.openxmlformats.org/officeDocument/2006/relationships" id="264" r:id="R85c57e52503f4618"/>
    <p:sldId xmlns:r="http://schemas.openxmlformats.org/officeDocument/2006/relationships" id="265" r:id="Rc9e863d1bc864e0b"/>
    <p:sldId xmlns:r="http://schemas.openxmlformats.org/officeDocument/2006/relationships" id="266" r:id="R227a0d8e290f4871"/>
    <p:sldId xmlns:r="http://schemas.openxmlformats.org/officeDocument/2006/relationships" id="267" r:id="R7bff8ea989af421e"/>
    <p:sldId xmlns:r="http://schemas.openxmlformats.org/officeDocument/2006/relationships" id="268" r:id="Re88697c90d9c45f7"/>
    <p:sldId xmlns:r="http://schemas.openxmlformats.org/officeDocument/2006/relationships" id="269" r:id="R4a89bf14c71e4dcf"/>
    <p:sldId xmlns:r="http://schemas.openxmlformats.org/officeDocument/2006/relationships" id="270" r:id="R6fdafad790444727"/>
    <p:sldId xmlns:r="http://schemas.openxmlformats.org/officeDocument/2006/relationships" id="271" r:id="R583b71cacab140e5"/>
    <p:sldId xmlns:r="http://schemas.openxmlformats.org/officeDocument/2006/relationships" id="272" r:id="Rd6ede5f5cea14377"/>
    <p:sldId xmlns:r="http://schemas.openxmlformats.org/officeDocument/2006/relationships" id="273" r:id="Rd75afe30912c4888"/>
    <p:sldId xmlns:r="http://schemas.openxmlformats.org/officeDocument/2006/relationships" id="274" r:id="R468419eb09df4fe0"/>
    <p:sldId xmlns:r="http://schemas.openxmlformats.org/officeDocument/2006/relationships" id="275" r:id="R6fafae1aae9f4245"/>
    <p:sldId xmlns:r="http://schemas.openxmlformats.org/officeDocument/2006/relationships" id="276" r:id="R7ee0a2abd6bf43d0"/>
    <p:sldId xmlns:r="http://schemas.openxmlformats.org/officeDocument/2006/relationships" id="277" r:id="Rf5f8903658094fe5"/>
    <p:sldId xmlns:r="http://schemas.openxmlformats.org/officeDocument/2006/relationships" id="278" r:id="Rd87709a6ba5e4f7b"/>
    <p:sldId xmlns:r="http://schemas.openxmlformats.org/officeDocument/2006/relationships" id="279" r:id="R005745ab4b624b35"/>
    <p:sldId xmlns:r="http://schemas.openxmlformats.org/officeDocument/2006/relationships" id="280" r:id="Rc1b1943bd814402e"/>
    <p:sldId xmlns:r="http://schemas.openxmlformats.org/officeDocument/2006/relationships" id="281" r:id="Rbc71183b570f4463"/>
    <p:sldId xmlns:r="http://schemas.openxmlformats.org/officeDocument/2006/relationships" id="282" r:id="Rbd2f43c9a6f94349"/>
    <p:sldId xmlns:r="http://schemas.openxmlformats.org/officeDocument/2006/relationships" id="283" r:id="Rf9d98537129849f1"/>
    <p:sldId xmlns:r="http://schemas.openxmlformats.org/officeDocument/2006/relationships" id="284" r:id="R65d1c846d76f4ec8"/>
    <p:sldId xmlns:r="http://schemas.openxmlformats.org/officeDocument/2006/relationships" id="285" r:id="R9de36759ed454a6a"/>
    <p:sldId xmlns:r="http://schemas.openxmlformats.org/officeDocument/2006/relationships" id="286" r:id="Rffa1ce0271a94fb9"/>
    <p:sldId xmlns:r="http://schemas.openxmlformats.org/officeDocument/2006/relationships" id="287" r:id="Rb52bc48a9df34987"/>
    <p:sldId xmlns:r="http://schemas.openxmlformats.org/officeDocument/2006/relationships" id="288" r:id="R0a68effa48e84573"/>
    <p:sldId xmlns:r="http://schemas.openxmlformats.org/officeDocument/2006/relationships" id="289" r:id="R8174bc37d23b462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d5520c8137b40af" /><Relationship Type="http://schemas.openxmlformats.org/officeDocument/2006/relationships/slideMaster" Target="/ppt/slideMasters/slideMaster1.xml" Id="R333215940e054079" /><Relationship Type="http://schemas.openxmlformats.org/officeDocument/2006/relationships/notesMaster" Target="/ppt/notesMasters/notesMaster1.xml" Id="Rb5e04b44030d48e4" /><Relationship Type="http://schemas.openxmlformats.org/officeDocument/2006/relationships/presProps" Target="/ppt/presProps.xml" Id="Rd4abc409920a4709" /><Relationship Type="http://schemas.openxmlformats.org/officeDocument/2006/relationships/viewProps" Target="/ppt/viewProps.xml" Id="R54e8e55e17894a0e" /><Relationship Type="http://schemas.openxmlformats.org/officeDocument/2006/relationships/tableStyles" Target="/ppt/tableStyles.xml" Id="R4dfc2ec9876e490c" /><Relationship Type="http://schemas.openxmlformats.org/officeDocument/2006/relationships/slide" Target="/ppt/slides/slide1.xml" Id="R60fa5fe11dbc4fbb" /><Relationship Type="http://schemas.openxmlformats.org/officeDocument/2006/relationships/slide" Target="/ppt/slides/slide2.xml" Id="Ra04106ac5772431d" /><Relationship Type="http://schemas.openxmlformats.org/officeDocument/2006/relationships/slide" Target="/ppt/slides/slide3.xml" Id="Rebf86add75a14c93" /><Relationship Type="http://schemas.openxmlformats.org/officeDocument/2006/relationships/slide" Target="/ppt/slides/slide4.xml" Id="Re164012cde7b4c04" /><Relationship Type="http://schemas.openxmlformats.org/officeDocument/2006/relationships/slide" Target="/ppt/slides/slide5.xml" Id="R29397a8b91424ee0" /><Relationship Type="http://schemas.openxmlformats.org/officeDocument/2006/relationships/slide" Target="/ppt/slides/slide6.xml" Id="Rfde2c57f74274d4a" /><Relationship Type="http://schemas.openxmlformats.org/officeDocument/2006/relationships/slide" Target="/ppt/slides/slide7.xml" Id="R0f5c38a6bc8f43ff" /><Relationship Type="http://schemas.openxmlformats.org/officeDocument/2006/relationships/slide" Target="/ppt/slides/slide8.xml" Id="Ra90cbdd5d7ef48bf" /><Relationship Type="http://schemas.openxmlformats.org/officeDocument/2006/relationships/slide" Target="/ppt/slides/slide9.xml" Id="R85c57e52503f4618" /><Relationship Type="http://schemas.openxmlformats.org/officeDocument/2006/relationships/slide" Target="/ppt/slides/slide10.xml" Id="Rc9e863d1bc864e0b" /><Relationship Type="http://schemas.openxmlformats.org/officeDocument/2006/relationships/slide" Target="/ppt/slides/slide11.xml" Id="R227a0d8e290f4871" /><Relationship Type="http://schemas.openxmlformats.org/officeDocument/2006/relationships/slide" Target="/ppt/slides/slide12.xml" Id="R7bff8ea989af421e" /><Relationship Type="http://schemas.openxmlformats.org/officeDocument/2006/relationships/slide" Target="/ppt/slides/slide13.xml" Id="Re88697c90d9c45f7" /><Relationship Type="http://schemas.openxmlformats.org/officeDocument/2006/relationships/slide" Target="/ppt/slides/slide14.xml" Id="R4a89bf14c71e4dcf" /><Relationship Type="http://schemas.openxmlformats.org/officeDocument/2006/relationships/slide" Target="/ppt/slides/slide15.xml" Id="R6fdafad790444727" /><Relationship Type="http://schemas.openxmlformats.org/officeDocument/2006/relationships/slide" Target="/ppt/slides/slide16.xml" Id="R583b71cacab140e5" /><Relationship Type="http://schemas.openxmlformats.org/officeDocument/2006/relationships/slide" Target="/ppt/slides/slide17.xml" Id="Rd6ede5f5cea14377" /><Relationship Type="http://schemas.openxmlformats.org/officeDocument/2006/relationships/slide" Target="/ppt/slides/slide18.xml" Id="Rd75afe30912c4888" /><Relationship Type="http://schemas.openxmlformats.org/officeDocument/2006/relationships/slide" Target="/ppt/slides/slide19.xml" Id="R468419eb09df4fe0" /><Relationship Type="http://schemas.openxmlformats.org/officeDocument/2006/relationships/slide" Target="/ppt/slides/slide20.xml" Id="R6fafae1aae9f4245" /><Relationship Type="http://schemas.openxmlformats.org/officeDocument/2006/relationships/slide" Target="/ppt/slides/slide21.xml" Id="R7ee0a2abd6bf43d0" /><Relationship Type="http://schemas.openxmlformats.org/officeDocument/2006/relationships/slide" Target="/ppt/slides/slide22.xml" Id="Rf5f8903658094fe5" /><Relationship Type="http://schemas.openxmlformats.org/officeDocument/2006/relationships/slide" Target="/ppt/slides/slide23.xml" Id="Rd87709a6ba5e4f7b" /><Relationship Type="http://schemas.openxmlformats.org/officeDocument/2006/relationships/slide" Target="/ppt/slides/slide24.xml" Id="R005745ab4b624b35" /><Relationship Type="http://schemas.openxmlformats.org/officeDocument/2006/relationships/slide" Target="/ppt/slides/slide25.xml" Id="Rc1b1943bd814402e" /><Relationship Type="http://schemas.openxmlformats.org/officeDocument/2006/relationships/slide" Target="/ppt/slides/slide26.xml" Id="Rbc71183b570f4463" /><Relationship Type="http://schemas.openxmlformats.org/officeDocument/2006/relationships/slide" Target="/ppt/slides/slide27.xml" Id="Rbd2f43c9a6f94349" /><Relationship Type="http://schemas.openxmlformats.org/officeDocument/2006/relationships/slide" Target="/ppt/slides/slide28.xml" Id="Rf9d98537129849f1" /><Relationship Type="http://schemas.openxmlformats.org/officeDocument/2006/relationships/slide" Target="/ppt/slides/slide29.xml" Id="R65d1c846d76f4ec8" /><Relationship Type="http://schemas.openxmlformats.org/officeDocument/2006/relationships/slide" Target="/ppt/slides/slide30.xml" Id="R9de36759ed454a6a" /><Relationship Type="http://schemas.openxmlformats.org/officeDocument/2006/relationships/slide" Target="/ppt/slides/slide31.xml" Id="Rffa1ce0271a94fb9" /><Relationship Type="http://schemas.openxmlformats.org/officeDocument/2006/relationships/slide" Target="/ppt/slides/slide32.xml" Id="Rb52bc48a9df34987" /><Relationship Type="http://schemas.openxmlformats.org/officeDocument/2006/relationships/slide" Target="/ppt/slides/slide33.xml" Id="R0a68effa48e84573" /><Relationship Type="http://schemas.openxmlformats.org/officeDocument/2006/relationships/slide" Target="/ppt/slides/slide34.xml" Id="R8174bc37d23b46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d8b7cef3994e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dac704474a482c" /><Relationship Type="http://schemas.openxmlformats.org/officeDocument/2006/relationships/notesMaster" Target="/ppt/notesMasters/notesMaster1.xml" Id="Rbf63edf1b85d43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44370df6ab4cfe" /><Relationship Type="http://schemas.openxmlformats.org/officeDocument/2006/relationships/notesMaster" Target="/ppt/notesMasters/notesMaster1.xml" Id="Re73cf53b9eb149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3101d3b4a24fab" /><Relationship Type="http://schemas.openxmlformats.org/officeDocument/2006/relationships/notesMaster" Target="/ppt/notesMasters/notesMaster1.xml" Id="Ra79f434034534e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fb05e4f31f40dd" /><Relationship Type="http://schemas.openxmlformats.org/officeDocument/2006/relationships/notesMaster" Target="/ppt/notesMasters/notesMaster1.xml" Id="R69b54b4aeac64f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3548ebb5c14b28" /><Relationship Type="http://schemas.openxmlformats.org/officeDocument/2006/relationships/notesMaster" Target="/ppt/notesMasters/notesMaster1.xml" Id="Rd1075e51cff340a7"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0a39e9a4234a9d" /><Relationship Type="http://schemas.openxmlformats.org/officeDocument/2006/relationships/notesMaster" Target="/ppt/notesMasters/notesMaster1.xml" Id="R78be2a9a52774e1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bd76f2840745f8" /><Relationship Type="http://schemas.openxmlformats.org/officeDocument/2006/relationships/notesMaster" Target="/ppt/notesMasters/notesMaster1.xml" Id="R302210b164b746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d0cc0bdc40bb408b" /><Relationship Type="http://schemas.openxmlformats.org/officeDocument/2006/relationships/notesMaster" Target="/ppt/notesMasters/notesMaster1.xml" Id="R7552e996490b4c6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9685f7a094441f1" /><Relationship Type="http://schemas.openxmlformats.org/officeDocument/2006/relationships/notesMaster" Target="/ppt/notesMasters/notesMaster1.xml" Id="Rce9ba902318f401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00bfee2c2514d87" /><Relationship Type="http://schemas.openxmlformats.org/officeDocument/2006/relationships/notesMaster" Target="/ppt/notesMasters/notesMaster1.xml" Id="R58f6745b000e425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959776ca8134ff4" /><Relationship Type="http://schemas.openxmlformats.org/officeDocument/2006/relationships/notesMaster" Target="/ppt/notesMasters/notesMaster1.xml" Id="Rf11cb20b13e74ce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6727a387fab40b7" /><Relationship Type="http://schemas.openxmlformats.org/officeDocument/2006/relationships/notesMaster" Target="/ppt/notesMasters/notesMaster1.xml" Id="Rebaf39fcd17c4e2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09e30081c954e6b" /><Relationship Type="http://schemas.openxmlformats.org/officeDocument/2006/relationships/notesMaster" Target="/ppt/notesMasters/notesMaster1.xml" Id="R2714172f60904ae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cde8f7618c84c48" /><Relationship Type="http://schemas.openxmlformats.org/officeDocument/2006/relationships/notesMaster" Target="/ppt/notesMasters/notesMaster1.xml" Id="Rf4712c04bf4f461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0fc8973a6eb4dda" /><Relationship Type="http://schemas.openxmlformats.org/officeDocument/2006/relationships/notesMaster" Target="/ppt/notesMasters/notesMaster1.xml" Id="R74e7151ee3af440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48356901ddc478a" /><Relationship Type="http://schemas.openxmlformats.org/officeDocument/2006/relationships/notesMaster" Target="/ppt/notesMasters/notesMaster1.xml" Id="R1fe1da911710481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a9feff0c4e349d9" /><Relationship Type="http://schemas.openxmlformats.org/officeDocument/2006/relationships/notesMaster" Target="/ppt/notesMasters/notesMaster1.xml" Id="R7a488973d638430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986091c0ca04748" /><Relationship Type="http://schemas.openxmlformats.org/officeDocument/2006/relationships/notesMaster" Target="/ppt/notesMasters/notesMaster1.xml" Id="Rc4502ae7e61c4ae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001d77448f94525" /><Relationship Type="http://schemas.openxmlformats.org/officeDocument/2006/relationships/notesMaster" Target="/ppt/notesMasters/notesMaster1.xml" Id="R47b66f2674c94af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2cad7cc57e94c72" /><Relationship Type="http://schemas.openxmlformats.org/officeDocument/2006/relationships/notesMaster" Target="/ppt/notesMasters/notesMaster1.xml" Id="R457e1999b50743b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65c4260ab68424f" /><Relationship Type="http://schemas.openxmlformats.org/officeDocument/2006/relationships/notesMaster" Target="/ppt/notesMasters/notesMaster1.xml" Id="Rf2c07d5884e94ac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fab6d8cf94d4488" /><Relationship Type="http://schemas.openxmlformats.org/officeDocument/2006/relationships/notesMaster" Target="/ppt/notesMasters/notesMaster1.xml" Id="R506393944a04494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7e8cfd622d148e2" /><Relationship Type="http://schemas.openxmlformats.org/officeDocument/2006/relationships/notesMaster" Target="/ppt/notesMasters/notesMaster1.xml" Id="Re54f7f8edf294bc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8895d5795994082" /><Relationship Type="http://schemas.openxmlformats.org/officeDocument/2006/relationships/notesMaster" Target="/ppt/notesMasters/notesMaster1.xml" Id="Rce422f24af854b7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235adb038264b64" /><Relationship Type="http://schemas.openxmlformats.org/officeDocument/2006/relationships/notesMaster" Target="/ppt/notesMasters/notesMaster1.xml" Id="Rdf35374a3f3049f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f8d81c4de394ed7" /><Relationship Type="http://schemas.openxmlformats.org/officeDocument/2006/relationships/notesMaster" Target="/ppt/notesMasters/notesMaster1.xml" Id="R2fa7b485eed84f8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e0fc8f96cbb412f" /><Relationship Type="http://schemas.openxmlformats.org/officeDocument/2006/relationships/notesMaster" Target="/ppt/notesMasters/notesMaster1.xml" Id="R108a4358638f4fb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b5a09df0b0042cd" /><Relationship Type="http://schemas.openxmlformats.org/officeDocument/2006/relationships/notesMaster" Target="/ppt/notesMasters/notesMaster1.xml" Id="R577513b970144e8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a4eb1518f664cb9" /><Relationship Type="http://schemas.openxmlformats.org/officeDocument/2006/relationships/notesMaster" Target="/ppt/notesMasters/notesMaster1.xml" Id="R8842365837e6466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39aefdf313442b3" /><Relationship Type="http://schemas.openxmlformats.org/officeDocument/2006/relationships/notesMaster" Target="/ppt/notesMasters/notesMaster1.xml" Id="R0cb2bda7112f48b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aced0b66f8a4df4" /><Relationship Type="http://schemas.openxmlformats.org/officeDocument/2006/relationships/notesMaster" Target="/ppt/notesMasters/notesMaster1.xml" Id="R9add9e8562cb48e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951d3b6a37b4eba" /><Relationship Type="http://schemas.openxmlformats.org/officeDocument/2006/relationships/notesMaster" Target="/ppt/notesMasters/notesMaster1.xml" Id="R4ecdac5becc0437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df41a7525c84ccd" /><Relationship Type="http://schemas.openxmlformats.org/officeDocument/2006/relationships/notesMaster" Target="/ppt/notesMasters/notesMaster1.xml" Id="Re8b362d8e516490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f5566605bf54288" /><Relationship Type="http://schemas.openxmlformats.org/officeDocument/2006/relationships/notesMaster" Target="/ppt/notesMasters/notesMaster1.xml" Id="R00b655d85c7248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
Angka pangsa server/VM dari draft lama dihilangkan karena tidak mengukur keseluruhan server cloud secara konsisten. Bagian ini menekankan alasan operasional memilih Linux. Microsoft Learn: https://learn.microsoft.com/en-us/windows/wsl/tutorials/linux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
Ukuran image Alpine dan kebutuhan RAM VM bergantung versi, paket, serta konfigurasi; tidak ada satu angka tetap. Jalur praktik Lab 02 memakai WSL/Linux/macOS/Codespaces, tanpa Oracle Cloud.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
Contoh xargs memakai -print0 dan -0 agar nama berkas yang memuat spasi tetap utuh; -r mencegah rm dipanggil saat tidak ada temuan pada GNU xargs. Alternatif sederhana: find . -name "*.tmp" -delete. Jalankan hanya pada folder latihan.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ns0:p xmlns:ns0="http://schemas.openxmlformats.org/drawingml/2006/main">
            <ns0:r>
              <ns0:t>Rujukan pembaruan konsep 18 Oktober 2026:</ns0:t>
            </ns0:r>
          </ns0:p>
          <ns1:p xmlns:ns1="http://schemas.openxmlformats.org/drawingml/2006/main">
            <ns1:r>
              <ns1:t>https://www.gnu.org/software/coreutils/manual/html_node/Setting-Permissions.html</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RPS PDF, sesi teori dan lab 2.</a:t>
            </a:r>
          </a:p>
          <a:p xmlns:a="http://schemas.openxmlformats.org/drawingml/2006/main">
            <a:r>
              <a:t>
Lab resmi: https://github.com/SeedFlora/meet2CloudService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Hubungkan navigasi path, grep, pipe, redirection, permission, dan exit code dengan tugas operasi server nyata. Screenshot adalah hasil uji lokal Lab 02. Seri video Microsoft Learn menjelaskan dasar Bash. Panduan WSL membantu pengguna Windows menyiapkan Linux. Sumber dibuka 8 Oktober 2026.</a:t>
            </a:r>
          </a:p>
          <a:p xmlns:a="http://schemas.openxmlformats.org/drawingml/2006/main">
            <a:r>
              <a:t>Screenshot: D:\cloud services\Cloud_Services_All_Labs_Siap_Push\labs\02\screenshots\lab02_verify.png</a:t>
            </a:r>
          </a:p>
          <a:p xmlns:a="http://schemas.openxmlformats.org/drawingml/2006/main">
            <a:r>
              <a:t>Repo: https://github.com/SeedFlora/meet2CloudService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Hubungkan navigasi path, grep, pipe, redirection, permission, dan exit code dengan tugas operasi server nyata. Screenshot adalah hasil uji lokal Lab 02. Seri video Microsoft Learn menjelaskan dasar Bash. Panduan WSL membantu pengguna Windows menyiapkan Linux. Sumber dibuka 8 Oktober 2026.</a:t>
            </a:r>
          </a:p>
          <a:p xmlns:a="http://schemas.openxmlformats.org/drawingml/2006/main">
            <a:r>
              <a:t>Video: https://learn.microsoft.com/en-us/shows/bash-for-beginners/</a:t>
            </a:r>
          </a:p>
          <a:p xmlns:a="http://schemas.openxmlformats.org/drawingml/2006/main">
            <a:r>
              <a:t>Artikel: https://learn.microsoft.com/en-us/windows/wsl/tutorials/linux</a:t>
            </a:r>
          </a:p>
          <a:p xmlns:a="http://schemas.openxmlformats.org/drawingml/2006/main">
            <a:r>
              <a:t>Rujukan tambahan: https://www.gnu.org/software/bash/manual/bash.html</a:t>
            </a:r>
          </a:p>
          <a:p xmlns:a="http://schemas.openxmlformats.org/drawingml/2006/main">
            <a:r>
              <a:t>Repo lab: https://github.com/SeedFlora/meet2CloudService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8b6e4a08c944e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c7d58c40d304cae"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type="blank" preserve="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32f6ad3f1f4d4c" /><Relationship Type="http://schemas.openxmlformats.org/officeDocument/2006/relationships/slideLayout" Target="/ppt/slideLayouts/slideLayout1.xml" Id="R7b997d2f7b3d4feb" /><Relationship Type="http://schemas.openxmlformats.org/officeDocument/2006/relationships/slideLayout" Target="/ppt/slideLayouts/slideLayout2.xml" Id="R639b1dd1db034e5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997d2f7b3d4feb"/>
    <p:sldLayoutId xmlns:r="http://schemas.openxmlformats.org/officeDocument/2006/relationships" id="2147483650" r:id="R639b1dd1db034e54"/>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4b05f98527c41d9" /><Relationship Type="http://schemas.openxmlformats.org/officeDocument/2006/relationships/image" Target="/ppt/media/image.jpeg" Id="R9bbf7aba7d1f4c18" /><Relationship Type="http://schemas.openxmlformats.org/officeDocument/2006/relationships/image" Target="/ppt/media/image.png" Id="Rc79c944dc92144d8" /><Relationship Type="http://schemas.openxmlformats.org/officeDocument/2006/relationships/image" Target="/ppt/media/image2.png" Id="R0ad123e7df594e21" /><Relationship Type="http://schemas.openxmlformats.org/officeDocument/2006/relationships/notesSlide" Target="/ppt/notesSlides/notesSlide1.xml" Id="R2b207063048f46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2e4e5b769554238" /><Relationship Type="http://schemas.openxmlformats.org/officeDocument/2006/relationships/image" Target="/ppt/media/image.png" Id="R0a1e8544472e4c19" /><Relationship Type="http://schemas.openxmlformats.org/officeDocument/2006/relationships/image" Target="/ppt/media/image2.png" Id="R47fefd957a714567" /><Relationship Type="http://schemas.openxmlformats.org/officeDocument/2006/relationships/image" Target="/ppt/media/image3.png" Id="R64ca536be50a4edc" /><Relationship Type="http://schemas.openxmlformats.org/officeDocument/2006/relationships/image" Target="/ppt/media/image4.png" Id="R29c50a4b41ec45a9" /><Relationship Type="http://schemas.openxmlformats.org/officeDocument/2006/relationships/image" Target="/ppt/media/image5.png" Id="R741121774e3c4f05" /><Relationship Type="http://schemas.openxmlformats.org/officeDocument/2006/relationships/image" Target="/ppt/media/image6.png" Id="R7c21e9adeee64000" /><Relationship Type="http://schemas.openxmlformats.org/officeDocument/2006/relationships/image" Target="/ppt/media/image7.png" Id="R11f408b351624ca0" /><Relationship Type="http://schemas.openxmlformats.org/officeDocument/2006/relationships/notesSlide" Target="/ppt/notesSlides/notesSlide2.xml" Id="Race7fe16e0904f9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7fa1743454e4654" /><Relationship Type="http://schemas.openxmlformats.org/officeDocument/2006/relationships/image" Target="/ppt/media/image.png" Id="R42a472ccbc68438b" /><Relationship Type="http://schemas.openxmlformats.org/officeDocument/2006/relationships/image" Target="/ppt/media/image2.png" Id="R3af0a9797ad64b4f" /><Relationship Type="http://schemas.openxmlformats.org/officeDocument/2006/relationships/image" Target="/ppt/media/image8.png" Id="R9b051a12ed8b48db" /><Relationship Type="http://schemas.openxmlformats.org/officeDocument/2006/relationships/image" Target="/ppt/media/image9.png" Id="R6bc516ab00fa4b24" /><Relationship Type="http://schemas.openxmlformats.org/officeDocument/2006/relationships/image" Target="/ppt/media/image10.png" Id="R3452c40d9b3548de" /><Relationship Type="http://schemas.openxmlformats.org/officeDocument/2006/relationships/image" Target="/ppt/media/image11.png" Id="R15fe36b676b440b7" /><Relationship Type="http://schemas.openxmlformats.org/officeDocument/2006/relationships/notesSlide" Target="/ppt/notesSlides/notesSlide3.xml" Id="R8b83737a97c04ce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f8942c44b0549b8" /><Relationship Type="http://schemas.openxmlformats.org/officeDocument/2006/relationships/image" Target="/ppt/media/image.png" Id="Rce345ec8cf2542cc" /><Relationship Type="http://schemas.openxmlformats.org/officeDocument/2006/relationships/image" Target="/ppt/media/image2.png" Id="Raa9c514a05d343de" /><Relationship Type="http://schemas.openxmlformats.org/officeDocument/2006/relationships/notesSlide" Target="/ppt/notesSlides/notesSlide4.xml" Id="Re8a1473c2d024c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16e85f09ac542ff" /><Relationship Type="http://schemas.openxmlformats.org/officeDocument/2006/relationships/image" Target="/ppt/media/image.png" Id="R89d27850399f4069" /><Relationship Type="http://schemas.openxmlformats.org/officeDocument/2006/relationships/image" Target="/ppt/media/image2.png" Id="R8cab4616e86e4773" /><Relationship Type="http://schemas.openxmlformats.org/officeDocument/2006/relationships/image" Target="/ppt/media/image12.png" Id="R24e70ad5fe44494c" /><Relationship Type="http://schemas.openxmlformats.org/officeDocument/2006/relationships/notesSlide" Target="/ppt/notesSlides/notesSlide5.xml" Id="R546e13004fe84f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bcecb357cd4dbc" /><Relationship Type="http://schemas.openxmlformats.org/officeDocument/2006/relationships/image" Target="/ppt/media/image.png" Id="Rb66fe671b59e43c3" /><Relationship Type="http://schemas.openxmlformats.org/officeDocument/2006/relationships/image" Target="/ppt/media/image2.png" Id="Rb5129bfe57fb4c7a" /><Relationship Type="http://schemas.openxmlformats.org/officeDocument/2006/relationships/image" Target="/ppt/media/image13.png" Id="Rff01ba252d354a6b" /><Relationship Type="http://schemas.openxmlformats.org/officeDocument/2006/relationships/image" Target="/ppt/media/image14.png" Id="R7cedda928ff74e1c" /><Relationship Type="http://schemas.openxmlformats.org/officeDocument/2006/relationships/image" Target="/ppt/media/image15.png" Id="R9848b57884004596" /><Relationship Type="http://schemas.openxmlformats.org/officeDocument/2006/relationships/image" Target="/ppt/media/image16.png" Id="R1b7a8d9d11804984" /><Relationship Type="http://schemas.openxmlformats.org/officeDocument/2006/relationships/image" Target="/ppt/media/image17.png" Id="R5715bf5d077242ba" /><Relationship Type="http://schemas.openxmlformats.org/officeDocument/2006/relationships/notesSlide" Target="/ppt/notesSlides/notesSlide6.xml" Id="Rfde4f21202b6434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6082cef7f2f4b9e" /><Relationship Type="http://schemas.openxmlformats.org/officeDocument/2006/relationships/image" Target="/ppt/media/image.png" Id="R067c65a07316432f" /><Relationship Type="http://schemas.openxmlformats.org/officeDocument/2006/relationships/image" Target="/ppt/media/image2.png" Id="R12911a639e1f4440" /><Relationship Type="http://schemas.openxmlformats.org/officeDocument/2006/relationships/notesSlide" Target="/ppt/notesSlides/notesSlide7.xml" Id="R4e7759d2a98741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a605626806140a1" /><Relationship Type="http://schemas.openxmlformats.org/officeDocument/2006/relationships/image" Target="/ppt/media/image.png" Id="R08813da894874b17" /><Relationship Type="http://schemas.openxmlformats.org/officeDocument/2006/relationships/image" Target="/ppt/media/image2.png" Id="R3a4a9d3390ed4986" /><Relationship Type="http://schemas.openxmlformats.org/officeDocument/2006/relationships/notesSlide" Target="/ppt/notesSlides/notesSlide8.xml" Id="R946a4188d4b549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620dff17bb44e51" /><Relationship Type="http://schemas.openxmlformats.org/officeDocument/2006/relationships/image" Target="/ppt/media/image.png" Id="R6f908956b94a49a3" /><Relationship Type="http://schemas.openxmlformats.org/officeDocument/2006/relationships/image" Target="/ppt/media/image2.png" Id="Rf94297f2763b4526" /><Relationship Type="http://schemas.openxmlformats.org/officeDocument/2006/relationships/notesSlide" Target="/ppt/notesSlides/notesSlide9.xml" Id="R6b9dda103ef84a3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5e74356fb6f4826" /><Relationship Type="http://schemas.openxmlformats.org/officeDocument/2006/relationships/image" Target="/ppt/media/image.png" Id="Rb973d886d57744b0" /><Relationship Type="http://schemas.openxmlformats.org/officeDocument/2006/relationships/image" Target="/ppt/media/image2.png" Id="R341f6e775ef741e5" /><Relationship Type="http://schemas.openxmlformats.org/officeDocument/2006/relationships/notesSlide" Target="/ppt/notesSlides/notesSlide10.xml" Id="Rda13eb0a66d14be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47cdc7d19894d1f" /><Relationship Type="http://schemas.openxmlformats.org/officeDocument/2006/relationships/image" Target="/ppt/media/image.png" Id="R689f334482914541" /><Relationship Type="http://schemas.openxmlformats.org/officeDocument/2006/relationships/image" Target="/ppt/media/image2.png" Id="R1647727b935b4bee" /><Relationship Type="http://schemas.openxmlformats.org/officeDocument/2006/relationships/image" Target="/ppt/media/image7.png" Id="R87e533bd59174a40" /><Relationship Type="http://schemas.openxmlformats.org/officeDocument/2006/relationships/notesSlide" Target="/ppt/notesSlides/notesSlide11.xml" Id="R120730240a70431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d8bafedf5504b1b" /><Relationship Type="http://schemas.openxmlformats.org/officeDocument/2006/relationships/image" Target="/ppt/media/image.png" Id="R271b4f0e93bb4161" /><Relationship Type="http://schemas.openxmlformats.org/officeDocument/2006/relationships/image" Target="/ppt/media/image2.png" Id="R3de9206730a04024" /><Relationship Type="http://schemas.openxmlformats.org/officeDocument/2006/relationships/notesSlide" Target="/ppt/notesSlides/notesSlide12.xml" Id="Rd08d4616b95d40e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9b75cf977894101" /><Relationship Type="http://schemas.openxmlformats.org/officeDocument/2006/relationships/image" Target="/ppt/media/image.png" Id="Rab3a8802074a4985" /><Relationship Type="http://schemas.openxmlformats.org/officeDocument/2006/relationships/image" Target="/ppt/media/image2.png" Id="R8c26ddbc2b334671" /><Relationship Type="http://schemas.openxmlformats.org/officeDocument/2006/relationships/image" Target="/ppt/media/image18.png" Id="R8a25df76cd994f0b" /><Relationship Type="http://schemas.openxmlformats.org/officeDocument/2006/relationships/image" Target="/ppt/media/image19.png" Id="R3b12f0dc4e074638" /><Relationship Type="http://schemas.openxmlformats.org/officeDocument/2006/relationships/image" Target="/ppt/media/image20.png" Id="Rf95aea7120754470" /><Relationship Type="http://schemas.openxmlformats.org/officeDocument/2006/relationships/image" Target="/ppt/media/image21.png" Id="R015dda558e734aea" /><Relationship Type="http://schemas.openxmlformats.org/officeDocument/2006/relationships/image" Target="/ppt/media/image22.png" Id="R8a6274dd99e04aa0" /><Relationship Type="http://schemas.openxmlformats.org/officeDocument/2006/relationships/image" Target="/ppt/media/image23.png" Id="R21c9820404d4483a" /><Relationship Type="http://schemas.openxmlformats.org/officeDocument/2006/relationships/notesSlide" Target="/ppt/notesSlides/notesSlide13.xml" Id="R53b695dd4c77400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6412bc01f0d422c" /><Relationship Type="http://schemas.openxmlformats.org/officeDocument/2006/relationships/image" Target="/ppt/media/image.png" Id="R6eb80a290bbb4d6f" /><Relationship Type="http://schemas.openxmlformats.org/officeDocument/2006/relationships/image" Target="/ppt/media/image2.png" Id="R999b691e335c4ae1" /><Relationship Type="http://schemas.openxmlformats.org/officeDocument/2006/relationships/notesSlide" Target="/ppt/notesSlides/notesSlide14.xml" Id="R796aa1966cec4b3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c5ef09e91644217" /><Relationship Type="http://schemas.openxmlformats.org/officeDocument/2006/relationships/image" Target="/ppt/media/image.png" Id="R90cbff2f54694e72" /><Relationship Type="http://schemas.openxmlformats.org/officeDocument/2006/relationships/image" Target="/ppt/media/image2.png" Id="R7e2030957b3647bb" /><Relationship Type="http://schemas.openxmlformats.org/officeDocument/2006/relationships/notesSlide" Target="/ppt/notesSlides/notesSlide15.xml" Id="Re2a05edcf9c84e1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217eaff992845a6" /><Relationship Type="http://schemas.openxmlformats.org/officeDocument/2006/relationships/image" Target="/ppt/media/image.png" Id="R426dd25d1d544788" /><Relationship Type="http://schemas.openxmlformats.org/officeDocument/2006/relationships/image" Target="/ppt/media/image2.png" Id="Ra11d267cecc84ba5" /><Relationship Type="http://schemas.openxmlformats.org/officeDocument/2006/relationships/notesSlide" Target="/ppt/notesSlides/notesSlide16.xml" Id="Rd5fd8321c52b49f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c8ec4c925c948c4" /><Relationship Type="http://schemas.openxmlformats.org/officeDocument/2006/relationships/image" Target="/ppt/media/image.png" Id="R41f3470cfcfa43f5" /><Relationship Type="http://schemas.openxmlformats.org/officeDocument/2006/relationships/image" Target="/ppt/media/image2.png" Id="R0b1314b69e5047d2" /><Relationship Type="http://schemas.openxmlformats.org/officeDocument/2006/relationships/notesSlide" Target="/ppt/notesSlides/notesSlide17.xml" Id="Rdce218af46e045e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46a015a45fb4874" /><Relationship Type="http://schemas.openxmlformats.org/officeDocument/2006/relationships/image" Target="/ppt/media/image.png" Id="R6fbe910bd3a94710" /><Relationship Type="http://schemas.openxmlformats.org/officeDocument/2006/relationships/image" Target="/ppt/media/image2.png" Id="Rbd857a9199e541f3" /><Relationship Type="http://schemas.openxmlformats.org/officeDocument/2006/relationships/notesSlide" Target="/ppt/notesSlides/notesSlide18.xml" Id="R65fb70a0a4d5481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33c3bc973584066" /><Relationship Type="http://schemas.openxmlformats.org/officeDocument/2006/relationships/image" Target="/ppt/media/image.png" Id="R5f5262362aab4cf7" /><Relationship Type="http://schemas.openxmlformats.org/officeDocument/2006/relationships/image" Target="/ppt/media/image2.png" Id="Rd87b1f74c025487f" /><Relationship Type="http://schemas.openxmlformats.org/officeDocument/2006/relationships/notesSlide" Target="/ppt/notesSlides/notesSlide19.xml" Id="R75c44bcabf8a45e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8e213fe42d44c8c" /><Relationship Type="http://schemas.openxmlformats.org/officeDocument/2006/relationships/image" Target="/ppt/media/image.png" Id="R6615c6c27c1e4a13" /><Relationship Type="http://schemas.openxmlformats.org/officeDocument/2006/relationships/image" Target="/ppt/media/image2.png" Id="R32c8681cd1c2433e" /><Relationship Type="http://schemas.openxmlformats.org/officeDocument/2006/relationships/image" Target="/ppt/media/image6.png" Id="Rb9a4dac099c94e62" /><Relationship Type="http://schemas.openxmlformats.org/officeDocument/2006/relationships/image" Target="/ppt/media/image24.png" Id="Rabef44764bbe438f" /><Relationship Type="http://schemas.openxmlformats.org/officeDocument/2006/relationships/image" Target="/ppt/media/image23.png" Id="R3fba5e890c504df4" /><Relationship Type="http://schemas.openxmlformats.org/officeDocument/2006/relationships/notesSlide" Target="/ppt/notesSlides/notesSlide20.xml" Id="Rae51b4be324c42f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b456cae4f08436f" /><Relationship Type="http://schemas.openxmlformats.org/officeDocument/2006/relationships/image" Target="/ppt/media/image.png" Id="R1770d3ef4e9c4af1" /><Relationship Type="http://schemas.openxmlformats.org/officeDocument/2006/relationships/image" Target="/ppt/media/image2.png" Id="R47fc3bf56d5a4770" /><Relationship Type="http://schemas.openxmlformats.org/officeDocument/2006/relationships/notesSlide" Target="/ppt/notesSlides/notesSlide21.xml" Id="Rc2c7d6c251e345d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2b1f17860014670" /><Relationship Type="http://schemas.openxmlformats.org/officeDocument/2006/relationships/image" Target="/ppt/media/image.png" Id="R224208c9b6f64fb2" /><Relationship Type="http://schemas.openxmlformats.org/officeDocument/2006/relationships/image" Target="/ppt/media/image2.png" Id="R4884f236f0bd44d4" /><Relationship Type="http://schemas.openxmlformats.org/officeDocument/2006/relationships/image" Target="/ppt/media/image13.png" Id="Rb698667d98a248cb" /><Relationship Type="http://schemas.openxmlformats.org/officeDocument/2006/relationships/image" Target="/ppt/media/image15.png" Id="Rcf5c93099e3d48bf" /><Relationship Type="http://schemas.openxmlformats.org/officeDocument/2006/relationships/notesSlide" Target="/ppt/notesSlides/notesSlide22.xml" Id="Ra924935563e1421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7edb26356914f9b" /><Relationship Type="http://schemas.openxmlformats.org/officeDocument/2006/relationships/image" Target="/ppt/media/image.png" Id="Re0b41367f14145dc" /><Relationship Type="http://schemas.openxmlformats.org/officeDocument/2006/relationships/image" Target="/ppt/media/image2.png" Id="Rf1293f7b2bd244ff" /><Relationship Type="http://schemas.openxmlformats.org/officeDocument/2006/relationships/notesSlide" Target="/ppt/notesSlides/notesSlide23.xml" Id="Rf4ef57272c1e4b9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fdebe833e62495d" /><Relationship Type="http://schemas.openxmlformats.org/officeDocument/2006/relationships/image" Target="/ppt/media/image.png" Id="Rc56bed98680048ff" /><Relationship Type="http://schemas.openxmlformats.org/officeDocument/2006/relationships/image" Target="/ppt/media/image2.png" Id="R3e1f18e3f5224351" /><Relationship Type="http://schemas.openxmlformats.org/officeDocument/2006/relationships/notesSlide" Target="/ppt/notesSlides/notesSlide24.xml" Id="Rc504acea5f434d1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93f83e8f37642fd" /><Relationship Type="http://schemas.openxmlformats.org/officeDocument/2006/relationships/image" Target="/ppt/media/image.png" Id="Rf59147d990614def" /><Relationship Type="http://schemas.openxmlformats.org/officeDocument/2006/relationships/image" Target="/ppt/media/image2.png" Id="R1d7ce330352c469e" /><Relationship Type="http://schemas.openxmlformats.org/officeDocument/2006/relationships/image" Target="/ppt/media/image25.png" Id="R4c9533dfa0014f28" /><Relationship Type="http://schemas.openxmlformats.org/officeDocument/2006/relationships/image" Target="/ppt/media/image26.png" Id="R85f777ad3f0d4771" /><Relationship Type="http://schemas.openxmlformats.org/officeDocument/2006/relationships/image" Target="/ppt/media/image27.png" Id="R3d8003ac81574635" /><Relationship Type="http://schemas.openxmlformats.org/officeDocument/2006/relationships/notesSlide" Target="/ppt/notesSlides/notesSlide25.xml" Id="R4982e5d88918467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b8888a888b64c56" /><Relationship Type="http://schemas.openxmlformats.org/officeDocument/2006/relationships/image" Target="/ppt/media/image.png" Id="R41afa24c957e463c" /><Relationship Type="http://schemas.openxmlformats.org/officeDocument/2006/relationships/image" Target="/ppt/media/image2.png" Id="R137846e30a634f0b" /><Relationship Type="http://schemas.openxmlformats.org/officeDocument/2006/relationships/notesSlide" Target="/ppt/notesSlides/notesSlide26.xml" Id="Rb7a60434b97841d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f99f8c304324cd1" /><Relationship Type="http://schemas.openxmlformats.org/officeDocument/2006/relationships/image" Target="/ppt/media/image.png" Id="Rc71aa4586c494652" /><Relationship Type="http://schemas.openxmlformats.org/officeDocument/2006/relationships/image" Target="/ppt/media/image2.png" Id="R51a67b6348734c44" /><Relationship Type="http://schemas.openxmlformats.org/officeDocument/2006/relationships/image" Target="/ppt/media/image10.png" Id="Rafa352271ac2466e" /><Relationship Type="http://schemas.openxmlformats.org/officeDocument/2006/relationships/notesSlide" Target="/ppt/notesSlides/notesSlide27.xml" Id="R3bed7b95aed64cc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34c290df2904e84" /><Relationship Type="http://schemas.openxmlformats.org/officeDocument/2006/relationships/image" Target="/ppt/media/image.png" Id="Re20e61aecc3f41dd" /><Relationship Type="http://schemas.openxmlformats.org/officeDocument/2006/relationships/image" Target="/ppt/media/image2.png" Id="R2e21aba3af1240a8" /><Relationship Type="http://schemas.openxmlformats.org/officeDocument/2006/relationships/notesSlide" Target="/ppt/notesSlides/notesSlide28.xml" Id="Rea65405ddf0449b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65266748fe54dd2" /><Relationship Type="http://schemas.openxmlformats.org/officeDocument/2006/relationships/image" Target="/ppt/media/image.png" Id="R50cffb36e2ff46e5" /><Relationship Type="http://schemas.openxmlformats.org/officeDocument/2006/relationships/image" Target="/ppt/media/image2.png" Id="R9f4d8f0a4f804ecf" /><Relationship Type="http://schemas.openxmlformats.org/officeDocument/2006/relationships/image" Target="/ppt/media/image28.png" Id="R9d86b488316e40c1" /><Relationship Type="http://schemas.openxmlformats.org/officeDocument/2006/relationships/image" Target="/ppt/media/image11.png" Id="R450769f90c7540c3" /><Relationship Type="http://schemas.openxmlformats.org/officeDocument/2006/relationships/notesSlide" Target="/ppt/notesSlides/notesSlide29.xml" Id="Rdf89a6a966a7437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0af2e725199c4740" /><Relationship Type="http://schemas.openxmlformats.org/officeDocument/2006/relationships/image" Target="/ppt/media/image.png" Id="Rd4db23545034425b" /><Relationship Type="http://schemas.openxmlformats.org/officeDocument/2006/relationships/image" Target="/ppt/media/image2.png" Id="R472b8b9ad6c249e5" /><Relationship Type="http://schemas.openxmlformats.org/officeDocument/2006/relationships/notesSlide" Target="/ppt/notesSlides/notesSlide30.xml" Id="R08ac9a33e4634df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5f099049c1242b3" /><Relationship Type="http://schemas.openxmlformats.org/officeDocument/2006/relationships/image" Target="/ppt/media/image.png" Id="R18b22bd60ec54dbe" /><Relationship Type="http://schemas.openxmlformats.org/officeDocument/2006/relationships/image" Target="/ppt/media/image2.png" Id="R17a7c6ae207d40e9" /><Relationship Type="http://schemas.openxmlformats.org/officeDocument/2006/relationships/image" Target="/ppt/media/image29.png" Id="Rc55043918ced4fcb" /><Relationship Type="http://schemas.openxmlformats.org/officeDocument/2006/relationships/image" Target="/ppt/media/image30.png" Id="Red051a0209ac4297" /><Relationship Type="http://schemas.openxmlformats.org/officeDocument/2006/relationships/image" Target="/ppt/media/image31.png" Id="Rd53513804e7c4c63" /><Relationship Type="http://schemas.openxmlformats.org/officeDocument/2006/relationships/notesSlide" Target="/ppt/notesSlides/notesSlide31.xml" Id="Rbdc3b6868f6b4d8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a5af263419604847" /><Relationship Type="http://schemas.openxmlformats.org/officeDocument/2006/relationships/notesSlide" Target="/ppt/notesSlides/notesSlide32.xml" Id="R6abb159b44534e7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644a428dccc64a65" /><Relationship Type="http://schemas.openxmlformats.org/officeDocument/2006/relationships/image" Target="/ppt/media/image32.png" Id="R5ba0110caaee48be" /><Relationship Type="http://schemas.openxmlformats.org/officeDocument/2006/relationships/notesSlide" Target="/ppt/notesSlides/notesSlide33.xml" Id="R7437f95daa3343c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10faaab8eb83422c" /><Relationship Type="http://schemas.openxmlformats.org/officeDocument/2006/relationships/hyperlink" Target="https://learn.microsoft.com/en-us/shows/bash-for-beginners/" TargetMode="External" Id="Rf54c405dedd64aed" /><Relationship Type="http://schemas.openxmlformats.org/officeDocument/2006/relationships/hyperlink" Target="https://learn.microsoft.com/en-us/windows/wsl/tutorials/linux" TargetMode="External" Id="Rea3fcba2ee244377" /><Relationship Type="http://schemas.openxmlformats.org/officeDocument/2006/relationships/hyperlink" Target="https://www.gnu.org/software/bash/manual/bash.html" TargetMode="External" Id="R86900fee7b3e4974" /><Relationship Type="http://schemas.openxmlformats.org/officeDocument/2006/relationships/hyperlink" Target="https://github.com/SeedFlora/meet2CloudService" TargetMode="External" Id="Rbb72e6dea0ac4cfa" /><Relationship Type="http://schemas.openxmlformats.org/officeDocument/2006/relationships/notesSlide" Target="/ppt/notesSlides/notesSlide34.xml" Id="Re64f6c4708964f6d" /></Relationships>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9bbf7aba7d1f4c18">
            <a:lum/>
          </a:blip>
          <a:srcRect l="0" t="0" r="0" b="0"/>
          <a:stretch>
            <a:fillRect l="0" t="0" r="0" b="0"/>
          </a:stretch>
        </a:blipFill>
      </p:bgPr>
    </p:bg>
    <p:spTree>
      <p:nvGrpSpPr>
        <p:cNvPr id="1" name=""/>
        <p:cNvGrpSpPr/>
        <p:nvPr/>
      </p:nvGrpSpPr>
      <p:grpSpPr>
        <a:xfrm xmlns:a="http://schemas.openxmlformats.org/drawingml/2006/main"/>
      </p:grpSpPr>
      <p:pic>
        <p:nvPicPr>
          <p:cNvPr id="13" name="Image 0"/>
          <p:cNvPicPr>
            <a:picLocks xmlns:a="http://schemas.openxmlformats.org/drawingml/2006/main" noChangeAspect="1"/>
          </p:cNvPicPr>
          <p:nvPr/>
        </p:nvPicPr>
        <p:blipFill>
          <a:blip xmlns:r="http://schemas.openxmlformats.org/officeDocument/2006/relationships" xmlns:a="http://schemas.openxmlformats.org/drawingml/2006/main" r:embed="Rc79c944dc92144d8"/>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0ad123e7df594e21"/>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4" name="Text 0">
            <a:extLst xmlns:a="http://schemas.openxmlformats.org/drawingml/2006/main">
              <a:ext uri="{FF2B5EF4-FFF2-40B4-BE49-F238E27FC236}">
                <a16:creationId xmlns:a16="http://schemas.microsoft.com/office/drawing/2014/main" id="{B746356E-2891-485C-B768-70EEFE47AA26}"/>
              </a:ext>
            </a:extLst>
          </p:cNvPr>
          <p:cNvSpPr>
            <a:spLocks xmlns:a="http://schemas.openxmlformats.org/drawingml/2006/main" noGrp="1"/>
          </p:cNvSpPr>
          <p:nvPr/>
        </p:nvSpPr>
        <p:spPr>
          <a:xfrm xmlns:a="http://schemas.openxmlformats.org/drawingml/2006/main">
            <a:off x="457200" y="2468880"/>
            <a:ext cx="112471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spc="400">
                <a:solidFill>
                  <a:srgbClr val="FFE0B2"/>
                </a:solidFill>
                <a:latin typeface="Calibri"/>
                <a:ea typeface="Calibri"/>
                <a:cs typeface="Calibri"/>
              </a:rPr>
              <a:t>COMP6991031   |   2 SKS</a:t>
            </a:r>
            <a:endParaRPr sz="1400"/>
          </a:p>
        </p:txBody>
      </p:sp>
      <p:sp>
        <p:nvSpPr>
          <p:cNvPr id="5" name="Text 1">
            <a:extLst xmlns:a="http://schemas.openxmlformats.org/drawingml/2006/main">
              <a:ext uri="{FF2B5EF4-FFF2-40B4-BE49-F238E27FC236}">
                <a16:creationId xmlns:a16="http://schemas.microsoft.com/office/drawing/2014/main" id="{1324AE2F-F134-4262-81F7-79244E2E4976}"/>
              </a:ext>
            </a:extLst>
          </p:cNvPr>
          <p:cNvSpPr>
            <a:spLocks xmlns:a="http://schemas.openxmlformats.org/drawingml/2006/main" noGrp="1"/>
          </p:cNvSpPr>
          <p:nvPr/>
        </p:nvSpPr>
        <p:spPr>
          <a:xfrm xmlns:a="http://schemas.openxmlformats.org/drawingml/2006/main">
            <a:off x="457200" y="2926080"/>
            <a:ext cx="1124712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5600" b="1">
                <a:solidFill>
                  <a:srgbClr val="FFFFFF"/>
                </a:solidFill>
                <a:latin typeface="Calibri"/>
                <a:ea typeface="Calibri"/>
                <a:cs typeface="Calibri"/>
              </a:rPr>
              <a:t>LINUX FUNDAMENTALS</a:t>
            </a:r>
            <a:endParaRPr sz="5600"/>
          </a:p>
        </p:txBody>
      </p:sp>
      <p:sp>
        <p:nvSpPr>
          <p:cNvPr id="6" name="Text 2">
            <a:extLst xmlns:a="http://schemas.openxmlformats.org/drawingml/2006/main">
              <a:ext uri="{FF2B5EF4-FFF2-40B4-BE49-F238E27FC236}">
                <a16:creationId xmlns:a16="http://schemas.microsoft.com/office/drawing/2014/main" id="{0A19C8B8-66F9-4963-ACCC-EF3FE6828BAE}"/>
              </a:ext>
            </a:extLst>
          </p:cNvPr>
          <p:cNvSpPr>
            <a:spLocks xmlns:a="http://schemas.openxmlformats.org/drawingml/2006/main" noGrp="1"/>
          </p:cNvSpPr>
          <p:nvPr/>
        </p:nvSpPr>
        <p:spPr>
          <a:xfrm xmlns:a="http://schemas.openxmlformats.org/drawingml/2006/main">
            <a:off x="457200" y="3886200"/>
            <a:ext cx="112471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a:solidFill>
                  <a:srgbClr val="FFFFFF"/>
                </a:solidFill>
                <a:latin typeface="Calibri"/>
                <a:ea typeface="Calibri"/>
                <a:cs typeface="Calibri"/>
              </a:rPr>
              <a:t>untuk Cloud Computing</a:t>
            </a:r>
            <a:endParaRPr sz="2800"/>
          </a:p>
        </p:txBody>
      </p:sp>
      <p:sp>
        <p:nvSpPr>
          <p:cNvPr id="7" name="Shape 3">
            <a:extLst xmlns:a="http://schemas.openxmlformats.org/drawingml/2006/main">
              <a:ext uri="{FF2B5EF4-FFF2-40B4-BE49-F238E27FC236}">
                <a16:creationId xmlns:a16="http://schemas.microsoft.com/office/drawing/2014/main" id="{AAB40697-451F-45F7-908F-7E5EDA67FDB0}"/>
              </a:ext>
            </a:extLst>
          </p:cNvPr>
          <p:cNvSpPr>
            <a:spLocks xmlns:a="http://schemas.openxmlformats.org/drawingml/2006/main" noGrp="1"/>
          </p:cNvSpPr>
          <p:nvPr/>
        </p:nvSpPr>
        <p:spPr>
          <a:xfrm xmlns:a="http://schemas.openxmlformats.org/drawingml/2006/main">
            <a:off x="5715000" y="45720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8" name="Text 4">
            <a:extLst xmlns:a="http://schemas.openxmlformats.org/drawingml/2006/main">
              <a:ext uri="{FF2B5EF4-FFF2-40B4-BE49-F238E27FC236}">
                <a16:creationId xmlns:a16="http://schemas.microsoft.com/office/drawing/2014/main" id="{2FE3C6D1-28F6-484A-B271-EF2B77B01E35}"/>
              </a:ext>
            </a:extLst>
          </p:cNvPr>
          <p:cNvSpPr>
            <a:spLocks xmlns:a="http://schemas.openxmlformats.org/drawingml/2006/main" noGrp="1"/>
          </p:cNvSpPr>
          <p:nvPr/>
        </p:nvSpPr>
        <p:spPr>
          <a:xfrm xmlns:a="http://schemas.openxmlformats.org/drawingml/2006/main">
            <a:off x="457200" y="4709160"/>
            <a:ext cx="1124712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i="1" spc="300">
                <a:solidFill>
                  <a:srgbClr val="FFE0B2"/>
                </a:solidFill>
                <a:latin typeface="Calibri"/>
                <a:ea typeface="Calibri"/>
                <a:cs typeface="Calibri"/>
              </a:rPr>
              <a:t>PERTEMUAN 2  |  100 MENIT</a:t>
            </a:r>
            <a:endParaRPr sz="1200"/>
          </a:p>
        </p:txBody>
      </p:sp>
      <p:sp>
        <p:nvSpPr>
          <p:cNvPr id="9" name="Text 5">
            <a:extLst xmlns:a="http://schemas.openxmlformats.org/drawingml/2006/main">
              <a:ext uri="{FF2B5EF4-FFF2-40B4-BE49-F238E27FC236}">
                <a16:creationId xmlns:a16="http://schemas.microsoft.com/office/drawing/2014/main" id="{019DEF83-594D-42E7-8C35-2FBBC06F076C}"/>
              </a:ext>
            </a:extLst>
          </p:cNvPr>
          <p:cNvSpPr>
            <a:spLocks xmlns:a="http://schemas.openxmlformats.org/drawingml/2006/main" noGrp="1"/>
          </p:cNvSpPr>
          <p:nvPr/>
        </p:nvSpPr>
        <p:spPr>
          <a:xfrm xmlns:a="http://schemas.openxmlformats.org/drawingml/2006/main">
            <a:off x="457200" y="594360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Budi Juarto, S.T., M.Kom.</a:t>
            </a:r>
            <a:endParaRPr sz="1300"/>
          </a:p>
        </p:txBody>
      </p:sp>
      <p:sp>
        <p:nvSpPr>
          <p:cNvPr id="10" name="Text 6">
            <a:extLst xmlns:a="http://schemas.openxmlformats.org/drawingml/2006/main">
              <a:ext uri="{FF2B5EF4-FFF2-40B4-BE49-F238E27FC236}">
                <a16:creationId xmlns:a16="http://schemas.microsoft.com/office/drawing/2014/main" id="{612E28DA-B6CD-4425-AACC-EA3E5354A3BE}"/>
              </a:ext>
            </a:extLst>
          </p:cNvPr>
          <p:cNvSpPr>
            <a:spLocks xmlns:a="http://schemas.openxmlformats.org/drawingml/2006/main" noGrp="1"/>
          </p:cNvSpPr>
          <p:nvPr/>
        </p:nvSpPr>
        <p:spPr>
          <a:xfrm xmlns:a="http://schemas.openxmlformats.org/drawingml/2006/main">
            <a:off x="457200" y="621792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FFE0B2"/>
                </a:solidFill>
                <a:latin typeface="Calibri"/>
                <a:ea typeface="Calibri"/>
                <a:cs typeface="Calibri"/>
              </a:rPr>
              <a:t>Departemen Informatika  -  BINUS @Bandung</a:t>
            </a:r>
            <a:endParaRPr sz="1100"/>
          </a:p>
        </p:txBody>
      </p:sp>
    </p:spTree>
    <p:extLst>
      <p:ext uri="{BB962C8B-B14F-4D97-AF65-F5344CB8AC3E}">
        <p14:creationId xmlns:p14="http://schemas.microsoft.com/office/powerpoint/2010/main" val="129500135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E5E490F-8DF6-4F97-BA70-08626DCB4B27}"/>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2</a:t>
            </a:r>
            <a:endParaRPr sz="900"/>
          </a:p>
        </p:txBody>
      </p:sp>
      <p:sp>
        <p:nvSpPr>
          <p:cNvPr id="3" name="Text 1">
            <a:extLst xmlns:a="http://schemas.openxmlformats.org/drawingml/2006/main">
              <a:ext uri="{FF2B5EF4-FFF2-40B4-BE49-F238E27FC236}">
                <a16:creationId xmlns:a16="http://schemas.microsoft.com/office/drawing/2014/main" id="{BCBD4ED6-2BF4-4FE0-B2F6-25B6C2B42290}"/>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a:t>
            </a:r>
            <a:endParaRPr sz="900"/>
          </a:p>
        </p:txBody>
      </p:sp>
      <p:sp>
        <p:nvSpPr>
          <p:cNvPr id="4" name="Shape 2">
            <a:extLst xmlns:a="http://schemas.openxmlformats.org/drawingml/2006/main">
              <a:ext uri="{FF2B5EF4-FFF2-40B4-BE49-F238E27FC236}">
                <a16:creationId xmlns:a16="http://schemas.microsoft.com/office/drawing/2014/main" id="{8B833437-7267-4F1F-8FA7-FECA831895E8}"/>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36" name="Image 0"/>
          <p:cNvPicPr>
            <a:picLocks xmlns:a="http://schemas.openxmlformats.org/drawingml/2006/main" noChangeAspect="1"/>
          </p:cNvPicPr>
          <p:nvPr/>
        </p:nvPicPr>
        <p:blipFill>
          <a:blip xmlns:r="http://schemas.openxmlformats.org/officeDocument/2006/relationships" xmlns:a="http://schemas.openxmlformats.org/drawingml/2006/main" r:embed="R0a1e8544472e4c19"/>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7" name="Image 1"/>
          <p:cNvPicPr>
            <a:picLocks xmlns:a="http://schemas.openxmlformats.org/drawingml/2006/main" noChangeAspect="1"/>
          </p:cNvPicPr>
          <p:nvPr/>
        </p:nvPicPr>
        <p:blipFill>
          <a:blip xmlns:r="http://schemas.openxmlformats.org/officeDocument/2006/relationships" xmlns:a="http://schemas.openxmlformats.org/drawingml/2006/main" r:embed="R47fefd957a714567"/>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8033F8A-1048-4B20-8F49-ECCA3002B5B4}"/>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80C8D782-566A-4314-9871-47538F29CE5D}"/>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Recap Pertemuan 1 &amp; Agenda Hari Ini</a:t>
            </a:r>
            <a:endParaRPr sz="2200"/>
          </a:p>
        </p:txBody>
      </p:sp>
      <p:sp>
        <p:nvSpPr>
          <p:cNvPr id="9" name="Text 5">
            <a:extLst xmlns:a="http://schemas.openxmlformats.org/drawingml/2006/main">
              <a:ext uri="{FF2B5EF4-FFF2-40B4-BE49-F238E27FC236}">
                <a16:creationId xmlns:a16="http://schemas.microsoft.com/office/drawing/2014/main" id="{89B0A130-2CC5-4DAE-8516-13252E411052}"/>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Dari Konsep ke Praktik</a:t>
            </a:r>
            <a:endParaRPr sz="1200"/>
          </a:p>
        </p:txBody>
      </p:sp>
      <p:sp>
        <p:nvSpPr>
          <p:cNvPr id="10" name="Shape 6">
            <a:extLst xmlns:a="http://schemas.openxmlformats.org/drawingml/2006/main">
              <a:ext uri="{FF2B5EF4-FFF2-40B4-BE49-F238E27FC236}">
                <a16:creationId xmlns:a16="http://schemas.microsoft.com/office/drawing/2014/main" id="{24549366-C47D-4CF3-BD8D-CE28E6D41CCA}"/>
              </a:ext>
            </a:extLst>
          </p:cNvPr>
          <p:cNvSpPr>
            <a:spLocks xmlns:a="http://schemas.openxmlformats.org/drawingml/2006/main" noGrp="1"/>
          </p:cNvSpPr>
          <p:nvPr/>
        </p:nvSpPr>
        <p:spPr>
          <a:xfrm xmlns:a="http://schemas.openxmlformats.org/drawingml/2006/main">
            <a:off x="457200" y="1417320"/>
            <a:ext cx="557784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Text 7">
            <a:extLst xmlns:a="http://schemas.openxmlformats.org/drawingml/2006/main">
              <a:ext uri="{FF2B5EF4-FFF2-40B4-BE49-F238E27FC236}">
                <a16:creationId xmlns:a16="http://schemas.microsoft.com/office/drawing/2014/main" id="{31151515-2D75-47F7-BCF1-8144430435FF}"/>
              </a:ext>
            </a:extLst>
          </p:cNvPr>
          <p:cNvSpPr>
            <a:spLocks xmlns:a="http://schemas.openxmlformats.org/drawingml/2006/main" noGrp="1"/>
          </p:cNvSpPr>
          <p:nvPr/>
        </p:nvSpPr>
        <p:spPr>
          <a:xfrm xmlns:a="http://schemas.openxmlformats.org/drawingml/2006/main">
            <a:off x="685800" y="1600200"/>
            <a:ext cx="51206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300">
                <a:solidFill>
                  <a:srgbClr val="F37021"/>
                </a:solidFill>
                <a:latin typeface="Calibri"/>
                <a:ea typeface="Calibri"/>
                <a:cs typeface="Calibri"/>
              </a:rPr>
              <a:t>DI PERTEMUAN 1, KITA SUDAH:</a:t>
            </a:r>
            <a:endParaRPr sz="1100"/>
          </a:p>
          <a:p xmlns:a="http://schemas.openxmlformats.org/drawingml/2006/main">
            <a:pPr marL="0" indent="0">
              <a:buNone/>
            </a:pPr>
            <a:r>
              <a:rPr sz="600">
                <a:solidFill>
                  <a:srgbClr val="000000"/>
                </a:solidFill>
                <a:latin typeface="Calibri"/>
                <a:ea typeface="Calibri"/>
                <a:cs typeface="Calibri"/>
              </a:rPr>
              <a:t> </a:t>
            </a:r>
            <a:endParaRPr sz="1100"/>
          </a:p>
          <a:p xmlns:a="http://schemas.openxmlformats.org/drawingml/2006/main">
            <a:pPr marL="0" indent="0">
              <a:buNone/>
            </a:pPr>
            <a:r>
              <a:rPr sz="2200" b="1">
                <a:solidFill>
                  <a:srgbClr val="002677"/>
                </a:solidFill>
                <a:latin typeface="Calibri"/>
                <a:ea typeface="Calibri"/>
                <a:cs typeface="Calibri"/>
              </a:rPr>
              <a:t>Recap</a:t>
            </a:r>
            <a:endParaRPr sz="1100"/>
          </a:p>
        </p:txBody>
      </p:sp>
      <p:pic>
        <p:nvPicPr>
          <p:cNvPr id="43" name="Image 2"/>
          <p:cNvPicPr>
            <a:picLocks xmlns:a="http://schemas.openxmlformats.org/drawingml/2006/main" noChangeAspect="1"/>
          </p:cNvPicPr>
          <p:nvPr/>
        </p:nvPicPr>
        <p:blipFill>
          <a:blip xmlns:r="http://schemas.openxmlformats.org/officeDocument/2006/relationships" xmlns:a="http://schemas.openxmlformats.org/drawingml/2006/main" r:embed="R64ca536be50a4edc"/>
          <a:stretch xmlns:a="http://schemas.openxmlformats.org/drawingml/2006/main">
            <a:fillRect l="0" t="0" r="0" b="0"/>
          </a:stretch>
        </p:blipFill>
        <p:spPr>
          <a:xfrm xmlns:a="http://schemas.openxmlformats.org/drawingml/2006/main">
            <a:off x="777240" y="2697480"/>
            <a:ext cx="320040" cy="320040"/>
          </a:xfrm>
          <a:prstGeom xmlns:a="http://schemas.openxmlformats.org/drawingml/2006/main" prst="rect">
            <a:avLst/>
          </a:prstGeom>
        </p:spPr>
      </p:pic>
      <p:sp>
        <p:nvSpPr>
          <p:cNvPr id="13" name="Text 8">
            <a:extLst xmlns:a="http://schemas.openxmlformats.org/drawingml/2006/main">
              <a:ext uri="{FF2B5EF4-FFF2-40B4-BE49-F238E27FC236}">
                <a16:creationId xmlns:a16="http://schemas.microsoft.com/office/drawing/2014/main" id="{066D0D4F-5A45-4314-A850-B2AB141EF478}"/>
              </a:ext>
            </a:extLst>
          </p:cNvPr>
          <p:cNvSpPr>
            <a:spLocks xmlns:a="http://schemas.openxmlformats.org/drawingml/2006/main" noGrp="1"/>
          </p:cNvSpPr>
          <p:nvPr/>
        </p:nvSpPr>
        <p:spPr>
          <a:xfrm xmlns:a="http://schemas.openxmlformats.org/drawingml/2006/main">
            <a:off x="1234440" y="2606040"/>
            <a:ext cx="4663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Definisi cloud + 5 karakteristik NIST</a:t>
            </a:r>
            <a:endParaRPr sz="1200"/>
          </a:p>
        </p:txBody>
      </p:sp>
      <p:pic>
        <p:nvPicPr>
          <p:cNvPr id="45" name="Image 3"/>
          <p:cNvPicPr>
            <a:picLocks xmlns:a="http://schemas.openxmlformats.org/drawingml/2006/main" noChangeAspect="1"/>
          </p:cNvPicPr>
          <p:nvPr/>
        </p:nvPicPr>
        <p:blipFill>
          <a:blip xmlns:r="http://schemas.openxmlformats.org/officeDocument/2006/relationships" xmlns:a="http://schemas.openxmlformats.org/drawingml/2006/main" r:embed="R29c50a4b41ec45a9"/>
          <a:stretch xmlns:a="http://schemas.openxmlformats.org/drawingml/2006/main">
            <a:fillRect l="0" t="0" r="0" b="0"/>
          </a:stretch>
        </p:blipFill>
        <p:spPr>
          <a:xfrm xmlns:a="http://schemas.openxmlformats.org/drawingml/2006/main">
            <a:off x="777240" y="3337560"/>
            <a:ext cx="320040" cy="320040"/>
          </a:xfrm>
          <a:prstGeom xmlns:a="http://schemas.openxmlformats.org/drawingml/2006/main" prst="rect">
            <a:avLst/>
          </a:prstGeom>
        </p:spPr>
      </p:pic>
      <p:sp>
        <p:nvSpPr>
          <p:cNvPr id="15" name="Text 9">
            <a:extLst xmlns:a="http://schemas.openxmlformats.org/drawingml/2006/main">
              <a:ext uri="{FF2B5EF4-FFF2-40B4-BE49-F238E27FC236}">
                <a16:creationId xmlns:a16="http://schemas.microsoft.com/office/drawing/2014/main" id="{20F3AF7B-D2C7-434F-83AE-FD86A7869AE4}"/>
              </a:ext>
            </a:extLst>
          </p:cNvPr>
          <p:cNvSpPr>
            <a:spLocks xmlns:a="http://schemas.openxmlformats.org/drawingml/2006/main" noGrp="1"/>
          </p:cNvSpPr>
          <p:nvPr/>
        </p:nvSpPr>
        <p:spPr>
          <a:xfrm xmlns:a="http://schemas.openxmlformats.org/drawingml/2006/main">
            <a:off x="1234440" y="3246120"/>
            <a:ext cx="4663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5 service models (IaaS / PaaS / SaaS / BaaS / FaaS)</a:t>
            </a:r>
            <a:endParaRPr sz="1200"/>
          </a:p>
        </p:txBody>
      </p:sp>
      <p:pic>
        <p:nvPicPr>
          <p:cNvPr id="47" name="Image 4"/>
          <p:cNvPicPr>
            <a:picLocks xmlns:a="http://schemas.openxmlformats.org/drawingml/2006/main" noChangeAspect="1"/>
          </p:cNvPicPr>
          <p:nvPr/>
        </p:nvPicPr>
        <p:blipFill>
          <a:blip xmlns:r="http://schemas.openxmlformats.org/officeDocument/2006/relationships" xmlns:a="http://schemas.openxmlformats.org/drawingml/2006/main" r:embed="R741121774e3c4f05"/>
          <a:stretch xmlns:a="http://schemas.openxmlformats.org/drawingml/2006/main">
            <a:fillRect l="0" t="0" r="0" b="0"/>
          </a:stretch>
        </p:blipFill>
        <p:spPr>
          <a:xfrm xmlns:a="http://schemas.openxmlformats.org/drawingml/2006/main">
            <a:off x="777240" y="3977640"/>
            <a:ext cx="320040" cy="320040"/>
          </a:xfrm>
          <a:prstGeom xmlns:a="http://schemas.openxmlformats.org/drawingml/2006/main" prst="rect">
            <a:avLst/>
          </a:prstGeom>
        </p:spPr>
      </p:pic>
      <p:sp>
        <p:nvSpPr>
          <p:cNvPr id="17" name="Text 10">
            <a:extLst xmlns:a="http://schemas.openxmlformats.org/drawingml/2006/main">
              <a:ext uri="{FF2B5EF4-FFF2-40B4-BE49-F238E27FC236}">
                <a16:creationId xmlns:a16="http://schemas.microsoft.com/office/drawing/2014/main" id="{6C896314-D950-4651-A96D-2B53B751E845}"/>
              </a:ext>
            </a:extLst>
          </p:cNvPr>
          <p:cNvSpPr>
            <a:spLocks xmlns:a="http://schemas.openxmlformats.org/drawingml/2006/main" noGrp="1"/>
          </p:cNvSpPr>
          <p:nvPr/>
        </p:nvSpPr>
        <p:spPr>
          <a:xfrm xmlns:a="http://schemas.openxmlformats.org/drawingml/2006/main">
            <a:off x="1234440" y="3886200"/>
            <a:ext cx="4663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4 deployment models + contoh strategi multi-cloud</a:t>
            </a:r>
            <a:endParaRPr sz="1200"/>
          </a:p>
        </p:txBody>
      </p:sp>
      <p:pic>
        <p:nvPicPr>
          <p:cNvPr id="49" name="Image 5"/>
          <p:cNvPicPr>
            <a:picLocks xmlns:a="http://schemas.openxmlformats.org/drawingml/2006/main" noChangeAspect="1"/>
          </p:cNvPicPr>
          <p:nvPr/>
        </p:nvPicPr>
        <p:blipFill>
          <a:blip xmlns:r="http://schemas.openxmlformats.org/officeDocument/2006/relationships" xmlns:a="http://schemas.openxmlformats.org/drawingml/2006/main" r:embed="R7c21e9adeee64000"/>
          <a:stretch xmlns:a="http://schemas.openxmlformats.org/drawingml/2006/main">
            <a:fillRect l="0" t="0" r="0" b="0"/>
          </a:stretch>
        </p:blipFill>
        <p:spPr>
          <a:xfrm xmlns:a="http://schemas.openxmlformats.org/drawingml/2006/main">
            <a:off x="777240" y="4617720"/>
            <a:ext cx="320040" cy="320040"/>
          </a:xfrm>
          <a:prstGeom xmlns:a="http://schemas.openxmlformats.org/drawingml/2006/main" prst="rect">
            <a:avLst/>
          </a:prstGeom>
        </p:spPr>
      </p:pic>
      <p:sp>
        <p:nvSpPr>
          <p:cNvPr id="19" name="Text 11">
            <a:extLst xmlns:a="http://schemas.openxmlformats.org/drawingml/2006/main">
              <a:ext uri="{FF2B5EF4-FFF2-40B4-BE49-F238E27FC236}">
                <a16:creationId xmlns:a16="http://schemas.microsoft.com/office/drawing/2014/main" id="{ED92FD61-F2EF-44D4-BEC1-3260CBA5733D}"/>
              </a:ext>
            </a:extLst>
          </p:cNvPr>
          <p:cNvSpPr>
            <a:spLocks xmlns:a="http://schemas.openxmlformats.org/drawingml/2006/main" noGrp="1"/>
          </p:cNvSpPr>
          <p:nvPr/>
        </p:nvSpPr>
        <p:spPr>
          <a:xfrm xmlns:a="http://schemas.openxmlformats.org/drawingml/2006/main">
            <a:off x="1234440" y="4526280"/>
            <a:ext cx="4663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Pasar cloud Q1 2026: $129B, +35% YoY</a:t>
            </a:r>
            <a:endParaRPr sz="1200"/>
          </a:p>
        </p:txBody>
      </p:sp>
      <p:pic>
        <p:nvPicPr>
          <p:cNvPr id="51" name="Image 6"/>
          <p:cNvPicPr>
            <a:picLocks xmlns:a="http://schemas.openxmlformats.org/drawingml/2006/main" noChangeAspect="1"/>
          </p:cNvPicPr>
          <p:nvPr/>
        </p:nvPicPr>
        <p:blipFill>
          <a:blip xmlns:r="http://schemas.openxmlformats.org/officeDocument/2006/relationships" xmlns:a="http://schemas.openxmlformats.org/drawingml/2006/main" r:embed="R11f408b351624ca0"/>
          <a:stretch xmlns:a="http://schemas.openxmlformats.org/drawingml/2006/main">
            <a:fillRect l="0" t="0" r="0" b="0"/>
          </a:stretch>
        </p:blipFill>
        <p:spPr>
          <a:xfrm xmlns:a="http://schemas.openxmlformats.org/drawingml/2006/main">
            <a:off x="777240" y="5257800"/>
            <a:ext cx="320040" cy="320040"/>
          </a:xfrm>
          <a:prstGeom xmlns:a="http://schemas.openxmlformats.org/drawingml/2006/main" prst="rect">
            <a:avLst/>
          </a:prstGeom>
        </p:spPr>
      </p:pic>
      <p:sp>
        <p:nvSpPr>
          <p:cNvPr id="21" name="Text 12">
            <a:extLst xmlns:a="http://schemas.openxmlformats.org/drawingml/2006/main">
              <a:ext uri="{FF2B5EF4-FFF2-40B4-BE49-F238E27FC236}">
                <a16:creationId xmlns:a16="http://schemas.microsoft.com/office/drawing/2014/main" id="{AE8C7B8F-D22F-4A1D-B563-310152C59494}"/>
              </a:ext>
            </a:extLst>
          </p:cNvPr>
          <p:cNvSpPr>
            <a:spLocks xmlns:a="http://schemas.openxmlformats.org/drawingml/2006/main" noGrp="1"/>
          </p:cNvSpPr>
          <p:nvPr/>
        </p:nvSpPr>
        <p:spPr>
          <a:xfrm xmlns:a="http://schemas.openxmlformats.org/drawingml/2006/main">
            <a:off x="1234440" y="5166360"/>
            <a:ext cx="4663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Stack free-tier: Oracle, GCP, Vercel, Supabase, HF</a:t>
            </a:r>
            <a:endParaRPr sz="1200"/>
          </a:p>
        </p:txBody>
      </p:sp>
      <p:sp>
        <p:nvSpPr>
          <p:cNvPr id="22" name="Shape 13">
            <a:extLst xmlns:a="http://schemas.openxmlformats.org/drawingml/2006/main">
              <a:ext uri="{FF2B5EF4-FFF2-40B4-BE49-F238E27FC236}">
                <a16:creationId xmlns:a16="http://schemas.microsoft.com/office/drawing/2014/main" id="{6358EDA2-B065-487D-9C35-25FD4C0D7C39}"/>
              </a:ext>
            </a:extLst>
          </p:cNvPr>
          <p:cNvSpPr>
            <a:spLocks xmlns:a="http://schemas.openxmlformats.org/drawingml/2006/main" noGrp="1"/>
          </p:cNvSpPr>
          <p:nvPr/>
        </p:nvSpPr>
        <p:spPr>
          <a:xfrm xmlns:a="http://schemas.openxmlformats.org/drawingml/2006/main">
            <a:off x="6217920" y="1417320"/>
            <a:ext cx="5486400" cy="475488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23" name="Text 14">
            <a:extLst xmlns:a="http://schemas.openxmlformats.org/drawingml/2006/main">
              <a:ext uri="{FF2B5EF4-FFF2-40B4-BE49-F238E27FC236}">
                <a16:creationId xmlns:a16="http://schemas.microsoft.com/office/drawing/2014/main" id="{CF754D28-DE58-49BF-8711-13C165ABC19B}"/>
              </a:ext>
            </a:extLst>
          </p:cNvPr>
          <p:cNvSpPr>
            <a:spLocks xmlns:a="http://schemas.openxmlformats.org/drawingml/2006/main" noGrp="1"/>
          </p:cNvSpPr>
          <p:nvPr/>
        </p:nvSpPr>
        <p:spPr>
          <a:xfrm xmlns:a="http://schemas.openxmlformats.org/drawingml/2006/main">
            <a:off x="6446520" y="1600200"/>
            <a:ext cx="51206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300">
                <a:solidFill>
                  <a:srgbClr val="F37021"/>
                </a:solidFill>
                <a:latin typeface="Calibri"/>
                <a:ea typeface="Calibri"/>
                <a:cs typeface="Calibri"/>
              </a:rPr>
              <a:t>HARI INI, KITA AKAN:</a:t>
            </a:r>
            <a:endParaRPr sz="1100"/>
          </a:p>
          <a:p xmlns:a="http://schemas.openxmlformats.org/drawingml/2006/main">
            <a:pPr marL="0" indent="0">
              <a:buNone/>
            </a:pPr>
            <a:r>
              <a:rPr sz="600">
                <a:solidFill>
                  <a:srgbClr val="000000"/>
                </a:solidFill>
                <a:latin typeface="Calibri"/>
                <a:ea typeface="Calibri"/>
                <a:cs typeface="Calibri"/>
              </a:rPr>
              <a:t> </a:t>
            </a:r>
            <a:endParaRPr sz="1100"/>
          </a:p>
          <a:p xmlns:a="http://schemas.openxmlformats.org/drawingml/2006/main">
            <a:pPr marL="0" indent="0">
              <a:buNone/>
            </a:pPr>
            <a:r>
              <a:rPr sz="2200" b="1">
                <a:solidFill>
                  <a:srgbClr val="FFFFFF"/>
                </a:solidFill>
                <a:latin typeface="Calibri"/>
                <a:ea typeface="Calibri"/>
                <a:cs typeface="Calibri"/>
              </a:rPr>
              <a:t>Linux Fundamentals</a:t>
            </a:r>
            <a:endParaRPr sz="1100"/>
          </a:p>
        </p:txBody>
      </p:sp>
      <p:sp>
        <p:nvSpPr>
          <p:cNvPr id="24" name="Text 15">
            <a:extLst xmlns:a="http://schemas.openxmlformats.org/drawingml/2006/main">
              <a:ext uri="{FF2B5EF4-FFF2-40B4-BE49-F238E27FC236}">
                <a16:creationId xmlns:a16="http://schemas.microsoft.com/office/drawing/2014/main" id="{4584F7E1-009A-4C12-A029-F93FC98C09EE}"/>
              </a:ext>
            </a:extLst>
          </p:cNvPr>
          <p:cNvSpPr>
            <a:spLocks xmlns:a="http://schemas.openxmlformats.org/drawingml/2006/main" noGrp="1"/>
          </p:cNvSpPr>
          <p:nvPr/>
        </p:nvSpPr>
        <p:spPr>
          <a:xfrm xmlns:a="http://schemas.openxmlformats.org/drawingml/2006/main">
            <a:off x="6446520" y="2606040"/>
            <a:ext cx="5029200" cy="3383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spcAft>
                <a:spcPts val="400"/>
              </a:spcAft>
              <a:buNone/>
            </a:pPr>
            <a:r>
              <a:rPr sz="1200">
                <a:solidFill>
                  <a:srgbClr val="FFFFFF"/>
                </a:solidFill>
                <a:latin typeface="Calibri"/>
                <a:ea typeface="Calibri"/>
                <a:cs typeface="Calibri"/>
              </a:rPr>
              <a:t>1. Kenapa Linux dominan di server cloud</a:t>
            </a:r>
            <a:endParaRPr sz="1200"/>
          </a:p>
          <a:p xmlns:a="http://schemas.openxmlformats.org/drawingml/2006/main">
            <a:pPr marL="0" indent="0">
              <a:spcAft>
                <a:spcPts val="400"/>
              </a:spcAft>
              <a:buNone/>
            </a:pPr>
            <a:r>
              <a:rPr sz="1200">
                <a:solidFill>
                  <a:srgbClr val="FFFFFF"/>
                </a:solidFill>
                <a:latin typeface="Calibri"/>
                <a:ea typeface="Calibri"/>
                <a:cs typeface="Calibri"/>
              </a:rPr>
              <a:t>2. Filesystem &amp; navigation (FHS, cd, ls)</a:t>
            </a:r>
            <a:endParaRPr sz="1200"/>
          </a:p>
          <a:p xmlns:a="http://schemas.openxmlformats.org/drawingml/2006/main">
            <a:pPr marL="0" indent="0">
              <a:spcAft>
                <a:spcPts val="400"/>
              </a:spcAft>
              <a:buNone/>
            </a:pPr>
            <a:r>
              <a:rPr sz="1200">
                <a:solidFill>
                  <a:srgbClr val="FFFFFF"/>
                </a:solidFill>
                <a:latin typeface="Calibri"/>
                <a:ea typeface="Calibri"/>
                <a:cs typeface="Calibri"/>
              </a:rPr>
              <a:t>3. File operations &amp; pipes (cp, mv, grep)</a:t>
            </a:r>
            <a:endParaRPr sz="1200"/>
          </a:p>
          <a:p xmlns:a="http://schemas.openxmlformats.org/drawingml/2006/main">
            <a:pPr marL="0" indent="0">
              <a:spcAft>
                <a:spcPts val="400"/>
              </a:spcAft>
              <a:buNone/>
            </a:pPr>
            <a:r>
              <a:rPr sz="1200">
                <a:solidFill>
                  <a:srgbClr val="FFFFFF"/>
                </a:solidFill>
                <a:latin typeface="Calibri"/>
                <a:ea typeface="Calibri"/>
                <a:cs typeface="Calibri"/>
              </a:rPr>
              <a:t>4. Permissions &amp; ownership (chmod, sudo)</a:t>
            </a:r>
            <a:endParaRPr sz="1200"/>
          </a:p>
          <a:p xmlns:a="http://schemas.openxmlformats.org/drawingml/2006/main">
            <a:pPr marL="0" indent="0">
              <a:spcAft>
                <a:spcPts val="400"/>
              </a:spcAft>
              <a:buNone/>
            </a:pPr>
            <a:r>
              <a:rPr sz="1200">
                <a:solidFill>
                  <a:srgbClr val="FFFFFF"/>
                </a:solidFill>
                <a:latin typeface="Calibri"/>
                <a:ea typeface="Calibri"/>
                <a:cs typeface="Calibri"/>
              </a:rPr>
              <a:t>5. Package management (apt, dnf)</a:t>
            </a:r>
            <a:endParaRPr sz="1200"/>
          </a:p>
          <a:p xmlns:a="http://schemas.openxmlformats.org/drawingml/2006/main">
            <a:pPr marL="0" indent="0">
              <a:spcAft>
                <a:spcPts val="400"/>
              </a:spcAft>
              <a:buNone/>
            </a:pPr>
            <a:r>
              <a:rPr sz="1200">
                <a:solidFill>
                  <a:srgbClr val="FFFFFF"/>
                </a:solidFill>
                <a:latin typeface="Calibri"/>
                <a:ea typeface="Calibri"/>
                <a:cs typeface="Calibri"/>
              </a:rPr>
              <a:t>6. Processes &amp; systemd</a:t>
            </a:r>
            <a:endParaRPr sz="1200"/>
          </a:p>
          <a:p xmlns:a="http://schemas.openxmlformats.org/drawingml/2006/main">
            <a:pPr marL="0" indent="0">
              <a:spcAft>
                <a:spcPts val="400"/>
              </a:spcAft>
              <a:buNone/>
            </a:pPr>
            <a:r>
              <a:rPr sz="1200">
                <a:solidFill>
                  <a:srgbClr val="FFFFFF"/>
                </a:solidFill>
                <a:latin typeface="Calibri"/>
                <a:ea typeface="Calibri"/>
                <a:cs typeface="Calibri"/>
              </a:rPr>
              <a:t>7. Networking &amp; SSH</a:t>
            </a:r>
            <a:endParaRPr sz="1200"/>
          </a:p>
        </p:txBody>
      </p:sp>
      <p:sp>
        <p:nvSpPr>
          <p:cNvPr id="25" name="Text 16">
            <a:extLst xmlns:a="http://schemas.openxmlformats.org/drawingml/2006/main">
              <a:ext uri="{FF2B5EF4-FFF2-40B4-BE49-F238E27FC236}">
                <a16:creationId xmlns:a16="http://schemas.microsoft.com/office/drawing/2014/main" id="{3F358B99-3DF8-4DCC-A538-D007DEA4CF80}"/>
              </a:ext>
            </a:extLst>
          </p:cNvPr>
          <p:cNvSpPr>
            <a:spLocks xmlns:a="http://schemas.openxmlformats.org/drawingml/2006/main" noGrp="1"/>
          </p:cNvSpPr>
          <p:nvPr/>
        </p:nvSpPr>
        <p:spPr>
          <a:xfrm xmlns:a="http://schemas.openxmlformats.org/drawingml/2006/main">
            <a:off x="457200" y="626364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64748B"/>
                </a:solidFill>
                <a:latin typeface="Calibri"/>
                <a:ea typeface="Calibri"/>
                <a:cs typeface="Calibri"/>
              </a:rPr>
              <a:t>Praktikum 2</a:t>
            </a:r>
            <a:r>
              <a:rPr sz="1100" i="1">
                <a:solidFill>
                  <a:srgbClr val="64748B"/>
                </a:solidFill>
                <a:latin typeface="Calibri"/>
                <a:ea typeface="Calibri"/>
                <a:cs typeface="Calibri"/>
              </a:rPr>
              <a:t> (</a:t>
            </a:r>
            <a:r>
              <a:rPr sz="1100" b="1" i="1">
                <a:solidFill>
                  <a:srgbClr val="002677"/>
                </a:solidFill>
                <a:latin typeface="Calibri"/>
                <a:ea typeface="Calibri"/>
                <a:cs typeface="Calibri"/>
              </a:rPr>
              <a:t>Setup Linux env + bash dasar</a:t>
            </a:r>
            <a:r>
              <a:rPr sz="1100" i="1">
                <a:solidFill>
                  <a:srgbClr val="64748B"/>
                </a:solidFill>
                <a:latin typeface="Calibri"/>
                <a:ea typeface="Calibri"/>
                <a:cs typeface="Calibri"/>
              </a:rPr>
              <a:t>) jalan setelah sesi ini - bawa laptop dengan WSL2 / Linux / macOS siap.</a:t>
            </a:r>
            <a:endParaRPr sz="1100"/>
          </a:p>
        </p:txBody>
      </p:sp>
    </p:spTree>
    <p:extLst>
      <p:ext uri="{BB962C8B-B14F-4D97-AF65-F5344CB8AC3E}">
        <p14:creationId xmlns:p14="http://schemas.microsoft.com/office/powerpoint/2010/main" val="196970645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2C67FDD-6825-4A31-BE3A-5F163404657E}"/>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2</a:t>
            </a:r>
            <a:endParaRPr sz="900"/>
          </a:p>
        </p:txBody>
      </p:sp>
      <p:sp>
        <p:nvSpPr>
          <p:cNvPr id="3" name="Text 1">
            <a:extLst xmlns:a="http://schemas.openxmlformats.org/drawingml/2006/main">
              <a:ext uri="{FF2B5EF4-FFF2-40B4-BE49-F238E27FC236}">
                <a16:creationId xmlns:a16="http://schemas.microsoft.com/office/drawing/2014/main" id="{EDC8698D-7933-48AB-A5E7-276D35BCE61B}"/>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3</a:t>
            </a:r>
            <a:endParaRPr sz="900"/>
          </a:p>
        </p:txBody>
      </p:sp>
      <p:sp>
        <p:nvSpPr>
          <p:cNvPr id="4" name="Shape 2">
            <a:extLst xmlns:a="http://schemas.openxmlformats.org/drawingml/2006/main">
              <a:ext uri="{FF2B5EF4-FFF2-40B4-BE49-F238E27FC236}">
                <a16:creationId xmlns:a16="http://schemas.microsoft.com/office/drawing/2014/main" id="{AF9EE894-4353-4A0B-871E-C349977D165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42a472ccbc68438b"/>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9" name="Image 1"/>
          <p:cNvPicPr>
            <a:picLocks xmlns:a="http://schemas.openxmlformats.org/drawingml/2006/main" noChangeAspect="1"/>
          </p:cNvPicPr>
          <p:nvPr/>
        </p:nvPicPr>
        <p:blipFill>
          <a:blip xmlns:r="http://schemas.openxmlformats.org/officeDocument/2006/relationships" xmlns:a="http://schemas.openxmlformats.org/drawingml/2006/main" r:embed="R3af0a9797ad64b4f"/>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F4383C37-D0E1-4F06-8F33-8C37A679BE52}"/>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00357082-E50C-471D-97A3-BA5A9C49152B}"/>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Learning Outcomes - Pertemuan 2</a:t>
            </a:r>
            <a:endParaRPr sz="2200"/>
          </a:p>
        </p:txBody>
      </p:sp>
      <p:sp>
        <p:nvSpPr>
          <p:cNvPr id="9" name="Text 5">
            <a:extLst xmlns:a="http://schemas.openxmlformats.org/drawingml/2006/main">
              <a:ext uri="{FF2B5EF4-FFF2-40B4-BE49-F238E27FC236}">
                <a16:creationId xmlns:a16="http://schemas.microsoft.com/office/drawing/2014/main" id="{CE1CAA9C-813F-4E8B-A1C3-4D4B2C2A9CBD}"/>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Capaian Sesi Hari Ini</a:t>
            </a:r>
            <a:endParaRPr sz="1200"/>
          </a:p>
        </p:txBody>
      </p:sp>
      <p:sp>
        <p:nvSpPr>
          <p:cNvPr id="10" name="Shape 6">
            <a:extLst xmlns:a="http://schemas.openxmlformats.org/drawingml/2006/main">
              <a:ext uri="{FF2B5EF4-FFF2-40B4-BE49-F238E27FC236}">
                <a16:creationId xmlns:a16="http://schemas.microsoft.com/office/drawing/2014/main" id="{FBFD37C8-2615-4837-BC89-8D4AE9FAD608}"/>
              </a:ext>
            </a:extLst>
          </p:cNvPr>
          <p:cNvSpPr>
            <a:spLocks xmlns:a="http://schemas.openxmlformats.org/drawingml/2006/main" noGrp="1"/>
          </p:cNvSpPr>
          <p:nvPr/>
        </p:nvSpPr>
        <p:spPr>
          <a:xfrm xmlns:a="http://schemas.openxmlformats.org/drawingml/2006/main">
            <a:off x="457200" y="1417320"/>
            <a:ext cx="2697480" cy="44805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F21334A8-2C0C-4ADF-BE04-5CE899C2499B}"/>
              </a:ext>
            </a:extLst>
          </p:cNvPr>
          <p:cNvSpPr>
            <a:spLocks xmlns:a="http://schemas.openxmlformats.org/drawingml/2006/main" noGrp="1"/>
          </p:cNvSpPr>
          <p:nvPr/>
        </p:nvSpPr>
        <p:spPr>
          <a:xfrm xmlns:a="http://schemas.openxmlformats.org/drawingml/2006/main">
            <a:off x="457200" y="1417320"/>
            <a:ext cx="2697480" cy="109728"/>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2" name="Shape 8">
            <a:extLst xmlns:a="http://schemas.openxmlformats.org/drawingml/2006/main">
              <a:ext uri="{FF2B5EF4-FFF2-40B4-BE49-F238E27FC236}">
                <a16:creationId xmlns:a16="http://schemas.microsoft.com/office/drawing/2014/main" id="{12478190-B908-4F87-94AC-50BDDCD2393F}"/>
              </a:ext>
            </a:extLst>
          </p:cNvPr>
          <p:cNvSpPr>
            <a:spLocks xmlns:a="http://schemas.openxmlformats.org/drawingml/2006/main" noGrp="1"/>
          </p:cNvSpPr>
          <p:nvPr/>
        </p:nvSpPr>
        <p:spPr>
          <a:xfrm xmlns:a="http://schemas.openxmlformats.org/drawingml/2006/main">
            <a:off x="731520" y="1783080"/>
            <a:ext cx="640080" cy="640080"/>
          </a:xfrm>
          <a:prstGeom xmlns:a="http://schemas.openxmlformats.org/drawingml/2006/main" prst="ellipse">
            <a:avLst/>
          </a:prstGeom>
          <a:solidFill xmlns:a="http://schemas.openxmlformats.org/drawingml/2006/main">
            <a:srgbClr val="002677"/>
          </a:solidFill>
          <a:ln xmlns:a="http://schemas.openxmlformats.org/drawingml/2006/main" w="12700">
            <a:solidFill>
              <a:srgbClr val="002677"/>
            </a:solidFill>
            <a:prstDash val="solid"/>
          </a:ln>
        </p:spPr>
      </p:sp>
      <p:sp>
        <p:nvSpPr>
          <p:cNvPr id="13" name="Text 9">
            <a:extLst xmlns:a="http://schemas.openxmlformats.org/drawingml/2006/main">
              <a:ext uri="{FF2B5EF4-FFF2-40B4-BE49-F238E27FC236}">
                <a16:creationId xmlns:a16="http://schemas.microsoft.com/office/drawing/2014/main" id="{F2E0CB19-34F5-4BDF-827E-6255CB3AC55F}"/>
              </a:ext>
            </a:extLst>
          </p:cNvPr>
          <p:cNvSpPr>
            <a:spLocks xmlns:a="http://schemas.openxmlformats.org/drawingml/2006/main" noGrp="1"/>
          </p:cNvSpPr>
          <p:nvPr/>
        </p:nvSpPr>
        <p:spPr>
          <a:xfrm xmlns:a="http://schemas.openxmlformats.org/drawingml/2006/main">
            <a:off x="731520" y="1783080"/>
            <a:ext cx="640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libri"/>
                <a:ea typeface="Calibri"/>
                <a:cs typeface="Calibri"/>
              </a:rPr>
              <a:t>1</a:t>
            </a:r>
            <a:endParaRPr sz="2200"/>
          </a:p>
        </p:txBody>
      </p:sp>
      <p:pic>
        <p:nvPicPr>
          <p:cNvPr id="57" name="Image 2"/>
          <p:cNvPicPr>
            <a:picLocks xmlns:a="http://schemas.openxmlformats.org/drawingml/2006/main" noChangeAspect="1"/>
          </p:cNvPicPr>
          <p:nvPr/>
        </p:nvPicPr>
        <p:blipFill>
          <a:blip xmlns:r="http://schemas.openxmlformats.org/officeDocument/2006/relationships" xmlns:a="http://schemas.openxmlformats.org/drawingml/2006/main" r:embed="R9b051a12ed8b48db"/>
          <a:stretch xmlns:a="http://schemas.openxmlformats.org/drawingml/2006/main">
            <a:fillRect l="0" t="0" r="0" b="0"/>
          </a:stretch>
        </p:blipFill>
        <p:spPr>
          <a:xfrm xmlns:a="http://schemas.openxmlformats.org/drawingml/2006/main">
            <a:off x="2286000" y="1828800"/>
            <a:ext cx="548640" cy="548640"/>
          </a:xfrm>
          <a:prstGeom xmlns:a="http://schemas.openxmlformats.org/drawingml/2006/main" prst="rect">
            <a:avLst/>
          </a:prstGeom>
        </p:spPr>
      </p:pic>
      <p:sp>
        <p:nvSpPr>
          <p:cNvPr id="15" name="Text 10">
            <a:extLst xmlns:a="http://schemas.openxmlformats.org/drawingml/2006/main">
              <a:ext uri="{FF2B5EF4-FFF2-40B4-BE49-F238E27FC236}">
                <a16:creationId xmlns:a16="http://schemas.microsoft.com/office/drawing/2014/main" id="{79E00463-0189-4515-AD48-D97AAD19C17B}"/>
              </a:ext>
            </a:extLst>
          </p:cNvPr>
          <p:cNvSpPr>
            <a:spLocks xmlns:a="http://schemas.openxmlformats.org/drawingml/2006/main" noGrp="1"/>
          </p:cNvSpPr>
          <p:nvPr/>
        </p:nvSpPr>
        <p:spPr>
          <a:xfrm xmlns:a="http://schemas.openxmlformats.org/drawingml/2006/main">
            <a:off x="640080" y="2606040"/>
            <a:ext cx="23317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677"/>
                </a:solidFill>
                <a:latin typeface="Calibri"/>
                <a:ea typeface="Calibri"/>
                <a:cs typeface="Calibri"/>
              </a:rPr>
              <a:t>Menavigasi</a:t>
            </a:r>
            <a:endParaRPr sz="1800"/>
          </a:p>
        </p:txBody>
      </p:sp>
      <p:sp>
        <p:nvSpPr>
          <p:cNvPr id="16" name="Text 11">
            <a:extLst xmlns:a="http://schemas.openxmlformats.org/drawingml/2006/main">
              <a:ext uri="{FF2B5EF4-FFF2-40B4-BE49-F238E27FC236}">
                <a16:creationId xmlns:a16="http://schemas.microsoft.com/office/drawing/2014/main" id="{0DC0499D-9B26-4193-81AA-8F56AE33D38A}"/>
              </a:ext>
            </a:extLst>
          </p:cNvPr>
          <p:cNvSpPr>
            <a:spLocks xmlns:a="http://schemas.openxmlformats.org/drawingml/2006/main" noGrp="1"/>
          </p:cNvSpPr>
          <p:nvPr/>
        </p:nvSpPr>
        <p:spPr>
          <a:xfrm xmlns:a="http://schemas.openxmlformats.org/drawingml/2006/main">
            <a:off x="640080" y="3154680"/>
            <a:ext cx="2331720" cy="25603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a:solidFill>
                  <a:srgbClr val="1E293B"/>
                </a:solidFill>
                <a:latin typeface="Calibri"/>
                <a:ea typeface="Calibri"/>
                <a:cs typeface="Calibri"/>
              </a:rPr>
              <a:t>filesystem Linux melalui CLI dan menggunakan command dasar (cd, ls, cat, pipes).</a:t>
            </a:r>
            <a:endParaRPr sz="1200"/>
          </a:p>
        </p:txBody>
      </p:sp>
      <p:sp>
        <p:nvSpPr>
          <p:cNvPr id="17" name="Shape 12">
            <a:extLst xmlns:a="http://schemas.openxmlformats.org/drawingml/2006/main">
              <a:ext uri="{FF2B5EF4-FFF2-40B4-BE49-F238E27FC236}">
                <a16:creationId xmlns:a16="http://schemas.microsoft.com/office/drawing/2014/main" id="{BC3C584B-D714-4E19-AB05-2EA4E387AAAE}"/>
              </a:ext>
            </a:extLst>
          </p:cNvPr>
          <p:cNvSpPr>
            <a:spLocks xmlns:a="http://schemas.openxmlformats.org/drawingml/2006/main" noGrp="1"/>
          </p:cNvSpPr>
          <p:nvPr/>
        </p:nvSpPr>
        <p:spPr>
          <a:xfrm xmlns:a="http://schemas.openxmlformats.org/drawingml/2006/main">
            <a:off x="3319272" y="1417320"/>
            <a:ext cx="2697480" cy="44805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8" name="Shape 13">
            <a:extLst xmlns:a="http://schemas.openxmlformats.org/drawingml/2006/main">
              <a:ext uri="{FF2B5EF4-FFF2-40B4-BE49-F238E27FC236}">
                <a16:creationId xmlns:a16="http://schemas.microsoft.com/office/drawing/2014/main" id="{048F6BE3-E967-4496-BAE0-41FF04FFB3FC}"/>
              </a:ext>
            </a:extLst>
          </p:cNvPr>
          <p:cNvSpPr>
            <a:spLocks xmlns:a="http://schemas.openxmlformats.org/drawingml/2006/main" noGrp="1"/>
          </p:cNvSpPr>
          <p:nvPr/>
        </p:nvSpPr>
        <p:spPr>
          <a:xfrm xmlns:a="http://schemas.openxmlformats.org/drawingml/2006/main">
            <a:off x="3319272" y="1417320"/>
            <a:ext cx="2697480" cy="109728"/>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9" name="Shape 14">
            <a:extLst xmlns:a="http://schemas.openxmlformats.org/drawingml/2006/main">
              <a:ext uri="{FF2B5EF4-FFF2-40B4-BE49-F238E27FC236}">
                <a16:creationId xmlns:a16="http://schemas.microsoft.com/office/drawing/2014/main" id="{A3E8C80F-68A3-4880-BCBA-9535D2537F44}"/>
              </a:ext>
            </a:extLst>
          </p:cNvPr>
          <p:cNvSpPr>
            <a:spLocks xmlns:a="http://schemas.openxmlformats.org/drawingml/2006/main" noGrp="1"/>
          </p:cNvSpPr>
          <p:nvPr/>
        </p:nvSpPr>
        <p:spPr>
          <a:xfrm xmlns:a="http://schemas.openxmlformats.org/drawingml/2006/main">
            <a:off x="3593592" y="1783080"/>
            <a:ext cx="640080" cy="640080"/>
          </a:xfrm>
          <a:prstGeom xmlns:a="http://schemas.openxmlformats.org/drawingml/2006/main" prst="ellipse">
            <a:avLst/>
          </a:prstGeom>
          <a:solidFill xmlns:a="http://schemas.openxmlformats.org/drawingml/2006/main">
            <a:srgbClr val="002677"/>
          </a:solidFill>
          <a:ln xmlns:a="http://schemas.openxmlformats.org/drawingml/2006/main" w="12700">
            <a:solidFill>
              <a:srgbClr val="002677"/>
            </a:solidFill>
            <a:prstDash val="solid"/>
          </a:ln>
        </p:spPr>
      </p:sp>
      <p:sp>
        <p:nvSpPr>
          <p:cNvPr id="20" name="Text 15">
            <a:extLst xmlns:a="http://schemas.openxmlformats.org/drawingml/2006/main">
              <a:ext uri="{FF2B5EF4-FFF2-40B4-BE49-F238E27FC236}">
                <a16:creationId xmlns:a16="http://schemas.microsoft.com/office/drawing/2014/main" id="{1395B00B-6590-4B8A-9012-8A715E8568EC}"/>
              </a:ext>
            </a:extLst>
          </p:cNvPr>
          <p:cNvSpPr>
            <a:spLocks xmlns:a="http://schemas.openxmlformats.org/drawingml/2006/main" noGrp="1"/>
          </p:cNvSpPr>
          <p:nvPr/>
        </p:nvSpPr>
        <p:spPr>
          <a:xfrm xmlns:a="http://schemas.openxmlformats.org/drawingml/2006/main">
            <a:off x="3593592" y="1783080"/>
            <a:ext cx="640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libri"/>
                <a:ea typeface="Calibri"/>
                <a:cs typeface="Calibri"/>
              </a:rPr>
              <a:t>2</a:t>
            </a:r>
            <a:endParaRPr sz="2200"/>
          </a:p>
        </p:txBody>
      </p:sp>
      <p:pic>
        <p:nvPicPr>
          <p:cNvPr id="64" name="Image 3"/>
          <p:cNvPicPr>
            <a:picLocks xmlns:a="http://schemas.openxmlformats.org/drawingml/2006/main" noChangeAspect="1"/>
          </p:cNvPicPr>
          <p:nvPr/>
        </p:nvPicPr>
        <p:blipFill>
          <a:blip xmlns:r="http://schemas.openxmlformats.org/officeDocument/2006/relationships" xmlns:a="http://schemas.openxmlformats.org/drawingml/2006/main" r:embed="R6bc516ab00fa4b24"/>
          <a:stretch xmlns:a="http://schemas.openxmlformats.org/drawingml/2006/main">
            <a:fillRect l="0" t="0" r="0" b="0"/>
          </a:stretch>
        </p:blipFill>
        <p:spPr>
          <a:xfrm xmlns:a="http://schemas.openxmlformats.org/drawingml/2006/main">
            <a:off x="5148072" y="1828800"/>
            <a:ext cx="548640" cy="548640"/>
          </a:xfrm>
          <a:prstGeom xmlns:a="http://schemas.openxmlformats.org/drawingml/2006/main" prst="rect">
            <a:avLst/>
          </a:prstGeom>
        </p:spPr>
      </p:pic>
      <p:sp>
        <p:nvSpPr>
          <p:cNvPr id="22" name="Text 16">
            <a:extLst xmlns:a="http://schemas.openxmlformats.org/drawingml/2006/main">
              <a:ext uri="{FF2B5EF4-FFF2-40B4-BE49-F238E27FC236}">
                <a16:creationId xmlns:a16="http://schemas.microsoft.com/office/drawing/2014/main" id="{8D716495-B96E-4498-AD08-78FF7B0AF059}"/>
              </a:ext>
            </a:extLst>
          </p:cNvPr>
          <p:cNvSpPr>
            <a:spLocks xmlns:a="http://schemas.openxmlformats.org/drawingml/2006/main" noGrp="1"/>
          </p:cNvSpPr>
          <p:nvPr/>
        </p:nvSpPr>
        <p:spPr>
          <a:xfrm xmlns:a="http://schemas.openxmlformats.org/drawingml/2006/main">
            <a:off x="3502152" y="2606040"/>
            <a:ext cx="23317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677"/>
                </a:solidFill>
                <a:latin typeface="Calibri"/>
                <a:ea typeface="Calibri"/>
                <a:cs typeface="Calibri"/>
              </a:rPr>
              <a:t>Menerapkan</a:t>
            </a:r>
            <a:endParaRPr sz="1800"/>
          </a:p>
        </p:txBody>
      </p:sp>
      <p:sp>
        <p:nvSpPr>
          <p:cNvPr id="23" name="Text 17">
            <a:extLst xmlns:a="http://schemas.openxmlformats.org/drawingml/2006/main">
              <a:ext uri="{FF2B5EF4-FFF2-40B4-BE49-F238E27FC236}">
                <a16:creationId xmlns:a16="http://schemas.microsoft.com/office/drawing/2014/main" id="{7F9BC68A-AA73-4101-B0AF-71B5E3506AF9}"/>
              </a:ext>
            </a:extLst>
          </p:cNvPr>
          <p:cNvSpPr>
            <a:spLocks xmlns:a="http://schemas.openxmlformats.org/drawingml/2006/main" noGrp="1"/>
          </p:cNvSpPr>
          <p:nvPr/>
        </p:nvSpPr>
        <p:spPr>
          <a:xfrm xmlns:a="http://schemas.openxmlformats.org/drawingml/2006/main">
            <a:off x="3502152" y="3154680"/>
            <a:ext cx="2331720" cy="25603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a:solidFill>
                  <a:srgbClr val="1E293B"/>
                </a:solidFill>
                <a:latin typeface="Calibri"/>
                <a:ea typeface="Calibri"/>
                <a:cs typeface="Calibri"/>
              </a:rPr>
              <a:t>model permission Unix (rwx, chmod, chown) untuk mengamankan file dan direktori.</a:t>
            </a:r>
            <a:endParaRPr sz="1200"/>
          </a:p>
        </p:txBody>
      </p:sp>
      <p:sp>
        <p:nvSpPr>
          <p:cNvPr id="24" name="Shape 18">
            <a:extLst xmlns:a="http://schemas.openxmlformats.org/drawingml/2006/main">
              <a:ext uri="{FF2B5EF4-FFF2-40B4-BE49-F238E27FC236}">
                <a16:creationId xmlns:a16="http://schemas.microsoft.com/office/drawing/2014/main" id="{37FC2DCA-ECDA-4ABC-B3C1-870860C03F6B}"/>
              </a:ext>
            </a:extLst>
          </p:cNvPr>
          <p:cNvSpPr>
            <a:spLocks xmlns:a="http://schemas.openxmlformats.org/drawingml/2006/main" noGrp="1"/>
          </p:cNvSpPr>
          <p:nvPr/>
        </p:nvSpPr>
        <p:spPr>
          <a:xfrm xmlns:a="http://schemas.openxmlformats.org/drawingml/2006/main">
            <a:off x="6181344" y="1417320"/>
            <a:ext cx="2697480" cy="44805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5" name="Shape 19">
            <a:extLst xmlns:a="http://schemas.openxmlformats.org/drawingml/2006/main">
              <a:ext uri="{FF2B5EF4-FFF2-40B4-BE49-F238E27FC236}">
                <a16:creationId xmlns:a16="http://schemas.microsoft.com/office/drawing/2014/main" id="{F4D774E7-B7DF-4911-B8DC-2EB33BAF2AC6}"/>
              </a:ext>
            </a:extLst>
          </p:cNvPr>
          <p:cNvSpPr>
            <a:spLocks xmlns:a="http://schemas.openxmlformats.org/drawingml/2006/main" noGrp="1"/>
          </p:cNvSpPr>
          <p:nvPr/>
        </p:nvSpPr>
        <p:spPr>
          <a:xfrm xmlns:a="http://schemas.openxmlformats.org/drawingml/2006/main">
            <a:off x="6181344" y="1417320"/>
            <a:ext cx="2697480" cy="109728"/>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26" name="Shape 20">
            <a:extLst xmlns:a="http://schemas.openxmlformats.org/drawingml/2006/main">
              <a:ext uri="{FF2B5EF4-FFF2-40B4-BE49-F238E27FC236}">
                <a16:creationId xmlns:a16="http://schemas.microsoft.com/office/drawing/2014/main" id="{C3246010-F217-4A03-BE10-E39322598EDB}"/>
              </a:ext>
            </a:extLst>
          </p:cNvPr>
          <p:cNvSpPr>
            <a:spLocks xmlns:a="http://schemas.openxmlformats.org/drawingml/2006/main" noGrp="1"/>
          </p:cNvSpPr>
          <p:nvPr/>
        </p:nvSpPr>
        <p:spPr>
          <a:xfrm xmlns:a="http://schemas.openxmlformats.org/drawingml/2006/main">
            <a:off x="6455664" y="1783080"/>
            <a:ext cx="640080" cy="640080"/>
          </a:xfrm>
          <a:prstGeom xmlns:a="http://schemas.openxmlformats.org/drawingml/2006/main" prst="ellipse">
            <a:avLst/>
          </a:prstGeom>
          <a:solidFill xmlns:a="http://schemas.openxmlformats.org/drawingml/2006/main">
            <a:srgbClr val="002677"/>
          </a:solidFill>
          <a:ln xmlns:a="http://schemas.openxmlformats.org/drawingml/2006/main" w="12700">
            <a:solidFill>
              <a:srgbClr val="002677"/>
            </a:solidFill>
            <a:prstDash val="solid"/>
          </a:ln>
        </p:spPr>
      </p:sp>
      <p:sp>
        <p:nvSpPr>
          <p:cNvPr id="27" name="Text 21">
            <a:extLst xmlns:a="http://schemas.openxmlformats.org/drawingml/2006/main">
              <a:ext uri="{FF2B5EF4-FFF2-40B4-BE49-F238E27FC236}">
                <a16:creationId xmlns:a16="http://schemas.microsoft.com/office/drawing/2014/main" id="{4F658855-79A8-4536-8585-4550FE2C0545}"/>
              </a:ext>
            </a:extLst>
          </p:cNvPr>
          <p:cNvSpPr>
            <a:spLocks xmlns:a="http://schemas.openxmlformats.org/drawingml/2006/main" noGrp="1"/>
          </p:cNvSpPr>
          <p:nvPr/>
        </p:nvSpPr>
        <p:spPr>
          <a:xfrm xmlns:a="http://schemas.openxmlformats.org/drawingml/2006/main">
            <a:off x="6455664" y="1783080"/>
            <a:ext cx="640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libri"/>
                <a:ea typeface="Calibri"/>
                <a:cs typeface="Calibri"/>
              </a:rPr>
              <a:t>3</a:t>
            </a:r>
            <a:endParaRPr sz="2200"/>
          </a:p>
        </p:txBody>
      </p:sp>
      <p:pic>
        <p:nvPicPr>
          <p:cNvPr id="71" name="Image 4"/>
          <p:cNvPicPr>
            <a:picLocks xmlns:a="http://schemas.openxmlformats.org/drawingml/2006/main" noChangeAspect="1"/>
          </p:cNvPicPr>
          <p:nvPr/>
        </p:nvPicPr>
        <p:blipFill>
          <a:blip xmlns:r="http://schemas.openxmlformats.org/officeDocument/2006/relationships" xmlns:a="http://schemas.openxmlformats.org/drawingml/2006/main" r:embed="R3452c40d9b3548de"/>
          <a:stretch xmlns:a="http://schemas.openxmlformats.org/drawingml/2006/main">
            <a:fillRect l="0" t="0" r="0" b="0"/>
          </a:stretch>
        </p:blipFill>
        <p:spPr>
          <a:xfrm xmlns:a="http://schemas.openxmlformats.org/drawingml/2006/main">
            <a:off x="8010144" y="1828800"/>
            <a:ext cx="548640" cy="548640"/>
          </a:xfrm>
          <a:prstGeom xmlns:a="http://schemas.openxmlformats.org/drawingml/2006/main" prst="rect">
            <a:avLst/>
          </a:prstGeom>
        </p:spPr>
      </p:pic>
      <p:sp>
        <p:nvSpPr>
          <p:cNvPr id="29" name="Text 22">
            <a:extLst xmlns:a="http://schemas.openxmlformats.org/drawingml/2006/main">
              <a:ext uri="{FF2B5EF4-FFF2-40B4-BE49-F238E27FC236}">
                <a16:creationId xmlns:a16="http://schemas.microsoft.com/office/drawing/2014/main" id="{0E78DF61-77A4-4400-9ED4-664780353CB5}"/>
              </a:ext>
            </a:extLst>
          </p:cNvPr>
          <p:cNvSpPr>
            <a:spLocks xmlns:a="http://schemas.openxmlformats.org/drawingml/2006/main" noGrp="1"/>
          </p:cNvSpPr>
          <p:nvPr/>
        </p:nvSpPr>
        <p:spPr>
          <a:xfrm xmlns:a="http://schemas.openxmlformats.org/drawingml/2006/main">
            <a:off x="6364224" y="2606040"/>
            <a:ext cx="23317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677"/>
                </a:solidFill>
                <a:latin typeface="Calibri"/>
                <a:ea typeface="Calibri"/>
                <a:cs typeface="Calibri"/>
              </a:rPr>
              <a:t>Mengelola</a:t>
            </a:r>
            <a:endParaRPr sz="1800"/>
          </a:p>
        </p:txBody>
      </p:sp>
      <p:sp>
        <p:nvSpPr>
          <p:cNvPr id="30" name="Text 23">
            <a:extLst xmlns:a="http://schemas.openxmlformats.org/drawingml/2006/main">
              <a:ext uri="{FF2B5EF4-FFF2-40B4-BE49-F238E27FC236}">
                <a16:creationId xmlns:a16="http://schemas.microsoft.com/office/drawing/2014/main" id="{5BC78107-E7DA-4D84-A219-4DAC235B20AA}"/>
              </a:ext>
            </a:extLst>
          </p:cNvPr>
          <p:cNvSpPr>
            <a:spLocks xmlns:a="http://schemas.openxmlformats.org/drawingml/2006/main" noGrp="1"/>
          </p:cNvSpPr>
          <p:nvPr/>
        </p:nvSpPr>
        <p:spPr>
          <a:xfrm xmlns:a="http://schemas.openxmlformats.org/drawingml/2006/main">
            <a:off x="6364224" y="3154680"/>
            <a:ext cx="2331720" cy="25603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a:solidFill>
                  <a:srgbClr val="1E293B"/>
                </a:solidFill>
                <a:latin typeface="Calibri"/>
                <a:ea typeface="Calibri"/>
                <a:cs typeface="Calibri"/>
              </a:rPr>
              <a:t>package dan service menggunakan apt/dnf dan systemctl di server cloud.</a:t>
            </a:r>
            <a:endParaRPr sz="1200"/>
          </a:p>
        </p:txBody>
      </p:sp>
      <p:sp>
        <p:nvSpPr>
          <p:cNvPr id="31" name="Shape 24">
            <a:extLst xmlns:a="http://schemas.openxmlformats.org/drawingml/2006/main">
              <a:ext uri="{FF2B5EF4-FFF2-40B4-BE49-F238E27FC236}">
                <a16:creationId xmlns:a16="http://schemas.microsoft.com/office/drawing/2014/main" id="{314C7B3B-B7DF-47B4-92FC-4F27CEFF366E}"/>
              </a:ext>
            </a:extLst>
          </p:cNvPr>
          <p:cNvSpPr>
            <a:spLocks xmlns:a="http://schemas.openxmlformats.org/drawingml/2006/main" noGrp="1"/>
          </p:cNvSpPr>
          <p:nvPr/>
        </p:nvSpPr>
        <p:spPr>
          <a:xfrm xmlns:a="http://schemas.openxmlformats.org/drawingml/2006/main">
            <a:off x="9043416" y="1417320"/>
            <a:ext cx="2697480" cy="44805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2" name="Shape 25">
            <a:extLst xmlns:a="http://schemas.openxmlformats.org/drawingml/2006/main">
              <a:ext uri="{FF2B5EF4-FFF2-40B4-BE49-F238E27FC236}">
                <a16:creationId xmlns:a16="http://schemas.microsoft.com/office/drawing/2014/main" id="{9F89AEF9-BE31-4F21-B95B-19959FCC42CD}"/>
              </a:ext>
            </a:extLst>
          </p:cNvPr>
          <p:cNvSpPr>
            <a:spLocks xmlns:a="http://schemas.openxmlformats.org/drawingml/2006/main" noGrp="1"/>
          </p:cNvSpPr>
          <p:nvPr/>
        </p:nvSpPr>
        <p:spPr>
          <a:xfrm xmlns:a="http://schemas.openxmlformats.org/drawingml/2006/main">
            <a:off x="9043416" y="1417320"/>
            <a:ext cx="2697480" cy="109728"/>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33" name="Shape 26">
            <a:extLst xmlns:a="http://schemas.openxmlformats.org/drawingml/2006/main">
              <a:ext uri="{FF2B5EF4-FFF2-40B4-BE49-F238E27FC236}">
                <a16:creationId xmlns:a16="http://schemas.microsoft.com/office/drawing/2014/main" id="{97C54CE8-35EC-41DB-8BB9-6DD5664283FE}"/>
              </a:ext>
            </a:extLst>
          </p:cNvPr>
          <p:cNvSpPr>
            <a:spLocks xmlns:a="http://schemas.openxmlformats.org/drawingml/2006/main" noGrp="1"/>
          </p:cNvSpPr>
          <p:nvPr/>
        </p:nvSpPr>
        <p:spPr>
          <a:xfrm xmlns:a="http://schemas.openxmlformats.org/drawingml/2006/main">
            <a:off x="9317736" y="1783080"/>
            <a:ext cx="640080" cy="640080"/>
          </a:xfrm>
          <a:prstGeom xmlns:a="http://schemas.openxmlformats.org/drawingml/2006/main" prst="ellipse">
            <a:avLst/>
          </a:prstGeom>
          <a:solidFill xmlns:a="http://schemas.openxmlformats.org/drawingml/2006/main">
            <a:srgbClr val="002677"/>
          </a:solidFill>
          <a:ln xmlns:a="http://schemas.openxmlformats.org/drawingml/2006/main" w="12700">
            <a:solidFill>
              <a:srgbClr val="002677"/>
            </a:solidFill>
            <a:prstDash val="solid"/>
          </a:ln>
        </p:spPr>
      </p:sp>
      <p:sp>
        <p:nvSpPr>
          <p:cNvPr id="34" name="Text 27">
            <a:extLst xmlns:a="http://schemas.openxmlformats.org/drawingml/2006/main">
              <a:ext uri="{FF2B5EF4-FFF2-40B4-BE49-F238E27FC236}">
                <a16:creationId xmlns:a16="http://schemas.microsoft.com/office/drawing/2014/main" id="{0F49FC4F-2BD0-49FF-BE1D-4B0CDA82FA86}"/>
              </a:ext>
            </a:extLst>
          </p:cNvPr>
          <p:cNvSpPr>
            <a:spLocks xmlns:a="http://schemas.openxmlformats.org/drawingml/2006/main" noGrp="1"/>
          </p:cNvSpPr>
          <p:nvPr/>
        </p:nvSpPr>
        <p:spPr>
          <a:xfrm xmlns:a="http://schemas.openxmlformats.org/drawingml/2006/main">
            <a:off x="9317736" y="1783080"/>
            <a:ext cx="640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libri"/>
                <a:ea typeface="Calibri"/>
                <a:cs typeface="Calibri"/>
              </a:rPr>
              <a:t>4</a:t>
            </a:r>
            <a:endParaRPr sz="2200"/>
          </a:p>
        </p:txBody>
      </p:sp>
      <p:pic>
        <p:nvPicPr>
          <p:cNvPr id="78" name="Image 5"/>
          <p:cNvPicPr>
            <a:picLocks xmlns:a="http://schemas.openxmlformats.org/drawingml/2006/main" noChangeAspect="1"/>
          </p:cNvPicPr>
          <p:nvPr/>
        </p:nvPicPr>
        <p:blipFill>
          <a:blip xmlns:r="http://schemas.openxmlformats.org/officeDocument/2006/relationships" xmlns:a="http://schemas.openxmlformats.org/drawingml/2006/main" r:embed="R15fe36b676b440b7"/>
          <a:stretch xmlns:a="http://schemas.openxmlformats.org/drawingml/2006/main">
            <a:fillRect l="0" t="0" r="0" b="0"/>
          </a:stretch>
        </p:blipFill>
        <p:spPr>
          <a:xfrm xmlns:a="http://schemas.openxmlformats.org/drawingml/2006/main">
            <a:off x="10872216" y="1828800"/>
            <a:ext cx="548640" cy="548640"/>
          </a:xfrm>
          <a:prstGeom xmlns:a="http://schemas.openxmlformats.org/drawingml/2006/main" prst="rect">
            <a:avLst/>
          </a:prstGeom>
        </p:spPr>
      </p:pic>
      <p:sp>
        <p:nvSpPr>
          <p:cNvPr id="36" name="Text 28">
            <a:extLst xmlns:a="http://schemas.openxmlformats.org/drawingml/2006/main">
              <a:ext uri="{FF2B5EF4-FFF2-40B4-BE49-F238E27FC236}">
                <a16:creationId xmlns:a16="http://schemas.microsoft.com/office/drawing/2014/main" id="{AD38D5CB-EF9F-4DAE-9131-7CFF8841AAEF}"/>
              </a:ext>
            </a:extLst>
          </p:cNvPr>
          <p:cNvSpPr>
            <a:spLocks xmlns:a="http://schemas.openxmlformats.org/drawingml/2006/main" noGrp="1"/>
          </p:cNvSpPr>
          <p:nvPr/>
        </p:nvSpPr>
        <p:spPr>
          <a:xfrm xmlns:a="http://schemas.openxmlformats.org/drawingml/2006/main">
            <a:off x="9226296" y="2606040"/>
            <a:ext cx="23317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677"/>
                </a:solidFill>
                <a:latin typeface="Calibri"/>
                <a:ea typeface="Calibri"/>
                <a:cs typeface="Calibri"/>
              </a:rPr>
              <a:t>Mengkoneksikan</a:t>
            </a:r>
            <a:endParaRPr sz="1800"/>
          </a:p>
        </p:txBody>
      </p:sp>
      <p:sp>
        <p:nvSpPr>
          <p:cNvPr id="37" name="Text 29">
            <a:extLst xmlns:a="http://schemas.openxmlformats.org/drawingml/2006/main">
              <a:ext uri="{FF2B5EF4-FFF2-40B4-BE49-F238E27FC236}">
                <a16:creationId xmlns:a16="http://schemas.microsoft.com/office/drawing/2014/main" id="{F633B2E6-C9D6-4ADE-91B1-DF08AD675088}"/>
              </a:ext>
            </a:extLst>
          </p:cNvPr>
          <p:cNvSpPr>
            <a:spLocks xmlns:a="http://schemas.openxmlformats.org/drawingml/2006/main" noGrp="1"/>
          </p:cNvSpPr>
          <p:nvPr/>
        </p:nvSpPr>
        <p:spPr>
          <a:xfrm xmlns:a="http://schemas.openxmlformats.org/drawingml/2006/main">
            <a:off x="9226296" y="3154680"/>
            <a:ext cx="2331720" cy="25603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a:solidFill>
                  <a:srgbClr val="1E293B"/>
                </a:solidFill>
                <a:latin typeface="Calibri"/>
                <a:ea typeface="Calibri"/>
                <a:cs typeface="Calibri"/>
              </a:rPr>
              <a:t>ke server cloud menggunakan SSH key authentication.</a:t>
            </a:r>
            <a:endParaRPr sz="1200"/>
          </a:p>
        </p:txBody>
      </p:sp>
      <p:sp>
        <p:nvSpPr>
          <p:cNvPr id="38" name="Text 30">
            <a:extLst xmlns:a="http://schemas.openxmlformats.org/drawingml/2006/main">
              <a:ext uri="{FF2B5EF4-FFF2-40B4-BE49-F238E27FC236}">
                <a16:creationId xmlns:a16="http://schemas.microsoft.com/office/drawing/2014/main" id="{12C79E70-5F72-4D3E-B134-7D7F8E2C9EB8}"/>
              </a:ext>
            </a:extLst>
          </p:cNvPr>
          <p:cNvSpPr>
            <a:spLocks xmlns:a="http://schemas.openxmlformats.org/drawingml/2006/main" noGrp="1"/>
          </p:cNvSpPr>
          <p:nvPr/>
        </p:nvSpPr>
        <p:spPr>
          <a:xfrm xmlns:a="http://schemas.openxmlformats.org/drawingml/2006/main">
            <a:off x="457200" y="603504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64748B"/>
                </a:solidFill>
                <a:latin typeface="Calibri"/>
                <a:ea typeface="Calibri"/>
                <a:cs typeface="Calibri"/>
              </a:rPr>
              <a:t>Sesi ini mendukung:  </a:t>
            </a:r>
            <a:r>
              <a:rPr sz="1100" b="1" i="1">
                <a:solidFill>
                  <a:srgbClr val="002677"/>
                </a:solidFill>
                <a:latin typeface="Calibri"/>
                <a:ea typeface="Calibri"/>
                <a:cs typeface="Calibri"/>
              </a:rPr>
              <a:t>LO2 (Apply – fondasi infra untuk implementasi cloud-native)  +  LO1 (Analyze – memilih distro untuk use case)</a:t>
            </a:r>
            <a:endParaRPr sz="1100"/>
          </a:p>
        </p:txBody>
      </p:sp>
    </p:spTree>
    <p:extLst>
      <p:ext uri="{BB962C8B-B14F-4D97-AF65-F5344CB8AC3E}">
        <p14:creationId xmlns:p14="http://schemas.microsoft.com/office/powerpoint/2010/main" val="2005063070"/>
      </p:ext>
    </p:extLst>
  </p:cSld>
</p:sld>
</file>

<file path=ppt/slides/slide4.xml><?xml version="1.0" encoding="utf-8"?>
<p:sld xmlns:p="http://schemas.openxmlformats.org/presentationml/2006/main">
  <p:cSld>
    <p:bg>
      <p:bgPr>
        <a:solidFill xmlns:a="http://schemas.openxmlformats.org/drawingml/2006/main">
          <a:srgbClr val="0D47A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5A9B6CD-D672-48DA-83BF-F1D2D1934D99}"/>
              </a:ext>
            </a:extLst>
          </p:cNvPr>
          <p:cNvSpPr>
            <a:spLocks xmlns:a="http://schemas.openxmlformats.org/drawingml/2006/main" noGrp="1"/>
          </p:cNvSpPr>
          <p:nvPr/>
        </p:nvSpPr>
        <p:spPr>
          <a:xfrm xmlns:a="http://schemas.openxmlformats.org/drawingml/2006/main">
            <a:off x="-1828800" y="3657600"/>
            <a:ext cx="6400800" cy="6400800"/>
          </a:xfrm>
          <a:prstGeom xmlns:a="http://schemas.openxmlformats.org/drawingml/2006/main" prst="ellipse">
            <a:avLst/>
          </a:prstGeom>
          <a:solidFill xmlns:a="http://schemas.openxmlformats.org/drawingml/2006/main">
            <a:srgbClr val="1565C0">
              <a:alpha val="25000"/>
            </a:srgbClr>
          </a:solidFill>
          <a:ln xmlns:a="http://schemas.openxmlformats.org/drawingml/2006/main" w="12700">
            <a:solidFill>
              <a:srgbClr val="1565C0">
                <a:alpha val="0"/>
              </a:srgbClr>
            </a:solidFill>
            <a:prstDash val="solid"/>
          </a:ln>
        </p:spPr>
      </p:sp>
      <p:sp>
        <p:nvSpPr>
          <p:cNvPr id="3" name="Shape 1">
            <a:extLst xmlns:a="http://schemas.openxmlformats.org/drawingml/2006/main">
              <a:ext uri="{FF2B5EF4-FFF2-40B4-BE49-F238E27FC236}">
                <a16:creationId xmlns:a16="http://schemas.microsoft.com/office/drawing/2014/main" id="{5CB8DF4D-1016-4CA4-857E-3158C0A34B4B}"/>
              </a:ext>
            </a:extLst>
          </p:cNvPr>
          <p:cNvSpPr>
            <a:spLocks xmlns:a="http://schemas.openxmlformats.org/drawingml/2006/main" noGrp="1"/>
          </p:cNvSpPr>
          <p:nvPr/>
        </p:nvSpPr>
        <p:spPr>
          <a:xfrm xmlns:a="http://schemas.openxmlformats.org/drawingml/2006/main">
            <a:off x="7315200" y="-914400"/>
            <a:ext cx="7315200" cy="7315200"/>
          </a:xfrm>
          <a:prstGeom xmlns:a="http://schemas.openxmlformats.org/drawingml/2006/main" prst="ellipse">
            <a:avLst/>
          </a:prstGeom>
          <a:solidFill xmlns:a="http://schemas.openxmlformats.org/drawingml/2006/main">
            <a:srgbClr val="1976D2">
              <a:alpha val="20000"/>
            </a:srgbClr>
          </a:solidFill>
          <a:ln xmlns:a="http://schemas.openxmlformats.org/drawingml/2006/main" w="12700">
            <a:solidFill>
              <a:srgbClr val="1976D2">
                <a:alpha val="0"/>
              </a:srgbClr>
            </a:solidFill>
            <a:prstDash val="solid"/>
          </a:ln>
        </p:spPr>
      </p:sp>
      <p:sp>
        <p:nvSpPr>
          <p:cNvPr id="4" name="Shape 2">
            <a:extLst xmlns:a="http://schemas.openxmlformats.org/drawingml/2006/main">
              <a:ext uri="{FF2B5EF4-FFF2-40B4-BE49-F238E27FC236}">
                <a16:creationId xmlns:a16="http://schemas.microsoft.com/office/drawing/2014/main" id="{29A1001A-3F83-4A56-9D27-713B4D7095BC}"/>
              </a:ext>
            </a:extLst>
          </p:cNvPr>
          <p:cNvSpPr>
            <a:spLocks xmlns:a="http://schemas.openxmlformats.org/drawingml/2006/main" noGrp="1"/>
          </p:cNvSpPr>
          <p:nvPr/>
        </p:nvSpPr>
        <p:spPr>
          <a:xfrm xmlns:a="http://schemas.openxmlformats.org/drawingml/2006/main" rot="8100000">
            <a:off x="5852160" y="-182880"/>
            <a:ext cx="1188720" cy="1188720"/>
          </a:xfrm>
          <a:prstGeom xmlns:a="http://schemas.openxmlformats.org/drawingml/2006/main" prst="rtTriangle">
            <a:avLst/>
          </a:prstGeom>
          <a:solidFill xmlns:a="http://schemas.openxmlformats.org/drawingml/2006/main">
            <a:srgbClr val="F37021"/>
          </a:solidFill>
          <a:ln xmlns:a="http://schemas.openxmlformats.org/drawingml/2006/main" w="12700">
            <a:solidFill>
              <a:srgbClr val="F37021"/>
            </a:solidFill>
            <a:prstDash val="solid"/>
          </a:ln>
        </p:spPr>
      </p:sp>
      <p:sp>
        <p:nvSpPr>
          <p:cNvPr id="5" name="Shape 3">
            <a:extLst xmlns:a="http://schemas.openxmlformats.org/drawingml/2006/main">
              <a:ext uri="{FF2B5EF4-FFF2-40B4-BE49-F238E27FC236}">
                <a16:creationId xmlns:a16="http://schemas.microsoft.com/office/drawing/2014/main" id="{9C6E3B3A-1AB9-424D-B090-3CC574F9CD91}"/>
              </a:ext>
            </a:extLst>
          </p:cNvPr>
          <p:cNvSpPr>
            <a:spLocks xmlns:a="http://schemas.openxmlformats.org/drawingml/2006/main" noGrp="1"/>
          </p:cNvSpPr>
          <p:nvPr/>
        </p:nvSpPr>
        <p:spPr>
          <a:xfrm xmlns:a="http://schemas.openxmlformats.org/drawingml/2006/main">
            <a:off x="6355080"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6" name="Shape 4">
            <a:extLst xmlns:a="http://schemas.openxmlformats.org/drawingml/2006/main">
              <a:ext uri="{FF2B5EF4-FFF2-40B4-BE49-F238E27FC236}">
                <a16:creationId xmlns:a16="http://schemas.microsoft.com/office/drawing/2014/main" id="{486DD479-B28A-4F69-AD33-FADE827004EA}"/>
              </a:ext>
            </a:extLst>
          </p:cNvPr>
          <p:cNvSpPr>
            <a:spLocks xmlns:a="http://schemas.openxmlformats.org/drawingml/2006/main" noGrp="1"/>
          </p:cNvSpPr>
          <p:nvPr/>
        </p:nvSpPr>
        <p:spPr>
          <a:xfrm xmlns:a="http://schemas.openxmlformats.org/drawingml/2006/main">
            <a:off x="6556248"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7" name="Shape 5">
            <a:extLst xmlns:a="http://schemas.openxmlformats.org/drawingml/2006/main">
              <a:ext uri="{FF2B5EF4-FFF2-40B4-BE49-F238E27FC236}">
                <a16:creationId xmlns:a16="http://schemas.microsoft.com/office/drawing/2014/main" id="{E1667EF3-AEC7-4312-BA2E-70A2FDE6D6C1}"/>
              </a:ext>
            </a:extLst>
          </p:cNvPr>
          <p:cNvSpPr>
            <a:spLocks xmlns:a="http://schemas.openxmlformats.org/drawingml/2006/main" noGrp="1"/>
          </p:cNvSpPr>
          <p:nvPr/>
        </p:nvSpPr>
        <p:spPr>
          <a:xfrm xmlns:a="http://schemas.openxmlformats.org/drawingml/2006/main">
            <a:off x="6757416"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8" name="Shape 6">
            <a:extLst xmlns:a="http://schemas.openxmlformats.org/drawingml/2006/main">
              <a:ext uri="{FF2B5EF4-FFF2-40B4-BE49-F238E27FC236}">
                <a16:creationId xmlns:a16="http://schemas.microsoft.com/office/drawing/2014/main" id="{67EB2578-428D-4451-9B7A-8049251307A0}"/>
              </a:ext>
            </a:extLst>
          </p:cNvPr>
          <p:cNvSpPr>
            <a:spLocks xmlns:a="http://schemas.openxmlformats.org/drawingml/2006/main" noGrp="1"/>
          </p:cNvSpPr>
          <p:nvPr/>
        </p:nvSpPr>
        <p:spPr>
          <a:xfrm xmlns:a="http://schemas.openxmlformats.org/drawingml/2006/main" flipV="1">
            <a:off x="457200" y="4114800"/>
            <a:ext cx="3657600" cy="1828800"/>
          </a:xfrm>
          <a:prstGeom xmlns:a="http://schemas.openxmlformats.org/drawingml/2006/main" prst="line">
            <a:avLst/>
          </a:prstGeom>
          <a:noFill xmlns:a="http://schemas.openxmlformats.org/drawingml/2006/main"/>
          <a:ln xmlns:a="http://schemas.openxmlformats.org/drawingml/2006/main" w="12700">
            <a:solidFill>
              <a:srgbClr val="FFFFFF">
                <a:alpha val="40000"/>
              </a:srgbClr>
            </a:solidFill>
            <a:prstDash val="dash"/>
          </a:ln>
        </p:spPr>
      </p:sp>
      <p:pic>
        <p:nvPicPr>
          <p:cNvPr id="24" name="Image 0"/>
          <p:cNvPicPr>
            <a:picLocks xmlns:a="http://schemas.openxmlformats.org/drawingml/2006/main" noChangeAspect="1"/>
          </p:cNvPicPr>
          <p:nvPr/>
        </p:nvPicPr>
        <p:blipFill>
          <a:blip xmlns:r="http://schemas.openxmlformats.org/officeDocument/2006/relationships" xmlns:a="http://schemas.openxmlformats.org/drawingml/2006/main" r:embed="Rce345ec8cf2542cc"/>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25" name="Image 1"/>
          <p:cNvPicPr>
            <a:picLocks xmlns:a="http://schemas.openxmlformats.org/drawingml/2006/main" noChangeAspect="1"/>
          </p:cNvPicPr>
          <p:nvPr/>
        </p:nvPicPr>
        <p:blipFill>
          <a:blip xmlns:r="http://schemas.openxmlformats.org/officeDocument/2006/relationships" xmlns:a="http://schemas.openxmlformats.org/drawingml/2006/main" r:embed="Raa9c514a05d343de"/>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C4A09282-0896-4201-816F-189171E5E997}"/>
              </a:ext>
            </a:extLst>
          </p:cNvPr>
          <p:cNvSpPr>
            <a:spLocks xmlns:a="http://schemas.openxmlformats.org/drawingml/2006/main" noGrp="1"/>
          </p:cNvSpPr>
          <p:nvPr/>
        </p:nvSpPr>
        <p:spPr>
          <a:xfrm xmlns:a="http://schemas.openxmlformats.org/drawingml/2006/main">
            <a:off x="457200" y="2560320"/>
            <a:ext cx="10972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spc="600">
                <a:solidFill>
                  <a:srgbClr val="F37021"/>
                </a:solidFill>
                <a:latin typeface="Calibri"/>
                <a:ea typeface="Calibri"/>
                <a:cs typeface="Calibri"/>
              </a:rPr>
              <a:t>BAGIAN 01</a:t>
            </a:r>
            <a:endParaRPr sz="1600"/>
          </a:p>
        </p:txBody>
      </p:sp>
      <p:sp>
        <p:nvSpPr>
          <p:cNvPr id="12" name="Text 8">
            <a:extLst xmlns:a="http://schemas.openxmlformats.org/drawingml/2006/main">
              <a:ext uri="{FF2B5EF4-FFF2-40B4-BE49-F238E27FC236}">
                <a16:creationId xmlns:a16="http://schemas.microsoft.com/office/drawing/2014/main" id="{89A30491-6F42-4D45-9EA9-86DD4F341EC4}"/>
              </a:ext>
            </a:extLst>
          </p:cNvPr>
          <p:cNvSpPr>
            <a:spLocks xmlns:a="http://schemas.openxmlformats.org/drawingml/2006/main" noGrp="1"/>
          </p:cNvSpPr>
          <p:nvPr/>
        </p:nvSpPr>
        <p:spPr>
          <a:xfrm xmlns:a="http://schemas.openxmlformats.org/drawingml/2006/main">
            <a:off x="457200" y="3017520"/>
            <a:ext cx="1124712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5200" b="1">
                <a:solidFill>
                  <a:srgbClr val="FFFFFF"/>
                </a:solidFill>
                <a:latin typeface="Calibri"/>
                <a:ea typeface="Calibri"/>
                <a:cs typeface="Calibri"/>
              </a:rPr>
              <a:t>Kenapa Linux</a:t>
            </a:r>
            <a:endParaRPr sz="5200"/>
          </a:p>
          <a:p xmlns:a="http://schemas.openxmlformats.org/drawingml/2006/main">
            <a:pPr marL="0" indent="0" algn="ctr">
              <a:buNone/>
            </a:pPr>
            <a:r>
              <a:rPr sz="5200" b="1">
                <a:solidFill>
                  <a:srgbClr val="FFFFFF"/>
                </a:solidFill>
                <a:latin typeface="Calibri"/>
                <a:ea typeface="Calibri"/>
                <a:cs typeface="Calibri"/>
              </a:rPr>
              <a:t>Untuk Cloud?</a:t>
            </a:r>
            <a:endParaRPr sz="5200"/>
          </a:p>
        </p:txBody>
      </p:sp>
      <p:sp>
        <p:nvSpPr>
          <p:cNvPr id="13" name="Shape 9">
            <a:extLst xmlns:a="http://schemas.openxmlformats.org/drawingml/2006/main">
              <a:ext uri="{FF2B5EF4-FFF2-40B4-BE49-F238E27FC236}">
                <a16:creationId xmlns:a16="http://schemas.microsoft.com/office/drawing/2014/main" id="{E22E0FE2-7E7D-4D13-B85F-4BD3CEC82F88}"/>
              </a:ext>
            </a:extLst>
          </p:cNvPr>
          <p:cNvSpPr>
            <a:spLocks xmlns:a="http://schemas.openxmlformats.org/drawingml/2006/main" noGrp="1"/>
          </p:cNvSpPr>
          <p:nvPr/>
        </p:nvSpPr>
        <p:spPr>
          <a:xfrm xmlns:a="http://schemas.openxmlformats.org/drawingml/2006/main">
            <a:off x="5715000" y="50292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55D229ED-96E7-4FE7-9EB3-28B5A523FC38}"/>
              </a:ext>
            </a:extLst>
          </p:cNvPr>
          <p:cNvSpPr>
            <a:spLocks xmlns:a="http://schemas.openxmlformats.org/drawingml/2006/main" noGrp="1"/>
          </p:cNvSpPr>
          <p:nvPr/>
        </p:nvSpPr>
        <p:spPr>
          <a:xfrm xmlns:a="http://schemas.openxmlformats.org/drawingml/2006/main">
            <a:off x="457200" y="5212080"/>
            <a:ext cx="112471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i="1">
                <a:solidFill>
                  <a:srgbClr val="FED7AA"/>
                </a:solidFill>
                <a:latin typeface="Calibri"/>
                <a:ea typeface="Calibri"/>
                <a:cs typeface="Calibri"/>
              </a:rPr>
              <a:t>Dominasi Linux di server, dan distro mana yang Anda akan jumpai.</a:t>
            </a:r>
            <a:endParaRPr sz="1400"/>
          </a:p>
        </p:txBody>
      </p:sp>
    </p:spTree>
    <p:extLst>
      <p:ext uri="{BB962C8B-B14F-4D97-AF65-F5344CB8AC3E}">
        <p14:creationId xmlns:p14="http://schemas.microsoft.com/office/powerpoint/2010/main" val="61679316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AE48276-E697-4CCE-ADC1-7790E02CFD88}"/>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2</a:t>
            </a:r>
            <a:endParaRPr sz="900"/>
          </a:p>
        </p:txBody>
      </p:sp>
      <p:sp>
        <p:nvSpPr>
          <p:cNvPr id="3" name="Text 1">
            <a:extLst xmlns:a="http://schemas.openxmlformats.org/drawingml/2006/main">
              <a:ext uri="{FF2B5EF4-FFF2-40B4-BE49-F238E27FC236}">
                <a16:creationId xmlns:a16="http://schemas.microsoft.com/office/drawing/2014/main" id="{6CAECD1C-CBBC-4798-AE36-2177DB63286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5</a:t>
            </a:r>
            <a:endParaRPr sz="900"/>
          </a:p>
        </p:txBody>
      </p:sp>
      <p:sp>
        <p:nvSpPr>
          <p:cNvPr id="4" name="Shape 2">
            <a:extLst xmlns:a="http://schemas.openxmlformats.org/drawingml/2006/main">
              <a:ext uri="{FF2B5EF4-FFF2-40B4-BE49-F238E27FC236}">
                <a16:creationId xmlns:a16="http://schemas.microsoft.com/office/drawing/2014/main" id="{32EF8589-9DE7-4149-ABF4-7B337B300C4A}"/>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0" name="Image 0"/>
          <p:cNvPicPr>
            <a:picLocks xmlns:a="http://schemas.openxmlformats.org/drawingml/2006/main" noChangeAspect="1"/>
          </p:cNvPicPr>
          <p:nvPr/>
        </p:nvPicPr>
        <p:blipFill>
          <a:blip xmlns:r="http://schemas.openxmlformats.org/officeDocument/2006/relationships" xmlns:a="http://schemas.openxmlformats.org/drawingml/2006/main" r:embed="R89d27850399f4069"/>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1" name="Image 1"/>
          <p:cNvPicPr>
            <a:picLocks xmlns:a="http://schemas.openxmlformats.org/drawingml/2006/main" noChangeAspect="1"/>
          </p:cNvPicPr>
          <p:nvPr/>
        </p:nvPicPr>
        <p:blipFill>
          <a:blip xmlns:r="http://schemas.openxmlformats.org/officeDocument/2006/relationships" xmlns:a="http://schemas.openxmlformats.org/drawingml/2006/main" r:embed="R8cab4616e86e4773"/>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2712EF55-D727-49C2-A9BC-E225982F51E3}"/>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BC033649-E4E6-4909-A821-4FE898CE4DC6}"/>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Linux Mendominasi Infrastruktur Cloud</a:t>
            </a:r>
            <a:endParaRPr sz="2200"/>
          </a:p>
        </p:txBody>
      </p:sp>
      <p:sp>
        <p:nvSpPr>
          <p:cNvPr id="9" name="Text 5">
            <a:extLst xmlns:a="http://schemas.openxmlformats.org/drawingml/2006/main">
              <a:ext uri="{FF2B5EF4-FFF2-40B4-BE49-F238E27FC236}">
                <a16:creationId xmlns:a16="http://schemas.microsoft.com/office/drawing/2014/main" id="{3D6F46FE-AD6C-474F-8BFE-40B20B5BF6A9}"/>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Bukan kebetulan - ini standar industri</a:t>
            </a:r>
            <a:endParaRPr sz="1200"/>
          </a:p>
        </p:txBody>
      </p:sp>
      <p:sp>
        <p:nvSpPr>
          <p:cNvPr id="10" name="Shape 6">
            <a:extLst xmlns:a="http://schemas.openxmlformats.org/drawingml/2006/main">
              <a:ext uri="{FF2B5EF4-FFF2-40B4-BE49-F238E27FC236}">
                <a16:creationId xmlns:a16="http://schemas.microsoft.com/office/drawing/2014/main" id="{C982AE64-2877-40F1-974E-C56B1B3E75AF}"/>
              </a:ext>
            </a:extLst>
          </p:cNvPr>
          <p:cNvSpPr>
            <a:spLocks xmlns:a="http://schemas.openxmlformats.org/drawingml/2006/main" noGrp="1"/>
          </p:cNvSpPr>
          <p:nvPr/>
        </p:nvSpPr>
        <p:spPr>
          <a:xfrm xmlns:a="http://schemas.openxmlformats.org/drawingml/2006/main">
            <a:off x="457200" y="1463040"/>
            <a:ext cx="2743200" cy="2468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D4ACF249-0C7C-444F-8BF1-E9A99C90E1BC}"/>
              </a:ext>
            </a:extLst>
          </p:cNvPr>
          <p:cNvSpPr>
            <a:spLocks xmlns:a="http://schemas.openxmlformats.org/drawingml/2006/main" noGrp="1"/>
          </p:cNvSpPr>
          <p:nvPr/>
        </p:nvSpPr>
        <p:spPr>
          <a:xfrm xmlns:a="http://schemas.openxmlformats.org/drawingml/2006/main">
            <a:off x="457200" y="1463040"/>
            <a:ext cx="2743200" cy="109728"/>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2" name="Text 8">
            <a:extLst xmlns:a="http://schemas.openxmlformats.org/drawingml/2006/main">
              <a:ext uri="{FF2B5EF4-FFF2-40B4-BE49-F238E27FC236}">
                <a16:creationId xmlns:a16="http://schemas.microsoft.com/office/drawing/2014/main" id="{F577AC49-3E7E-4D72-B70C-053596B90230}"/>
              </a:ext>
            </a:extLst>
          </p:cNvPr>
          <p:cNvSpPr>
            <a:spLocks xmlns:a="http://schemas.openxmlformats.org/drawingml/2006/main" noGrp="1"/>
          </p:cNvSpPr>
          <p:nvPr/>
        </p:nvSpPr>
        <p:spPr>
          <a:xfrm xmlns:a="http://schemas.openxmlformats.org/drawingml/2006/main">
            <a:off x="457200" y="1737360"/>
            <a:ext cx="274320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5400" b="1">
                <a:solidFill>
                  <a:srgbClr val="F37021"/>
                </a:solidFill>
                <a:latin typeface="Calibri"/>
                <a:ea typeface="Calibri"/>
                <a:cs typeface="Calibri"/>
              </a:rPr>
              <a:t>Linux</a:t>
            </a:r>
            <a:endParaRPr sz="5400"/>
          </a:p>
        </p:txBody>
      </p:sp>
      <p:sp>
        <p:nvSpPr>
          <p:cNvPr id="13" name="Text 9">
            <a:extLst xmlns:a="http://schemas.openxmlformats.org/drawingml/2006/main">
              <a:ext uri="{FF2B5EF4-FFF2-40B4-BE49-F238E27FC236}">
                <a16:creationId xmlns:a16="http://schemas.microsoft.com/office/drawing/2014/main" id="{A42DD84A-E91A-479C-9D04-A0249ED3A933}"/>
              </a:ext>
            </a:extLst>
          </p:cNvPr>
          <p:cNvSpPr>
            <a:spLocks xmlns:a="http://schemas.openxmlformats.org/drawingml/2006/main" noGrp="1"/>
          </p:cNvSpPr>
          <p:nvPr/>
        </p:nvSpPr>
        <p:spPr>
          <a:xfrm xmlns:a="http://schemas.openxmlformats.org/drawingml/2006/main">
            <a:off x="457200" y="2788920"/>
            <a:ext cx="274320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200">
                <a:solidFill>
                  <a:srgbClr val="1E293B"/>
                </a:solidFill>
                <a:latin typeface="Calibri"/>
                <a:ea typeface="Calibri"/>
                <a:cs typeface="Calibri"/>
              </a:rPr>
              <a:t>banyak server web</a:t>
            </a:r>
            <a:endParaRPr sz="1200"/>
          </a:p>
          <a:p xmlns:a="http://schemas.openxmlformats.org/drawingml/2006/main">
            <a:pPr marL="0" indent="0" algn="ctr">
              <a:buNone/>
            </a:pPr>
            <a:r>
              <a:rPr sz="1200">
                <a:solidFill>
                  <a:srgbClr val="1E293B"/>
                </a:solidFill>
                <a:latin typeface="Calibri"/>
                <a:ea typeface="Calibri"/>
                <a:cs typeface="Calibri"/>
              </a:rPr>
              <a:t>memakai Linux</a:t>
            </a:r>
            <a:endParaRPr sz="1200"/>
          </a:p>
        </p:txBody>
      </p:sp>
      <p:sp>
        <p:nvSpPr>
          <p:cNvPr id="14" name="Text 10">
            <a:extLst xmlns:a="http://schemas.openxmlformats.org/drawingml/2006/main">
              <a:ext uri="{FF2B5EF4-FFF2-40B4-BE49-F238E27FC236}">
                <a16:creationId xmlns:a16="http://schemas.microsoft.com/office/drawing/2014/main" id="{DE93515C-F388-4601-9772-0BE73CCCA82F}"/>
              </a:ext>
            </a:extLst>
          </p:cNvPr>
          <p:cNvSpPr>
            <a:spLocks xmlns:a="http://schemas.openxmlformats.org/drawingml/2006/main" noGrp="1"/>
          </p:cNvSpPr>
          <p:nvPr/>
        </p:nvSpPr>
        <p:spPr>
          <a:xfrm xmlns:a="http://schemas.openxmlformats.org/drawingml/2006/main">
            <a:off x="457200" y="3566160"/>
            <a:ext cx="2743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900" i="1">
                <a:solidFill>
                  <a:srgbClr val="64748B"/>
                </a:solidFill>
                <a:latin typeface="Calibri"/>
                <a:ea typeface="Calibri"/>
                <a:cs typeface="Calibri"/>
              </a:rPr>
              <a:t>contoh produksi</a:t>
            </a:r>
            <a:endParaRPr sz="900"/>
          </a:p>
        </p:txBody>
      </p:sp>
      <p:sp>
        <p:nvSpPr>
          <p:cNvPr id="15" name="Shape 11">
            <a:extLst xmlns:a="http://schemas.openxmlformats.org/drawingml/2006/main">
              <a:ext uri="{FF2B5EF4-FFF2-40B4-BE49-F238E27FC236}">
                <a16:creationId xmlns:a16="http://schemas.microsoft.com/office/drawing/2014/main" id="{AF957E30-1FCA-4C2F-9B30-7B5147F4FE4E}"/>
              </a:ext>
            </a:extLst>
          </p:cNvPr>
          <p:cNvSpPr>
            <a:spLocks xmlns:a="http://schemas.openxmlformats.org/drawingml/2006/main" noGrp="1"/>
          </p:cNvSpPr>
          <p:nvPr/>
        </p:nvSpPr>
        <p:spPr>
          <a:xfrm xmlns:a="http://schemas.openxmlformats.org/drawingml/2006/main">
            <a:off x="3337560" y="1463040"/>
            <a:ext cx="2743200" cy="2468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6" name="Shape 12">
            <a:extLst xmlns:a="http://schemas.openxmlformats.org/drawingml/2006/main">
              <a:ext uri="{FF2B5EF4-FFF2-40B4-BE49-F238E27FC236}">
                <a16:creationId xmlns:a16="http://schemas.microsoft.com/office/drawing/2014/main" id="{40465A83-BDD2-4646-9BAF-B15E2F23D1A7}"/>
              </a:ext>
            </a:extLst>
          </p:cNvPr>
          <p:cNvSpPr>
            <a:spLocks xmlns:a="http://schemas.openxmlformats.org/drawingml/2006/main" noGrp="1"/>
          </p:cNvSpPr>
          <p:nvPr/>
        </p:nvSpPr>
        <p:spPr>
          <a:xfrm xmlns:a="http://schemas.openxmlformats.org/drawingml/2006/main">
            <a:off x="3337560" y="1463040"/>
            <a:ext cx="2743200" cy="109728"/>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7" name="Text 13">
            <a:extLst xmlns:a="http://schemas.openxmlformats.org/drawingml/2006/main">
              <a:ext uri="{FF2B5EF4-FFF2-40B4-BE49-F238E27FC236}">
                <a16:creationId xmlns:a16="http://schemas.microsoft.com/office/drawing/2014/main" id="{D5EF4DD6-4AE6-4986-B8C6-D560369F330B}"/>
              </a:ext>
            </a:extLst>
          </p:cNvPr>
          <p:cNvSpPr>
            <a:spLocks xmlns:a="http://schemas.openxmlformats.org/drawingml/2006/main" noGrp="1"/>
          </p:cNvSpPr>
          <p:nvPr/>
        </p:nvSpPr>
        <p:spPr>
          <a:xfrm xmlns:a="http://schemas.openxmlformats.org/drawingml/2006/main">
            <a:off x="3337560" y="1737360"/>
            <a:ext cx="274320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5400" b="1">
                <a:solidFill>
                  <a:srgbClr val="002677"/>
                </a:solidFill>
                <a:latin typeface="Calibri"/>
                <a:ea typeface="Calibri"/>
                <a:cs typeface="Calibri"/>
              </a:rPr>
              <a:t>100%</a:t>
            </a:r>
            <a:endParaRPr sz="5400"/>
          </a:p>
        </p:txBody>
      </p:sp>
      <p:sp>
        <p:nvSpPr>
          <p:cNvPr id="18" name="Text 14">
            <a:extLst xmlns:a="http://schemas.openxmlformats.org/drawingml/2006/main">
              <a:ext uri="{FF2B5EF4-FFF2-40B4-BE49-F238E27FC236}">
                <a16:creationId xmlns:a16="http://schemas.microsoft.com/office/drawing/2014/main" id="{1E67F00D-259D-4179-A389-C86857D4E608}"/>
              </a:ext>
            </a:extLst>
          </p:cNvPr>
          <p:cNvSpPr>
            <a:spLocks xmlns:a="http://schemas.openxmlformats.org/drawingml/2006/main" noGrp="1"/>
          </p:cNvSpPr>
          <p:nvPr/>
        </p:nvSpPr>
        <p:spPr>
          <a:xfrm xmlns:a="http://schemas.openxmlformats.org/drawingml/2006/main">
            <a:off x="3337560" y="2788920"/>
            <a:ext cx="274320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200">
                <a:solidFill>
                  <a:srgbClr val="1E293B"/>
                </a:solidFill>
                <a:latin typeface="Calibri"/>
                <a:ea typeface="Calibri"/>
                <a:cs typeface="Calibri"/>
              </a:rPr>
              <a:t>Top500</a:t>
            </a:r>
            <a:endParaRPr sz="1200"/>
          </a:p>
          <a:p xmlns:a="http://schemas.openxmlformats.org/drawingml/2006/main">
            <a:pPr marL="0" indent="0" algn="ctr">
              <a:buNone/>
            </a:pPr>
            <a:r>
              <a:rPr sz="1200">
                <a:solidFill>
                  <a:srgbClr val="1E293B"/>
                </a:solidFill>
                <a:latin typeface="Calibri"/>
                <a:ea typeface="Calibri"/>
                <a:cs typeface="Calibri"/>
              </a:rPr>
              <a:t>supercomputers dunia</a:t>
            </a:r>
            <a:endParaRPr sz="1200"/>
          </a:p>
        </p:txBody>
      </p:sp>
      <p:sp>
        <p:nvSpPr>
          <p:cNvPr id="19" name="Text 15">
            <a:extLst xmlns:a="http://schemas.openxmlformats.org/drawingml/2006/main">
              <a:ext uri="{FF2B5EF4-FFF2-40B4-BE49-F238E27FC236}">
                <a16:creationId xmlns:a16="http://schemas.microsoft.com/office/drawing/2014/main" id="{876B203C-9DB3-4F28-BC94-F6F5F918EE47}"/>
              </a:ext>
            </a:extLst>
          </p:cNvPr>
          <p:cNvSpPr>
            <a:spLocks xmlns:a="http://schemas.openxmlformats.org/drawingml/2006/main" noGrp="1"/>
          </p:cNvSpPr>
          <p:nvPr/>
        </p:nvSpPr>
        <p:spPr>
          <a:xfrm xmlns:a="http://schemas.openxmlformats.org/drawingml/2006/main">
            <a:off x="3337560" y="3566160"/>
            <a:ext cx="2743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900" i="1">
                <a:solidFill>
                  <a:srgbClr val="64748B"/>
                </a:solidFill>
                <a:latin typeface="Calibri"/>
                <a:ea typeface="Calibri"/>
                <a:cs typeface="Calibri"/>
              </a:rPr>
              <a:t>Top500 list 2024</a:t>
            </a:r>
            <a:endParaRPr sz="900"/>
          </a:p>
        </p:txBody>
      </p:sp>
      <p:sp>
        <p:nvSpPr>
          <p:cNvPr id="20" name="Shape 16">
            <a:extLst xmlns:a="http://schemas.openxmlformats.org/drawingml/2006/main">
              <a:ext uri="{FF2B5EF4-FFF2-40B4-BE49-F238E27FC236}">
                <a16:creationId xmlns:a16="http://schemas.microsoft.com/office/drawing/2014/main" id="{D44A6195-EE86-4DD9-9113-E0A6E666AC66}"/>
              </a:ext>
            </a:extLst>
          </p:cNvPr>
          <p:cNvSpPr>
            <a:spLocks xmlns:a="http://schemas.openxmlformats.org/drawingml/2006/main" noGrp="1"/>
          </p:cNvSpPr>
          <p:nvPr/>
        </p:nvSpPr>
        <p:spPr>
          <a:xfrm xmlns:a="http://schemas.openxmlformats.org/drawingml/2006/main">
            <a:off x="6217920" y="1463040"/>
            <a:ext cx="2743200" cy="2468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1" name="Shape 17">
            <a:extLst xmlns:a="http://schemas.openxmlformats.org/drawingml/2006/main">
              <a:ext uri="{FF2B5EF4-FFF2-40B4-BE49-F238E27FC236}">
                <a16:creationId xmlns:a16="http://schemas.microsoft.com/office/drawing/2014/main" id="{737E4C6D-EAC8-4F28-B114-71F12D189700}"/>
              </a:ext>
            </a:extLst>
          </p:cNvPr>
          <p:cNvSpPr>
            <a:spLocks xmlns:a="http://schemas.openxmlformats.org/drawingml/2006/main" noGrp="1"/>
          </p:cNvSpPr>
          <p:nvPr/>
        </p:nvSpPr>
        <p:spPr>
          <a:xfrm xmlns:a="http://schemas.openxmlformats.org/drawingml/2006/main">
            <a:off x="6217920" y="1463040"/>
            <a:ext cx="2743200" cy="109728"/>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22" name="Text 18">
            <a:extLst xmlns:a="http://schemas.openxmlformats.org/drawingml/2006/main">
              <a:ext uri="{FF2B5EF4-FFF2-40B4-BE49-F238E27FC236}">
                <a16:creationId xmlns:a16="http://schemas.microsoft.com/office/drawing/2014/main" id="{44B3A3ED-AC10-46B0-A9C1-C5AE265D9983}"/>
              </a:ext>
            </a:extLst>
          </p:cNvPr>
          <p:cNvSpPr>
            <a:spLocks xmlns:a="http://schemas.openxmlformats.org/drawingml/2006/main" noGrp="1"/>
          </p:cNvSpPr>
          <p:nvPr/>
        </p:nvSpPr>
        <p:spPr>
          <a:xfrm xmlns:a="http://schemas.openxmlformats.org/drawingml/2006/main">
            <a:off x="6217920" y="1737360"/>
            <a:ext cx="274320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5400" b="1">
                <a:solidFill>
                  <a:srgbClr val="F37021"/>
                </a:solidFill>
                <a:latin typeface="Calibri"/>
                <a:ea typeface="Calibri"/>
                <a:cs typeface="Calibri"/>
              </a:rPr>
              <a:t>Umum</a:t>
            </a:r>
            <a:endParaRPr sz="5400"/>
          </a:p>
        </p:txBody>
      </p:sp>
      <p:sp>
        <p:nvSpPr>
          <p:cNvPr id="23" name="Text 19">
            <a:extLst xmlns:a="http://schemas.openxmlformats.org/drawingml/2006/main">
              <a:ext uri="{FF2B5EF4-FFF2-40B4-BE49-F238E27FC236}">
                <a16:creationId xmlns:a16="http://schemas.microsoft.com/office/drawing/2014/main" id="{85091353-2E39-48D6-A2F7-0E5D66AE10AF}"/>
              </a:ext>
            </a:extLst>
          </p:cNvPr>
          <p:cNvSpPr>
            <a:spLocks xmlns:a="http://schemas.openxmlformats.org/drawingml/2006/main" noGrp="1"/>
          </p:cNvSpPr>
          <p:nvPr/>
        </p:nvSpPr>
        <p:spPr>
          <a:xfrm xmlns:a="http://schemas.openxmlformats.org/drawingml/2006/main">
            <a:off x="6217920" y="2788920"/>
            <a:ext cx="274320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200">
                <a:solidFill>
                  <a:srgbClr val="1E293B"/>
                </a:solidFill>
                <a:latin typeface="Calibri"/>
                <a:ea typeface="Calibri"/>
                <a:cs typeface="Calibri"/>
              </a:rPr>
              <a:t>VM instance di</a:t>
            </a:r>
            <a:endParaRPr sz="1200"/>
          </a:p>
          <a:p xmlns:a="http://schemas.openxmlformats.org/drawingml/2006/main">
            <a:pPr marL="0" indent="0" algn="ctr">
              <a:buNone/>
            </a:pPr>
            <a:r>
              <a:rPr sz="1200">
                <a:solidFill>
                  <a:srgbClr val="1E293B"/>
                </a:solidFill>
                <a:latin typeface="Calibri"/>
                <a:ea typeface="Calibri"/>
                <a:cs typeface="Calibri"/>
              </a:rPr>
              <a:t>AWS, GCP, Azure</a:t>
            </a:r>
            <a:endParaRPr sz="1200"/>
          </a:p>
        </p:txBody>
      </p:sp>
      <p:sp>
        <p:nvSpPr>
          <p:cNvPr id="24" name="Text 20">
            <a:extLst xmlns:a="http://schemas.openxmlformats.org/drawingml/2006/main">
              <a:ext uri="{FF2B5EF4-FFF2-40B4-BE49-F238E27FC236}">
                <a16:creationId xmlns:a16="http://schemas.microsoft.com/office/drawing/2014/main" id="{F62946CA-4664-4BE7-95C6-8DE85269D439}"/>
              </a:ext>
            </a:extLst>
          </p:cNvPr>
          <p:cNvSpPr>
            <a:spLocks xmlns:a="http://schemas.openxmlformats.org/drawingml/2006/main" noGrp="1"/>
          </p:cNvSpPr>
          <p:nvPr/>
        </p:nvSpPr>
        <p:spPr>
          <a:xfrm xmlns:a="http://schemas.openxmlformats.org/drawingml/2006/main">
            <a:off x="6217920" y="3566160"/>
            <a:ext cx="2743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900" i="1">
                <a:solidFill>
                  <a:srgbClr val="64748B"/>
                </a:solidFill>
                <a:latin typeface="Calibri"/>
                <a:ea typeface="Calibri"/>
                <a:cs typeface="Calibri"/>
              </a:rPr>
              <a:t>pilihan image Linux</a:t>
            </a:r>
            <a:endParaRPr sz="900"/>
          </a:p>
        </p:txBody>
      </p:sp>
      <p:sp>
        <p:nvSpPr>
          <p:cNvPr id="25" name="Shape 21">
            <a:extLst xmlns:a="http://schemas.openxmlformats.org/drawingml/2006/main">
              <a:ext uri="{FF2B5EF4-FFF2-40B4-BE49-F238E27FC236}">
                <a16:creationId xmlns:a16="http://schemas.microsoft.com/office/drawing/2014/main" id="{675DFE35-A7AD-4C9C-8E6B-948EFD952524}"/>
              </a:ext>
            </a:extLst>
          </p:cNvPr>
          <p:cNvSpPr>
            <a:spLocks xmlns:a="http://schemas.openxmlformats.org/drawingml/2006/main" noGrp="1"/>
          </p:cNvSpPr>
          <p:nvPr/>
        </p:nvSpPr>
        <p:spPr>
          <a:xfrm xmlns:a="http://schemas.openxmlformats.org/drawingml/2006/main">
            <a:off x="9098280" y="1463040"/>
            <a:ext cx="2743200" cy="2468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6" name="Shape 22">
            <a:extLst xmlns:a="http://schemas.openxmlformats.org/drawingml/2006/main">
              <a:ext uri="{FF2B5EF4-FFF2-40B4-BE49-F238E27FC236}">
                <a16:creationId xmlns:a16="http://schemas.microsoft.com/office/drawing/2014/main" id="{305E3A58-213F-4D4F-98B7-C2D71CDE345A}"/>
              </a:ext>
            </a:extLst>
          </p:cNvPr>
          <p:cNvSpPr>
            <a:spLocks xmlns:a="http://schemas.openxmlformats.org/drawingml/2006/main" noGrp="1"/>
          </p:cNvSpPr>
          <p:nvPr/>
        </p:nvSpPr>
        <p:spPr>
          <a:xfrm xmlns:a="http://schemas.openxmlformats.org/drawingml/2006/main">
            <a:off x="9098280" y="1463040"/>
            <a:ext cx="2743200" cy="109728"/>
          </a:xfrm>
          <a:prstGeom xmlns:a="http://schemas.openxmlformats.org/drawingml/2006/main" prst="rect">
            <a:avLst/>
          </a:prstGeom>
          <a:solidFill xmlns:a="http://schemas.openxmlformats.org/drawingml/2006/main">
            <a:srgbClr val="059669"/>
          </a:solidFill>
          <a:ln xmlns:a="http://schemas.openxmlformats.org/drawingml/2006/main" w="12700">
            <a:solidFill>
              <a:srgbClr val="059669"/>
            </a:solidFill>
            <a:prstDash val="solid"/>
          </a:ln>
        </p:spPr>
      </p:sp>
      <p:sp>
        <p:nvSpPr>
          <p:cNvPr id="27" name="Text 23">
            <a:extLst xmlns:a="http://schemas.openxmlformats.org/drawingml/2006/main">
              <a:ext uri="{FF2B5EF4-FFF2-40B4-BE49-F238E27FC236}">
                <a16:creationId xmlns:a16="http://schemas.microsoft.com/office/drawing/2014/main" id="{4A0EC670-4F7A-4988-84ED-79827577DD68}"/>
              </a:ext>
            </a:extLst>
          </p:cNvPr>
          <p:cNvSpPr>
            <a:spLocks xmlns:a="http://schemas.openxmlformats.org/drawingml/2006/main" noGrp="1"/>
          </p:cNvSpPr>
          <p:nvPr/>
        </p:nvSpPr>
        <p:spPr>
          <a:xfrm xmlns:a="http://schemas.openxmlformats.org/drawingml/2006/main">
            <a:off x="9098280" y="1737360"/>
            <a:ext cx="274320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5400" b="1">
                <a:solidFill>
                  <a:srgbClr val="059669"/>
                </a:solidFill>
                <a:latin typeface="Calibri"/>
                <a:ea typeface="Calibri"/>
                <a:cs typeface="Calibri"/>
              </a:rPr>
              <a:t>Free</a:t>
            </a:r>
            <a:endParaRPr sz="5400"/>
          </a:p>
        </p:txBody>
      </p:sp>
      <p:sp>
        <p:nvSpPr>
          <p:cNvPr id="28" name="Text 24">
            <a:extLst xmlns:a="http://schemas.openxmlformats.org/drawingml/2006/main">
              <a:ext uri="{FF2B5EF4-FFF2-40B4-BE49-F238E27FC236}">
                <a16:creationId xmlns:a16="http://schemas.microsoft.com/office/drawing/2014/main" id="{CC1183E1-DA4A-4AAE-9E77-E4ED16EBBA76}"/>
              </a:ext>
            </a:extLst>
          </p:cNvPr>
          <p:cNvSpPr>
            <a:spLocks xmlns:a="http://schemas.openxmlformats.org/drawingml/2006/main" noGrp="1"/>
          </p:cNvSpPr>
          <p:nvPr/>
        </p:nvSpPr>
        <p:spPr>
          <a:xfrm xmlns:a="http://schemas.openxmlformats.org/drawingml/2006/main">
            <a:off x="9098280" y="2788920"/>
            <a:ext cx="274320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200">
                <a:solidFill>
                  <a:srgbClr val="1E293B"/>
                </a:solidFill>
                <a:latin typeface="Calibri"/>
                <a:ea typeface="Calibri"/>
                <a:cs typeface="Calibri"/>
              </a:rPr>
              <a:t>Open source -</a:t>
            </a:r>
            <a:endParaRPr sz="1200"/>
          </a:p>
          <a:p xmlns:a="http://schemas.openxmlformats.org/drawingml/2006/main">
            <a:pPr marL="0" indent="0" algn="ctr">
              <a:buNone/>
            </a:pPr>
            <a:r>
              <a:rPr sz="1200">
                <a:solidFill>
                  <a:srgbClr val="1E293B"/>
                </a:solidFill>
                <a:latin typeface="Calibri"/>
                <a:ea typeface="Calibri"/>
                <a:cs typeface="Calibri"/>
              </a:rPr>
              <a:t>zero license cost</a:t>
            </a:r>
            <a:endParaRPr sz="1200"/>
          </a:p>
        </p:txBody>
      </p:sp>
      <p:sp>
        <p:nvSpPr>
          <p:cNvPr id="29" name="Text 25">
            <a:extLst xmlns:a="http://schemas.openxmlformats.org/drawingml/2006/main">
              <a:ext uri="{FF2B5EF4-FFF2-40B4-BE49-F238E27FC236}">
                <a16:creationId xmlns:a16="http://schemas.microsoft.com/office/drawing/2014/main" id="{752774EF-B117-43BF-8BFA-CE67AF9299E9}"/>
              </a:ext>
            </a:extLst>
          </p:cNvPr>
          <p:cNvSpPr>
            <a:spLocks xmlns:a="http://schemas.openxmlformats.org/drawingml/2006/main" noGrp="1"/>
          </p:cNvSpPr>
          <p:nvPr/>
        </p:nvSpPr>
        <p:spPr>
          <a:xfrm xmlns:a="http://schemas.openxmlformats.org/drawingml/2006/main">
            <a:off x="9098280" y="3566160"/>
            <a:ext cx="2743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900" i="1">
                <a:solidFill>
                  <a:srgbClr val="64748B"/>
                </a:solidFill>
                <a:latin typeface="Calibri"/>
                <a:ea typeface="Calibri"/>
                <a:cs typeface="Calibri"/>
              </a:rPr>
              <a:t>GPL / permissive</a:t>
            </a:r>
            <a:endParaRPr sz="900"/>
          </a:p>
        </p:txBody>
      </p:sp>
      <p:sp>
        <p:nvSpPr>
          <p:cNvPr id="30" name="Shape 26">
            <a:extLst xmlns:a="http://schemas.openxmlformats.org/drawingml/2006/main">
              <a:ext uri="{FF2B5EF4-FFF2-40B4-BE49-F238E27FC236}">
                <a16:creationId xmlns:a16="http://schemas.microsoft.com/office/drawing/2014/main" id="{439DF7A5-CC0F-4531-AA7D-267E0D5253FD}"/>
              </a:ext>
            </a:extLst>
          </p:cNvPr>
          <p:cNvSpPr>
            <a:spLocks xmlns:a="http://schemas.openxmlformats.org/drawingml/2006/main" noGrp="1"/>
          </p:cNvSpPr>
          <p:nvPr/>
        </p:nvSpPr>
        <p:spPr>
          <a:xfrm xmlns:a="http://schemas.openxmlformats.org/drawingml/2006/main">
            <a:off x="457200" y="4206240"/>
            <a:ext cx="11247120" cy="192024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pic>
        <p:nvPicPr>
          <p:cNvPr id="66" name="Image 2"/>
          <p:cNvPicPr>
            <a:picLocks xmlns:a="http://schemas.openxmlformats.org/drawingml/2006/main" noChangeAspect="1"/>
          </p:cNvPicPr>
          <p:nvPr/>
        </p:nvPicPr>
        <p:blipFill>
          <a:blip xmlns:r="http://schemas.openxmlformats.org/officeDocument/2006/relationships" xmlns:a="http://schemas.openxmlformats.org/drawingml/2006/main" r:embed="R24e70ad5fe44494c"/>
          <a:stretch xmlns:a="http://schemas.openxmlformats.org/drawingml/2006/main">
            <a:fillRect l="0" t="0" r="0" b="0"/>
          </a:stretch>
        </p:blipFill>
        <p:spPr>
          <a:xfrm xmlns:a="http://schemas.openxmlformats.org/drawingml/2006/main">
            <a:off x="777240" y="4526280"/>
            <a:ext cx="1280160" cy="1280160"/>
          </a:xfrm>
          <a:prstGeom xmlns:a="http://schemas.openxmlformats.org/drawingml/2006/main" prst="rect">
            <a:avLst/>
          </a:prstGeom>
        </p:spPr>
      </p:pic>
      <p:sp>
        <p:nvSpPr>
          <p:cNvPr id="32" name="Text 27">
            <a:extLst xmlns:a="http://schemas.openxmlformats.org/drawingml/2006/main">
              <a:ext uri="{FF2B5EF4-FFF2-40B4-BE49-F238E27FC236}">
                <a16:creationId xmlns:a16="http://schemas.microsoft.com/office/drawing/2014/main" id="{C0533CA8-3FB4-484D-A2E8-62A11FDDDD42}"/>
              </a:ext>
            </a:extLst>
          </p:cNvPr>
          <p:cNvSpPr>
            <a:spLocks xmlns:a="http://schemas.openxmlformats.org/drawingml/2006/main" noGrp="1"/>
          </p:cNvSpPr>
          <p:nvPr/>
        </p:nvSpPr>
        <p:spPr>
          <a:xfrm xmlns:a="http://schemas.openxmlformats.org/drawingml/2006/main">
            <a:off x="2377440" y="4343400"/>
            <a:ext cx="9144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37021"/>
                </a:solidFill>
                <a:latin typeface="Calibri"/>
                <a:ea typeface="Calibri"/>
                <a:cs typeface="Calibri"/>
              </a:rPr>
              <a:t>Kenapa industri pilih Linux?</a:t>
            </a:r>
            <a:endParaRPr sz="1600"/>
          </a:p>
        </p:txBody>
      </p:sp>
      <p:sp>
        <p:nvSpPr>
          <p:cNvPr id="33" name="Text 28">
            <a:extLst xmlns:a="http://schemas.openxmlformats.org/drawingml/2006/main">
              <a:ext uri="{FF2B5EF4-FFF2-40B4-BE49-F238E27FC236}">
                <a16:creationId xmlns:a16="http://schemas.microsoft.com/office/drawing/2014/main" id="{DF2ACCBE-B3CC-45B0-9A6E-1838033463BF}"/>
              </a:ext>
            </a:extLst>
          </p:cNvPr>
          <p:cNvSpPr>
            <a:spLocks xmlns:a="http://schemas.openxmlformats.org/drawingml/2006/main" noGrp="1"/>
          </p:cNvSpPr>
          <p:nvPr/>
        </p:nvSpPr>
        <p:spPr>
          <a:xfrm xmlns:a="http://schemas.openxmlformats.org/drawingml/2006/main">
            <a:off x="2468880" y="4754880"/>
            <a:ext cx="9144000" cy="1371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300"/>
              </a:spcAft>
              <a:buSzPct val="100000"/>
              <a:buChar char="▸"/>
            </a:pPr>
            <a:r>
              <a:rPr sz="1200">
                <a:solidFill>
                  <a:srgbClr val="FFFFFF"/>
                </a:solidFill>
                <a:latin typeface="Calibri"/>
                <a:ea typeface="Calibri"/>
                <a:cs typeface="Calibri"/>
              </a:rPr>
              <a:t>Stabil untuk uptime panjang (server bisa hidup bertahun-tahun tanpa restart)</a:t>
            </a:r>
            <a:endParaRPr sz="1200"/>
          </a:p>
          <a:p xmlns:a="http://schemas.openxmlformats.org/drawingml/2006/main">
            <a:pPr marL="342900" indent="-342900">
              <a:spcAft>
                <a:spcPts val="300"/>
              </a:spcAft>
              <a:buSzPct val="100000"/>
              <a:buChar char="▸"/>
            </a:pPr>
            <a:r>
              <a:rPr sz="1200">
                <a:solidFill>
                  <a:srgbClr val="FFFFFF"/>
                </a:solidFill>
                <a:latin typeface="Calibri"/>
                <a:ea typeface="Calibri"/>
                <a:cs typeface="Calibri"/>
              </a:rPr>
              <a:t>Skriptabel dan otomatisasi-friendly (cocok untuk DevOps &amp; cloud-native)</a:t>
            </a:r>
            <a:endParaRPr sz="1200"/>
          </a:p>
          <a:p xmlns:a="http://schemas.openxmlformats.org/drawingml/2006/main">
            <a:pPr marL="342900" indent="-342900">
              <a:spcAft>
                <a:spcPts val="300"/>
              </a:spcAft>
              <a:buSzPct val="100000"/>
              <a:buChar char="▸"/>
            </a:pPr>
            <a:r>
              <a:rPr sz="1200">
                <a:solidFill>
                  <a:srgbClr val="FFFFFF"/>
                </a:solidFill>
                <a:latin typeface="Calibri"/>
                <a:ea typeface="Calibri"/>
                <a:cs typeface="Calibri"/>
              </a:rPr>
              <a:t>Footprint kecil - image Alpine ringkas; RAM VM bergantung konfigurasi</a:t>
            </a:r>
            <a:endParaRPr sz="1200"/>
          </a:p>
          <a:p xmlns:a="http://schemas.openxmlformats.org/drawingml/2006/main">
            <a:pPr marL="342900" indent="-342900">
              <a:spcAft>
                <a:spcPts val="300"/>
              </a:spcAft>
              <a:buSzPct val="100000"/>
              <a:buChar char="▸"/>
            </a:pPr>
            <a:r>
              <a:rPr sz="1200">
                <a:solidFill>
                  <a:srgbClr val="FFFFFF"/>
                </a:solidFill>
                <a:latin typeface="Calibri"/>
                <a:ea typeface="Calibri"/>
                <a:cs typeface="Calibri"/>
              </a:rPr>
              <a:t>Komunitas + tooling besar (Docker, Kubernetes, hampir semua dev tools native Linux)</a:t>
            </a:r>
            <a:endParaRPr sz="1200"/>
          </a:p>
        </p:txBody>
      </p:sp>
    </p:spTree>
    <p:extLst>
      <p:ext uri="{BB962C8B-B14F-4D97-AF65-F5344CB8AC3E}">
        <p14:creationId xmlns:p14="http://schemas.microsoft.com/office/powerpoint/2010/main" val="17811149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04EFF7-ADA1-477A-8F51-7718ACAD6FE8}"/>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2</a:t>
            </a:r>
            <a:endParaRPr sz="900"/>
          </a:p>
        </p:txBody>
      </p:sp>
      <p:sp>
        <p:nvSpPr>
          <p:cNvPr id="3" name="Text 1">
            <a:extLst xmlns:a="http://schemas.openxmlformats.org/drawingml/2006/main">
              <a:ext uri="{FF2B5EF4-FFF2-40B4-BE49-F238E27FC236}">
                <a16:creationId xmlns:a16="http://schemas.microsoft.com/office/drawing/2014/main" id="{E1D95D54-8304-4519-BFEA-5CAEEFE67D2D}"/>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6</a:t>
            </a:r>
            <a:endParaRPr sz="900"/>
          </a:p>
        </p:txBody>
      </p:sp>
      <p:sp>
        <p:nvSpPr>
          <p:cNvPr id="4" name="Shape 2">
            <a:extLst xmlns:a="http://schemas.openxmlformats.org/drawingml/2006/main">
              <a:ext uri="{FF2B5EF4-FFF2-40B4-BE49-F238E27FC236}">
                <a16:creationId xmlns:a16="http://schemas.microsoft.com/office/drawing/2014/main" id="{29AA4A10-1BB8-4DF9-A363-5AF947F03074}"/>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76" name="Image 0"/>
          <p:cNvPicPr>
            <a:picLocks xmlns:a="http://schemas.openxmlformats.org/drawingml/2006/main" noChangeAspect="1"/>
          </p:cNvPicPr>
          <p:nvPr/>
        </p:nvPicPr>
        <p:blipFill>
          <a:blip xmlns:r="http://schemas.openxmlformats.org/officeDocument/2006/relationships" xmlns:a="http://schemas.openxmlformats.org/drawingml/2006/main" r:embed="Rb66fe671b59e43c3"/>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77" name="Image 1"/>
          <p:cNvPicPr>
            <a:picLocks xmlns:a="http://schemas.openxmlformats.org/drawingml/2006/main" noChangeAspect="1"/>
          </p:cNvPicPr>
          <p:nvPr/>
        </p:nvPicPr>
        <p:blipFill>
          <a:blip xmlns:r="http://schemas.openxmlformats.org/officeDocument/2006/relationships" xmlns:a="http://schemas.openxmlformats.org/drawingml/2006/main" r:embed="Rb5129bfe57fb4c7a"/>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B29590FF-43D7-4F62-B841-8EC6B490E18A}"/>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160A079F-2025-4D5E-ADD9-D6EE2DDCCED3}"/>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Linux Distro yang Akan Anda Temui</a:t>
            </a:r>
            <a:endParaRPr sz="2200"/>
          </a:p>
        </p:txBody>
      </p:sp>
      <p:sp>
        <p:nvSpPr>
          <p:cNvPr id="9" name="Text 5">
            <a:extLst xmlns:a="http://schemas.openxmlformats.org/drawingml/2006/main">
              <a:ext uri="{FF2B5EF4-FFF2-40B4-BE49-F238E27FC236}">
                <a16:creationId xmlns:a16="http://schemas.microsoft.com/office/drawing/2014/main" id="{22F78385-31E9-425A-A6BA-74CE3706063B}"/>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Sesuai konteks pemakaian cloud</a:t>
            </a:r>
            <a:endParaRPr sz="1200"/>
          </a:p>
        </p:txBody>
      </p:sp>
      <p:sp>
        <p:nvSpPr>
          <p:cNvPr id="10" name="Shape 6">
            <a:extLst xmlns:a="http://schemas.openxmlformats.org/drawingml/2006/main">
              <a:ext uri="{FF2B5EF4-FFF2-40B4-BE49-F238E27FC236}">
                <a16:creationId xmlns:a16="http://schemas.microsoft.com/office/drawing/2014/main" id="{8493C1DB-42CB-4B2F-9FD2-1B14A16785EC}"/>
              </a:ext>
            </a:extLst>
          </p:cNvPr>
          <p:cNvSpPr>
            <a:spLocks xmlns:a="http://schemas.openxmlformats.org/drawingml/2006/main" noGrp="1"/>
          </p:cNvSpPr>
          <p:nvPr/>
        </p:nvSpPr>
        <p:spPr>
          <a:xfrm xmlns:a="http://schemas.openxmlformats.org/drawingml/2006/main">
            <a:off x="457200" y="1463040"/>
            <a:ext cx="2240280" cy="4572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2B333294-00F4-486C-86A8-54CF9410E3D0}"/>
              </a:ext>
            </a:extLst>
          </p:cNvPr>
          <p:cNvSpPr>
            <a:spLocks xmlns:a="http://schemas.openxmlformats.org/drawingml/2006/main" noGrp="1"/>
          </p:cNvSpPr>
          <p:nvPr/>
        </p:nvSpPr>
        <p:spPr>
          <a:xfrm xmlns:a="http://schemas.openxmlformats.org/drawingml/2006/main">
            <a:off x="457200" y="1463040"/>
            <a:ext cx="2240280" cy="137160"/>
          </a:xfrm>
          <a:prstGeom xmlns:a="http://schemas.openxmlformats.org/drawingml/2006/main" prst="rect">
            <a:avLst/>
          </a:prstGeom>
          <a:solidFill xmlns:a="http://schemas.openxmlformats.org/drawingml/2006/main">
            <a:srgbClr val="E95420"/>
          </a:solidFill>
          <a:ln xmlns:a="http://schemas.openxmlformats.org/drawingml/2006/main" w="12700">
            <a:solidFill>
              <a:srgbClr val="E95420"/>
            </a:solidFill>
            <a:prstDash val="solid"/>
          </a:ln>
        </p:spPr>
      </p:sp>
      <p:pic>
        <p:nvPicPr>
          <p:cNvPr id="83" name="Image 2"/>
          <p:cNvPicPr>
            <a:picLocks xmlns:a="http://schemas.openxmlformats.org/drawingml/2006/main" noChangeAspect="1"/>
          </p:cNvPicPr>
          <p:nvPr/>
        </p:nvPicPr>
        <p:blipFill>
          <a:blip xmlns:r="http://schemas.openxmlformats.org/officeDocument/2006/relationships" xmlns:a="http://schemas.openxmlformats.org/drawingml/2006/main" r:embed="Rff01ba252d354a6b"/>
          <a:stretch xmlns:a="http://schemas.openxmlformats.org/drawingml/2006/main">
            <a:fillRect l="0" t="0" r="0" b="0"/>
          </a:stretch>
        </p:blipFill>
        <p:spPr>
          <a:xfrm xmlns:a="http://schemas.openxmlformats.org/drawingml/2006/main">
            <a:off x="1257300" y="1737360"/>
            <a:ext cx="640080" cy="640080"/>
          </a:xfrm>
          <a:prstGeom xmlns:a="http://schemas.openxmlformats.org/drawingml/2006/main" prst="rect">
            <a:avLst/>
          </a:prstGeom>
        </p:spPr>
      </p:pic>
      <p:sp>
        <p:nvSpPr>
          <p:cNvPr id="13" name="Text 8">
            <a:extLst xmlns:a="http://schemas.openxmlformats.org/drawingml/2006/main">
              <a:ext uri="{FF2B5EF4-FFF2-40B4-BE49-F238E27FC236}">
                <a16:creationId xmlns:a16="http://schemas.microsoft.com/office/drawing/2014/main" id="{47BC534A-D91B-451B-934E-904315E6C270}"/>
              </a:ext>
            </a:extLst>
          </p:cNvPr>
          <p:cNvSpPr>
            <a:spLocks xmlns:a="http://schemas.openxmlformats.org/drawingml/2006/main" noGrp="1"/>
          </p:cNvSpPr>
          <p:nvPr/>
        </p:nvSpPr>
        <p:spPr>
          <a:xfrm xmlns:a="http://schemas.openxmlformats.org/drawingml/2006/main">
            <a:off x="457200" y="2423160"/>
            <a:ext cx="2240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02677"/>
                </a:solidFill>
                <a:latin typeface="Calibri"/>
                <a:ea typeface="Calibri"/>
                <a:cs typeface="Calibri"/>
              </a:rPr>
              <a:t>Ubuntu</a:t>
            </a:r>
            <a:endParaRPr sz="1400"/>
          </a:p>
        </p:txBody>
      </p:sp>
      <p:sp>
        <p:nvSpPr>
          <p:cNvPr id="14" name="Text 9">
            <a:extLst xmlns:a="http://schemas.openxmlformats.org/drawingml/2006/main">
              <a:ext uri="{FF2B5EF4-FFF2-40B4-BE49-F238E27FC236}">
                <a16:creationId xmlns:a16="http://schemas.microsoft.com/office/drawing/2014/main" id="{955B9524-756A-4927-BFBB-592E1A13F4FB}"/>
              </a:ext>
            </a:extLst>
          </p:cNvPr>
          <p:cNvSpPr>
            <a:spLocks xmlns:a="http://schemas.openxmlformats.org/drawingml/2006/main" noGrp="1"/>
          </p:cNvSpPr>
          <p:nvPr/>
        </p:nvSpPr>
        <p:spPr>
          <a:xfrm xmlns:a="http://schemas.openxmlformats.org/drawingml/2006/main">
            <a:off x="457200" y="2743200"/>
            <a:ext cx="22402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900" i="1">
                <a:solidFill>
                  <a:srgbClr val="64748B"/>
                </a:solidFill>
                <a:latin typeface="Calibri"/>
                <a:ea typeface="Calibri"/>
                <a:cs typeface="Calibri"/>
              </a:rPr>
              <a:t>Debian-based</a:t>
            </a:r>
            <a:endParaRPr sz="900"/>
          </a:p>
        </p:txBody>
      </p:sp>
      <p:sp>
        <p:nvSpPr>
          <p:cNvPr id="15" name="Shape 10">
            <a:extLst xmlns:a="http://schemas.openxmlformats.org/drawingml/2006/main">
              <a:ext uri="{FF2B5EF4-FFF2-40B4-BE49-F238E27FC236}">
                <a16:creationId xmlns:a16="http://schemas.microsoft.com/office/drawing/2014/main" id="{C1D6EE57-C928-4BFF-9E12-B281B8D52F1B}"/>
              </a:ext>
            </a:extLst>
          </p:cNvPr>
          <p:cNvSpPr>
            <a:spLocks xmlns:a="http://schemas.openxmlformats.org/drawingml/2006/main" noGrp="1"/>
          </p:cNvSpPr>
          <p:nvPr/>
        </p:nvSpPr>
        <p:spPr>
          <a:xfrm xmlns:a="http://schemas.openxmlformats.org/drawingml/2006/main">
            <a:off x="982980" y="3063240"/>
            <a:ext cx="1188720" cy="274320"/>
          </a:xfrm>
          <a:prstGeom xmlns:a="http://schemas.openxmlformats.org/drawingml/2006/main" prst="roundRect">
            <a:avLst>
              <a:gd name="adj" fmla="val 16667"/>
            </a:avLst>
          </a:prstGeom>
          <a:solidFill xmlns:a="http://schemas.openxmlformats.org/drawingml/2006/main">
            <a:srgbClr val="F37021"/>
          </a:solidFill>
          <a:ln xmlns:a="http://schemas.openxmlformats.org/drawingml/2006/main" w="12700">
            <a:solidFill>
              <a:srgbClr val="F37021"/>
            </a:solidFill>
            <a:prstDash val="solid"/>
          </a:ln>
        </p:spPr>
      </p:sp>
      <p:sp>
        <p:nvSpPr>
          <p:cNvPr id="16" name="Text 11">
            <a:extLst xmlns:a="http://schemas.openxmlformats.org/drawingml/2006/main">
              <a:ext uri="{FF2B5EF4-FFF2-40B4-BE49-F238E27FC236}">
                <a16:creationId xmlns:a16="http://schemas.microsoft.com/office/drawing/2014/main" id="{5E9A1674-EB08-4C21-A369-87F43FFAA496}"/>
              </a:ext>
            </a:extLst>
          </p:cNvPr>
          <p:cNvSpPr>
            <a:spLocks xmlns:a="http://schemas.openxmlformats.org/drawingml/2006/main" noGrp="1"/>
          </p:cNvSpPr>
          <p:nvPr/>
        </p:nvSpPr>
        <p:spPr>
          <a:xfrm xmlns:a="http://schemas.openxmlformats.org/drawingml/2006/main">
            <a:off x="982980" y="3063240"/>
            <a:ext cx="1188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PM: apt</a:t>
            </a:r>
            <a:endParaRPr sz="1000"/>
          </a:p>
        </p:txBody>
      </p:sp>
      <p:sp>
        <p:nvSpPr>
          <p:cNvPr id="17" name="Text 12">
            <a:extLst xmlns:a="http://schemas.openxmlformats.org/drawingml/2006/main">
              <a:ext uri="{FF2B5EF4-FFF2-40B4-BE49-F238E27FC236}">
                <a16:creationId xmlns:a16="http://schemas.microsoft.com/office/drawing/2014/main" id="{79554660-165C-4A34-8FC6-47A44277BAAB}"/>
              </a:ext>
            </a:extLst>
          </p:cNvPr>
          <p:cNvSpPr>
            <a:spLocks xmlns:a="http://schemas.openxmlformats.org/drawingml/2006/main" noGrp="1"/>
          </p:cNvSpPr>
          <p:nvPr/>
        </p:nvSpPr>
        <p:spPr>
          <a:xfrm xmlns:a="http://schemas.openxmlformats.org/drawingml/2006/main">
            <a:off x="594360" y="3474720"/>
            <a:ext cx="196596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Pilihan paling umum untuk cloud VM. Default di banyak tutorial &amp; dokumentasi cloud.</a:t>
            </a:r>
            <a:endParaRPr sz="1000"/>
          </a:p>
        </p:txBody>
      </p:sp>
      <p:sp>
        <p:nvSpPr>
          <p:cNvPr id="18" name="Shape 13">
            <a:extLst xmlns:a="http://schemas.openxmlformats.org/drawingml/2006/main">
              <a:ext uri="{FF2B5EF4-FFF2-40B4-BE49-F238E27FC236}">
                <a16:creationId xmlns:a16="http://schemas.microsoft.com/office/drawing/2014/main" id="{A0E85176-8618-43FD-97D6-0570AF1922D3}"/>
              </a:ext>
            </a:extLst>
          </p:cNvPr>
          <p:cNvSpPr>
            <a:spLocks xmlns:a="http://schemas.openxmlformats.org/drawingml/2006/main" noGrp="1"/>
          </p:cNvSpPr>
          <p:nvPr/>
        </p:nvSpPr>
        <p:spPr>
          <a:xfrm xmlns:a="http://schemas.openxmlformats.org/drawingml/2006/main">
            <a:off x="594360" y="4983480"/>
            <a:ext cx="196596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19" name="Text 14">
            <a:extLst xmlns:a="http://schemas.openxmlformats.org/drawingml/2006/main">
              <a:ext uri="{FF2B5EF4-FFF2-40B4-BE49-F238E27FC236}">
                <a16:creationId xmlns:a16="http://schemas.microsoft.com/office/drawing/2014/main" id="{6490A004-3D52-42FE-B1B2-D9056A9ABA19}"/>
              </a:ext>
            </a:extLst>
          </p:cNvPr>
          <p:cNvSpPr>
            <a:spLocks xmlns:a="http://schemas.openxmlformats.org/drawingml/2006/main" noGrp="1"/>
          </p:cNvSpPr>
          <p:nvPr/>
        </p:nvSpPr>
        <p:spPr>
          <a:xfrm xmlns:a="http://schemas.openxmlformats.org/drawingml/2006/main">
            <a:off x="594360" y="5074920"/>
            <a:ext cx="1965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64748B"/>
                </a:solidFill>
                <a:latin typeface="Calibri"/>
                <a:ea typeface="Calibri"/>
                <a:cs typeface="Calibri"/>
              </a:rPr>
              <a:t>Use case:</a:t>
            </a:r>
            <a:endParaRPr sz="900"/>
          </a:p>
        </p:txBody>
      </p:sp>
      <p:sp>
        <p:nvSpPr>
          <p:cNvPr id="20" name="Text 15">
            <a:extLst xmlns:a="http://schemas.openxmlformats.org/drawingml/2006/main">
              <a:ext uri="{FF2B5EF4-FFF2-40B4-BE49-F238E27FC236}">
                <a16:creationId xmlns:a16="http://schemas.microsoft.com/office/drawing/2014/main" id="{6C26BDF0-8148-43D0-96D4-419F6B1E411D}"/>
              </a:ext>
            </a:extLst>
          </p:cNvPr>
          <p:cNvSpPr>
            <a:spLocks xmlns:a="http://schemas.openxmlformats.org/drawingml/2006/main" noGrp="1"/>
          </p:cNvSpPr>
          <p:nvPr/>
        </p:nvSpPr>
        <p:spPr>
          <a:xfrm xmlns:a="http://schemas.openxmlformats.org/drawingml/2006/main">
            <a:off x="594360" y="5303520"/>
            <a:ext cx="1965960" cy="685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i="1">
                <a:solidFill>
                  <a:srgbClr val="1E293B"/>
                </a:solidFill>
                <a:latin typeface="Calibri"/>
                <a:ea typeface="Calibri"/>
                <a:cs typeface="Calibri"/>
              </a:rPr>
              <a:t>Dev VM, web server, ML workstation</a:t>
            </a:r>
            <a:endParaRPr sz="1000"/>
          </a:p>
        </p:txBody>
      </p:sp>
      <p:sp>
        <p:nvSpPr>
          <p:cNvPr id="21" name="Shape 16">
            <a:extLst xmlns:a="http://schemas.openxmlformats.org/drawingml/2006/main">
              <a:ext uri="{FF2B5EF4-FFF2-40B4-BE49-F238E27FC236}">
                <a16:creationId xmlns:a16="http://schemas.microsoft.com/office/drawing/2014/main" id="{A457DD60-787F-4F34-9891-2DB6926581D4}"/>
              </a:ext>
            </a:extLst>
          </p:cNvPr>
          <p:cNvSpPr>
            <a:spLocks xmlns:a="http://schemas.openxmlformats.org/drawingml/2006/main" noGrp="1"/>
          </p:cNvSpPr>
          <p:nvPr/>
        </p:nvSpPr>
        <p:spPr>
          <a:xfrm xmlns:a="http://schemas.openxmlformats.org/drawingml/2006/main">
            <a:off x="2807208" y="1463040"/>
            <a:ext cx="2240280" cy="4572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2" name="Shape 17">
            <a:extLst xmlns:a="http://schemas.openxmlformats.org/drawingml/2006/main">
              <a:ext uri="{FF2B5EF4-FFF2-40B4-BE49-F238E27FC236}">
                <a16:creationId xmlns:a16="http://schemas.microsoft.com/office/drawing/2014/main" id="{4DB404C4-A360-42B7-AF1A-DFFE842399B3}"/>
              </a:ext>
            </a:extLst>
          </p:cNvPr>
          <p:cNvSpPr>
            <a:spLocks xmlns:a="http://schemas.openxmlformats.org/drawingml/2006/main" noGrp="1"/>
          </p:cNvSpPr>
          <p:nvPr/>
        </p:nvSpPr>
        <p:spPr>
          <a:xfrm xmlns:a="http://schemas.openxmlformats.org/drawingml/2006/main">
            <a:off x="2807208" y="1463040"/>
            <a:ext cx="2240280" cy="137160"/>
          </a:xfrm>
          <a:prstGeom xmlns:a="http://schemas.openxmlformats.org/drawingml/2006/main" prst="rect">
            <a:avLst/>
          </a:prstGeom>
          <a:solidFill xmlns:a="http://schemas.openxmlformats.org/drawingml/2006/main">
            <a:srgbClr val="A81D33"/>
          </a:solidFill>
          <a:ln xmlns:a="http://schemas.openxmlformats.org/drawingml/2006/main" w="12700">
            <a:solidFill>
              <a:srgbClr val="A81D33"/>
            </a:solidFill>
            <a:prstDash val="solid"/>
          </a:ln>
        </p:spPr>
      </p:sp>
      <p:pic>
        <p:nvPicPr>
          <p:cNvPr id="94" name="Image 3"/>
          <p:cNvPicPr>
            <a:picLocks xmlns:a="http://schemas.openxmlformats.org/drawingml/2006/main" noChangeAspect="1"/>
          </p:cNvPicPr>
          <p:nvPr/>
        </p:nvPicPr>
        <p:blipFill>
          <a:blip xmlns:r="http://schemas.openxmlformats.org/officeDocument/2006/relationships" xmlns:a="http://schemas.openxmlformats.org/drawingml/2006/main" r:embed="R7cedda928ff74e1c"/>
          <a:stretch xmlns:a="http://schemas.openxmlformats.org/drawingml/2006/main">
            <a:fillRect l="0" t="0" r="0" b="0"/>
          </a:stretch>
        </p:blipFill>
        <p:spPr>
          <a:xfrm xmlns:a="http://schemas.openxmlformats.org/drawingml/2006/main">
            <a:off x="3607308" y="1737360"/>
            <a:ext cx="640080" cy="640080"/>
          </a:xfrm>
          <a:prstGeom xmlns:a="http://schemas.openxmlformats.org/drawingml/2006/main" prst="rect">
            <a:avLst/>
          </a:prstGeom>
        </p:spPr>
      </p:pic>
      <p:sp>
        <p:nvSpPr>
          <p:cNvPr id="24" name="Text 18">
            <a:extLst xmlns:a="http://schemas.openxmlformats.org/drawingml/2006/main">
              <a:ext uri="{FF2B5EF4-FFF2-40B4-BE49-F238E27FC236}">
                <a16:creationId xmlns:a16="http://schemas.microsoft.com/office/drawing/2014/main" id="{66B82FCA-C8DD-46CA-A9E4-16AB6DB45FC7}"/>
              </a:ext>
            </a:extLst>
          </p:cNvPr>
          <p:cNvSpPr>
            <a:spLocks xmlns:a="http://schemas.openxmlformats.org/drawingml/2006/main" noGrp="1"/>
          </p:cNvSpPr>
          <p:nvPr/>
        </p:nvSpPr>
        <p:spPr>
          <a:xfrm xmlns:a="http://schemas.openxmlformats.org/drawingml/2006/main">
            <a:off x="2807208" y="2423160"/>
            <a:ext cx="2240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02677"/>
                </a:solidFill>
                <a:latin typeface="Calibri"/>
                <a:ea typeface="Calibri"/>
                <a:cs typeface="Calibri"/>
              </a:rPr>
              <a:t>Debian</a:t>
            </a:r>
            <a:endParaRPr sz="1400"/>
          </a:p>
        </p:txBody>
      </p:sp>
      <p:sp>
        <p:nvSpPr>
          <p:cNvPr id="25" name="Text 19">
            <a:extLst xmlns:a="http://schemas.openxmlformats.org/drawingml/2006/main">
              <a:ext uri="{FF2B5EF4-FFF2-40B4-BE49-F238E27FC236}">
                <a16:creationId xmlns:a16="http://schemas.microsoft.com/office/drawing/2014/main" id="{C7472F65-119C-40B9-8510-B108E4BB3688}"/>
              </a:ext>
            </a:extLst>
          </p:cNvPr>
          <p:cNvSpPr>
            <a:spLocks xmlns:a="http://schemas.openxmlformats.org/drawingml/2006/main" noGrp="1"/>
          </p:cNvSpPr>
          <p:nvPr/>
        </p:nvSpPr>
        <p:spPr>
          <a:xfrm xmlns:a="http://schemas.openxmlformats.org/drawingml/2006/main">
            <a:off x="2807208" y="2743200"/>
            <a:ext cx="22402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900" i="1">
                <a:solidFill>
                  <a:srgbClr val="64748B"/>
                </a:solidFill>
                <a:latin typeface="Calibri"/>
                <a:ea typeface="Calibri"/>
                <a:cs typeface="Calibri"/>
              </a:rPr>
              <a:t>Upstream Ubuntu</a:t>
            </a:r>
            <a:endParaRPr sz="900"/>
          </a:p>
        </p:txBody>
      </p:sp>
      <p:sp>
        <p:nvSpPr>
          <p:cNvPr id="26" name="Shape 20">
            <a:extLst xmlns:a="http://schemas.openxmlformats.org/drawingml/2006/main">
              <a:ext uri="{FF2B5EF4-FFF2-40B4-BE49-F238E27FC236}">
                <a16:creationId xmlns:a16="http://schemas.microsoft.com/office/drawing/2014/main" id="{B594D075-8215-429E-AC15-2FB2C9B4073B}"/>
              </a:ext>
            </a:extLst>
          </p:cNvPr>
          <p:cNvSpPr>
            <a:spLocks xmlns:a="http://schemas.openxmlformats.org/drawingml/2006/main" noGrp="1"/>
          </p:cNvSpPr>
          <p:nvPr/>
        </p:nvSpPr>
        <p:spPr>
          <a:xfrm xmlns:a="http://schemas.openxmlformats.org/drawingml/2006/main">
            <a:off x="3332988" y="3063240"/>
            <a:ext cx="1188720" cy="274320"/>
          </a:xfrm>
          <a:prstGeom xmlns:a="http://schemas.openxmlformats.org/drawingml/2006/main" prst="roundRect">
            <a:avLst>
              <a:gd name="adj" fmla="val 16667"/>
            </a:avLst>
          </a:prstGeom>
          <a:solidFill xmlns:a="http://schemas.openxmlformats.org/drawingml/2006/main">
            <a:srgbClr val="F37021"/>
          </a:solidFill>
          <a:ln xmlns:a="http://schemas.openxmlformats.org/drawingml/2006/main" w="12700">
            <a:solidFill>
              <a:srgbClr val="F37021"/>
            </a:solidFill>
            <a:prstDash val="solid"/>
          </a:ln>
        </p:spPr>
      </p:sp>
      <p:sp>
        <p:nvSpPr>
          <p:cNvPr id="27" name="Text 21">
            <a:extLst xmlns:a="http://schemas.openxmlformats.org/drawingml/2006/main">
              <a:ext uri="{FF2B5EF4-FFF2-40B4-BE49-F238E27FC236}">
                <a16:creationId xmlns:a16="http://schemas.microsoft.com/office/drawing/2014/main" id="{61817357-F5C9-433F-9B95-2350962D89A6}"/>
              </a:ext>
            </a:extLst>
          </p:cNvPr>
          <p:cNvSpPr>
            <a:spLocks xmlns:a="http://schemas.openxmlformats.org/drawingml/2006/main" noGrp="1"/>
          </p:cNvSpPr>
          <p:nvPr/>
        </p:nvSpPr>
        <p:spPr>
          <a:xfrm xmlns:a="http://schemas.openxmlformats.org/drawingml/2006/main">
            <a:off x="3332988" y="3063240"/>
            <a:ext cx="1188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PM: apt</a:t>
            </a:r>
            <a:endParaRPr sz="1000"/>
          </a:p>
        </p:txBody>
      </p:sp>
      <p:sp>
        <p:nvSpPr>
          <p:cNvPr id="28" name="Text 22">
            <a:extLst xmlns:a="http://schemas.openxmlformats.org/drawingml/2006/main">
              <a:ext uri="{FF2B5EF4-FFF2-40B4-BE49-F238E27FC236}">
                <a16:creationId xmlns:a16="http://schemas.microsoft.com/office/drawing/2014/main" id="{B1CEA027-AA42-4AFE-BC31-21E78DEA3D14}"/>
              </a:ext>
            </a:extLst>
          </p:cNvPr>
          <p:cNvSpPr>
            <a:spLocks xmlns:a="http://schemas.openxmlformats.org/drawingml/2006/main" noGrp="1"/>
          </p:cNvSpPr>
          <p:nvPr/>
        </p:nvSpPr>
        <p:spPr>
          <a:xfrm xmlns:a="http://schemas.openxmlformats.org/drawingml/2006/main">
            <a:off x="2944368" y="3474720"/>
            <a:ext cx="196596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Lebih stabil &amp; minimalis. Banyak base image Docker pakai Debian (debian:slim).</a:t>
            </a:r>
            <a:endParaRPr sz="1000"/>
          </a:p>
        </p:txBody>
      </p:sp>
      <p:sp>
        <p:nvSpPr>
          <p:cNvPr id="29" name="Shape 23">
            <a:extLst xmlns:a="http://schemas.openxmlformats.org/drawingml/2006/main">
              <a:ext uri="{FF2B5EF4-FFF2-40B4-BE49-F238E27FC236}">
                <a16:creationId xmlns:a16="http://schemas.microsoft.com/office/drawing/2014/main" id="{6183249A-F5BD-48D7-BE3F-9E37EFE28C7D}"/>
              </a:ext>
            </a:extLst>
          </p:cNvPr>
          <p:cNvSpPr>
            <a:spLocks xmlns:a="http://schemas.openxmlformats.org/drawingml/2006/main" noGrp="1"/>
          </p:cNvSpPr>
          <p:nvPr/>
        </p:nvSpPr>
        <p:spPr>
          <a:xfrm xmlns:a="http://schemas.openxmlformats.org/drawingml/2006/main">
            <a:off x="2944368" y="4983480"/>
            <a:ext cx="196596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30" name="Text 24">
            <a:extLst xmlns:a="http://schemas.openxmlformats.org/drawingml/2006/main">
              <a:ext uri="{FF2B5EF4-FFF2-40B4-BE49-F238E27FC236}">
                <a16:creationId xmlns:a16="http://schemas.microsoft.com/office/drawing/2014/main" id="{AA6EC544-6F5A-48FB-B3BC-966B8039B9DB}"/>
              </a:ext>
            </a:extLst>
          </p:cNvPr>
          <p:cNvSpPr>
            <a:spLocks xmlns:a="http://schemas.openxmlformats.org/drawingml/2006/main" noGrp="1"/>
          </p:cNvSpPr>
          <p:nvPr/>
        </p:nvSpPr>
        <p:spPr>
          <a:xfrm xmlns:a="http://schemas.openxmlformats.org/drawingml/2006/main">
            <a:off x="2944368" y="5074920"/>
            <a:ext cx="1965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64748B"/>
                </a:solidFill>
                <a:latin typeface="Calibri"/>
                <a:ea typeface="Calibri"/>
                <a:cs typeface="Calibri"/>
              </a:rPr>
              <a:t>Use case:</a:t>
            </a:r>
            <a:endParaRPr sz="900"/>
          </a:p>
        </p:txBody>
      </p:sp>
      <p:sp>
        <p:nvSpPr>
          <p:cNvPr id="31" name="Text 25">
            <a:extLst xmlns:a="http://schemas.openxmlformats.org/drawingml/2006/main">
              <a:ext uri="{FF2B5EF4-FFF2-40B4-BE49-F238E27FC236}">
                <a16:creationId xmlns:a16="http://schemas.microsoft.com/office/drawing/2014/main" id="{10698F79-E276-4EF4-ADCE-B6F28B990E82}"/>
              </a:ext>
            </a:extLst>
          </p:cNvPr>
          <p:cNvSpPr>
            <a:spLocks xmlns:a="http://schemas.openxmlformats.org/drawingml/2006/main" noGrp="1"/>
          </p:cNvSpPr>
          <p:nvPr/>
        </p:nvSpPr>
        <p:spPr>
          <a:xfrm xmlns:a="http://schemas.openxmlformats.org/drawingml/2006/main">
            <a:off x="2944368" y="5303520"/>
            <a:ext cx="1965960" cy="685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i="1">
                <a:solidFill>
                  <a:srgbClr val="1E293B"/>
                </a:solidFill>
                <a:latin typeface="Calibri"/>
                <a:ea typeface="Calibri"/>
                <a:cs typeface="Calibri"/>
              </a:rPr>
              <a:t>Docker base image, production server</a:t>
            </a:r>
            <a:endParaRPr sz="1000"/>
          </a:p>
        </p:txBody>
      </p:sp>
      <p:sp>
        <p:nvSpPr>
          <p:cNvPr id="32" name="Shape 26">
            <a:extLst xmlns:a="http://schemas.openxmlformats.org/drawingml/2006/main">
              <a:ext uri="{FF2B5EF4-FFF2-40B4-BE49-F238E27FC236}">
                <a16:creationId xmlns:a16="http://schemas.microsoft.com/office/drawing/2014/main" id="{C34E0729-F8E5-4EB8-A83B-E54C41F446A1}"/>
              </a:ext>
            </a:extLst>
          </p:cNvPr>
          <p:cNvSpPr>
            <a:spLocks xmlns:a="http://schemas.openxmlformats.org/drawingml/2006/main" noGrp="1"/>
          </p:cNvSpPr>
          <p:nvPr/>
        </p:nvSpPr>
        <p:spPr>
          <a:xfrm xmlns:a="http://schemas.openxmlformats.org/drawingml/2006/main">
            <a:off x="5157216" y="1463040"/>
            <a:ext cx="2240280" cy="4572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3" name="Shape 27">
            <a:extLst xmlns:a="http://schemas.openxmlformats.org/drawingml/2006/main">
              <a:ext uri="{FF2B5EF4-FFF2-40B4-BE49-F238E27FC236}">
                <a16:creationId xmlns:a16="http://schemas.microsoft.com/office/drawing/2014/main" id="{16BB9B48-BE07-4FF2-9B77-B054BC40C3B7}"/>
              </a:ext>
            </a:extLst>
          </p:cNvPr>
          <p:cNvSpPr>
            <a:spLocks xmlns:a="http://schemas.openxmlformats.org/drawingml/2006/main" noGrp="1"/>
          </p:cNvSpPr>
          <p:nvPr/>
        </p:nvSpPr>
        <p:spPr>
          <a:xfrm xmlns:a="http://schemas.openxmlformats.org/drawingml/2006/main">
            <a:off x="5157216" y="1463040"/>
            <a:ext cx="2240280" cy="137160"/>
          </a:xfrm>
          <a:prstGeom xmlns:a="http://schemas.openxmlformats.org/drawingml/2006/main" prst="rect">
            <a:avLst/>
          </a:prstGeom>
          <a:solidFill xmlns:a="http://schemas.openxmlformats.org/drawingml/2006/main">
            <a:srgbClr val="EE0000"/>
          </a:solidFill>
          <a:ln xmlns:a="http://schemas.openxmlformats.org/drawingml/2006/main" w="12700">
            <a:solidFill>
              <a:srgbClr val="EE0000"/>
            </a:solidFill>
            <a:prstDash val="solid"/>
          </a:ln>
        </p:spPr>
      </p:sp>
      <p:pic>
        <p:nvPicPr>
          <p:cNvPr id="105" name="Image 4"/>
          <p:cNvPicPr>
            <a:picLocks xmlns:a="http://schemas.openxmlformats.org/drawingml/2006/main" noChangeAspect="1"/>
          </p:cNvPicPr>
          <p:nvPr/>
        </p:nvPicPr>
        <p:blipFill>
          <a:blip xmlns:r="http://schemas.openxmlformats.org/officeDocument/2006/relationships" xmlns:a="http://schemas.openxmlformats.org/drawingml/2006/main" r:embed="R9848b57884004596"/>
          <a:stretch xmlns:a="http://schemas.openxmlformats.org/drawingml/2006/main">
            <a:fillRect l="0" t="0" r="0" b="0"/>
          </a:stretch>
        </p:blipFill>
        <p:spPr>
          <a:xfrm xmlns:a="http://schemas.openxmlformats.org/drawingml/2006/main">
            <a:off x="5957316" y="1737360"/>
            <a:ext cx="640080" cy="640080"/>
          </a:xfrm>
          <a:prstGeom xmlns:a="http://schemas.openxmlformats.org/drawingml/2006/main" prst="rect">
            <a:avLst/>
          </a:prstGeom>
        </p:spPr>
      </p:pic>
      <p:sp>
        <p:nvSpPr>
          <p:cNvPr id="35" name="Text 28">
            <a:extLst xmlns:a="http://schemas.openxmlformats.org/drawingml/2006/main">
              <a:ext uri="{FF2B5EF4-FFF2-40B4-BE49-F238E27FC236}">
                <a16:creationId xmlns:a16="http://schemas.microsoft.com/office/drawing/2014/main" id="{90D58AF4-74F8-40A4-9006-751F0EB69715}"/>
              </a:ext>
            </a:extLst>
          </p:cNvPr>
          <p:cNvSpPr>
            <a:spLocks xmlns:a="http://schemas.openxmlformats.org/drawingml/2006/main" noGrp="1"/>
          </p:cNvSpPr>
          <p:nvPr/>
        </p:nvSpPr>
        <p:spPr>
          <a:xfrm xmlns:a="http://schemas.openxmlformats.org/drawingml/2006/main">
            <a:off x="5157216" y="2423160"/>
            <a:ext cx="2240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02677"/>
                </a:solidFill>
                <a:latin typeface="Calibri"/>
                <a:ea typeface="Calibri"/>
                <a:cs typeface="Calibri"/>
              </a:rPr>
              <a:t>RHEL / Rocky / Alma</a:t>
            </a:r>
            <a:endParaRPr sz="1400"/>
          </a:p>
        </p:txBody>
      </p:sp>
      <p:sp>
        <p:nvSpPr>
          <p:cNvPr id="36" name="Text 29">
            <a:extLst xmlns:a="http://schemas.openxmlformats.org/drawingml/2006/main">
              <a:ext uri="{FF2B5EF4-FFF2-40B4-BE49-F238E27FC236}">
                <a16:creationId xmlns:a16="http://schemas.microsoft.com/office/drawing/2014/main" id="{D2AF7CCD-8C72-47A0-8998-D86F5368ADC2}"/>
              </a:ext>
            </a:extLst>
          </p:cNvPr>
          <p:cNvSpPr>
            <a:spLocks xmlns:a="http://schemas.openxmlformats.org/drawingml/2006/main" noGrp="1"/>
          </p:cNvSpPr>
          <p:nvPr/>
        </p:nvSpPr>
        <p:spPr>
          <a:xfrm xmlns:a="http://schemas.openxmlformats.org/drawingml/2006/main">
            <a:off x="5157216" y="2743200"/>
            <a:ext cx="22402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900" i="1">
                <a:solidFill>
                  <a:srgbClr val="64748B"/>
                </a:solidFill>
                <a:latin typeface="Calibri"/>
                <a:ea typeface="Calibri"/>
                <a:cs typeface="Calibri"/>
              </a:rPr>
              <a:t>RPM-based</a:t>
            </a:r>
            <a:endParaRPr sz="900"/>
          </a:p>
        </p:txBody>
      </p:sp>
      <p:sp>
        <p:nvSpPr>
          <p:cNvPr id="37" name="Shape 30">
            <a:extLst xmlns:a="http://schemas.openxmlformats.org/drawingml/2006/main">
              <a:ext uri="{FF2B5EF4-FFF2-40B4-BE49-F238E27FC236}">
                <a16:creationId xmlns:a16="http://schemas.microsoft.com/office/drawing/2014/main" id="{66BC388C-6663-4700-8FAC-93B3A49DEADB}"/>
              </a:ext>
            </a:extLst>
          </p:cNvPr>
          <p:cNvSpPr>
            <a:spLocks xmlns:a="http://schemas.openxmlformats.org/drawingml/2006/main" noGrp="1"/>
          </p:cNvSpPr>
          <p:nvPr/>
        </p:nvSpPr>
        <p:spPr>
          <a:xfrm xmlns:a="http://schemas.openxmlformats.org/drawingml/2006/main">
            <a:off x="5682996" y="3063240"/>
            <a:ext cx="1188720" cy="274320"/>
          </a:xfrm>
          <a:prstGeom xmlns:a="http://schemas.openxmlformats.org/drawingml/2006/main" prst="roundRect">
            <a:avLst>
              <a:gd name="adj" fmla="val 16667"/>
            </a:avLst>
          </a:prstGeom>
          <a:solidFill xmlns:a="http://schemas.openxmlformats.org/drawingml/2006/main">
            <a:srgbClr val="F37021"/>
          </a:solidFill>
          <a:ln xmlns:a="http://schemas.openxmlformats.org/drawingml/2006/main" w="12700">
            <a:solidFill>
              <a:srgbClr val="F37021"/>
            </a:solidFill>
            <a:prstDash val="solid"/>
          </a:ln>
        </p:spPr>
      </p:sp>
      <p:sp>
        <p:nvSpPr>
          <p:cNvPr id="38" name="Text 31">
            <a:extLst xmlns:a="http://schemas.openxmlformats.org/drawingml/2006/main">
              <a:ext uri="{FF2B5EF4-FFF2-40B4-BE49-F238E27FC236}">
                <a16:creationId xmlns:a16="http://schemas.microsoft.com/office/drawing/2014/main" id="{6BAB7440-8DE5-4092-B951-CCEB4ACD0EEB}"/>
              </a:ext>
            </a:extLst>
          </p:cNvPr>
          <p:cNvSpPr>
            <a:spLocks xmlns:a="http://schemas.openxmlformats.org/drawingml/2006/main" noGrp="1"/>
          </p:cNvSpPr>
          <p:nvPr/>
        </p:nvSpPr>
        <p:spPr>
          <a:xfrm xmlns:a="http://schemas.openxmlformats.org/drawingml/2006/main">
            <a:off x="5682996" y="3063240"/>
            <a:ext cx="1188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PM: dnf / yum</a:t>
            </a:r>
            <a:endParaRPr sz="1000"/>
          </a:p>
        </p:txBody>
      </p:sp>
      <p:sp>
        <p:nvSpPr>
          <p:cNvPr id="39" name="Text 32">
            <a:extLst xmlns:a="http://schemas.openxmlformats.org/drawingml/2006/main">
              <a:ext uri="{FF2B5EF4-FFF2-40B4-BE49-F238E27FC236}">
                <a16:creationId xmlns:a16="http://schemas.microsoft.com/office/drawing/2014/main" id="{C6527F3E-DF5B-49E2-8115-2F93FFB19E80}"/>
              </a:ext>
            </a:extLst>
          </p:cNvPr>
          <p:cNvSpPr>
            <a:spLocks xmlns:a="http://schemas.openxmlformats.org/drawingml/2006/main" noGrp="1"/>
          </p:cNvSpPr>
          <p:nvPr/>
        </p:nvSpPr>
        <p:spPr>
          <a:xfrm xmlns:a="http://schemas.openxmlformats.org/drawingml/2006/main">
            <a:off x="5294376" y="3474720"/>
            <a:ext cx="196596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Enterprise standard - banyak dipakai di perusahaan &amp; layanan AWS.</a:t>
            </a:r>
            <a:endParaRPr sz="1000"/>
          </a:p>
        </p:txBody>
      </p:sp>
      <p:sp>
        <p:nvSpPr>
          <p:cNvPr id="40" name="Shape 33">
            <a:extLst xmlns:a="http://schemas.openxmlformats.org/drawingml/2006/main">
              <a:ext uri="{FF2B5EF4-FFF2-40B4-BE49-F238E27FC236}">
                <a16:creationId xmlns:a16="http://schemas.microsoft.com/office/drawing/2014/main" id="{7DA10CFC-2916-4F1F-8729-EBAAA6F6C520}"/>
              </a:ext>
            </a:extLst>
          </p:cNvPr>
          <p:cNvSpPr>
            <a:spLocks xmlns:a="http://schemas.openxmlformats.org/drawingml/2006/main" noGrp="1"/>
          </p:cNvSpPr>
          <p:nvPr/>
        </p:nvSpPr>
        <p:spPr>
          <a:xfrm xmlns:a="http://schemas.openxmlformats.org/drawingml/2006/main">
            <a:off x="5294376" y="4983480"/>
            <a:ext cx="196596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41" name="Text 34">
            <a:extLst xmlns:a="http://schemas.openxmlformats.org/drawingml/2006/main">
              <a:ext uri="{FF2B5EF4-FFF2-40B4-BE49-F238E27FC236}">
                <a16:creationId xmlns:a16="http://schemas.microsoft.com/office/drawing/2014/main" id="{A9109E4A-B876-4F68-B0DB-35845CF69C24}"/>
              </a:ext>
            </a:extLst>
          </p:cNvPr>
          <p:cNvSpPr>
            <a:spLocks xmlns:a="http://schemas.openxmlformats.org/drawingml/2006/main" noGrp="1"/>
          </p:cNvSpPr>
          <p:nvPr/>
        </p:nvSpPr>
        <p:spPr>
          <a:xfrm xmlns:a="http://schemas.openxmlformats.org/drawingml/2006/main">
            <a:off x="5294376" y="5074920"/>
            <a:ext cx="1965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64748B"/>
                </a:solidFill>
                <a:latin typeface="Calibri"/>
                <a:ea typeface="Calibri"/>
                <a:cs typeface="Calibri"/>
              </a:rPr>
              <a:t>Use case:</a:t>
            </a:r>
            <a:endParaRPr sz="900"/>
          </a:p>
        </p:txBody>
      </p:sp>
      <p:sp>
        <p:nvSpPr>
          <p:cNvPr id="42" name="Text 35">
            <a:extLst xmlns:a="http://schemas.openxmlformats.org/drawingml/2006/main">
              <a:ext uri="{FF2B5EF4-FFF2-40B4-BE49-F238E27FC236}">
                <a16:creationId xmlns:a16="http://schemas.microsoft.com/office/drawing/2014/main" id="{4CF298AE-73DB-41FA-B90F-702AA242AD93}"/>
              </a:ext>
            </a:extLst>
          </p:cNvPr>
          <p:cNvSpPr>
            <a:spLocks xmlns:a="http://schemas.openxmlformats.org/drawingml/2006/main" noGrp="1"/>
          </p:cNvSpPr>
          <p:nvPr/>
        </p:nvSpPr>
        <p:spPr>
          <a:xfrm xmlns:a="http://schemas.openxmlformats.org/drawingml/2006/main">
            <a:off x="5294376" y="5303520"/>
            <a:ext cx="1965960" cy="685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i="1">
                <a:solidFill>
                  <a:srgbClr val="1E293B"/>
                </a:solidFill>
                <a:latin typeface="Calibri"/>
                <a:ea typeface="Calibri"/>
                <a:cs typeface="Calibri"/>
              </a:rPr>
              <a:t>Enterprise app, AWS workload</a:t>
            </a:r>
            <a:endParaRPr sz="1000"/>
          </a:p>
        </p:txBody>
      </p:sp>
      <p:sp>
        <p:nvSpPr>
          <p:cNvPr id="43" name="Shape 36">
            <a:extLst xmlns:a="http://schemas.openxmlformats.org/drawingml/2006/main">
              <a:ext uri="{FF2B5EF4-FFF2-40B4-BE49-F238E27FC236}">
                <a16:creationId xmlns:a16="http://schemas.microsoft.com/office/drawing/2014/main" id="{ED839664-AF99-431F-AF50-57032C630614}"/>
              </a:ext>
            </a:extLst>
          </p:cNvPr>
          <p:cNvSpPr>
            <a:spLocks xmlns:a="http://schemas.openxmlformats.org/drawingml/2006/main" noGrp="1"/>
          </p:cNvSpPr>
          <p:nvPr/>
        </p:nvSpPr>
        <p:spPr>
          <a:xfrm xmlns:a="http://schemas.openxmlformats.org/drawingml/2006/main">
            <a:off x="7507224" y="1463040"/>
            <a:ext cx="2240280" cy="4572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44" name="Shape 37">
            <a:extLst xmlns:a="http://schemas.openxmlformats.org/drawingml/2006/main">
              <a:ext uri="{FF2B5EF4-FFF2-40B4-BE49-F238E27FC236}">
                <a16:creationId xmlns:a16="http://schemas.microsoft.com/office/drawing/2014/main" id="{10C32C2B-2A3D-4D46-AD81-6A5023368FE8}"/>
              </a:ext>
            </a:extLst>
          </p:cNvPr>
          <p:cNvSpPr>
            <a:spLocks xmlns:a="http://schemas.openxmlformats.org/drawingml/2006/main" noGrp="1"/>
          </p:cNvSpPr>
          <p:nvPr/>
        </p:nvSpPr>
        <p:spPr>
          <a:xfrm xmlns:a="http://schemas.openxmlformats.org/drawingml/2006/main">
            <a:off x="7507224" y="1463040"/>
            <a:ext cx="2240280" cy="137160"/>
          </a:xfrm>
          <a:prstGeom xmlns:a="http://schemas.openxmlformats.org/drawingml/2006/main" prst="rect">
            <a:avLst/>
          </a:prstGeom>
          <a:solidFill xmlns:a="http://schemas.openxmlformats.org/drawingml/2006/main">
            <a:srgbClr val="FF9900"/>
          </a:solidFill>
          <a:ln xmlns:a="http://schemas.openxmlformats.org/drawingml/2006/main" w="12700">
            <a:solidFill>
              <a:srgbClr val="FF9900"/>
            </a:solidFill>
            <a:prstDash val="solid"/>
          </a:ln>
        </p:spPr>
      </p:sp>
      <p:pic>
        <p:nvPicPr>
          <p:cNvPr id="116" name="Image 5"/>
          <p:cNvPicPr>
            <a:picLocks xmlns:a="http://schemas.openxmlformats.org/drawingml/2006/main" noChangeAspect="1"/>
          </p:cNvPicPr>
          <p:nvPr/>
        </p:nvPicPr>
        <p:blipFill>
          <a:blip xmlns:r="http://schemas.openxmlformats.org/officeDocument/2006/relationships" xmlns:a="http://schemas.openxmlformats.org/drawingml/2006/main" r:embed="R1b7a8d9d11804984"/>
          <a:stretch xmlns:a="http://schemas.openxmlformats.org/drawingml/2006/main">
            <a:fillRect l="0" t="0" r="0" b="0"/>
          </a:stretch>
        </p:blipFill>
        <p:spPr>
          <a:xfrm xmlns:a="http://schemas.openxmlformats.org/drawingml/2006/main">
            <a:off x="8307324" y="1737360"/>
            <a:ext cx="640080" cy="640080"/>
          </a:xfrm>
          <a:prstGeom xmlns:a="http://schemas.openxmlformats.org/drawingml/2006/main" prst="rect">
            <a:avLst/>
          </a:prstGeom>
        </p:spPr>
      </p:pic>
      <p:sp>
        <p:nvSpPr>
          <p:cNvPr id="46" name="Text 38">
            <a:extLst xmlns:a="http://schemas.openxmlformats.org/drawingml/2006/main">
              <a:ext uri="{FF2B5EF4-FFF2-40B4-BE49-F238E27FC236}">
                <a16:creationId xmlns:a16="http://schemas.microsoft.com/office/drawing/2014/main" id="{04E1F519-45FE-4754-90F0-C78606646741}"/>
              </a:ext>
            </a:extLst>
          </p:cNvPr>
          <p:cNvSpPr>
            <a:spLocks xmlns:a="http://schemas.openxmlformats.org/drawingml/2006/main" noGrp="1"/>
          </p:cNvSpPr>
          <p:nvPr/>
        </p:nvSpPr>
        <p:spPr>
          <a:xfrm xmlns:a="http://schemas.openxmlformats.org/drawingml/2006/main">
            <a:off x="7507224" y="2423160"/>
            <a:ext cx="2240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02677"/>
                </a:solidFill>
                <a:latin typeface="Calibri"/>
                <a:ea typeface="Calibri"/>
                <a:cs typeface="Calibri"/>
              </a:rPr>
              <a:t>Amazon Linux 2023</a:t>
            </a:r>
            <a:endParaRPr sz="1400"/>
          </a:p>
        </p:txBody>
      </p:sp>
      <p:sp>
        <p:nvSpPr>
          <p:cNvPr id="47" name="Text 39">
            <a:extLst xmlns:a="http://schemas.openxmlformats.org/drawingml/2006/main">
              <a:ext uri="{FF2B5EF4-FFF2-40B4-BE49-F238E27FC236}">
                <a16:creationId xmlns:a16="http://schemas.microsoft.com/office/drawing/2014/main" id="{73A835D1-4A7A-42A9-8D09-CE09990229C0}"/>
              </a:ext>
            </a:extLst>
          </p:cNvPr>
          <p:cNvSpPr>
            <a:spLocks xmlns:a="http://schemas.openxmlformats.org/drawingml/2006/main" noGrp="1"/>
          </p:cNvSpPr>
          <p:nvPr/>
        </p:nvSpPr>
        <p:spPr>
          <a:xfrm xmlns:a="http://schemas.openxmlformats.org/drawingml/2006/main">
            <a:off x="7507224" y="2743200"/>
            <a:ext cx="22402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900" i="1">
                <a:solidFill>
                  <a:srgbClr val="64748B"/>
                </a:solidFill>
                <a:latin typeface="Calibri"/>
                <a:ea typeface="Calibri"/>
                <a:cs typeface="Calibri"/>
              </a:rPr>
              <a:t>RPM-based</a:t>
            </a:r>
            <a:endParaRPr sz="900"/>
          </a:p>
        </p:txBody>
      </p:sp>
      <p:sp>
        <p:nvSpPr>
          <p:cNvPr id="48" name="Shape 40">
            <a:extLst xmlns:a="http://schemas.openxmlformats.org/drawingml/2006/main">
              <a:ext uri="{FF2B5EF4-FFF2-40B4-BE49-F238E27FC236}">
                <a16:creationId xmlns:a16="http://schemas.microsoft.com/office/drawing/2014/main" id="{AFF7B35D-FC78-43B3-BFF7-197DFEBD47D7}"/>
              </a:ext>
            </a:extLst>
          </p:cNvPr>
          <p:cNvSpPr>
            <a:spLocks xmlns:a="http://schemas.openxmlformats.org/drawingml/2006/main" noGrp="1"/>
          </p:cNvSpPr>
          <p:nvPr/>
        </p:nvSpPr>
        <p:spPr>
          <a:xfrm xmlns:a="http://schemas.openxmlformats.org/drawingml/2006/main">
            <a:off x="8033004" y="3063240"/>
            <a:ext cx="1188720" cy="274320"/>
          </a:xfrm>
          <a:prstGeom xmlns:a="http://schemas.openxmlformats.org/drawingml/2006/main" prst="roundRect">
            <a:avLst>
              <a:gd name="adj" fmla="val 16667"/>
            </a:avLst>
          </a:prstGeom>
          <a:solidFill xmlns:a="http://schemas.openxmlformats.org/drawingml/2006/main">
            <a:srgbClr val="F37021"/>
          </a:solidFill>
          <a:ln xmlns:a="http://schemas.openxmlformats.org/drawingml/2006/main" w="12700">
            <a:solidFill>
              <a:srgbClr val="F37021"/>
            </a:solidFill>
            <a:prstDash val="solid"/>
          </a:ln>
        </p:spPr>
      </p:sp>
      <p:sp>
        <p:nvSpPr>
          <p:cNvPr id="49" name="Text 41">
            <a:extLst xmlns:a="http://schemas.openxmlformats.org/drawingml/2006/main">
              <a:ext uri="{FF2B5EF4-FFF2-40B4-BE49-F238E27FC236}">
                <a16:creationId xmlns:a16="http://schemas.microsoft.com/office/drawing/2014/main" id="{EF50F11E-AFDD-49E2-880C-10C46AFFA488}"/>
              </a:ext>
            </a:extLst>
          </p:cNvPr>
          <p:cNvSpPr>
            <a:spLocks xmlns:a="http://schemas.openxmlformats.org/drawingml/2006/main" noGrp="1"/>
          </p:cNvSpPr>
          <p:nvPr/>
        </p:nvSpPr>
        <p:spPr>
          <a:xfrm xmlns:a="http://schemas.openxmlformats.org/drawingml/2006/main">
            <a:off x="8033004" y="3063240"/>
            <a:ext cx="1188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PM: dnf</a:t>
            </a:r>
            <a:endParaRPr sz="1000"/>
          </a:p>
        </p:txBody>
      </p:sp>
      <p:sp>
        <p:nvSpPr>
          <p:cNvPr id="50" name="Text 42">
            <a:extLst xmlns:a="http://schemas.openxmlformats.org/drawingml/2006/main">
              <a:ext uri="{FF2B5EF4-FFF2-40B4-BE49-F238E27FC236}">
                <a16:creationId xmlns:a16="http://schemas.microsoft.com/office/drawing/2014/main" id="{9F66764A-01EF-42FC-A02F-BF04D93A7CAB}"/>
              </a:ext>
            </a:extLst>
          </p:cNvPr>
          <p:cNvSpPr>
            <a:spLocks xmlns:a="http://schemas.openxmlformats.org/drawingml/2006/main" noGrp="1"/>
          </p:cNvSpPr>
          <p:nvPr/>
        </p:nvSpPr>
        <p:spPr>
          <a:xfrm xmlns:a="http://schemas.openxmlformats.org/drawingml/2006/main">
            <a:off x="7644384" y="3474720"/>
            <a:ext cx="196596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Optimized untuk EC2. Default AMI di AWS, kernel di-tuning untuk cloud.</a:t>
            </a:r>
            <a:endParaRPr sz="1000"/>
          </a:p>
        </p:txBody>
      </p:sp>
      <p:sp>
        <p:nvSpPr>
          <p:cNvPr id="51" name="Shape 43">
            <a:extLst xmlns:a="http://schemas.openxmlformats.org/drawingml/2006/main">
              <a:ext uri="{FF2B5EF4-FFF2-40B4-BE49-F238E27FC236}">
                <a16:creationId xmlns:a16="http://schemas.microsoft.com/office/drawing/2014/main" id="{1BC455F1-147E-456E-95DD-38C0D6DE3B6D}"/>
              </a:ext>
            </a:extLst>
          </p:cNvPr>
          <p:cNvSpPr>
            <a:spLocks xmlns:a="http://schemas.openxmlformats.org/drawingml/2006/main" noGrp="1"/>
          </p:cNvSpPr>
          <p:nvPr/>
        </p:nvSpPr>
        <p:spPr>
          <a:xfrm xmlns:a="http://schemas.openxmlformats.org/drawingml/2006/main">
            <a:off x="7644384" y="4983480"/>
            <a:ext cx="196596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52" name="Text 44">
            <a:extLst xmlns:a="http://schemas.openxmlformats.org/drawingml/2006/main">
              <a:ext uri="{FF2B5EF4-FFF2-40B4-BE49-F238E27FC236}">
                <a16:creationId xmlns:a16="http://schemas.microsoft.com/office/drawing/2014/main" id="{D692E428-523B-4984-B9FF-423D09892C3A}"/>
              </a:ext>
            </a:extLst>
          </p:cNvPr>
          <p:cNvSpPr>
            <a:spLocks xmlns:a="http://schemas.openxmlformats.org/drawingml/2006/main" noGrp="1"/>
          </p:cNvSpPr>
          <p:nvPr/>
        </p:nvSpPr>
        <p:spPr>
          <a:xfrm xmlns:a="http://schemas.openxmlformats.org/drawingml/2006/main">
            <a:off x="7644384" y="5074920"/>
            <a:ext cx="1965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64748B"/>
                </a:solidFill>
                <a:latin typeface="Calibri"/>
                <a:ea typeface="Calibri"/>
                <a:cs typeface="Calibri"/>
              </a:rPr>
              <a:t>Use case:</a:t>
            </a:r>
            <a:endParaRPr sz="900"/>
          </a:p>
        </p:txBody>
      </p:sp>
      <p:sp>
        <p:nvSpPr>
          <p:cNvPr id="53" name="Text 45">
            <a:extLst xmlns:a="http://schemas.openxmlformats.org/drawingml/2006/main">
              <a:ext uri="{FF2B5EF4-FFF2-40B4-BE49-F238E27FC236}">
                <a16:creationId xmlns:a16="http://schemas.microsoft.com/office/drawing/2014/main" id="{23D7462A-8F39-49A4-9071-9AEA1CFAB636}"/>
              </a:ext>
            </a:extLst>
          </p:cNvPr>
          <p:cNvSpPr>
            <a:spLocks xmlns:a="http://schemas.openxmlformats.org/drawingml/2006/main" noGrp="1"/>
          </p:cNvSpPr>
          <p:nvPr/>
        </p:nvSpPr>
        <p:spPr>
          <a:xfrm xmlns:a="http://schemas.openxmlformats.org/drawingml/2006/main">
            <a:off x="7644384" y="5303520"/>
            <a:ext cx="1965960" cy="685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i="1">
                <a:solidFill>
                  <a:srgbClr val="1E293B"/>
                </a:solidFill>
                <a:latin typeface="Calibri"/>
                <a:ea typeface="Calibri"/>
                <a:cs typeface="Calibri"/>
              </a:rPr>
              <a:t>AWS EC2 workload</a:t>
            </a:r>
            <a:endParaRPr sz="1000"/>
          </a:p>
        </p:txBody>
      </p:sp>
      <p:sp>
        <p:nvSpPr>
          <p:cNvPr id="54" name="Shape 46">
            <a:extLst xmlns:a="http://schemas.openxmlformats.org/drawingml/2006/main">
              <a:ext uri="{FF2B5EF4-FFF2-40B4-BE49-F238E27FC236}">
                <a16:creationId xmlns:a16="http://schemas.microsoft.com/office/drawing/2014/main" id="{18F33688-008B-4EEE-9837-311EF7D721C5}"/>
              </a:ext>
            </a:extLst>
          </p:cNvPr>
          <p:cNvSpPr>
            <a:spLocks xmlns:a="http://schemas.openxmlformats.org/drawingml/2006/main" noGrp="1"/>
          </p:cNvSpPr>
          <p:nvPr/>
        </p:nvSpPr>
        <p:spPr>
          <a:xfrm xmlns:a="http://schemas.openxmlformats.org/drawingml/2006/main">
            <a:off x="9857232" y="1463040"/>
            <a:ext cx="2240280" cy="4572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55" name="Shape 47">
            <a:extLst xmlns:a="http://schemas.openxmlformats.org/drawingml/2006/main">
              <a:ext uri="{FF2B5EF4-FFF2-40B4-BE49-F238E27FC236}">
                <a16:creationId xmlns:a16="http://schemas.microsoft.com/office/drawing/2014/main" id="{3889B3B5-7731-4CAA-A958-CC84F07ABD4D}"/>
              </a:ext>
            </a:extLst>
          </p:cNvPr>
          <p:cNvSpPr>
            <a:spLocks xmlns:a="http://schemas.openxmlformats.org/drawingml/2006/main" noGrp="1"/>
          </p:cNvSpPr>
          <p:nvPr/>
        </p:nvSpPr>
        <p:spPr>
          <a:xfrm xmlns:a="http://schemas.openxmlformats.org/drawingml/2006/main">
            <a:off x="9857232" y="1463040"/>
            <a:ext cx="2240280" cy="137160"/>
          </a:xfrm>
          <a:prstGeom xmlns:a="http://schemas.openxmlformats.org/drawingml/2006/main" prst="rect">
            <a:avLst/>
          </a:prstGeom>
          <a:solidFill xmlns:a="http://schemas.openxmlformats.org/drawingml/2006/main">
            <a:srgbClr val="0D597F"/>
          </a:solidFill>
          <a:ln xmlns:a="http://schemas.openxmlformats.org/drawingml/2006/main" w="12700">
            <a:solidFill>
              <a:srgbClr val="0D597F"/>
            </a:solidFill>
            <a:prstDash val="solid"/>
          </a:ln>
        </p:spPr>
      </p:sp>
      <p:pic>
        <p:nvPicPr>
          <p:cNvPr id="127" name="Image 6"/>
          <p:cNvPicPr>
            <a:picLocks xmlns:a="http://schemas.openxmlformats.org/drawingml/2006/main" noChangeAspect="1"/>
          </p:cNvPicPr>
          <p:nvPr/>
        </p:nvPicPr>
        <p:blipFill>
          <a:blip xmlns:r="http://schemas.openxmlformats.org/officeDocument/2006/relationships" xmlns:a="http://schemas.openxmlformats.org/drawingml/2006/main" r:embed="R5715bf5d077242ba"/>
          <a:stretch xmlns:a="http://schemas.openxmlformats.org/drawingml/2006/main">
            <a:fillRect l="0" t="0" r="0" b="0"/>
          </a:stretch>
        </p:blipFill>
        <p:spPr>
          <a:xfrm xmlns:a="http://schemas.openxmlformats.org/drawingml/2006/main">
            <a:off x="10657332" y="1737360"/>
            <a:ext cx="640080" cy="640080"/>
          </a:xfrm>
          <a:prstGeom xmlns:a="http://schemas.openxmlformats.org/drawingml/2006/main" prst="rect">
            <a:avLst/>
          </a:prstGeom>
        </p:spPr>
      </p:pic>
      <p:sp>
        <p:nvSpPr>
          <p:cNvPr id="57" name="Text 48">
            <a:extLst xmlns:a="http://schemas.openxmlformats.org/drawingml/2006/main">
              <a:ext uri="{FF2B5EF4-FFF2-40B4-BE49-F238E27FC236}">
                <a16:creationId xmlns:a16="http://schemas.microsoft.com/office/drawing/2014/main" id="{3612129B-C9A3-411C-8AB1-71B6534E23F5}"/>
              </a:ext>
            </a:extLst>
          </p:cNvPr>
          <p:cNvSpPr>
            <a:spLocks xmlns:a="http://schemas.openxmlformats.org/drawingml/2006/main" noGrp="1"/>
          </p:cNvSpPr>
          <p:nvPr/>
        </p:nvSpPr>
        <p:spPr>
          <a:xfrm xmlns:a="http://schemas.openxmlformats.org/drawingml/2006/main">
            <a:off x="9857232" y="2423160"/>
            <a:ext cx="2240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02677"/>
                </a:solidFill>
                <a:latin typeface="Calibri"/>
                <a:ea typeface="Calibri"/>
                <a:cs typeface="Calibri"/>
              </a:rPr>
              <a:t>Alpine Linux</a:t>
            </a:r>
            <a:endParaRPr sz="1400"/>
          </a:p>
        </p:txBody>
      </p:sp>
      <p:sp>
        <p:nvSpPr>
          <p:cNvPr id="58" name="Text 49">
            <a:extLst xmlns:a="http://schemas.openxmlformats.org/drawingml/2006/main">
              <a:ext uri="{FF2B5EF4-FFF2-40B4-BE49-F238E27FC236}">
                <a16:creationId xmlns:a16="http://schemas.microsoft.com/office/drawing/2014/main" id="{2F6BF1B0-A659-447A-A70C-31B650A42E31}"/>
              </a:ext>
            </a:extLst>
          </p:cNvPr>
          <p:cNvSpPr>
            <a:spLocks xmlns:a="http://schemas.openxmlformats.org/drawingml/2006/main" noGrp="1"/>
          </p:cNvSpPr>
          <p:nvPr/>
        </p:nvSpPr>
        <p:spPr>
          <a:xfrm xmlns:a="http://schemas.openxmlformats.org/drawingml/2006/main">
            <a:off x="9857232" y="2743200"/>
            <a:ext cx="22402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900" i="1">
                <a:solidFill>
                  <a:srgbClr val="64748B"/>
                </a:solidFill>
                <a:latin typeface="Calibri"/>
                <a:ea typeface="Calibri"/>
                <a:cs typeface="Calibri"/>
              </a:rPr>
              <a:t>musl-based</a:t>
            </a:r>
            <a:endParaRPr sz="900"/>
          </a:p>
        </p:txBody>
      </p:sp>
      <p:sp>
        <p:nvSpPr>
          <p:cNvPr id="59" name="Shape 50">
            <a:extLst xmlns:a="http://schemas.openxmlformats.org/drawingml/2006/main">
              <a:ext uri="{FF2B5EF4-FFF2-40B4-BE49-F238E27FC236}">
                <a16:creationId xmlns:a16="http://schemas.microsoft.com/office/drawing/2014/main" id="{A2C12F48-B1BA-4475-B3DB-6F6D441F3ECB}"/>
              </a:ext>
            </a:extLst>
          </p:cNvPr>
          <p:cNvSpPr>
            <a:spLocks xmlns:a="http://schemas.openxmlformats.org/drawingml/2006/main" noGrp="1"/>
          </p:cNvSpPr>
          <p:nvPr/>
        </p:nvSpPr>
        <p:spPr>
          <a:xfrm xmlns:a="http://schemas.openxmlformats.org/drawingml/2006/main">
            <a:off x="10383012" y="3063240"/>
            <a:ext cx="1188720" cy="274320"/>
          </a:xfrm>
          <a:prstGeom xmlns:a="http://schemas.openxmlformats.org/drawingml/2006/main" prst="roundRect">
            <a:avLst>
              <a:gd name="adj" fmla="val 16667"/>
            </a:avLst>
          </a:prstGeom>
          <a:solidFill xmlns:a="http://schemas.openxmlformats.org/drawingml/2006/main">
            <a:srgbClr val="F37021"/>
          </a:solidFill>
          <a:ln xmlns:a="http://schemas.openxmlformats.org/drawingml/2006/main" w="12700">
            <a:solidFill>
              <a:srgbClr val="F37021"/>
            </a:solidFill>
            <a:prstDash val="solid"/>
          </a:ln>
        </p:spPr>
      </p:sp>
      <p:sp>
        <p:nvSpPr>
          <p:cNvPr id="60" name="Text 51">
            <a:extLst xmlns:a="http://schemas.openxmlformats.org/drawingml/2006/main">
              <a:ext uri="{FF2B5EF4-FFF2-40B4-BE49-F238E27FC236}">
                <a16:creationId xmlns:a16="http://schemas.microsoft.com/office/drawing/2014/main" id="{7043CA35-F38E-48B8-B925-261D8F61B01B}"/>
              </a:ext>
            </a:extLst>
          </p:cNvPr>
          <p:cNvSpPr>
            <a:spLocks xmlns:a="http://schemas.openxmlformats.org/drawingml/2006/main" noGrp="1"/>
          </p:cNvSpPr>
          <p:nvPr/>
        </p:nvSpPr>
        <p:spPr>
          <a:xfrm xmlns:a="http://schemas.openxmlformats.org/drawingml/2006/main">
            <a:off x="10383012" y="3063240"/>
            <a:ext cx="1188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PM: apk</a:t>
            </a:r>
            <a:endParaRPr sz="1000"/>
          </a:p>
        </p:txBody>
      </p:sp>
      <p:sp>
        <p:nvSpPr>
          <p:cNvPr id="61" name="Text 52">
            <a:extLst xmlns:a="http://schemas.openxmlformats.org/drawingml/2006/main">
              <a:ext uri="{FF2B5EF4-FFF2-40B4-BE49-F238E27FC236}">
                <a16:creationId xmlns:a16="http://schemas.microsoft.com/office/drawing/2014/main" id="{73BD45B1-15B4-490F-B502-05200DDC74BE}"/>
              </a:ext>
            </a:extLst>
          </p:cNvPr>
          <p:cNvSpPr>
            <a:spLocks xmlns:a="http://schemas.openxmlformats.org/drawingml/2006/main" noGrp="1"/>
          </p:cNvSpPr>
          <p:nvPr/>
        </p:nvSpPr>
        <p:spPr>
          <a:xfrm xmlns:a="http://schemas.openxmlformats.org/drawingml/2006/main">
            <a:off x="9994392" y="3474720"/>
            <a:ext cx="196596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Image dasar yang ringkas; umum untuk container ringan.</a:t>
            </a:r>
            <a:endParaRPr sz="1000"/>
          </a:p>
        </p:txBody>
      </p:sp>
      <p:sp>
        <p:nvSpPr>
          <p:cNvPr id="62" name="Shape 53">
            <a:extLst xmlns:a="http://schemas.openxmlformats.org/drawingml/2006/main">
              <a:ext uri="{FF2B5EF4-FFF2-40B4-BE49-F238E27FC236}">
                <a16:creationId xmlns:a16="http://schemas.microsoft.com/office/drawing/2014/main" id="{896347C7-6809-4C8F-8CBB-D9AC45352152}"/>
              </a:ext>
            </a:extLst>
          </p:cNvPr>
          <p:cNvSpPr>
            <a:spLocks xmlns:a="http://schemas.openxmlformats.org/drawingml/2006/main" noGrp="1"/>
          </p:cNvSpPr>
          <p:nvPr/>
        </p:nvSpPr>
        <p:spPr>
          <a:xfrm xmlns:a="http://schemas.openxmlformats.org/drawingml/2006/main">
            <a:off x="9994392" y="4983480"/>
            <a:ext cx="196596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63" name="Text 54">
            <a:extLst xmlns:a="http://schemas.openxmlformats.org/drawingml/2006/main">
              <a:ext uri="{FF2B5EF4-FFF2-40B4-BE49-F238E27FC236}">
                <a16:creationId xmlns:a16="http://schemas.microsoft.com/office/drawing/2014/main" id="{BDF41442-2272-4626-BF2F-57CC5E69415E}"/>
              </a:ext>
            </a:extLst>
          </p:cNvPr>
          <p:cNvSpPr>
            <a:spLocks xmlns:a="http://schemas.openxmlformats.org/drawingml/2006/main" noGrp="1"/>
          </p:cNvSpPr>
          <p:nvPr/>
        </p:nvSpPr>
        <p:spPr>
          <a:xfrm xmlns:a="http://schemas.openxmlformats.org/drawingml/2006/main">
            <a:off x="9994392" y="5074920"/>
            <a:ext cx="1965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64748B"/>
                </a:solidFill>
                <a:latin typeface="Calibri"/>
                <a:ea typeface="Calibri"/>
                <a:cs typeface="Calibri"/>
              </a:rPr>
              <a:t>Use case:</a:t>
            </a:r>
            <a:endParaRPr sz="900"/>
          </a:p>
        </p:txBody>
      </p:sp>
      <p:sp>
        <p:nvSpPr>
          <p:cNvPr id="64" name="Text 55">
            <a:extLst xmlns:a="http://schemas.openxmlformats.org/drawingml/2006/main">
              <a:ext uri="{FF2B5EF4-FFF2-40B4-BE49-F238E27FC236}">
                <a16:creationId xmlns:a16="http://schemas.microsoft.com/office/drawing/2014/main" id="{6FAA38B5-0F6C-48AF-9053-CDCCE77A1D04}"/>
              </a:ext>
            </a:extLst>
          </p:cNvPr>
          <p:cNvSpPr>
            <a:spLocks xmlns:a="http://schemas.openxmlformats.org/drawingml/2006/main" noGrp="1"/>
          </p:cNvSpPr>
          <p:nvPr/>
        </p:nvSpPr>
        <p:spPr>
          <a:xfrm xmlns:a="http://schemas.openxmlformats.org/drawingml/2006/main">
            <a:off x="9994392" y="5303520"/>
            <a:ext cx="1965960" cy="685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i="1">
                <a:solidFill>
                  <a:srgbClr val="1E293B"/>
                </a:solidFill>
                <a:latin typeface="Calibri"/>
                <a:ea typeface="Calibri"/>
                <a:cs typeface="Calibri"/>
              </a:rPr>
              <a:t>Docker container, edge function</a:t>
            </a:r>
            <a:endParaRPr sz="1000"/>
          </a:p>
        </p:txBody>
      </p:sp>
      <p:sp>
        <p:nvSpPr>
          <p:cNvPr id="65" name="Text 56">
            <a:extLst xmlns:a="http://schemas.openxmlformats.org/drawingml/2006/main">
              <a:ext uri="{FF2B5EF4-FFF2-40B4-BE49-F238E27FC236}">
                <a16:creationId xmlns:a16="http://schemas.microsoft.com/office/drawing/2014/main" id="{EB4672F7-C458-4D00-BFCD-0882FDBD4066}"/>
              </a:ext>
            </a:extLst>
          </p:cNvPr>
          <p:cNvSpPr>
            <a:spLocks xmlns:a="http://schemas.openxmlformats.org/drawingml/2006/main" noGrp="1"/>
          </p:cNvSpPr>
          <p:nvPr/>
        </p:nvSpPr>
        <p:spPr>
          <a:xfrm xmlns:a="http://schemas.openxmlformats.org/drawingml/2006/main">
            <a:off x="457200" y="617220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i="1">
                <a:solidFill>
                  <a:srgbClr val="F37021"/>
                </a:solidFill>
                <a:latin typeface="Calibri"/>
                <a:ea typeface="Calibri"/>
                <a:cs typeface="Calibri"/>
              </a:rPr>
              <a:t>Tip kuliah: </a:t>
            </a:r>
            <a:r>
              <a:rPr sz="1100" i="1">
                <a:solidFill>
                  <a:srgbClr val="1E293B"/>
                </a:solidFill>
                <a:latin typeface="Calibri"/>
                <a:ea typeface="Calibri"/>
                <a:cs typeface="Calibri"/>
              </a:rPr>
              <a:t>Kita akan pakai Ubuntu (di WSL2 / cloud VM) sebagai default - dokumentasi paling banyak dan terbiasa di praktikum.</a:t>
            </a:r>
            <a:endParaRPr sz="1100"/>
          </a:p>
        </p:txBody>
      </p:sp>
    </p:spTree>
    <p:extLst>
      <p:ext uri="{BB962C8B-B14F-4D97-AF65-F5344CB8AC3E}">
        <p14:creationId xmlns:p14="http://schemas.microsoft.com/office/powerpoint/2010/main" val="1942749049"/>
      </p:ext>
    </p:extLst>
  </p:cSld>
</p:sld>
</file>

<file path=ppt/slides/slide7.xml><?xml version="1.0" encoding="utf-8"?>
<p:sld xmlns:p="http://schemas.openxmlformats.org/presentationml/2006/main">
  <p:cSld>
    <p:bg>
      <p:bgPr>
        <a:solidFill xmlns:a="http://schemas.openxmlformats.org/drawingml/2006/main">
          <a:srgbClr val="0D47A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8FD520E-7307-4A47-8F76-148D5CA1FEBF}"/>
              </a:ext>
            </a:extLst>
          </p:cNvPr>
          <p:cNvSpPr>
            <a:spLocks xmlns:a="http://schemas.openxmlformats.org/drawingml/2006/main" noGrp="1"/>
          </p:cNvSpPr>
          <p:nvPr/>
        </p:nvSpPr>
        <p:spPr>
          <a:xfrm xmlns:a="http://schemas.openxmlformats.org/drawingml/2006/main">
            <a:off x="-1828800" y="3657600"/>
            <a:ext cx="6400800" cy="6400800"/>
          </a:xfrm>
          <a:prstGeom xmlns:a="http://schemas.openxmlformats.org/drawingml/2006/main" prst="ellipse">
            <a:avLst/>
          </a:prstGeom>
          <a:solidFill xmlns:a="http://schemas.openxmlformats.org/drawingml/2006/main">
            <a:srgbClr val="1565C0">
              <a:alpha val="25000"/>
            </a:srgbClr>
          </a:solidFill>
          <a:ln xmlns:a="http://schemas.openxmlformats.org/drawingml/2006/main" w="12700">
            <a:solidFill>
              <a:srgbClr val="1565C0">
                <a:alpha val="0"/>
              </a:srgbClr>
            </a:solidFill>
            <a:prstDash val="solid"/>
          </a:ln>
        </p:spPr>
      </p:sp>
      <p:sp>
        <p:nvSpPr>
          <p:cNvPr id="3" name="Shape 1">
            <a:extLst xmlns:a="http://schemas.openxmlformats.org/drawingml/2006/main">
              <a:ext uri="{FF2B5EF4-FFF2-40B4-BE49-F238E27FC236}">
                <a16:creationId xmlns:a16="http://schemas.microsoft.com/office/drawing/2014/main" id="{04964717-AC04-4026-8B6C-840BD4A45411}"/>
              </a:ext>
            </a:extLst>
          </p:cNvPr>
          <p:cNvSpPr>
            <a:spLocks xmlns:a="http://schemas.openxmlformats.org/drawingml/2006/main" noGrp="1"/>
          </p:cNvSpPr>
          <p:nvPr/>
        </p:nvSpPr>
        <p:spPr>
          <a:xfrm xmlns:a="http://schemas.openxmlformats.org/drawingml/2006/main">
            <a:off x="7315200" y="-914400"/>
            <a:ext cx="7315200" cy="7315200"/>
          </a:xfrm>
          <a:prstGeom xmlns:a="http://schemas.openxmlformats.org/drawingml/2006/main" prst="ellipse">
            <a:avLst/>
          </a:prstGeom>
          <a:solidFill xmlns:a="http://schemas.openxmlformats.org/drawingml/2006/main">
            <a:srgbClr val="1976D2">
              <a:alpha val="20000"/>
            </a:srgbClr>
          </a:solidFill>
          <a:ln xmlns:a="http://schemas.openxmlformats.org/drawingml/2006/main" w="12700">
            <a:solidFill>
              <a:srgbClr val="1976D2">
                <a:alpha val="0"/>
              </a:srgbClr>
            </a:solidFill>
            <a:prstDash val="solid"/>
          </a:ln>
        </p:spPr>
      </p:sp>
      <p:sp>
        <p:nvSpPr>
          <p:cNvPr id="4" name="Shape 2">
            <a:extLst xmlns:a="http://schemas.openxmlformats.org/drawingml/2006/main">
              <a:ext uri="{FF2B5EF4-FFF2-40B4-BE49-F238E27FC236}">
                <a16:creationId xmlns:a16="http://schemas.microsoft.com/office/drawing/2014/main" id="{6014D843-A52B-4D15-9923-4DC6132FE89E}"/>
              </a:ext>
            </a:extLst>
          </p:cNvPr>
          <p:cNvSpPr>
            <a:spLocks xmlns:a="http://schemas.openxmlformats.org/drawingml/2006/main" noGrp="1"/>
          </p:cNvSpPr>
          <p:nvPr/>
        </p:nvSpPr>
        <p:spPr>
          <a:xfrm xmlns:a="http://schemas.openxmlformats.org/drawingml/2006/main" rot="8100000">
            <a:off x="5852160" y="-182880"/>
            <a:ext cx="1188720" cy="1188720"/>
          </a:xfrm>
          <a:prstGeom xmlns:a="http://schemas.openxmlformats.org/drawingml/2006/main" prst="rtTriangle">
            <a:avLst/>
          </a:prstGeom>
          <a:solidFill xmlns:a="http://schemas.openxmlformats.org/drawingml/2006/main">
            <a:srgbClr val="F37021"/>
          </a:solidFill>
          <a:ln xmlns:a="http://schemas.openxmlformats.org/drawingml/2006/main" w="12700">
            <a:solidFill>
              <a:srgbClr val="F37021"/>
            </a:solidFill>
            <a:prstDash val="solid"/>
          </a:ln>
        </p:spPr>
      </p:sp>
      <p:sp>
        <p:nvSpPr>
          <p:cNvPr id="5" name="Shape 3">
            <a:extLst xmlns:a="http://schemas.openxmlformats.org/drawingml/2006/main">
              <a:ext uri="{FF2B5EF4-FFF2-40B4-BE49-F238E27FC236}">
                <a16:creationId xmlns:a16="http://schemas.microsoft.com/office/drawing/2014/main" id="{6009D69B-48BD-4DB6-9496-AE556CB54B97}"/>
              </a:ext>
            </a:extLst>
          </p:cNvPr>
          <p:cNvSpPr>
            <a:spLocks xmlns:a="http://schemas.openxmlformats.org/drawingml/2006/main" noGrp="1"/>
          </p:cNvSpPr>
          <p:nvPr/>
        </p:nvSpPr>
        <p:spPr>
          <a:xfrm xmlns:a="http://schemas.openxmlformats.org/drawingml/2006/main">
            <a:off x="6355080"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6" name="Shape 4">
            <a:extLst xmlns:a="http://schemas.openxmlformats.org/drawingml/2006/main">
              <a:ext uri="{FF2B5EF4-FFF2-40B4-BE49-F238E27FC236}">
                <a16:creationId xmlns:a16="http://schemas.microsoft.com/office/drawing/2014/main" id="{C41F666D-066E-4A7B-9673-322E62ED0376}"/>
              </a:ext>
            </a:extLst>
          </p:cNvPr>
          <p:cNvSpPr>
            <a:spLocks xmlns:a="http://schemas.openxmlformats.org/drawingml/2006/main" noGrp="1"/>
          </p:cNvSpPr>
          <p:nvPr/>
        </p:nvSpPr>
        <p:spPr>
          <a:xfrm xmlns:a="http://schemas.openxmlformats.org/drawingml/2006/main">
            <a:off x="6556248"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7" name="Shape 5">
            <a:extLst xmlns:a="http://schemas.openxmlformats.org/drawingml/2006/main">
              <a:ext uri="{FF2B5EF4-FFF2-40B4-BE49-F238E27FC236}">
                <a16:creationId xmlns:a16="http://schemas.microsoft.com/office/drawing/2014/main" id="{CE11FC2C-4FDD-48ED-B1B4-2A651E55EDF6}"/>
              </a:ext>
            </a:extLst>
          </p:cNvPr>
          <p:cNvSpPr>
            <a:spLocks xmlns:a="http://schemas.openxmlformats.org/drawingml/2006/main" noGrp="1"/>
          </p:cNvSpPr>
          <p:nvPr/>
        </p:nvSpPr>
        <p:spPr>
          <a:xfrm xmlns:a="http://schemas.openxmlformats.org/drawingml/2006/main">
            <a:off x="6757416"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8" name="Shape 6">
            <a:extLst xmlns:a="http://schemas.openxmlformats.org/drawingml/2006/main">
              <a:ext uri="{FF2B5EF4-FFF2-40B4-BE49-F238E27FC236}">
                <a16:creationId xmlns:a16="http://schemas.microsoft.com/office/drawing/2014/main" id="{85351A4E-FC64-4A77-97BE-2319DEAFC5B0}"/>
              </a:ext>
            </a:extLst>
          </p:cNvPr>
          <p:cNvSpPr>
            <a:spLocks xmlns:a="http://schemas.openxmlformats.org/drawingml/2006/main" noGrp="1"/>
          </p:cNvSpPr>
          <p:nvPr/>
        </p:nvSpPr>
        <p:spPr>
          <a:xfrm xmlns:a="http://schemas.openxmlformats.org/drawingml/2006/main" flipV="1">
            <a:off x="457200" y="4114800"/>
            <a:ext cx="3657600" cy="1828800"/>
          </a:xfrm>
          <a:prstGeom xmlns:a="http://schemas.openxmlformats.org/drawingml/2006/main" prst="line">
            <a:avLst/>
          </a:prstGeom>
          <a:noFill xmlns:a="http://schemas.openxmlformats.org/drawingml/2006/main"/>
          <a:ln xmlns:a="http://schemas.openxmlformats.org/drawingml/2006/main" w="12700">
            <a:solidFill>
              <a:srgbClr val="FFFFFF">
                <a:alpha val="40000"/>
              </a:srgbClr>
            </a:solidFill>
            <a:prstDash val="dash"/>
          </a:ln>
        </p:spPr>
      </p:sp>
      <p:pic>
        <p:nvPicPr>
          <p:cNvPr id="24" name="Image 0"/>
          <p:cNvPicPr>
            <a:picLocks xmlns:a="http://schemas.openxmlformats.org/drawingml/2006/main" noChangeAspect="1"/>
          </p:cNvPicPr>
          <p:nvPr/>
        </p:nvPicPr>
        <p:blipFill>
          <a:blip xmlns:r="http://schemas.openxmlformats.org/officeDocument/2006/relationships" xmlns:a="http://schemas.openxmlformats.org/drawingml/2006/main" r:embed="R067c65a07316432f"/>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25" name="Image 1"/>
          <p:cNvPicPr>
            <a:picLocks xmlns:a="http://schemas.openxmlformats.org/drawingml/2006/main" noChangeAspect="1"/>
          </p:cNvPicPr>
          <p:nvPr/>
        </p:nvPicPr>
        <p:blipFill>
          <a:blip xmlns:r="http://schemas.openxmlformats.org/officeDocument/2006/relationships" xmlns:a="http://schemas.openxmlformats.org/drawingml/2006/main" r:embed="R12911a639e1f4440"/>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66D34CE1-F986-4811-AB45-5AEEAB4FAE01}"/>
              </a:ext>
            </a:extLst>
          </p:cNvPr>
          <p:cNvSpPr>
            <a:spLocks xmlns:a="http://schemas.openxmlformats.org/drawingml/2006/main" noGrp="1"/>
          </p:cNvSpPr>
          <p:nvPr/>
        </p:nvSpPr>
        <p:spPr>
          <a:xfrm xmlns:a="http://schemas.openxmlformats.org/drawingml/2006/main">
            <a:off x="457200" y="2560320"/>
            <a:ext cx="10972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spc="600">
                <a:solidFill>
                  <a:srgbClr val="F37021"/>
                </a:solidFill>
                <a:latin typeface="Calibri"/>
                <a:ea typeface="Calibri"/>
                <a:cs typeface="Calibri"/>
              </a:rPr>
              <a:t>BAGIAN 02</a:t>
            </a:r>
            <a:endParaRPr sz="1600"/>
          </a:p>
        </p:txBody>
      </p:sp>
      <p:sp>
        <p:nvSpPr>
          <p:cNvPr id="12" name="Text 8">
            <a:extLst xmlns:a="http://schemas.openxmlformats.org/drawingml/2006/main">
              <a:ext uri="{FF2B5EF4-FFF2-40B4-BE49-F238E27FC236}">
                <a16:creationId xmlns:a16="http://schemas.microsoft.com/office/drawing/2014/main" id="{36CFC877-3928-4445-9241-034E761D08DA}"/>
              </a:ext>
            </a:extLst>
          </p:cNvPr>
          <p:cNvSpPr>
            <a:spLocks xmlns:a="http://schemas.openxmlformats.org/drawingml/2006/main" noGrp="1"/>
          </p:cNvSpPr>
          <p:nvPr/>
        </p:nvSpPr>
        <p:spPr>
          <a:xfrm xmlns:a="http://schemas.openxmlformats.org/drawingml/2006/main">
            <a:off x="457200" y="3017520"/>
            <a:ext cx="1124712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5200" b="1">
                <a:solidFill>
                  <a:srgbClr val="FFFFFF"/>
                </a:solidFill>
                <a:latin typeface="Calibri"/>
                <a:ea typeface="Calibri"/>
                <a:cs typeface="Calibri"/>
              </a:rPr>
              <a:t>Filesystem &amp;</a:t>
            </a:r>
            <a:endParaRPr sz="5200"/>
          </a:p>
          <a:p xmlns:a="http://schemas.openxmlformats.org/drawingml/2006/main">
            <a:pPr marL="0" indent="0" algn="ctr">
              <a:buNone/>
            </a:pPr>
            <a:r>
              <a:rPr sz="5200" b="1">
                <a:solidFill>
                  <a:srgbClr val="FFFFFF"/>
                </a:solidFill>
                <a:latin typeface="Calibri"/>
                <a:ea typeface="Calibri"/>
                <a:cs typeface="Calibri"/>
              </a:rPr>
              <a:t>Navigation</a:t>
            </a:r>
            <a:endParaRPr sz="5200"/>
          </a:p>
        </p:txBody>
      </p:sp>
      <p:sp>
        <p:nvSpPr>
          <p:cNvPr id="13" name="Shape 9">
            <a:extLst xmlns:a="http://schemas.openxmlformats.org/drawingml/2006/main">
              <a:ext uri="{FF2B5EF4-FFF2-40B4-BE49-F238E27FC236}">
                <a16:creationId xmlns:a16="http://schemas.microsoft.com/office/drawing/2014/main" id="{CC360B67-B547-472F-A0D3-5A02B863FBDA}"/>
              </a:ext>
            </a:extLst>
          </p:cNvPr>
          <p:cNvSpPr>
            <a:spLocks xmlns:a="http://schemas.openxmlformats.org/drawingml/2006/main" noGrp="1"/>
          </p:cNvSpPr>
          <p:nvPr/>
        </p:nvSpPr>
        <p:spPr>
          <a:xfrm xmlns:a="http://schemas.openxmlformats.org/drawingml/2006/main">
            <a:off x="5715000" y="50292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BFFCEA69-21D8-40D2-A5DC-00CE296C4975}"/>
              </a:ext>
            </a:extLst>
          </p:cNvPr>
          <p:cNvSpPr>
            <a:spLocks xmlns:a="http://schemas.openxmlformats.org/drawingml/2006/main" noGrp="1"/>
          </p:cNvSpPr>
          <p:nvPr/>
        </p:nvSpPr>
        <p:spPr>
          <a:xfrm xmlns:a="http://schemas.openxmlformats.org/drawingml/2006/main">
            <a:off x="457200" y="5212080"/>
            <a:ext cx="112471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i="1">
                <a:solidFill>
                  <a:srgbClr val="FED7AA"/>
                </a:solidFill>
                <a:latin typeface="Calibri"/>
                <a:ea typeface="Calibri"/>
                <a:cs typeface="Calibri"/>
              </a:rPr>
              <a:t>Memahami struktur direktori Linux dan bagaimana berjalan di dalamnya.</a:t>
            </a:r>
            <a:endParaRPr sz="1400"/>
          </a:p>
        </p:txBody>
      </p:sp>
    </p:spTree>
    <p:extLst>
      <p:ext uri="{BB962C8B-B14F-4D97-AF65-F5344CB8AC3E}">
        <p14:creationId xmlns:p14="http://schemas.microsoft.com/office/powerpoint/2010/main" val="61641356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E821732-1FA1-48FA-AD17-1FE3BB755852}"/>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2</a:t>
            </a:r>
            <a:endParaRPr sz="900"/>
          </a:p>
        </p:txBody>
      </p:sp>
      <p:sp>
        <p:nvSpPr>
          <p:cNvPr id="3" name="Text 1">
            <a:extLst xmlns:a="http://schemas.openxmlformats.org/drawingml/2006/main">
              <a:ext uri="{FF2B5EF4-FFF2-40B4-BE49-F238E27FC236}">
                <a16:creationId xmlns:a16="http://schemas.microsoft.com/office/drawing/2014/main" id="{B7446398-C77C-4D10-8E88-0DCBC179AD19}"/>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8</a:t>
            </a:r>
            <a:endParaRPr sz="900"/>
          </a:p>
        </p:txBody>
      </p:sp>
      <p:sp>
        <p:nvSpPr>
          <p:cNvPr id="4" name="Shape 2">
            <a:extLst xmlns:a="http://schemas.openxmlformats.org/drawingml/2006/main">
              <a:ext uri="{FF2B5EF4-FFF2-40B4-BE49-F238E27FC236}">
                <a16:creationId xmlns:a16="http://schemas.microsoft.com/office/drawing/2014/main" id="{63251E87-A22E-4E4E-9526-5FBC5E6F0272}"/>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4" name="Image 0"/>
          <p:cNvPicPr>
            <a:picLocks xmlns:a="http://schemas.openxmlformats.org/drawingml/2006/main" noChangeAspect="1"/>
          </p:cNvPicPr>
          <p:nvPr/>
        </p:nvPicPr>
        <p:blipFill>
          <a:blip xmlns:r="http://schemas.openxmlformats.org/officeDocument/2006/relationships" xmlns:a="http://schemas.openxmlformats.org/drawingml/2006/main" r:embed="R08813da894874b17"/>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5" name="Image 1"/>
          <p:cNvPicPr>
            <a:picLocks xmlns:a="http://schemas.openxmlformats.org/drawingml/2006/main" noChangeAspect="1"/>
          </p:cNvPicPr>
          <p:nvPr/>
        </p:nvPicPr>
        <p:blipFill>
          <a:blip xmlns:r="http://schemas.openxmlformats.org/officeDocument/2006/relationships" xmlns:a="http://schemas.openxmlformats.org/drawingml/2006/main" r:embed="R3a4a9d3390ed4986"/>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5FAABAB7-49E6-4D0C-923A-138A92427D25}"/>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487B7DEF-D405-4CCB-AB25-EFC6D53F244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Filesystem Hierarchy Standard (FHS)</a:t>
            </a:r>
            <a:endParaRPr sz="2200"/>
          </a:p>
        </p:txBody>
      </p:sp>
      <p:sp>
        <p:nvSpPr>
          <p:cNvPr id="9" name="Text 5">
            <a:extLst xmlns:a="http://schemas.openxmlformats.org/drawingml/2006/main">
              <a:ext uri="{FF2B5EF4-FFF2-40B4-BE49-F238E27FC236}">
                <a16:creationId xmlns:a16="http://schemas.microsoft.com/office/drawing/2014/main" id="{B5EA5627-8648-4CD5-86A3-113538F52EEB}"/>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Semua di Linux adalah file - terorganisir dari root /</a:t>
            </a:r>
            <a:endParaRPr sz="1200"/>
          </a:p>
        </p:txBody>
      </p:sp>
      <p:sp>
        <p:nvSpPr>
          <p:cNvPr id="10" name="Shape 6">
            <a:extLst xmlns:a="http://schemas.openxmlformats.org/drawingml/2006/main">
              <a:ext uri="{FF2B5EF4-FFF2-40B4-BE49-F238E27FC236}">
                <a16:creationId xmlns:a16="http://schemas.microsoft.com/office/drawing/2014/main" id="{3E715ED9-792C-48F5-9DE0-179899CF8184}"/>
              </a:ext>
            </a:extLst>
          </p:cNvPr>
          <p:cNvSpPr>
            <a:spLocks xmlns:a="http://schemas.openxmlformats.org/drawingml/2006/main" noGrp="1"/>
          </p:cNvSpPr>
          <p:nvPr/>
        </p:nvSpPr>
        <p:spPr>
          <a:xfrm xmlns:a="http://schemas.openxmlformats.org/drawingml/2006/main">
            <a:off x="457200" y="1417320"/>
            <a:ext cx="5029200" cy="475488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11" name="Shape 7">
            <a:extLst xmlns:a="http://schemas.openxmlformats.org/drawingml/2006/main">
              <a:ext uri="{FF2B5EF4-FFF2-40B4-BE49-F238E27FC236}">
                <a16:creationId xmlns:a16="http://schemas.microsoft.com/office/drawing/2014/main" id="{9FF68F06-3F3D-4218-9C33-5A747E5D0F55}"/>
              </a:ext>
            </a:extLst>
          </p:cNvPr>
          <p:cNvSpPr>
            <a:spLocks xmlns:a="http://schemas.openxmlformats.org/drawingml/2006/main" noGrp="1"/>
          </p:cNvSpPr>
          <p:nvPr/>
        </p:nvSpPr>
        <p:spPr>
          <a:xfrm xmlns:a="http://schemas.openxmlformats.org/drawingml/2006/main">
            <a:off x="457200" y="1417320"/>
            <a:ext cx="502920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12" name="Text 8">
            <a:extLst xmlns:a="http://schemas.openxmlformats.org/drawingml/2006/main">
              <a:ext uri="{FF2B5EF4-FFF2-40B4-BE49-F238E27FC236}">
                <a16:creationId xmlns:a16="http://schemas.microsoft.com/office/drawing/2014/main" id="{63EECA6D-3268-46EA-AC74-8E15947AD9BB}"/>
              </a:ext>
            </a:extLst>
          </p:cNvPr>
          <p:cNvSpPr>
            <a:spLocks xmlns:a="http://schemas.openxmlformats.org/drawingml/2006/main" noGrp="1"/>
          </p:cNvSpPr>
          <p:nvPr/>
        </p:nvSpPr>
        <p:spPr>
          <a:xfrm xmlns:a="http://schemas.openxmlformats.org/drawingml/2006/main">
            <a:off x="457200" y="1417320"/>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94A3B8"/>
                </a:solidFill>
                <a:latin typeface="Consolas"/>
                <a:ea typeface="Consolas"/>
                <a:cs typeface="Consolas"/>
              </a:rPr>
              <a:t>filesystem tree</a:t>
            </a:r>
            <a:endParaRPr sz="1000"/>
          </a:p>
        </p:txBody>
      </p:sp>
      <p:sp>
        <p:nvSpPr>
          <p:cNvPr id="13" name="Text 9">
            <a:extLst xmlns:a="http://schemas.openxmlformats.org/drawingml/2006/main">
              <a:ext uri="{FF2B5EF4-FFF2-40B4-BE49-F238E27FC236}">
                <a16:creationId xmlns:a16="http://schemas.microsoft.com/office/drawing/2014/main" id="{86F4BE77-8B8B-4507-B79C-6AB36BFE77FF}"/>
              </a:ext>
            </a:extLst>
          </p:cNvPr>
          <p:cNvSpPr>
            <a:spLocks xmlns:a="http://schemas.openxmlformats.org/drawingml/2006/main" noGrp="1"/>
          </p:cNvSpPr>
          <p:nvPr/>
        </p:nvSpPr>
        <p:spPr>
          <a:xfrm xmlns:a="http://schemas.openxmlformats.org/drawingml/2006/main">
            <a:off x="640080" y="1783080"/>
            <a:ext cx="4754880" cy="4297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F37021"/>
                </a:solidFill>
                <a:latin typeface="Consolas"/>
                <a:ea typeface="Consolas"/>
                <a:cs typeface="Consolas"/>
              </a:rPr>
              <a:t>/</a:t>
            </a:r>
            <a:endParaRPr sz="1050"/>
          </a:p>
          <a:p xmlns:a="http://schemas.openxmlformats.org/drawingml/2006/main">
            <a:pPr marL="0" indent="0">
              <a:buNone/>
            </a:pPr>
            <a:r>
              <a:rPr sz="1050">
                <a:solidFill>
                  <a:srgbClr val="10B981"/>
                </a:solidFill>
                <a:latin typeface="Consolas"/>
                <a:ea typeface="Consolas"/>
                <a:cs typeface="Consolas"/>
              </a:rPr>
              <a:t>├── bin/        </a:t>
            </a:r>
            <a:r>
              <a:rPr sz="1050" i="1">
                <a:solidFill>
                  <a:srgbClr val="94A3B8"/>
                </a:solidFill>
                <a:latin typeface="Consolas"/>
                <a:ea typeface="Consolas"/>
                <a:cs typeface="Consolas"/>
              </a:rPr>
              <a:t>executable user commands (ls, cat)</a:t>
            </a:r>
            <a:endParaRPr sz="1050"/>
          </a:p>
          <a:p xmlns:a="http://schemas.openxmlformats.org/drawingml/2006/main">
            <a:pPr marL="0" indent="0">
              <a:buNone/>
            </a:pPr>
            <a:r>
              <a:rPr sz="1050">
                <a:solidFill>
                  <a:srgbClr val="10B981"/>
                </a:solidFill>
                <a:latin typeface="Consolas"/>
                <a:ea typeface="Consolas"/>
                <a:cs typeface="Consolas"/>
              </a:rPr>
              <a:t>├── etc/        </a:t>
            </a:r>
            <a:r>
              <a:rPr sz="1050" i="1">
                <a:solidFill>
                  <a:srgbClr val="94A3B8"/>
                </a:solidFill>
                <a:latin typeface="Consolas"/>
                <a:ea typeface="Consolas"/>
                <a:cs typeface="Consolas"/>
              </a:rPr>
              <a:t>system configuration files</a:t>
            </a:r>
            <a:endParaRPr sz="1050"/>
          </a:p>
          <a:p xmlns:a="http://schemas.openxmlformats.org/drawingml/2006/main">
            <a:pPr marL="0" indent="0">
              <a:buNone/>
            </a:pPr>
            <a:r>
              <a:rPr sz="1050">
                <a:solidFill>
                  <a:srgbClr val="10B981"/>
                </a:solidFill>
                <a:latin typeface="Consolas"/>
                <a:ea typeface="Consolas"/>
                <a:cs typeface="Consolas"/>
              </a:rPr>
              <a:t>├── home/       </a:t>
            </a:r>
            <a:r>
              <a:rPr sz="1050" i="1">
                <a:solidFill>
                  <a:srgbClr val="94A3B8"/>
                </a:solidFill>
                <a:latin typeface="Consolas"/>
                <a:ea typeface="Consolas"/>
                <a:cs typeface="Consolas"/>
              </a:rPr>
              <a:t>user home directories</a:t>
            </a:r>
            <a:endParaRPr sz="1050"/>
          </a:p>
          <a:p xmlns:a="http://schemas.openxmlformats.org/drawingml/2006/main">
            <a:pPr marL="0" indent="0">
              <a:buNone/>
            </a:pPr>
            <a:r>
              <a:rPr sz="1050">
                <a:solidFill>
                  <a:srgbClr val="E2E8F0"/>
                </a:solidFill>
                <a:latin typeface="Consolas"/>
                <a:ea typeface="Consolas"/>
                <a:cs typeface="Consolas"/>
              </a:rPr>
              <a:t>│   └── budi/</a:t>
            </a:r>
            <a:endParaRPr sz="1050"/>
          </a:p>
          <a:p xmlns:a="http://schemas.openxmlformats.org/drawingml/2006/main">
            <a:pPr marL="0" indent="0">
              <a:buNone/>
            </a:pPr>
            <a:r>
              <a:rPr sz="1050">
                <a:solidFill>
                  <a:srgbClr val="10B981"/>
                </a:solidFill>
                <a:latin typeface="Consolas"/>
                <a:ea typeface="Consolas"/>
                <a:cs typeface="Consolas"/>
              </a:rPr>
              <a:t>├── opt/        </a:t>
            </a:r>
            <a:r>
              <a:rPr sz="1050" i="1">
                <a:solidFill>
                  <a:srgbClr val="94A3B8"/>
                </a:solidFill>
                <a:latin typeface="Consolas"/>
                <a:ea typeface="Consolas"/>
                <a:cs typeface="Consolas"/>
              </a:rPr>
              <a:t>optional software (3rd party)</a:t>
            </a:r>
            <a:endParaRPr sz="1050"/>
          </a:p>
          <a:p xmlns:a="http://schemas.openxmlformats.org/drawingml/2006/main">
            <a:pPr marL="0" indent="0">
              <a:buNone/>
            </a:pPr>
            <a:r>
              <a:rPr sz="1050">
                <a:solidFill>
                  <a:srgbClr val="10B981"/>
                </a:solidFill>
                <a:latin typeface="Consolas"/>
                <a:ea typeface="Consolas"/>
                <a:cs typeface="Consolas"/>
              </a:rPr>
              <a:t>├── root/       </a:t>
            </a:r>
            <a:r>
              <a:rPr sz="1050" i="1">
                <a:solidFill>
                  <a:srgbClr val="94A3B8"/>
                </a:solidFill>
                <a:latin typeface="Consolas"/>
                <a:ea typeface="Consolas"/>
                <a:cs typeface="Consolas"/>
              </a:rPr>
              <a:t>home dir for root user</a:t>
            </a:r>
            <a:endParaRPr sz="1050"/>
          </a:p>
          <a:p xmlns:a="http://schemas.openxmlformats.org/drawingml/2006/main">
            <a:pPr marL="0" indent="0">
              <a:buNone/>
            </a:pPr>
            <a:r>
              <a:rPr sz="1050">
                <a:solidFill>
                  <a:srgbClr val="10B981"/>
                </a:solidFill>
                <a:latin typeface="Consolas"/>
                <a:ea typeface="Consolas"/>
                <a:cs typeface="Consolas"/>
              </a:rPr>
              <a:t>├── tmp/        </a:t>
            </a:r>
            <a:r>
              <a:rPr sz="1050" i="1">
                <a:solidFill>
                  <a:srgbClr val="94A3B8"/>
                </a:solidFill>
                <a:latin typeface="Consolas"/>
                <a:ea typeface="Consolas"/>
                <a:cs typeface="Consolas"/>
              </a:rPr>
              <a:t>temporary files (hapus saat reboot)</a:t>
            </a:r>
            <a:endParaRPr sz="1050"/>
          </a:p>
          <a:p xmlns:a="http://schemas.openxmlformats.org/drawingml/2006/main">
            <a:pPr marL="0" indent="0">
              <a:buNone/>
            </a:pPr>
            <a:r>
              <a:rPr sz="1050">
                <a:solidFill>
                  <a:srgbClr val="10B981"/>
                </a:solidFill>
                <a:latin typeface="Consolas"/>
                <a:ea typeface="Consolas"/>
                <a:cs typeface="Consolas"/>
              </a:rPr>
              <a:t>├── usr/        </a:t>
            </a:r>
            <a:r>
              <a:rPr sz="1050" i="1">
                <a:solidFill>
                  <a:srgbClr val="94A3B8"/>
                </a:solidFill>
                <a:latin typeface="Consolas"/>
                <a:ea typeface="Consolas"/>
                <a:cs typeface="Consolas"/>
              </a:rPr>
              <a:t>user programs &amp; libraries</a:t>
            </a:r>
            <a:endParaRPr sz="1050"/>
          </a:p>
          <a:p xmlns:a="http://schemas.openxmlformats.org/drawingml/2006/main">
            <a:pPr marL="0" indent="0">
              <a:buNone/>
            </a:pPr>
            <a:r>
              <a:rPr sz="1050">
                <a:solidFill>
                  <a:srgbClr val="E2E8F0"/>
                </a:solidFill>
                <a:latin typeface="Consolas"/>
                <a:ea typeface="Consolas"/>
                <a:cs typeface="Consolas"/>
              </a:rPr>
              <a:t>│   └── local/  </a:t>
            </a:r>
            <a:r>
              <a:rPr sz="1050" i="1">
                <a:solidFill>
                  <a:srgbClr val="94A3B8"/>
                </a:solidFill>
                <a:latin typeface="Consolas"/>
                <a:ea typeface="Consolas"/>
                <a:cs typeface="Consolas"/>
              </a:rPr>
              <a:t>manual install (cmake, dll)</a:t>
            </a:r>
            <a:endParaRPr sz="1050"/>
          </a:p>
          <a:p xmlns:a="http://schemas.openxmlformats.org/drawingml/2006/main">
            <a:pPr marL="0" indent="0">
              <a:buNone/>
            </a:pPr>
            <a:r>
              <a:rPr sz="1050">
                <a:solidFill>
                  <a:srgbClr val="10B981"/>
                </a:solidFill>
                <a:latin typeface="Consolas"/>
                <a:ea typeface="Consolas"/>
                <a:cs typeface="Consolas"/>
              </a:rPr>
              <a:t>└── var/        </a:t>
            </a:r>
            <a:r>
              <a:rPr sz="1050" i="1">
                <a:solidFill>
                  <a:srgbClr val="94A3B8"/>
                </a:solidFill>
                <a:latin typeface="Consolas"/>
                <a:ea typeface="Consolas"/>
                <a:cs typeface="Consolas"/>
              </a:rPr>
              <a:t>variable data (logs, mail)</a:t>
            </a:r>
            <a:endParaRPr sz="1050"/>
          </a:p>
          <a:p xmlns:a="http://schemas.openxmlformats.org/drawingml/2006/main">
            <a:pPr marL="0" indent="0">
              <a:buNone/>
            </a:pPr>
            <a:r>
              <a:rPr sz="1050">
                <a:solidFill>
                  <a:srgbClr val="E2E8F0"/>
                </a:solidFill>
                <a:latin typeface="Consolas"/>
                <a:ea typeface="Consolas"/>
                <a:cs typeface="Consolas"/>
              </a:rPr>
              <a:t>    ├── log/    </a:t>
            </a:r>
            <a:r>
              <a:rPr sz="1050" i="1">
                <a:solidFill>
                  <a:srgbClr val="94A3B8"/>
                </a:solidFill>
                <a:latin typeface="Consolas"/>
                <a:ea typeface="Consolas"/>
                <a:cs typeface="Consolas"/>
              </a:rPr>
              <a:t>system logs</a:t>
            </a:r>
            <a:endParaRPr sz="1050"/>
          </a:p>
          <a:p xmlns:a="http://schemas.openxmlformats.org/drawingml/2006/main">
            <a:pPr marL="0" indent="0">
              <a:buNone/>
            </a:pPr>
            <a:r>
              <a:rPr sz="1050">
                <a:solidFill>
                  <a:srgbClr val="E2E8F0"/>
                </a:solidFill>
                <a:latin typeface="Consolas"/>
                <a:ea typeface="Consolas"/>
                <a:cs typeface="Consolas"/>
              </a:rPr>
              <a:t>    └── www/    </a:t>
            </a:r>
            <a:r>
              <a:rPr sz="1050" i="1">
                <a:solidFill>
                  <a:srgbClr val="94A3B8"/>
                </a:solidFill>
                <a:latin typeface="Consolas"/>
                <a:ea typeface="Consolas"/>
                <a:cs typeface="Consolas"/>
              </a:rPr>
              <a:t>web server document root</a:t>
            </a:r>
            <a:endParaRPr sz="1050"/>
          </a:p>
        </p:txBody>
      </p:sp>
      <p:sp>
        <p:nvSpPr>
          <p:cNvPr id="14" name="Text 10">
            <a:extLst xmlns:a="http://schemas.openxmlformats.org/drawingml/2006/main">
              <a:ext uri="{FF2B5EF4-FFF2-40B4-BE49-F238E27FC236}">
                <a16:creationId xmlns:a16="http://schemas.microsoft.com/office/drawing/2014/main" id="{80703003-1F4E-45AD-BDA5-C2DEC396FB0B}"/>
              </a:ext>
            </a:extLst>
          </p:cNvPr>
          <p:cNvSpPr>
            <a:spLocks xmlns:a="http://schemas.openxmlformats.org/drawingml/2006/main" noGrp="1"/>
          </p:cNvSpPr>
          <p:nvPr/>
        </p:nvSpPr>
        <p:spPr>
          <a:xfrm xmlns:a="http://schemas.openxmlformats.org/drawingml/2006/main">
            <a:off x="5760720" y="1417320"/>
            <a:ext cx="59436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Yang paling sering Anda sentuh:</a:t>
            </a:r>
            <a:endParaRPr sz="1400"/>
          </a:p>
        </p:txBody>
      </p:sp>
      <p:sp>
        <p:nvSpPr>
          <p:cNvPr id="15" name="Shape 11">
            <a:extLst xmlns:a="http://schemas.openxmlformats.org/drawingml/2006/main">
              <a:ext uri="{FF2B5EF4-FFF2-40B4-BE49-F238E27FC236}">
                <a16:creationId xmlns:a16="http://schemas.microsoft.com/office/drawing/2014/main" id="{FCAAEA19-BBDD-402C-886D-8F760553F274}"/>
              </a:ext>
            </a:extLst>
          </p:cNvPr>
          <p:cNvSpPr>
            <a:spLocks xmlns:a="http://schemas.openxmlformats.org/drawingml/2006/main" noGrp="1"/>
          </p:cNvSpPr>
          <p:nvPr/>
        </p:nvSpPr>
        <p:spPr>
          <a:xfrm xmlns:a="http://schemas.openxmlformats.org/drawingml/2006/main">
            <a:off x="5760720" y="1874520"/>
            <a:ext cx="5943600" cy="5943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6" name="Shape 12">
            <a:extLst xmlns:a="http://schemas.openxmlformats.org/drawingml/2006/main">
              <a:ext uri="{FF2B5EF4-FFF2-40B4-BE49-F238E27FC236}">
                <a16:creationId xmlns:a16="http://schemas.microsoft.com/office/drawing/2014/main" id="{AD85E230-4DAC-457D-9A9D-7E31F1BC48C8}"/>
              </a:ext>
            </a:extLst>
          </p:cNvPr>
          <p:cNvSpPr>
            <a:spLocks xmlns:a="http://schemas.openxmlformats.org/drawingml/2006/main" noGrp="1"/>
          </p:cNvSpPr>
          <p:nvPr/>
        </p:nvSpPr>
        <p:spPr>
          <a:xfrm xmlns:a="http://schemas.openxmlformats.org/drawingml/2006/main">
            <a:off x="5760720" y="1874520"/>
            <a:ext cx="54864" cy="59436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7" name="Text 13">
            <a:extLst xmlns:a="http://schemas.openxmlformats.org/drawingml/2006/main">
              <a:ext uri="{FF2B5EF4-FFF2-40B4-BE49-F238E27FC236}">
                <a16:creationId xmlns:a16="http://schemas.microsoft.com/office/drawing/2014/main" id="{13B6D836-189A-4F4D-B2D5-925BD5A97FDF}"/>
              </a:ext>
            </a:extLst>
          </p:cNvPr>
          <p:cNvSpPr>
            <a:spLocks xmlns:a="http://schemas.openxmlformats.org/drawingml/2006/main" noGrp="1"/>
          </p:cNvSpPr>
          <p:nvPr/>
        </p:nvSpPr>
        <p:spPr>
          <a:xfrm xmlns:a="http://schemas.openxmlformats.org/drawingml/2006/main">
            <a:off x="5897880" y="1920240"/>
            <a:ext cx="1920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onsolas"/>
                <a:ea typeface="Consolas"/>
                <a:cs typeface="Consolas"/>
              </a:rPr>
              <a:t>/etc</a:t>
            </a:r>
            <a:endParaRPr sz="1300"/>
          </a:p>
        </p:txBody>
      </p:sp>
      <p:sp>
        <p:nvSpPr>
          <p:cNvPr id="18" name="Text 14">
            <a:extLst xmlns:a="http://schemas.openxmlformats.org/drawingml/2006/main">
              <a:ext uri="{FF2B5EF4-FFF2-40B4-BE49-F238E27FC236}">
                <a16:creationId xmlns:a16="http://schemas.microsoft.com/office/drawing/2014/main" id="{358E438B-7D69-453E-8365-FE2A99591FE9}"/>
              </a:ext>
            </a:extLst>
          </p:cNvPr>
          <p:cNvSpPr>
            <a:spLocks xmlns:a="http://schemas.openxmlformats.org/drawingml/2006/main" noGrp="1"/>
          </p:cNvSpPr>
          <p:nvPr/>
        </p:nvSpPr>
        <p:spPr>
          <a:xfrm xmlns:a="http://schemas.openxmlformats.org/drawingml/2006/main">
            <a:off x="7818120" y="1920240"/>
            <a:ext cx="38404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93B"/>
                </a:solidFill>
                <a:latin typeface="Calibri"/>
                <a:ea typeface="Calibri"/>
                <a:cs typeface="Calibri"/>
              </a:rPr>
              <a:t>config file aplikasi (nginx.conf, ssh_config) - edit di sini</a:t>
            </a:r>
            <a:endParaRPr sz="1000"/>
          </a:p>
        </p:txBody>
      </p:sp>
      <p:sp>
        <p:nvSpPr>
          <p:cNvPr id="19" name="Shape 15">
            <a:extLst xmlns:a="http://schemas.openxmlformats.org/drawingml/2006/main">
              <a:ext uri="{FF2B5EF4-FFF2-40B4-BE49-F238E27FC236}">
                <a16:creationId xmlns:a16="http://schemas.microsoft.com/office/drawing/2014/main" id="{66967604-A2FC-40E5-8740-A57FE794F911}"/>
              </a:ext>
            </a:extLst>
          </p:cNvPr>
          <p:cNvSpPr>
            <a:spLocks xmlns:a="http://schemas.openxmlformats.org/drawingml/2006/main" noGrp="1"/>
          </p:cNvSpPr>
          <p:nvPr/>
        </p:nvSpPr>
        <p:spPr>
          <a:xfrm xmlns:a="http://schemas.openxmlformats.org/drawingml/2006/main">
            <a:off x="5760720" y="2560320"/>
            <a:ext cx="5943600" cy="5943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0" name="Shape 16">
            <a:extLst xmlns:a="http://schemas.openxmlformats.org/drawingml/2006/main">
              <a:ext uri="{FF2B5EF4-FFF2-40B4-BE49-F238E27FC236}">
                <a16:creationId xmlns:a16="http://schemas.microsoft.com/office/drawing/2014/main" id="{B7877BBE-5704-4FE5-9262-5BE25C9E6E01}"/>
              </a:ext>
            </a:extLst>
          </p:cNvPr>
          <p:cNvSpPr>
            <a:spLocks xmlns:a="http://schemas.openxmlformats.org/drawingml/2006/main" noGrp="1"/>
          </p:cNvSpPr>
          <p:nvPr/>
        </p:nvSpPr>
        <p:spPr>
          <a:xfrm xmlns:a="http://schemas.openxmlformats.org/drawingml/2006/main">
            <a:off x="5760720" y="2560320"/>
            <a:ext cx="54864" cy="59436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21" name="Text 17">
            <a:extLst xmlns:a="http://schemas.openxmlformats.org/drawingml/2006/main">
              <a:ext uri="{FF2B5EF4-FFF2-40B4-BE49-F238E27FC236}">
                <a16:creationId xmlns:a16="http://schemas.microsoft.com/office/drawing/2014/main" id="{5233B48B-AF0D-4D1E-A949-C3612D370D05}"/>
              </a:ext>
            </a:extLst>
          </p:cNvPr>
          <p:cNvSpPr>
            <a:spLocks xmlns:a="http://schemas.openxmlformats.org/drawingml/2006/main" noGrp="1"/>
          </p:cNvSpPr>
          <p:nvPr/>
        </p:nvSpPr>
        <p:spPr>
          <a:xfrm xmlns:a="http://schemas.openxmlformats.org/drawingml/2006/main">
            <a:off x="5897880" y="2606040"/>
            <a:ext cx="1920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onsolas"/>
                <a:ea typeface="Consolas"/>
                <a:cs typeface="Consolas"/>
              </a:rPr>
              <a:t>/home/&lt;user&gt;</a:t>
            </a:r>
            <a:endParaRPr sz="1300"/>
          </a:p>
        </p:txBody>
      </p:sp>
      <p:sp>
        <p:nvSpPr>
          <p:cNvPr id="22" name="Text 18">
            <a:extLst xmlns:a="http://schemas.openxmlformats.org/drawingml/2006/main">
              <a:ext uri="{FF2B5EF4-FFF2-40B4-BE49-F238E27FC236}">
                <a16:creationId xmlns:a16="http://schemas.microsoft.com/office/drawing/2014/main" id="{85BC8A28-3CA1-496C-88BD-D79AF044E070}"/>
              </a:ext>
            </a:extLst>
          </p:cNvPr>
          <p:cNvSpPr>
            <a:spLocks xmlns:a="http://schemas.openxmlformats.org/drawingml/2006/main" noGrp="1"/>
          </p:cNvSpPr>
          <p:nvPr/>
        </p:nvSpPr>
        <p:spPr>
          <a:xfrm xmlns:a="http://schemas.openxmlformats.org/drawingml/2006/main">
            <a:off x="7818120" y="2606040"/>
            <a:ext cx="38404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93B"/>
                </a:solidFill>
                <a:latin typeface="Calibri"/>
                <a:ea typeface="Calibri"/>
                <a:cs typeface="Calibri"/>
              </a:rPr>
              <a:t>tempat kerja Anda - tidak butuh sudo untuk write</a:t>
            </a:r>
            <a:endParaRPr sz="1000"/>
          </a:p>
        </p:txBody>
      </p:sp>
      <p:sp>
        <p:nvSpPr>
          <p:cNvPr id="23" name="Shape 19">
            <a:extLst xmlns:a="http://schemas.openxmlformats.org/drawingml/2006/main">
              <a:ext uri="{FF2B5EF4-FFF2-40B4-BE49-F238E27FC236}">
                <a16:creationId xmlns:a16="http://schemas.microsoft.com/office/drawing/2014/main" id="{5ECC027E-2411-4B8C-8C01-545E0CF5F442}"/>
              </a:ext>
            </a:extLst>
          </p:cNvPr>
          <p:cNvSpPr>
            <a:spLocks xmlns:a="http://schemas.openxmlformats.org/drawingml/2006/main" noGrp="1"/>
          </p:cNvSpPr>
          <p:nvPr/>
        </p:nvSpPr>
        <p:spPr>
          <a:xfrm xmlns:a="http://schemas.openxmlformats.org/drawingml/2006/main">
            <a:off x="5760720" y="3246120"/>
            <a:ext cx="5943600" cy="5943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4" name="Shape 20">
            <a:extLst xmlns:a="http://schemas.openxmlformats.org/drawingml/2006/main">
              <a:ext uri="{FF2B5EF4-FFF2-40B4-BE49-F238E27FC236}">
                <a16:creationId xmlns:a16="http://schemas.microsoft.com/office/drawing/2014/main" id="{4F0E9968-2AC0-4AF8-A918-E08953A4F558}"/>
              </a:ext>
            </a:extLst>
          </p:cNvPr>
          <p:cNvSpPr>
            <a:spLocks xmlns:a="http://schemas.openxmlformats.org/drawingml/2006/main" noGrp="1"/>
          </p:cNvSpPr>
          <p:nvPr/>
        </p:nvSpPr>
        <p:spPr>
          <a:xfrm xmlns:a="http://schemas.openxmlformats.org/drawingml/2006/main">
            <a:off x="5760720" y="3246120"/>
            <a:ext cx="54864" cy="59436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25" name="Text 21">
            <a:extLst xmlns:a="http://schemas.openxmlformats.org/drawingml/2006/main">
              <a:ext uri="{FF2B5EF4-FFF2-40B4-BE49-F238E27FC236}">
                <a16:creationId xmlns:a16="http://schemas.microsoft.com/office/drawing/2014/main" id="{E5866526-9FE1-4DC7-B526-4D21FB32EB4D}"/>
              </a:ext>
            </a:extLst>
          </p:cNvPr>
          <p:cNvSpPr>
            <a:spLocks xmlns:a="http://schemas.openxmlformats.org/drawingml/2006/main" noGrp="1"/>
          </p:cNvSpPr>
          <p:nvPr/>
        </p:nvSpPr>
        <p:spPr>
          <a:xfrm xmlns:a="http://schemas.openxmlformats.org/drawingml/2006/main">
            <a:off x="5897880" y="3291840"/>
            <a:ext cx="1920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onsolas"/>
                <a:ea typeface="Consolas"/>
                <a:cs typeface="Consolas"/>
              </a:rPr>
              <a:t>/var/log</a:t>
            </a:r>
            <a:endParaRPr sz="1300"/>
          </a:p>
        </p:txBody>
      </p:sp>
      <p:sp>
        <p:nvSpPr>
          <p:cNvPr id="26" name="Text 22">
            <a:extLst xmlns:a="http://schemas.openxmlformats.org/drawingml/2006/main">
              <a:ext uri="{FF2B5EF4-FFF2-40B4-BE49-F238E27FC236}">
                <a16:creationId xmlns:a16="http://schemas.microsoft.com/office/drawing/2014/main" id="{1A3C2CC5-6D76-4D2B-A129-B13E56BC134F}"/>
              </a:ext>
            </a:extLst>
          </p:cNvPr>
          <p:cNvSpPr>
            <a:spLocks xmlns:a="http://schemas.openxmlformats.org/drawingml/2006/main" noGrp="1"/>
          </p:cNvSpPr>
          <p:nvPr/>
        </p:nvSpPr>
        <p:spPr>
          <a:xfrm xmlns:a="http://schemas.openxmlformats.org/drawingml/2006/main">
            <a:off x="7818120" y="3291840"/>
            <a:ext cx="38404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93B"/>
                </a:solidFill>
                <a:latin typeface="Calibri"/>
                <a:ea typeface="Calibri"/>
                <a:cs typeface="Calibri"/>
              </a:rPr>
              <a:t>kalau ada error, debug di sini dulu (journalctl)</a:t>
            </a:r>
            <a:endParaRPr sz="1000"/>
          </a:p>
        </p:txBody>
      </p:sp>
      <p:sp>
        <p:nvSpPr>
          <p:cNvPr id="27" name="Shape 23">
            <a:extLst xmlns:a="http://schemas.openxmlformats.org/drawingml/2006/main">
              <a:ext uri="{FF2B5EF4-FFF2-40B4-BE49-F238E27FC236}">
                <a16:creationId xmlns:a16="http://schemas.microsoft.com/office/drawing/2014/main" id="{16EC3A63-4333-4D45-AACE-AFD8ED96D192}"/>
              </a:ext>
            </a:extLst>
          </p:cNvPr>
          <p:cNvSpPr>
            <a:spLocks xmlns:a="http://schemas.openxmlformats.org/drawingml/2006/main" noGrp="1"/>
          </p:cNvSpPr>
          <p:nvPr/>
        </p:nvSpPr>
        <p:spPr>
          <a:xfrm xmlns:a="http://schemas.openxmlformats.org/drawingml/2006/main">
            <a:off x="5760720" y="3931920"/>
            <a:ext cx="5943600" cy="5943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8" name="Shape 24">
            <a:extLst xmlns:a="http://schemas.openxmlformats.org/drawingml/2006/main">
              <a:ext uri="{FF2B5EF4-FFF2-40B4-BE49-F238E27FC236}">
                <a16:creationId xmlns:a16="http://schemas.microsoft.com/office/drawing/2014/main" id="{BEDEAAE6-77C4-45BD-B02E-A67370FEB72F}"/>
              </a:ext>
            </a:extLst>
          </p:cNvPr>
          <p:cNvSpPr>
            <a:spLocks xmlns:a="http://schemas.openxmlformats.org/drawingml/2006/main" noGrp="1"/>
          </p:cNvSpPr>
          <p:nvPr/>
        </p:nvSpPr>
        <p:spPr>
          <a:xfrm xmlns:a="http://schemas.openxmlformats.org/drawingml/2006/main">
            <a:off x="5760720" y="3931920"/>
            <a:ext cx="54864" cy="59436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29" name="Text 25">
            <a:extLst xmlns:a="http://schemas.openxmlformats.org/drawingml/2006/main">
              <a:ext uri="{FF2B5EF4-FFF2-40B4-BE49-F238E27FC236}">
                <a16:creationId xmlns:a16="http://schemas.microsoft.com/office/drawing/2014/main" id="{7BD2EF49-133A-445D-8EFF-C76F7BDA4AB6}"/>
              </a:ext>
            </a:extLst>
          </p:cNvPr>
          <p:cNvSpPr>
            <a:spLocks xmlns:a="http://schemas.openxmlformats.org/drawingml/2006/main" noGrp="1"/>
          </p:cNvSpPr>
          <p:nvPr/>
        </p:nvSpPr>
        <p:spPr>
          <a:xfrm xmlns:a="http://schemas.openxmlformats.org/drawingml/2006/main">
            <a:off x="5897880" y="3977640"/>
            <a:ext cx="1920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onsolas"/>
                <a:ea typeface="Consolas"/>
                <a:cs typeface="Consolas"/>
              </a:rPr>
              <a:t>/tmp</a:t>
            </a:r>
            <a:endParaRPr sz="1300"/>
          </a:p>
        </p:txBody>
      </p:sp>
      <p:sp>
        <p:nvSpPr>
          <p:cNvPr id="30" name="Text 26">
            <a:extLst xmlns:a="http://schemas.openxmlformats.org/drawingml/2006/main">
              <a:ext uri="{FF2B5EF4-FFF2-40B4-BE49-F238E27FC236}">
                <a16:creationId xmlns:a16="http://schemas.microsoft.com/office/drawing/2014/main" id="{B1419FF1-86A1-42A0-92F8-3E186B1EFEA7}"/>
              </a:ext>
            </a:extLst>
          </p:cNvPr>
          <p:cNvSpPr>
            <a:spLocks xmlns:a="http://schemas.openxmlformats.org/drawingml/2006/main" noGrp="1"/>
          </p:cNvSpPr>
          <p:nvPr/>
        </p:nvSpPr>
        <p:spPr>
          <a:xfrm xmlns:a="http://schemas.openxmlformats.org/drawingml/2006/main">
            <a:off x="7818120" y="3977640"/>
            <a:ext cx="38404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93B"/>
                </a:solidFill>
                <a:latin typeface="Calibri"/>
                <a:ea typeface="Calibri"/>
                <a:cs typeface="Calibri"/>
              </a:rPr>
              <a:t>scratch space - cocok untuk file sementara</a:t>
            </a:r>
            <a:endParaRPr sz="1000"/>
          </a:p>
        </p:txBody>
      </p:sp>
      <p:sp>
        <p:nvSpPr>
          <p:cNvPr id="31" name="Shape 27">
            <a:extLst xmlns:a="http://schemas.openxmlformats.org/drawingml/2006/main">
              <a:ext uri="{FF2B5EF4-FFF2-40B4-BE49-F238E27FC236}">
                <a16:creationId xmlns:a16="http://schemas.microsoft.com/office/drawing/2014/main" id="{2A3E8925-318F-470A-8225-A98E92354C49}"/>
              </a:ext>
            </a:extLst>
          </p:cNvPr>
          <p:cNvSpPr>
            <a:spLocks xmlns:a="http://schemas.openxmlformats.org/drawingml/2006/main" noGrp="1"/>
          </p:cNvSpPr>
          <p:nvPr/>
        </p:nvSpPr>
        <p:spPr>
          <a:xfrm xmlns:a="http://schemas.openxmlformats.org/drawingml/2006/main">
            <a:off x="5760720" y="4617720"/>
            <a:ext cx="5943600" cy="5943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2" name="Shape 28">
            <a:extLst xmlns:a="http://schemas.openxmlformats.org/drawingml/2006/main">
              <a:ext uri="{FF2B5EF4-FFF2-40B4-BE49-F238E27FC236}">
                <a16:creationId xmlns:a16="http://schemas.microsoft.com/office/drawing/2014/main" id="{3469E9C0-5EF5-422F-986C-26C803CB3534}"/>
              </a:ext>
            </a:extLst>
          </p:cNvPr>
          <p:cNvSpPr>
            <a:spLocks xmlns:a="http://schemas.openxmlformats.org/drawingml/2006/main" noGrp="1"/>
          </p:cNvSpPr>
          <p:nvPr/>
        </p:nvSpPr>
        <p:spPr>
          <a:xfrm xmlns:a="http://schemas.openxmlformats.org/drawingml/2006/main">
            <a:off x="5760720" y="4617720"/>
            <a:ext cx="54864" cy="59436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33" name="Text 29">
            <a:extLst xmlns:a="http://schemas.openxmlformats.org/drawingml/2006/main">
              <a:ext uri="{FF2B5EF4-FFF2-40B4-BE49-F238E27FC236}">
                <a16:creationId xmlns:a16="http://schemas.microsoft.com/office/drawing/2014/main" id="{9A6EE7D2-D359-4821-948D-115CB748BC13}"/>
              </a:ext>
            </a:extLst>
          </p:cNvPr>
          <p:cNvSpPr>
            <a:spLocks xmlns:a="http://schemas.openxmlformats.org/drawingml/2006/main" noGrp="1"/>
          </p:cNvSpPr>
          <p:nvPr/>
        </p:nvSpPr>
        <p:spPr>
          <a:xfrm xmlns:a="http://schemas.openxmlformats.org/drawingml/2006/main">
            <a:off x="5897880" y="4663440"/>
            <a:ext cx="1920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onsolas"/>
                <a:ea typeface="Consolas"/>
                <a:cs typeface="Consolas"/>
              </a:rPr>
              <a:t>/opt</a:t>
            </a:r>
            <a:endParaRPr sz="1300"/>
          </a:p>
        </p:txBody>
      </p:sp>
      <p:sp>
        <p:nvSpPr>
          <p:cNvPr id="34" name="Text 30">
            <a:extLst xmlns:a="http://schemas.openxmlformats.org/drawingml/2006/main">
              <a:ext uri="{FF2B5EF4-FFF2-40B4-BE49-F238E27FC236}">
                <a16:creationId xmlns:a16="http://schemas.microsoft.com/office/drawing/2014/main" id="{9CA142A8-CECB-4E99-A59E-5004278E1D79}"/>
              </a:ext>
            </a:extLst>
          </p:cNvPr>
          <p:cNvSpPr>
            <a:spLocks xmlns:a="http://schemas.openxmlformats.org/drawingml/2006/main" noGrp="1"/>
          </p:cNvSpPr>
          <p:nvPr/>
        </p:nvSpPr>
        <p:spPr>
          <a:xfrm xmlns:a="http://schemas.openxmlformats.org/drawingml/2006/main">
            <a:off x="7818120" y="4663440"/>
            <a:ext cx="38404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93B"/>
                </a:solidFill>
                <a:latin typeface="Calibri"/>
                <a:ea typeface="Calibri"/>
                <a:cs typeface="Calibri"/>
              </a:rPr>
              <a:t>install software pihak ketiga (mis. /opt/myapp)</a:t>
            </a:r>
            <a:endParaRPr sz="1000"/>
          </a:p>
        </p:txBody>
      </p:sp>
      <p:sp>
        <p:nvSpPr>
          <p:cNvPr id="35" name="Shape 31">
            <a:extLst xmlns:a="http://schemas.openxmlformats.org/drawingml/2006/main">
              <a:ext uri="{FF2B5EF4-FFF2-40B4-BE49-F238E27FC236}">
                <a16:creationId xmlns:a16="http://schemas.microsoft.com/office/drawing/2014/main" id="{8D4E9218-1258-406E-B9F1-FD6A1D0E2966}"/>
              </a:ext>
            </a:extLst>
          </p:cNvPr>
          <p:cNvSpPr>
            <a:spLocks xmlns:a="http://schemas.openxmlformats.org/drawingml/2006/main" noGrp="1"/>
          </p:cNvSpPr>
          <p:nvPr/>
        </p:nvSpPr>
        <p:spPr>
          <a:xfrm xmlns:a="http://schemas.openxmlformats.org/drawingml/2006/main">
            <a:off x="5760720" y="5303520"/>
            <a:ext cx="5943600" cy="5943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6" name="Shape 32">
            <a:extLst xmlns:a="http://schemas.openxmlformats.org/drawingml/2006/main">
              <a:ext uri="{FF2B5EF4-FFF2-40B4-BE49-F238E27FC236}">
                <a16:creationId xmlns:a16="http://schemas.microsoft.com/office/drawing/2014/main" id="{9A66A252-F211-445C-978A-74DABC3113E2}"/>
              </a:ext>
            </a:extLst>
          </p:cNvPr>
          <p:cNvSpPr>
            <a:spLocks xmlns:a="http://schemas.openxmlformats.org/drawingml/2006/main" noGrp="1"/>
          </p:cNvSpPr>
          <p:nvPr/>
        </p:nvSpPr>
        <p:spPr>
          <a:xfrm xmlns:a="http://schemas.openxmlformats.org/drawingml/2006/main">
            <a:off x="5760720" y="5303520"/>
            <a:ext cx="54864" cy="59436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37" name="Text 33">
            <a:extLst xmlns:a="http://schemas.openxmlformats.org/drawingml/2006/main">
              <a:ext uri="{FF2B5EF4-FFF2-40B4-BE49-F238E27FC236}">
                <a16:creationId xmlns:a16="http://schemas.microsoft.com/office/drawing/2014/main" id="{A6C665DD-31F4-4C2B-86E8-0C77EB36F12D}"/>
              </a:ext>
            </a:extLst>
          </p:cNvPr>
          <p:cNvSpPr>
            <a:spLocks xmlns:a="http://schemas.openxmlformats.org/drawingml/2006/main" noGrp="1"/>
          </p:cNvSpPr>
          <p:nvPr/>
        </p:nvSpPr>
        <p:spPr>
          <a:xfrm xmlns:a="http://schemas.openxmlformats.org/drawingml/2006/main">
            <a:off x="5897880" y="5349240"/>
            <a:ext cx="1920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onsolas"/>
                <a:ea typeface="Consolas"/>
                <a:cs typeface="Consolas"/>
              </a:rPr>
              <a:t>/usr/local/bin</a:t>
            </a:r>
            <a:endParaRPr sz="1300"/>
          </a:p>
        </p:txBody>
      </p:sp>
      <p:sp>
        <p:nvSpPr>
          <p:cNvPr id="38" name="Text 34">
            <a:extLst xmlns:a="http://schemas.openxmlformats.org/drawingml/2006/main">
              <a:ext uri="{FF2B5EF4-FFF2-40B4-BE49-F238E27FC236}">
                <a16:creationId xmlns:a16="http://schemas.microsoft.com/office/drawing/2014/main" id="{F3EC2F84-9F83-454F-9913-97AF7F22A586}"/>
              </a:ext>
            </a:extLst>
          </p:cNvPr>
          <p:cNvSpPr>
            <a:spLocks xmlns:a="http://schemas.openxmlformats.org/drawingml/2006/main" noGrp="1"/>
          </p:cNvSpPr>
          <p:nvPr/>
        </p:nvSpPr>
        <p:spPr>
          <a:xfrm xmlns:a="http://schemas.openxmlformats.org/drawingml/2006/main">
            <a:off x="7818120" y="5349240"/>
            <a:ext cx="38404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93B"/>
                </a:solidFill>
                <a:latin typeface="Calibri"/>
                <a:ea typeface="Calibri"/>
                <a:cs typeface="Calibri"/>
              </a:rPr>
              <a:t>tempat taruh script Anda biar bisa dipanggil global</a:t>
            </a:r>
            <a:endParaRPr sz="1000"/>
          </a:p>
        </p:txBody>
      </p:sp>
    </p:spTree>
    <p:extLst>
      <p:ext uri="{BB962C8B-B14F-4D97-AF65-F5344CB8AC3E}">
        <p14:creationId xmlns:p14="http://schemas.microsoft.com/office/powerpoint/2010/main" val="52517288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F1AF59D-ED32-4D4C-B425-4019E120AC9F}"/>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2</a:t>
            </a:r>
            <a:endParaRPr sz="900"/>
          </a:p>
        </p:txBody>
      </p:sp>
      <p:sp>
        <p:nvSpPr>
          <p:cNvPr id="3" name="Text 1">
            <a:extLst xmlns:a="http://schemas.openxmlformats.org/drawingml/2006/main">
              <a:ext uri="{FF2B5EF4-FFF2-40B4-BE49-F238E27FC236}">
                <a16:creationId xmlns:a16="http://schemas.microsoft.com/office/drawing/2014/main" id="{A49ABEE8-CB7E-4E0B-9040-A4D35E53A82C}"/>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9</a:t>
            </a:r>
            <a:endParaRPr sz="900"/>
          </a:p>
        </p:txBody>
      </p:sp>
      <p:sp>
        <p:nvSpPr>
          <p:cNvPr id="4" name="Shape 2">
            <a:extLst xmlns:a="http://schemas.openxmlformats.org/drawingml/2006/main">
              <a:ext uri="{FF2B5EF4-FFF2-40B4-BE49-F238E27FC236}">
                <a16:creationId xmlns:a16="http://schemas.microsoft.com/office/drawing/2014/main" id="{F7420F2F-09CD-43E6-9EEE-71D0DCE6CF0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5" name="Image 0"/>
          <p:cNvPicPr>
            <a:picLocks xmlns:a="http://schemas.openxmlformats.org/drawingml/2006/main" noChangeAspect="1"/>
          </p:cNvPicPr>
          <p:nvPr/>
        </p:nvPicPr>
        <p:blipFill>
          <a:blip xmlns:r="http://schemas.openxmlformats.org/officeDocument/2006/relationships" xmlns:a="http://schemas.openxmlformats.org/drawingml/2006/main" r:embed="R6f908956b94a49a3"/>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6" name="Image 1"/>
          <p:cNvPicPr>
            <a:picLocks xmlns:a="http://schemas.openxmlformats.org/drawingml/2006/main" noChangeAspect="1"/>
          </p:cNvPicPr>
          <p:nvPr/>
        </p:nvPicPr>
        <p:blipFill>
          <a:blip xmlns:r="http://schemas.openxmlformats.org/officeDocument/2006/relationships" xmlns:a="http://schemas.openxmlformats.org/drawingml/2006/main" r:embed="Rf94297f2763b4526"/>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89887EA1-0DE7-4179-A929-713834867C05}"/>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5720A809-4252-42E4-A882-BA179D2A98A8}"/>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Navigation Commands</a:t>
            </a:r>
            <a:endParaRPr sz="2200"/>
          </a:p>
        </p:txBody>
      </p:sp>
      <p:sp>
        <p:nvSpPr>
          <p:cNvPr id="9" name="Text 5">
            <a:extLst xmlns:a="http://schemas.openxmlformats.org/drawingml/2006/main">
              <a:ext uri="{FF2B5EF4-FFF2-40B4-BE49-F238E27FC236}">
                <a16:creationId xmlns:a16="http://schemas.microsoft.com/office/drawing/2014/main" id="{5D258BA0-AD3B-4702-9515-BC5D65A77626}"/>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Bergerak di filesystem - command yang dipakai tiap detik</a:t>
            </a:r>
            <a:endParaRPr sz="1200"/>
          </a:p>
        </p:txBody>
      </p:sp>
      <p:sp>
        <p:nvSpPr>
          <p:cNvPr id="10" name="Shape 6">
            <a:extLst xmlns:a="http://schemas.openxmlformats.org/drawingml/2006/main">
              <a:ext uri="{FF2B5EF4-FFF2-40B4-BE49-F238E27FC236}">
                <a16:creationId xmlns:a16="http://schemas.microsoft.com/office/drawing/2014/main" id="{5F303DD1-FACA-4409-8C1D-EEC63DAAA30C}"/>
              </a:ext>
            </a:extLst>
          </p:cNvPr>
          <p:cNvSpPr>
            <a:spLocks xmlns:a="http://schemas.openxmlformats.org/drawingml/2006/main" noGrp="1"/>
          </p:cNvSpPr>
          <p:nvPr/>
        </p:nvSpPr>
        <p:spPr>
          <a:xfrm xmlns:a="http://schemas.openxmlformats.org/drawingml/2006/main">
            <a:off x="457200" y="1417320"/>
            <a:ext cx="502920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Text 7">
            <a:extLst xmlns:a="http://schemas.openxmlformats.org/drawingml/2006/main">
              <a:ext uri="{FF2B5EF4-FFF2-40B4-BE49-F238E27FC236}">
                <a16:creationId xmlns:a16="http://schemas.microsoft.com/office/drawing/2014/main" id="{32858C38-80C2-448F-88E8-D12965A14535}"/>
              </a:ext>
            </a:extLst>
          </p:cNvPr>
          <p:cNvSpPr>
            <a:spLocks xmlns:a="http://schemas.openxmlformats.org/drawingml/2006/main" noGrp="1"/>
          </p:cNvSpPr>
          <p:nvPr/>
        </p:nvSpPr>
        <p:spPr>
          <a:xfrm xmlns:a="http://schemas.openxmlformats.org/drawingml/2006/main">
            <a:off x="640080" y="1554480"/>
            <a:ext cx="47548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002677"/>
                </a:solidFill>
                <a:latin typeface="Calibri"/>
                <a:ea typeface="Calibri"/>
                <a:cs typeface="Calibri"/>
              </a:rPr>
              <a:t>Command Pokok</a:t>
            </a:r>
            <a:endParaRPr sz="1600"/>
          </a:p>
        </p:txBody>
      </p:sp>
      <p:sp>
        <p:nvSpPr>
          <p:cNvPr id="12" name="Shape 8">
            <a:extLst xmlns:a="http://schemas.openxmlformats.org/drawingml/2006/main">
              <a:ext uri="{FF2B5EF4-FFF2-40B4-BE49-F238E27FC236}">
                <a16:creationId xmlns:a16="http://schemas.microsoft.com/office/drawing/2014/main" id="{0BCED147-447F-4848-B881-F778C40163B3}"/>
              </a:ext>
            </a:extLst>
          </p:cNvPr>
          <p:cNvSpPr>
            <a:spLocks xmlns:a="http://schemas.openxmlformats.org/drawingml/2006/main" noGrp="1"/>
          </p:cNvSpPr>
          <p:nvPr/>
        </p:nvSpPr>
        <p:spPr>
          <a:xfrm xmlns:a="http://schemas.openxmlformats.org/drawingml/2006/main">
            <a:off x="640080" y="2011680"/>
            <a:ext cx="4663440" cy="68580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13" name="Shape 9">
            <a:extLst xmlns:a="http://schemas.openxmlformats.org/drawingml/2006/main">
              <a:ext uri="{FF2B5EF4-FFF2-40B4-BE49-F238E27FC236}">
                <a16:creationId xmlns:a16="http://schemas.microsoft.com/office/drawing/2014/main" id="{3A558F85-0074-4A93-9760-A6DF6D803100}"/>
              </a:ext>
            </a:extLst>
          </p:cNvPr>
          <p:cNvSpPr>
            <a:spLocks xmlns:a="http://schemas.openxmlformats.org/drawingml/2006/main" noGrp="1"/>
          </p:cNvSpPr>
          <p:nvPr/>
        </p:nvSpPr>
        <p:spPr>
          <a:xfrm xmlns:a="http://schemas.openxmlformats.org/drawingml/2006/main">
            <a:off x="640080" y="2011680"/>
            <a:ext cx="1371600" cy="68580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14" name="Text 10">
            <a:extLst xmlns:a="http://schemas.openxmlformats.org/drawingml/2006/main">
              <a:ext uri="{FF2B5EF4-FFF2-40B4-BE49-F238E27FC236}">
                <a16:creationId xmlns:a16="http://schemas.microsoft.com/office/drawing/2014/main" id="{11EF18DA-EAC0-4B5F-8129-68E51AD1D76E}"/>
              </a:ext>
            </a:extLst>
          </p:cNvPr>
          <p:cNvSpPr>
            <a:spLocks xmlns:a="http://schemas.openxmlformats.org/drawingml/2006/main" noGrp="1"/>
          </p:cNvSpPr>
          <p:nvPr/>
        </p:nvSpPr>
        <p:spPr>
          <a:xfrm xmlns:a="http://schemas.openxmlformats.org/drawingml/2006/main">
            <a:off x="685800" y="2057400"/>
            <a:ext cx="12801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0B981"/>
                </a:solidFill>
                <a:latin typeface="Consolas"/>
                <a:ea typeface="Consolas"/>
                <a:cs typeface="Consolas"/>
              </a:rPr>
              <a:t>pwd</a:t>
            </a:r>
            <a:endParaRPr sz="1300"/>
          </a:p>
        </p:txBody>
      </p:sp>
      <p:sp>
        <p:nvSpPr>
          <p:cNvPr id="15" name="Text 11">
            <a:extLst xmlns:a="http://schemas.openxmlformats.org/drawingml/2006/main">
              <a:ext uri="{FF2B5EF4-FFF2-40B4-BE49-F238E27FC236}">
                <a16:creationId xmlns:a16="http://schemas.microsoft.com/office/drawing/2014/main" id="{EBB5C727-D2AF-4A76-9B37-A245E9BECF00}"/>
              </a:ext>
            </a:extLst>
          </p:cNvPr>
          <p:cNvSpPr>
            <a:spLocks xmlns:a="http://schemas.openxmlformats.org/drawingml/2006/main" noGrp="1"/>
          </p:cNvSpPr>
          <p:nvPr/>
        </p:nvSpPr>
        <p:spPr>
          <a:xfrm xmlns:a="http://schemas.openxmlformats.org/drawingml/2006/main">
            <a:off x="2103120" y="2057400"/>
            <a:ext cx="31089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93B"/>
                </a:solidFill>
                <a:latin typeface="Calibri"/>
                <a:ea typeface="Calibri"/>
                <a:cs typeface="Calibri"/>
              </a:rPr>
              <a:t>print working directory - lagi di mana?</a:t>
            </a:r>
            <a:endParaRPr sz="1000"/>
          </a:p>
        </p:txBody>
      </p:sp>
      <p:sp>
        <p:nvSpPr>
          <p:cNvPr id="16" name="Shape 12">
            <a:extLst xmlns:a="http://schemas.openxmlformats.org/drawingml/2006/main">
              <a:ext uri="{FF2B5EF4-FFF2-40B4-BE49-F238E27FC236}">
                <a16:creationId xmlns:a16="http://schemas.microsoft.com/office/drawing/2014/main" id="{6E9922EC-6479-4159-9D1B-969711983092}"/>
              </a:ext>
            </a:extLst>
          </p:cNvPr>
          <p:cNvSpPr>
            <a:spLocks xmlns:a="http://schemas.openxmlformats.org/drawingml/2006/main" noGrp="1"/>
          </p:cNvSpPr>
          <p:nvPr/>
        </p:nvSpPr>
        <p:spPr>
          <a:xfrm xmlns:a="http://schemas.openxmlformats.org/drawingml/2006/main">
            <a:off x="640080" y="2788920"/>
            <a:ext cx="4663440" cy="68580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17" name="Shape 13">
            <a:extLst xmlns:a="http://schemas.openxmlformats.org/drawingml/2006/main">
              <a:ext uri="{FF2B5EF4-FFF2-40B4-BE49-F238E27FC236}">
                <a16:creationId xmlns:a16="http://schemas.microsoft.com/office/drawing/2014/main" id="{28278854-A2BA-4AF7-A924-D471D8A1F253}"/>
              </a:ext>
            </a:extLst>
          </p:cNvPr>
          <p:cNvSpPr>
            <a:spLocks xmlns:a="http://schemas.openxmlformats.org/drawingml/2006/main" noGrp="1"/>
          </p:cNvSpPr>
          <p:nvPr/>
        </p:nvSpPr>
        <p:spPr>
          <a:xfrm xmlns:a="http://schemas.openxmlformats.org/drawingml/2006/main">
            <a:off x="640080" y="2788920"/>
            <a:ext cx="1371600" cy="68580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18" name="Text 14">
            <a:extLst xmlns:a="http://schemas.openxmlformats.org/drawingml/2006/main">
              <a:ext uri="{FF2B5EF4-FFF2-40B4-BE49-F238E27FC236}">
                <a16:creationId xmlns:a16="http://schemas.microsoft.com/office/drawing/2014/main" id="{CA1CEC96-A3C5-4EC7-AB7E-FA20EFF0DF2B}"/>
              </a:ext>
            </a:extLst>
          </p:cNvPr>
          <p:cNvSpPr>
            <a:spLocks xmlns:a="http://schemas.openxmlformats.org/drawingml/2006/main" noGrp="1"/>
          </p:cNvSpPr>
          <p:nvPr/>
        </p:nvSpPr>
        <p:spPr>
          <a:xfrm xmlns:a="http://schemas.openxmlformats.org/drawingml/2006/main">
            <a:off x="685800" y="2834640"/>
            <a:ext cx="12801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0B981"/>
                </a:solidFill>
                <a:latin typeface="Consolas"/>
                <a:ea typeface="Consolas"/>
                <a:cs typeface="Consolas"/>
              </a:rPr>
              <a:t>ls</a:t>
            </a:r>
            <a:endParaRPr sz="1300"/>
          </a:p>
        </p:txBody>
      </p:sp>
      <p:sp>
        <p:nvSpPr>
          <p:cNvPr id="19" name="Text 15">
            <a:extLst xmlns:a="http://schemas.openxmlformats.org/drawingml/2006/main">
              <a:ext uri="{FF2B5EF4-FFF2-40B4-BE49-F238E27FC236}">
                <a16:creationId xmlns:a16="http://schemas.microsoft.com/office/drawing/2014/main" id="{5771F197-8898-4DD6-AE7F-1F9FD033266C}"/>
              </a:ext>
            </a:extLst>
          </p:cNvPr>
          <p:cNvSpPr>
            <a:spLocks xmlns:a="http://schemas.openxmlformats.org/drawingml/2006/main" noGrp="1"/>
          </p:cNvSpPr>
          <p:nvPr/>
        </p:nvSpPr>
        <p:spPr>
          <a:xfrm xmlns:a="http://schemas.openxmlformats.org/drawingml/2006/main">
            <a:off x="2103120" y="2834640"/>
            <a:ext cx="31089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93B"/>
                </a:solidFill>
                <a:latin typeface="Calibri"/>
                <a:ea typeface="Calibri"/>
                <a:cs typeface="Calibri"/>
              </a:rPr>
              <a:t>list isi direktori (-l detail, -a hidden, -h human)</a:t>
            </a:r>
            <a:endParaRPr sz="1000"/>
          </a:p>
        </p:txBody>
      </p:sp>
      <p:sp>
        <p:nvSpPr>
          <p:cNvPr id="20" name="Shape 16">
            <a:extLst xmlns:a="http://schemas.openxmlformats.org/drawingml/2006/main">
              <a:ext uri="{FF2B5EF4-FFF2-40B4-BE49-F238E27FC236}">
                <a16:creationId xmlns:a16="http://schemas.microsoft.com/office/drawing/2014/main" id="{7F8A89C0-61AA-4A6D-954D-52349E5B25EA}"/>
              </a:ext>
            </a:extLst>
          </p:cNvPr>
          <p:cNvSpPr>
            <a:spLocks xmlns:a="http://schemas.openxmlformats.org/drawingml/2006/main" noGrp="1"/>
          </p:cNvSpPr>
          <p:nvPr/>
        </p:nvSpPr>
        <p:spPr>
          <a:xfrm xmlns:a="http://schemas.openxmlformats.org/drawingml/2006/main">
            <a:off x="640080" y="3566160"/>
            <a:ext cx="4663440" cy="68580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1" name="Shape 17">
            <a:extLst xmlns:a="http://schemas.openxmlformats.org/drawingml/2006/main">
              <a:ext uri="{FF2B5EF4-FFF2-40B4-BE49-F238E27FC236}">
                <a16:creationId xmlns:a16="http://schemas.microsoft.com/office/drawing/2014/main" id="{605C5A90-2A6D-4A7A-A1AF-354DD58627E7}"/>
              </a:ext>
            </a:extLst>
          </p:cNvPr>
          <p:cNvSpPr>
            <a:spLocks xmlns:a="http://schemas.openxmlformats.org/drawingml/2006/main" noGrp="1"/>
          </p:cNvSpPr>
          <p:nvPr/>
        </p:nvSpPr>
        <p:spPr>
          <a:xfrm xmlns:a="http://schemas.openxmlformats.org/drawingml/2006/main">
            <a:off x="640080" y="3566160"/>
            <a:ext cx="1371600" cy="68580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22" name="Text 18">
            <a:extLst xmlns:a="http://schemas.openxmlformats.org/drawingml/2006/main">
              <a:ext uri="{FF2B5EF4-FFF2-40B4-BE49-F238E27FC236}">
                <a16:creationId xmlns:a16="http://schemas.microsoft.com/office/drawing/2014/main" id="{A29F0D2B-A263-4205-9BAE-208D8D8EBA54}"/>
              </a:ext>
            </a:extLst>
          </p:cNvPr>
          <p:cNvSpPr>
            <a:spLocks xmlns:a="http://schemas.openxmlformats.org/drawingml/2006/main" noGrp="1"/>
          </p:cNvSpPr>
          <p:nvPr/>
        </p:nvSpPr>
        <p:spPr>
          <a:xfrm xmlns:a="http://schemas.openxmlformats.org/drawingml/2006/main">
            <a:off x="685800" y="3611880"/>
            <a:ext cx="12801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0B981"/>
                </a:solidFill>
                <a:latin typeface="Consolas"/>
                <a:ea typeface="Consolas"/>
                <a:cs typeface="Consolas"/>
              </a:rPr>
              <a:t>cd &lt;path&gt;</a:t>
            </a:r>
            <a:endParaRPr sz="1300"/>
          </a:p>
        </p:txBody>
      </p:sp>
      <p:sp>
        <p:nvSpPr>
          <p:cNvPr id="23" name="Text 19">
            <a:extLst xmlns:a="http://schemas.openxmlformats.org/drawingml/2006/main">
              <a:ext uri="{FF2B5EF4-FFF2-40B4-BE49-F238E27FC236}">
                <a16:creationId xmlns:a16="http://schemas.microsoft.com/office/drawing/2014/main" id="{1B95902A-1C4D-4F7C-A017-9CD1A18BA211}"/>
              </a:ext>
            </a:extLst>
          </p:cNvPr>
          <p:cNvSpPr>
            <a:spLocks xmlns:a="http://schemas.openxmlformats.org/drawingml/2006/main" noGrp="1"/>
          </p:cNvSpPr>
          <p:nvPr/>
        </p:nvSpPr>
        <p:spPr>
          <a:xfrm xmlns:a="http://schemas.openxmlformats.org/drawingml/2006/main">
            <a:off x="2103120" y="3611880"/>
            <a:ext cx="31089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93B"/>
                </a:solidFill>
                <a:latin typeface="Calibri"/>
                <a:ea typeface="Calibri"/>
                <a:cs typeface="Calibri"/>
              </a:rPr>
              <a:t>change directory (~/  home, ..  parent, -  previous)</a:t>
            </a:r>
            <a:endParaRPr sz="1000"/>
          </a:p>
        </p:txBody>
      </p:sp>
      <p:sp>
        <p:nvSpPr>
          <p:cNvPr id="24" name="Shape 20">
            <a:extLst xmlns:a="http://schemas.openxmlformats.org/drawingml/2006/main">
              <a:ext uri="{FF2B5EF4-FFF2-40B4-BE49-F238E27FC236}">
                <a16:creationId xmlns:a16="http://schemas.microsoft.com/office/drawing/2014/main" id="{C47CC1F7-5F7E-4F61-ACA8-F625765A4F7E}"/>
              </a:ext>
            </a:extLst>
          </p:cNvPr>
          <p:cNvSpPr>
            <a:spLocks xmlns:a="http://schemas.openxmlformats.org/drawingml/2006/main" noGrp="1"/>
          </p:cNvSpPr>
          <p:nvPr/>
        </p:nvSpPr>
        <p:spPr>
          <a:xfrm xmlns:a="http://schemas.openxmlformats.org/drawingml/2006/main">
            <a:off x="640080" y="4343400"/>
            <a:ext cx="4663440" cy="68580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5" name="Shape 21">
            <a:extLst xmlns:a="http://schemas.openxmlformats.org/drawingml/2006/main">
              <a:ext uri="{FF2B5EF4-FFF2-40B4-BE49-F238E27FC236}">
                <a16:creationId xmlns:a16="http://schemas.microsoft.com/office/drawing/2014/main" id="{DF40DB77-262D-4E06-98D8-004C18AA72D3}"/>
              </a:ext>
            </a:extLst>
          </p:cNvPr>
          <p:cNvSpPr>
            <a:spLocks xmlns:a="http://schemas.openxmlformats.org/drawingml/2006/main" noGrp="1"/>
          </p:cNvSpPr>
          <p:nvPr/>
        </p:nvSpPr>
        <p:spPr>
          <a:xfrm xmlns:a="http://schemas.openxmlformats.org/drawingml/2006/main">
            <a:off x="640080" y="4343400"/>
            <a:ext cx="1371600" cy="68580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26" name="Text 22">
            <a:extLst xmlns:a="http://schemas.openxmlformats.org/drawingml/2006/main">
              <a:ext uri="{FF2B5EF4-FFF2-40B4-BE49-F238E27FC236}">
                <a16:creationId xmlns:a16="http://schemas.microsoft.com/office/drawing/2014/main" id="{172F3AD2-D8F8-45BA-9A54-FCEB20B62886}"/>
              </a:ext>
            </a:extLst>
          </p:cNvPr>
          <p:cNvSpPr>
            <a:spLocks xmlns:a="http://schemas.openxmlformats.org/drawingml/2006/main" noGrp="1"/>
          </p:cNvSpPr>
          <p:nvPr/>
        </p:nvSpPr>
        <p:spPr>
          <a:xfrm xmlns:a="http://schemas.openxmlformats.org/drawingml/2006/main">
            <a:off x="685800" y="4389120"/>
            <a:ext cx="12801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0B981"/>
                </a:solidFill>
                <a:latin typeface="Consolas"/>
                <a:ea typeface="Consolas"/>
                <a:cs typeface="Consolas"/>
              </a:rPr>
              <a:t>tree</a:t>
            </a:r>
            <a:endParaRPr sz="1300"/>
          </a:p>
        </p:txBody>
      </p:sp>
      <p:sp>
        <p:nvSpPr>
          <p:cNvPr id="27" name="Text 23">
            <a:extLst xmlns:a="http://schemas.openxmlformats.org/drawingml/2006/main">
              <a:ext uri="{FF2B5EF4-FFF2-40B4-BE49-F238E27FC236}">
                <a16:creationId xmlns:a16="http://schemas.microsoft.com/office/drawing/2014/main" id="{672EAB5C-20E1-4641-8555-99BA6BA5920E}"/>
              </a:ext>
            </a:extLst>
          </p:cNvPr>
          <p:cNvSpPr>
            <a:spLocks xmlns:a="http://schemas.openxmlformats.org/drawingml/2006/main" noGrp="1"/>
          </p:cNvSpPr>
          <p:nvPr/>
        </p:nvSpPr>
        <p:spPr>
          <a:xfrm xmlns:a="http://schemas.openxmlformats.org/drawingml/2006/main">
            <a:off x="2103120" y="4389120"/>
            <a:ext cx="31089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93B"/>
                </a:solidFill>
                <a:latin typeface="Calibri"/>
                <a:ea typeface="Calibri"/>
                <a:cs typeface="Calibri"/>
              </a:rPr>
              <a:t>tampilkan hierarchy direktori secara visual</a:t>
            </a:r>
            <a:endParaRPr sz="1000"/>
          </a:p>
        </p:txBody>
      </p:sp>
      <p:sp>
        <p:nvSpPr>
          <p:cNvPr id="28" name="Shape 24">
            <a:extLst xmlns:a="http://schemas.openxmlformats.org/drawingml/2006/main">
              <a:ext uri="{FF2B5EF4-FFF2-40B4-BE49-F238E27FC236}">
                <a16:creationId xmlns:a16="http://schemas.microsoft.com/office/drawing/2014/main" id="{A869D4A6-BE8B-4412-924B-4FC1CF35104A}"/>
              </a:ext>
            </a:extLst>
          </p:cNvPr>
          <p:cNvSpPr>
            <a:spLocks xmlns:a="http://schemas.openxmlformats.org/drawingml/2006/main" noGrp="1"/>
          </p:cNvSpPr>
          <p:nvPr/>
        </p:nvSpPr>
        <p:spPr>
          <a:xfrm xmlns:a="http://schemas.openxmlformats.org/drawingml/2006/main">
            <a:off x="640080" y="5120640"/>
            <a:ext cx="4663440" cy="68580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9" name="Shape 25">
            <a:extLst xmlns:a="http://schemas.openxmlformats.org/drawingml/2006/main">
              <a:ext uri="{FF2B5EF4-FFF2-40B4-BE49-F238E27FC236}">
                <a16:creationId xmlns:a16="http://schemas.microsoft.com/office/drawing/2014/main" id="{435C4015-DF40-4C67-B781-025A1A4E88CE}"/>
              </a:ext>
            </a:extLst>
          </p:cNvPr>
          <p:cNvSpPr>
            <a:spLocks xmlns:a="http://schemas.openxmlformats.org/drawingml/2006/main" noGrp="1"/>
          </p:cNvSpPr>
          <p:nvPr/>
        </p:nvSpPr>
        <p:spPr>
          <a:xfrm xmlns:a="http://schemas.openxmlformats.org/drawingml/2006/main">
            <a:off x="640080" y="5120640"/>
            <a:ext cx="1371600" cy="68580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30" name="Text 26">
            <a:extLst xmlns:a="http://schemas.openxmlformats.org/drawingml/2006/main">
              <a:ext uri="{FF2B5EF4-FFF2-40B4-BE49-F238E27FC236}">
                <a16:creationId xmlns:a16="http://schemas.microsoft.com/office/drawing/2014/main" id="{F1B3737A-12D4-41AB-842B-89C4B0B7A9D9}"/>
              </a:ext>
            </a:extLst>
          </p:cNvPr>
          <p:cNvSpPr>
            <a:spLocks xmlns:a="http://schemas.openxmlformats.org/drawingml/2006/main" noGrp="1"/>
          </p:cNvSpPr>
          <p:nvPr/>
        </p:nvSpPr>
        <p:spPr>
          <a:xfrm xmlns:a="http://schemas.openxmlformats.org/drawingml/2006/main">
            <a:off x="685800" y="5166360"/>
            <a:ext cx="12801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0B981"/>
                </a:solidFill>
                <a:latin typeface="Consolas"/>
                <a:ea typeface="Consolas"/>
                <a:cs typeface="Consolas"/>
              </a:rPr>
              <a:t>find &lt;path&gt;</a:t>
            </a:r>
            <a:endParaRPr sz="1300"/>
          </a:p>
        </p:txBody>
      </p:sp>
      <p:sp>
        <p:nvSpPr>
          <p:cNvPr id="31" name="Text 27">
            <a:extLst xmlns:a="http://schemas.openxmlformats.org/drawingml/2006/main">
              <a:ext uri="{FF2B5EF4-FFF2-40B4-BE49-F238E27FC236}">
                <a16:creationId xmlns:a16="http://schemas.microsoft.com/office/drawing/2014/main" id="{D4B8D600-549C-4737-864D-58E6EE559156}"/>
              </a:ext>
            </a:extLst>
          </p:cNvPr>
          <p:cNvSpPr>
            <a:spLocks xmlns:a="http://schemas.openxmlformats.org/drawingml/2006/main" noGrp="1"/>
          </p:cNvSpPr>
          <p:nvPr/>
        </p:nvSpPr>
        <p:spPr>
          <a:xfrm xmlns:a="http://schemas.openxmlformats.org/drawingml/2006/main">
            <a:off x="2103120" y="5166360"/>
            <a:ext cx="31089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93B"/>
                </a:solidFill>
                <a:latin typeface="Calibri"/>
                <a:ea typeface="Calibri"/>
                <a:cs typeface="Calibri"/>
              </a:rPr>
              <a:t>cari file: find . -name '*.log'</a:t>
            </a:r>
            <a:endParaRPr sz="1000"/>
          </a:p>
        </p:txBody>
      </p:sp>
      <p:sp>
        <p:nvSpPr>
          <p:cNvPr id="32" name="Shape 28">
            <a:extLst xmlns:a="http://schemas.openxmlformats.org/drawingml/2006/main">
              <a:ext uri="{FF2B5EF4-FFF2-40B4-BE49-F238E27FC236}">
                <a16:creationId xmlns:a16="http://schemas.microsoft.com/office/drawing/2014/main" id="{100250F1-A7BD-4074-B8A8-47B75803BF63}"/>
              </a:ext>
            </a:extLst>
          </p:cNvPr>
          <p:cNvSpPr>
            <a:spLocks xmlns:a="http://schemas.openxmlformats.org/drawingml/2006/main" noGrp="1"/>
          </p:cNvSpPr>
          <p:nvPr/>
        </p:nvSpPr>
        <p:spPr>
          <a:xfrm xmlns:a="http://schemas.openxmlformats.org/drawingml/2006/main">
            <a:off x="5760720" y="1417320"/>
            <a:ext cx="5943600" cy="475488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33" name="Shape 29">
            <a:extLst xmlns:a="http://schemas.openxmlformats.org/drawingml/2006/main">
              <a:ext uri="{FF2B5EF4-FFF2-40B4-BE49-F238E27FC236}">
                <a16:creationId xmlns:a16="http://schemas.microsoft.com/office/drawing/2014/main" id="{B95E91AA-865C-4052-B605-E5191F7DE81A}"/>
              </a:ext>
            </a:extLst>
          </p:cNvPr>
          <p:cNvSpPr>
            <a:spLocks xmlns:a="http://schemas.openxmlformats.org/drawingml/2006/main" noGrp="1"/>
          </p:cNvSpPr>
          <p:nvPr/>
        </p:nvSpPr>
        <p:spPr>
          <a:xfrm xmlns:a="http://schemas.openxmlformats.org/drawingml/2006/main">
            <a:off x="5760720" y="1417320"/>
            <a:ext cx="594360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34" name="Shape 30">
            <a:extLst xmlns:a="http://schemas.openxmlformats.org/drawingml/2006/main">
              <a:ext uri="{FF2B5EF4-FFF2-40B4-BE49-F238E27FC236}">
                <a16:creationId xmlns:a16="http://schemas.microsoft.com/office/drawing/2014/main" id="{394E5E5C-DFC8-4380-89E6-E82C0FFB3C3F}"/>
              </a:ext>
            </a:extLst>
          </p:cNvPr>
          <p:cNvSpPr>
            <a:spLocks xmlns:a="http://schemas.openxmlformats.org/drawingml/2006/main" noGrp="1"/>
          </p:cNvSpPr>
          <p:nvPr/>
        </p:nvSpPr>
        <p:spPr>
          <a:xfrm xmlns:a="http://schemas.openxmlformats.org/drawingml/2006/main">
            <a:off x="5852160" y="149961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35" name="Shape 31">
            <a:extLst xmlns:a="http://schemas.openxmlformats.org/drawingml/2006/main">
              <a:ext uri="{FF2B5EF4-FFF2-40B4-BE49-F238E27FC236}">
                <a16:creationId xmlns:a16="http://schemas.microsoft.com/office/drawing/2014/main" id="{14C33B1D-261B-483A-9838-383C52D93432}"/>
              </a:ext>
            </a:extLst>
          </p:cNvPr>
          <p:cNvSpPr>
            <a:spLocks xmlns:a="http://schemas.openxmlformats.org/drawingml/2006/main" noGrp="1"/>
          </p:cNvSpPr>
          <p:nvPr/>
        </p:nvSpPr>
        <p:spPr>
          <a:xfrm xmlns:a="http://schemas.openxmlformats.org/drawingml/2006/main">
            <a:off x="5989320" y="149961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36" name="Shape 32">
            <a:extLst xmlns:a="http://schemas.openxmlformats.org/drawingml/2006/main">
              <a:ext uri="{FF2B5EF4-FFF2-40B4-BE49-F238E27FC236}">
                <a16:creationId xmlns:a16="http://schemas.microsoft.com/office/drawing/2014/main" id="{E54BEBD0-51B5-49AA-A6D1-867A4C4141B1}"/>
              </a:ext>
            </a:extLst>
          </p:cNvPr>
          <p:cNvSpPr>
            <a:spLocks xmlns:a="http://schemas.openxmlformats.org/drawingml/2006/main" noGrp="1"/>
          </p:cNvSpPr>
          <p:nvPr/>
        </p:nvSpPr>
        <p:spPr>
          <a:xfrm xmlns:a="http://schemas.openxmlformats.org/drawingml/2006/main">
            <a:off x="6126480" y="149961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37" name="Text 33">
            <a:extLst xmlns:a="http://schemas.openxmlformats.org/drawingml/2006/main">
              <a:ext uri="{FF2B5EF4-FFF2-40B4-BE49-F238E27FC236}">
                <a16:creationId xmlns:a16="http://schemas.microsoft.com/office/drawing/2014/main" id="{8591296E-8565-499A-B9CF-E0569C62B987}"/>
              </a:ext>
            </a:extLst>
          </p:cNvPr>
          <p:cNvSpPr>
            <a:spLocks xmlns:a="http://schemas.openxmlformats.org/drawingml/2006/main" noGrp="1"/>
          </p:cNvSpPr>
          <p:nvPr/>
        </p:nvSpPr>
        <p:spPr>
          <a:xfrm xmlns:a="http://schemas.openxmlformats.org/drawingml/2006/main">
            <a:off x="6309360" y="1417320"/>
            <a:ext cx="52120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budi@cloud-vm: ~</a:t>
            </a:r>
            <a:endParaRPr sz="900"/>
          </a:p>
        </p:txBody>
      </p:sp>
      <p:sp>
        <p:nvSpPr>
          <p:cNvPr id="38" name="Text 34">
            <a:extLst xmlns:a="http://schemas.openxmlformats.org/drawingml/2006/main">
              <a:ext uri="{FF2B5EF4-FFF2-40B4-BE49-F238E27FC236}">
                <a16:creationId xmlns:a16="http://schemas.microsoft.com/office/drawing/2014/main" id="{0676A31C-AC12-4B02-9523-659AC9623224}"/>
              </a:ext>
            </a:extLst>
          </p:cNvPr>
          <p:cNvSpPr>
            <a:spLocks xmlns:a="http://schemas.openxmlformats.org/drawingml/2006/main" noGrp="1"/>
          </p:cNvSpPr>
          <p:nvPr/>
        </p:nvSpPr>
        <p:spPr>
          <a:xfrm xmlns:a="http://schemas.openxmlformats.org/drawingml/2006/main">
            <a:off x="5897880" y="1783080"/>
            <a:ext cx="5669280" cy="4297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pwd</a:t>
            </a:r>
            <a:endParaRPr sz="1100"/>
          </a:p>
          <a:p xmlns:a="http://schemas.openxmlformats.org/drawingml/2006/main">
            <a:pPr marL="0" indent="0">
              <a:spcAft>
                <a:spcPts val="200"/>
              </a:spcAft>
              <a:buNone/>
            </a:pPr>
            <a:r>
              <a:rPr sz="1100">
                <a:solidFill>
                  <a:srgbClr val="94A3B8"/>
                </a:solidFill>
                <a:latin typeface="Consolas"/>
                <a:ea typeface="Consolas"/>
                <a:cs typeface="Consolas"/>
              </a:rPr>
              <a:t>/home/budi</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ls -lh</a:t>
            </a:r>
            <a:endParaRPr sz="1100"/>
          </a:p>
          <a:p xmlns:a="http://schemas.openxmlformats.org/drawingml/2006/main">
            <a:pPr marL="0" indent="0">
              <a:spcAft>
                <a:spcPts val="200"/>
              </a:spcAft>
              <a:buNone/>
            </a:pPr>
            <a:r>
              <a:rPr sz="1100">
                <a:solidFill>
                  <a:srgbClr val="94A3B8"/>
                </a:solidFill>
                <a:latin typeface="Consolas"/>
                <a:ea typeface="Consolas"/>
                <a:cs typeface="Consolas"/>
              </a:rPr>
              <a:t>total 24K</a:t>
            </a:r>
            <a:endParaRPr sz="1100"/>
          </a:p>
          <a:p xmlns:a="http://schemas.openxmlformats.org/drawingml/2006/main">
            <a:pPr marL="0" indent="0">
              <a:spcAft>
                <a:spcPts val="200"/>
              </a:spcAft>
              <a:buNone/>
            </a:pPr>
            <a:r>
              <a:rPr sz="1100">
                <a:solidFill>
                  <a:srgbClr val="94A3B8"/>
                </a:solidFill>
                <a:latin typeface="Consolas"/>
                <a:ea typeface="Consolas"/>
                <a:cs typeface="Consolas"/>
              </a:rPr>
              <a:t>drwxr-xr-x  3 budi budi 4.0K Mar 12 09:14 </a:t>
            </a:r>
            <a:endParaRPr sz="1100"/>
          </a:p>
          <a:p xmlns:a="http://schemas.openxmlformats.org/drawingml/2006/main">
            <a:pPr marL="0" indent="0">
              <a:spcAft>
                <a:spcPts val="200"/>
              </a:spcAft>
              <a:buNone/>
            </a:pPr>
            <a:r>
              <a:rPr sz="1100">
                <a:solidFill>
                  <a:srgbClr val="F37021"/>
                </a:solidFill>
                <a:latin typeface="Consolas"/>
                <a:ea typeface="Consolas"/>
                <a:cs typeface="Consolas"/>
              </a:rPr>
              <a:t>projects/</a:t>
            </a:r>
            <a:endParaRPr sz="1100"/>
          </a:p>
          <a:p xmlns:a="http://schemas.openxmlformats.org/drawingml/2006/main">
            <a:pPr marL="0" indent="0">
              <a:spcAft>
                <a:spcPts val="200"/>
              </a:spcAft>
              <a:buNone/>
            </a:pPr>
            <a:r>
              <a:rPr sz="1100">
                <a:solidFill>
                  <a:srgbClr val="94A3B8"/>
                </a:solidFill>
                <a:latin typeface="Consolas"/>
                <a:ea typeface="Consolas"/>
                <a:cs typeface="Consolas"/>
              </a:rPr>
              <a:t>-rw-r--r--  1 budi budi  220 Mar 12 09:12 .bashrc</a:t>
            </a:r>
            <a:endParaRPr sz="1100"/>
          </a:p>
          <a:p xmlns:a="http://schemas.openxmlformats.org/drawingml/2006/main">
            <a:pPr marL="0" indent="0">
              <a:spcAft>
                <a:spcPts val="200"/>
              </a:spcAft>
              <a:buNone/>
            </a:pPr>
            <a:r>
              <a:rPr sz="1100">
                <a:solidFill>
                  <a:srgbClr val="94A3B8"/>
                </a:solidFill>
                <a:latin typeface="Consolas"/>
                <a:ea typeface="Consolas"/>
                <a:cs typeface="Consolas"/>
              </a:rPr>
              <a:t>-rw-r--r--  1 budi budi  18K Mar 12 09:12 notes.md</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cd projects/cloud-services</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pwd</a:t>
            </a:r>
            <a:endParaRPr sz="1100"/>
          </a:p>
          <a:p xmlns:a="http://schemas.openxmlformats.org/drawingml/2006/main">
            <a:pPr marL="0" indent="0">
              <a:spcAft>
                <a:spcPts val="200"/>
              </a:spcAft>
              <a:buNone/>
            </a:pPr>
            <a:r>
              <a:rPr sz="1100">
                <a:solidFill>
                  <a:srgbClr val="94A3B8"/>
                </a:solidFill>
                <a:latin typeface="Consolas"/>
                <a:ea typeface="Consolas"/>
                <a:cs typeface="Consolas"/>
              </a:rPr>
              <a:t>/home/budi/projects/cloud-services</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cd ~                    </a:t>
            </a:r>
            <a:r>
              <a:rPr sz="1100">
                <a:solidFill>
                  <a:srgbClr val="94A3B8"/>
                </a:solidFill>
                <a:latin typeface="Consolas"/>
                <a:ea typeface="Consolas"/>
                <a:cs typeface="Consolas"/>
              </a:rPr>
              <a:t># kembali ke home</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cd -                    </a:t>
            </a:r>
            <a:r>
              <a:rPr sz="1100">
                <a:solidFill>
                  <a:srgbClr val="94A3B8"/>
                </a:solidFill>
                <a:latin typeface="Consolas"/>
                <a:ea typeface="Consolas"/>
                <a:cs typeface="Consolas"/>
              </a:rPr>
              <a:t># kembali ke direktori sebelumnya</a:t>
            </a:r>
            <a:endParaRPr sz="1100"/>
          </a:p>
        </p:txBody>
      </p:sp>
      <p:sp>
        <p:nvSpPr>
          <p:cNvPr id="39" name="Text 35">
            <a:extLst xmlns:a="http://schemas.openxmlformats.org/drawingml/2006/main">
              <a:ext uri="{FF2B5EF4-FFF2-40B4-BE49-F238E27FC236}">
                <a16:creationId xmlns:a16="http://schemas.microsoft.com/office/drawing/2014/main" id="{FC0ECAE8-6DDA-43DA-8218-F565D109520B}"/>
              </a:ext>
            </a:extLst>
          </p:cNvPr>
          <p:cNvSpPr>
            <a:spLocks xmlns:a="http://schemas.openxmlformats.org/drawingml/2006/main" noGrp="1"/>
          </p:cNvSpPr>
          <p:nvPr/>
        </p:nvSpPr>
        <p:spPr>
          <a:xfrm xmlns:a="http://schemas.openxmlformats.org/drawingml/2006/main">
            <a:off x="457200" y="626364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i="1">
                <a:solidFill>
                  <a:srgbClr val="F37021"/>
                </a:solidFill>
                <a:latin typeface="Calibri"/>
                <a:ea typeface="Calibri"/>
                <a:cs typeface="Calibri"/>
              </a:rPr>
              <a:t>Tip:  </a:t>
            </a:r>
            <a:r>
              <a:rPr sz="1100" i="1">
                <a:solidFill>
                  <a:srgbClr val="1E293B"/>
                </a:solidFill>
                <a:latin typeface="Calibri"/>
                <a:ea typeface="Calibri"/>
                <a:cs typeface="Calibri"/>
              </a:rPr>
              <a:t>Tekan TAB untuk auto-complete path, panah atas untuk recall command sebelumnya. Ctrl+R untuk reverse search history.</a:t>
            </a:r>
            <a:endParaRPr sz="1100"/>
          </a:p>
        </p:txBody>
      </p:sp>
    </p:spTree>
    <p:extLst>
      <p:ext uri="{BB962C8B-B14F-4D97-AF65-F5344CB8AC3E}">
        <p14:creationId xmlns:p14="http://schemas.microsoft.com/office/powerpoint/2010/main" val="12067304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8FD8DAF-CEB2-41B1-97FE-62C95AFF2FA6}"/>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2</a:t>
            </a:r>
            <a:endParaRPr sz="900"/>
          </a:p>
        </p:txBody>
      </p:sp>
      <p:sp>
        <p:nvSpPr>
          <p:cNvPr id="3" name="Text 1">
            <a:extLst xmlns:a="http://schemas.openxmlformats.org/drawingml/2006/main">
              <a:ext uri="{FF2B5EF4-FFF2-40B4-BE49-F238E27FC236}">
                <a16:creationId xmlns:a16="http://schemas.microsoft.com/office/drawing/2014/main" id="{72BB496D-1CD0-468C-BDF4-793FD1EB4667}"/>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10</a:t>
            </a:r>
            <a:endParaRPr sz="900"/>
          </a:p>
        </p:txBody>
      </p:sp>
      <p:sp>
        <p:nvSpPr>
          <p:cNvPr id="4" name="Shape 2">
            <a:extLst xmlns:a="http://schemas.openxmlformats.org/drawingml/2006/main">
              <a:ext uri="{FF2B5EF4-FFF2-40B4-BE49-F238E27FC236}">
                <a16:creationId xmlns:a16="http://schemas.microsoft.com/office/drawing/2014/main" id="{E2D749D7-4277-4A8F-9861-216DC28578EF}"/>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b973d886d57744b0"/>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p:cNvPicPr>
            <a:picLocks xmlns:a="http://schemas.openxmlformats.org/drawingml/2006/main" noChangeAspect="1"/>
          </p:cNvPicPr>
          <p:nvPr/>
        </p:nvPicPr>
        <p:blipFill>
          <a:blip xmlns:r="http://schemas.openxmlformats.org/officeDocument/2006/relationships" xmlns:a="http://schemas.openxmlformats.org/drawingml/2006/main" r:embed="R341f6e775ef741e5"/>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A757E3A0-99F0-48DC-9C9C-F69288AAA267}"/>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990EE735-72BE-4D37-8896-53CF8CEC8092}"/>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Absolute vs Relative Path</a:t>
            </a:r>
            <a:endParaRPr sz="2200"/>
          </a:p>
        </p:txBody>
      </p:sp>
      <p:sp>
        <p:nvSpPr>
          <p:cNvPr id="9" name="Text 5">
            <a:extLst xmlns:a="http://schemas.openxmlformats.org/drawingml/2006/main">
              <a:ext uri="{FF2B5EF4-FFF2-40B4-BE49-F238E27FC236}">
                <a16:creationId xmlns:a16="http://schemas.microsoft.com/office/drawing/2014/main" id="{7EBCAA9C-4FD4-40CE-B79A-54B89D8FE4D0}"/>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Dua cara menyebut lokasi file</a:t>
            </a:r>
            <a:endParaRPr sz="1200"/>
          </a:p>
        </p:txBody>
      </p:sp>
      <p:sp>
        <p:nvSpPr>
          <p:cNvPr id="10" name="Shape 6">
            <a:extLst xmlns:a="http://schemas.openxmlformats.org/drawingml/2006/main">
              <a:ext uri="{FF2B5EF4-FFF2-40B4-BE49-F238E27FC236}">
                <a16:creationId xmlns:a16="http://schemas.microsoft.com/office/drawing/2014/main" id="{7396A8B2-D4EB-414E-A033-6FE30898C746}"/>
              </a:ext>
            </a:extLst>
          </p:cNvPr>
          <p:cNvSpPr>
            <a:spLocks xmlns:a="http://schemas.openxmlformats.org/drawingml/2006/main" noGrp="1"/>
          </p:cNvSpPr>
          <p:nvPr/>
        </p:nvSpPr>
        <p:spPr>
          <a:xfrm xmlns:a="http://schemas.openxmlformats.org/drawingml/2006/main">
            <a:off x="457200" y="1417320"/>
            <a:ext cx="557784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288D03DA-63A5-452D-A503-69C50D196B99}"/>
              </a:ext>
            </a:extLst>
          </p:cNvPr>
          <p:cNvSpPr>
            <a:spLocks xmlns:a="http://schemas.openxmlformats.org/drawingml/2006/main" noGrp="1"/>
          </p:cNvSpPr>
          <p:nvPr/>
        </p:nvSpPr>
        <p:spPr>
          <a:xfrm xmlns:a="http://schemas.openxmlformats.org/drawingml/2006/main">
            <a:off x="457200" y="1417320"/>
            <a:ext cx="5577840" cy="64008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2" name="Text 8">
            <a:extLst xmlns:a="http://schemas.openxmlformats.org/drawingml/2006/main">
              <a:ext uri="{FF2B5EF4-FFF2-40B4-BE49-F238E27FC236}">
                <a16:creationId xmlns:a16="http://schemas.microsoft.com/office/drawing/2014/main" id="{A194CF01-48D8-421D-A04F-84932895996E}"/>
              </a:ext>
            </a:extLst>
          </p:cNvPr>
          <p:cNvSpPr>
            <a:spLocks xmlns:a="http://schemas.openxmlformats.org/drawingml/2006/main" noGrp="1"/>
          </p:cNvSpPr>
          <p:nvPr/>
        </p:nvSpPr>
        <p:spPr>
          <a:xfrm xmlns:a="http://schemas.openxmlformats.org/drawingml/2006/main">
            <a:off x="457200" y="1417320"/>
            <a:ext cx="55778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spc="300">
                <a:solidFill>
                  <a:srgbClr val="FFFFFF"/>
                </a:solidFill>
                <a:latin typeface="Calibri"/>
                <a:ea typeface="Calibri"/>
                <a:cs typeface="Calibri"/>
              </a:rPr>
              <a:t>ABSOLUTE PATH</a:t>
            </a:r>
            <a:endParaRPr sz="1800"/>
          </a:p>
        </p:txBody>
      </p:sp>
      <p:sp>
        <p:nvSpPr>
          <p:cNvPr id="13" name="Text 9">
            <a:extLst xmlns:a="http://schemas.openxmlformats.org/drawingml/2006/main">
              <a:ext uri="{FF2B5EF4-FFF2-40B4-BE49-F238E27FC236}">
                <a16:creationId xmlns:a16="http://schemas.microsoft.com/office/drawing/2014/main" id="{B00C1A82-6C4A-44B5-8AF2-6988013A4E2D}"/>
              </a:ext>
            </a:extLst>
          </p:cNvPr>
          <p:cNvSpPr>
            <a:spLocks xmlns:a="http://schemas.openxmlformats.org/drawingml/2006/main" noGrp="1"/>
          </p:cNvSpPr>
          <p:nvPr/>
        </p:nvSpPr>
        <p:spPr>
          <a:xfrm xmlns:a="http://schemas.openxmlformats.org/drawingml/2006/main">
            <a:off x="640080" y="2194560"/>
            <a:ext cx="521208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1E293B"/>
                </a:solidFill>
                <a:latin typeface="Calibri"/>
                <a:ea typeface="Calibri"/>
                <a:cs typeface="Calibri"/>
              </a:rPr>
              <a:t>Dimulai dari root /. Selalu lengkap, di mana pun Anda berada.</a:t>
            </a:r>
            <a:endParaRPr sz="1200"/>
          </a:p>
        </p:txBody>
      </p:sp>
      <p:sp>
        <p:nvSpPr>
          <p:cNvPr id="14" name="Text 10">
            <a:extLst xmlns:a="http://schemas.openxmlformats.org/drawingml/2006/main">
              <a:ext uri="{FF2B5EF4-FFF2-40B4-BE49-F238E27FC236}">
                <a16:creationId xmlns:a16="http://schemas.microsoft.com/office/drawing/2014/main" id="{84CEF944-ED75-428A-8E16-B6C6E495D082}"/>
              </a:ext>
            </a:extLst>
          </p:cNvPr>
          <p:cNvSpPr>
            <a:spLocks xmlns:a="http://schemas.openxmlformats.org/drawingml/2006/main" noGrp="1"/>
          </p:cNvSpPr>
          <p:nvPr/>
        </p:nvSpPr>
        <p:spPr>
          <a:xfrm xmlns:a="http://schemas.openxmlformats.org/drawingml/2006/main">
            <a:off x="640080" y="2788920"/>
            <a:ext cx="5212080" cy="1371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spcAft>
                <a:spcPts val="400"/>
              </a:spcAft>
              <a:buNone/>
            </a:pPr>
            <a:r>
              <a:rPr sz="1400" b="1">
                <a:solidFill>
                  <a:srgbClr val="F37021"/>
                </a:solidFill>
                <a:latin typeface="Consolas"/>
                <a:ea typeface="Consolas"/>
                <a:cs typeface="Consolas"/>
              </a:rPr>
              <a:t>/home/budi/projects/app.py</a:t>
            </a:r>
            <a:endParaRPr sz="1400"/>
          </a:p>
          <a:p xmlns:a="http://schemas.openxmlformats.org/drawingml/2006/main">
            <a:pPr marL="0" indent="0">
              <a:spcAft>
                <a:spcPts val="400"/>
              </a:spcAft>
              <a:buNone/>
            </a:pPr>
            <a:r>
              <a:rPr sz="1400" b="1">
                <a:solidFill>
                  <a:srgbClr val="F37021"/>
                </a:solidFill>
                <a:latin typeface="Consolas"/>
                <a:ea typeface="Consolas"/>
                <a:cs typeface="Consolas"/>
              </a:rPr>
              <a:t>/etc/nginx/nginx.conf</a:t>
            </a:r>
            <a:endParaRPr sz="1400"/>
          </a:p>
          <a:p xmlns:a="http://schemas.openxmlformats.org/drawingml/2006/main">
            <a:pPr marL="0" indent="0">
              <a:spcAft>
                <a:spcPts val="400"/>
              </a:spcAft>
              <a:buNone/>
            </a:pPr>
            <a:r>
              <a:rPr sz="1400" b="1">
                <a:solidFill>
                  <a:srgbClr val="F37021"/>
                </a:solidFill>
                <a:latin typeface="Consolas"/>
                <a:ea typeface="Consolas"/>
                <a:cs typeface="Consolas"/>
              </a:rPr>
              <a:t>/var/log/syslog</a:t>
            </a:r>
            <a:endParaRPr sz="1400"/>
          </a:p>
        </p:txBody>
      </p:sp>
      <p:sp>
        <p:nvSpPr>
          <p:cNvPr id="15" name="Text 11">
            <a:extLst xmlns:a="http://schemas.openxmlformats.org/drawingml/2006/main">
              <a:ext uri="{FF2B5EF4-FFF2-40B4-BE49-F238E27FC236}">
                <a16:creationId xmlns:a16="http://schemas.microsoft.com/office/drawing/2014/main" id="{E5422887-3CE6-4466-A1B9-D084D2B64BF8}"/>
              </a:ext>
            </a:extLst>
          </p:cNvPr>
          <p:cNvSpPr>
            <a:spLocks xmlns:a="http://schemas.openxmlformats.org/drawingml/2006/main" noGrp="1"/>
          </p:cNvSpPr>
          <p:nvPr/>
        </p:nvSpPr>
        <p:spPr>
          <a:xfrm xmlns:a="http://schemas.openxmlformats.org/drawingml/2006/main">
            <a:off x="640080" y="4297680"/>
            <a:ext cx="5212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64748B"/>
                </a:solidFill>
                <a:latin typeface="Calibri"/>
                <a:ea typeface="Calibri"/>
                <a:cs typeface="Calibri"/>
              </a:rPr>
              <a:t>Kapan dipakai:</a:t>
            </a:r>
            <a:endParaRPr sz="1200"/>
          </a:p>
        </p:txBody>
      </p:sp>
      <p:sp>
        <p:nvSpPr>
          <p:cNvPr id="16" name="Text 12">
            <a:extLst xmlns:a="http://schemas.openxmlformats.org/drawingml/2006/main">
              <a:ext uri="{FF2B5EF4-FFF2-40B4-BE49-F238E27FC236}">
                <a16:creationId xmlns:a16="http://schemas.microsoft.com/office/drawing/2014/main" id="{C62CF9C9-81DB-46BE-82FB-9F90467AD26F}"/>
              </a:ext>
            </a:extLst>
          </p:cNvPr>
          <p:cNvSpPr>
            <a:spLocks xmlns:a="http://schemas.openxmlformats.org/drawingml/2006/main" noGrp="1"/>
          </p:cNvSpPr>
          <p:nvPr/>
        </p:nvSpPr>
        <p:spPr>
          <a:xfrm xmlns:a="http://schemas.openxmlformats.org/drawingml/2006/main">
            <a:off x="777240" y="4572000"/>
            <a:ext cx="5029200" cy="1463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300"/>
              </a:spcAft>
              <a:buSzPct val="100000"/>
              <a:buChar char="▸"/>
            </a:pPr>
            <a:r>
              <a:rPr sz="1100">
                <a:solidFill>
                  <a:srgbClr val="1E293B"/>
                </a:solidFill>
                <a:latin typeface="Calibri"/>
                <a:ea typeface="Calibri"/>
                <a:cs typeface="Calibri"/>
              </a:rPr>
              <a:t>Script otomasi (cron) - tidak tahu cwd</a:t>
            </a:r>
            <a:endParaRPr sz="1100"/>
          </a:p>
          <a:p xmlns:a="http://schemas.openxmlformats.org/drawingml/2006/main">
            <a:pPr marL="342900" indent="-342900">
              <a:spcAft>
                <a:spcPts val="300"/>
              </a:spcAft>
              <a:buSzPct val="100000"/>
              <a:buChar char="▸"/>
            </a:pPr>
            <a:r>
              <a:rPr sz="1100">
                <a:solidFill>
                  <a:srgbClr val="1E293B"/>
                </a:solidFill>
                <a:latin typeface="Calibri"/>
                <a:ea typeface="Calibri"/>
                <a:cs typeface="Calibri"/>
              </a:rPr>
              <a:t>Reference config file di docs</a:t>
            </a:r>
            <a:endParaRPr sz="1100"/>
          </a:p>
          <a:p xmlns:a="http://schemas.openxmlformats.org/drawingml/2006/main">
            <a:pPr marL="342900" indent="-342900">
              <a:spcAft>
                <a:spcPts val="300"/>
              </a:spcAft>
              <a:buSzPct val="100000"/>
              <a:buChar char="▸"/>
            </a:pPr>
            <a:r>
              <a:rPr sz="1100">
                <a:solidFill>
                  <a:srgbClr val="1E293B"/>
                </a:solidFill>
                <a:latin typeface="Calibri"/>
                <a:ea typeface="Calibri"/>
                <a:cs typeface="Calibri"/>
              </a:rPr>
              <a:t>SSH/SCP target eksplisit</a:t>
            </a:r>
            <a:endParaRPr sz="1100"/>
          </a:p>
        </p:txBody>
      </p:sp>
      <p:sp>
        <p:nvSpPr>
          <p:cNvPr id="17" name="Shape 13">
            <a:extLst xmlns:a="http://schemas.openxmlformats.org/drawingml/2006/main">
              <a:ext uri="{FF2B5EF4-FFF2-40B4-BE49-F238E27FC236}">
                <a16:creationId xmlns:a16="http://schemas.microsoft.com/office/drawing/2014/main" id="{C7D779E1-6A1E-42B4-98F2-F9E7E4D49AAB}"/>
              </a:ext>
            </a:extLst>
          </p:cNvPr>
          <p:cNvSpPr>
            <a:spLocks xmlns:a="http://schemas.openxmlformats.org/drawingml/2006/main" noGrp="1"/>
          </p:cNvSpPr>
          <p:nvPr/>
        </p:nvSpPr>
        <p:spPr>
          <a:xfrm xmlns:a="http://schemas.openxmlformats.org/drawingml/2006/main">
            <a:off x="6217920" y="1417320"/>
            <a:ext cx="548640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8" name="Shape 14">
            <a:extLst xmlns:a="http://schemas.openxmlformats.org/drawingml/2006/main">
              <a:ext uri="{FF2B5EF4-FFF2-40B4-BE49-F238E27FC236}">
                <a16:creationId xmlns:a16="http://schemas.microsoft.com/office/drawing/2014/main" id="{6E8AFF31-A70D-4187-8F5C-406ED2C782D8}"/>
              </a:ext>
            </a:extLst>
          </p:cNvPr>
          <p:cNvSpPr>
            <a:spLocks xmlns:a="http://schemas.openxmlformats.org/drawingml/2006/main" noGrp="1"/>
          </p:cNvSpPr>
          <p:nvPr/>
        </p:nvSpPr>
        <p:spPr>
          <a:xfrm xmlns:a="http://schemas.openxmlformats.org/drawingml/2006/main">
            <a:off x="6217920" y="1417320"/>
            <a:ext cx="5486400" cy="64008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9" name="Text 15">
            <a:extLst xmlns:a="http://schemas.openxmlformats.org/drawingml/2006/main">
              <a:ext uri="{FF2B5EF4-FFF2-40B4-BE49-F238E27FC236}">
                <a16:creationId xmlns:a16="http://schemas.microsoft.com/office/drawing/2014/main" id="{F0088BAA-887D-41C1-925B-7F0B4FF35F96}"/>
              </a:ext>
            </a:extLst>
          </p:cNvPr>
          <p:cNvSpPr>
            <a:spLocks xmlns:a="http://schemas.openxmlformats.org/drawingml/2006/main" noGrp="1"/>
          </p:cNvSpPr>
          <p:nvPr/>
        </p:nvSpPr>
        <p:spPr>
          <a:xfrm xmlns:a="http://schemas.openxmlformats.org/drawingml/2006/main">
            <a:off x="6217920" y="1417320"/>
            <a:ext cx="54864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spc="300">
                <a:solidFill>
                  <a:srgbClr val="FFFFFF"/>
                </a:solidFill>
                <a:latin typeface="Calibri"/>
                <a:ea typeface="Calibri"/>
                <a:cs typeface="Calibri"/>
              </a:rPr>
              <a:t>RELATIVE PATH</a:t>
            </a:r>
            <a:endParaRPr sz="1800"/>
          </a:p>
        </p:txBody>
      </p:sp>
      <p:sp>
        <p:nvSpPr>
          <p:cNvPr id="20" name="Text 16">
            <a:extLst xmlns:a="http://schemas.openxmlformats.org/drawingml/2006/main">
              <a:ext uri="{FF2B5EF4-FFF2-40B4-BE49-F238E27FC236}">
                <a16:creationId xmlns:a16="http://schemas.microsoft.com/office/drawing/2014/main" id="{AFB4A02E-95FD-438E-A399-DF360F63F6B6}"/>
              </a:ext>
            </a:extLst>
          </p:cNvPr>
          <p:cNvSpPr>
            <a:spLocks xmlns:a="http://schemas.openxmlformats.org/drawingml/2006/main" noGrp="1"/>
          </p:cNvSpPr>
          <p:nvPr/>
        </p:nvSpPr>
        <p:spPr>
          <a:xfrm xmlns:a="http://schemas.openxmlformats.org/drawingml/2006/main">
            <a:off x="6400800" y="2194560"/>
            <a:ext cx="512064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1E293B"/>
                </a:solidFill>
                <a:latin typeface="Calibri"/>
                <a:ea typeface="Calibri"/>
                <a:cs typeface="Calibri"/>
              </a:rPr>
              <a:t>Relatif terhadap current working directory (pwd). Lebih pendek.</a:t>
            </a:r>
            <a:endParaRPr sz="1200"/>
          </a:p>
        </p:txBody>
      </p:sp>
      <p:sp>
        <p:nvSpPr>
          <p:cNvPr id="21" name="Text 17">
            <a:extLst xmlns:a="http://schemas.openxmlformats.org/drawingml/2006/main">
              <a:ext uri="{FF2B5EF4-FFF2-40B4-BE49-F238E27FC236}">
                <a16:creationId xmlns:a16="http://schemas.microsoft.com/office/drawing/2014/main" id="{E3EDAA49-2827-4B29-B240-B5D8B2BA432A}"/>
              </a:ext>
            </a:extLst>
          </p:cNvPr>
          <p:cNvSpPr>
            <a:spLocks xmlns:a="http://schemas.openxmlformats.org/drawingml/2006/main" noGrp="1"/>
          </p:cNvSpPr>
          <p:nvPr/>
        </p:nvSpPr>
        <p:spPr>
          <a:xfrm xmlns:a="http://schemas.openxmlformats.org/drawingml/2006/main">
            <a:off x="6400800" y="2788920"/>
            <a:ext cx="5120640" cy="1554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spcAft>
                <a:spcPts val="400"/>
              </a:spcAft>
              <a:buNone/>
            </a:pPr>
            <a:r>
              <a:rPr sz="1300" b="1">
                <a:solidFill>
                  <a:srgbClr val="002677"/>
                </a:solidFill>
                <a:latin typeface="Consolas"/>
                <a:ea typeface="Consolas"/>
                <a:cs typeface="Consolas"/>
              </a:rPr>
              <a:t>app.py              </a:t>
            </a:r>
            <a:r>
              <a:rPr sz="1300" i="1">
                <a:solidFill>
                  <a:srgbClr val="64748B"/>
                </a:solidFill>
                <a:latin typeface="Consolas"/>
                <a:ea typeface="Consolas"/>
                <a:cs typeface="Consolas"/>
              </a:rPr>
              <a:t># di cwd</a:t>
            </a:r>
            <a:endParaRPr sz="1300"/>
          </a:p>
          <a:p xmlns:a="http://schemas.openxmlformats.org/drawingml/2006/main">
            <a:pPr marL="0" indent="0">
              <a:spcAft>
                <a:spcPts val="400"/>
              </a:spcAft>
              <a:buNone/>
            </a:pPr>
            <a:r>
              <a:rPr sz="1300" b="1">
                <a:solidFill>
                  <a:srgbClr val="002677"/>
                </a:solidFill>
                <a:latin typeface="Consolas"/>
                <a:ea typeface="Consolas"/>
                <a:cs typeface="Consolas"/>
              </a:rPr>
              <a:t>./app.py            </a:t>
            </a:r>
            <a:r>
              <a:rPr sz="1300" i="1">
                <a:solidFill>
                  <a:srgbClr val="64748B"/>
                </a:solidFill>
                <a:latin typeface="Consolas"/>
                <a:ea typeface="Consolas"/>
                <a:cs typeface="Consolas"/>
              </a:rPr>
              <a:t># explicit cwd</a:t>
            </a:r>
            <a:endParaRPr sz="1300"/>
          </a:p>
          <a:p xmlns:a="http://schemas.openxmlformats.org/drawingml/2006/main">
            <a:pPr marL="0" indent="0">
              <a:spcAft>
                <a:spcPts val="400"/>
              </a:spcAft>
              <a:buNone/>
            </a:pPr>
            <a:r>
              <a:rPr sz="1300" b="1">
                <a:solidFill>
                  <a:srgbClr val="002677"/>
                </a:solidFill>
                <a:latin typeface="Consolas"/>
                <a:ea typeface="Consolas"/>
                <a:cs typeface="Consolas"/>
              </a:rPr>
              <a:t>../data/x.csv      </a:t>
            </a:r>
            <a:r>
              <a:rPr sz="1300" i="1">
                <a:solidFill>
                  <a:srgbClr val="64748B"/>
                </a:solidFill>
                <a:latin typeface="Consolas"/>
                <a:ea typeface="Consolas"/>
                <a:cs typeface="Consolas"/>
              </a:rPr>
              <a:t># parent</a:t>
            </a:r>
            <a:endParaRPr sz="1300"/>
          </a:p>
          <a:p xmlns:a="http://schemas.openxmlformats.org/drawingml/2006/main">
            <a:pPr marL="0" indent="0">
              <a:spcAft>
                <a:spcPts val="400"/>
              </a:spcAft>
              <a:buNone/>
            </a:pPr>
            <a:r>
              <a:rPr sz="1300" b="1">
                <a:solidFill>
                  <a:srgbClr val="002677"/>
                </a:solidFill>
                <a:latin typeface="Consolas"/>
                <a:ea typeface="Consolas"/>
                <a:cs typeface="Consolas"/>
              </a:rPr>
              <a:t>../../bin/script   </a:t>
            </a:r>
            <a:r>
              <a:rPr sz="1300" i="1">
                <a:solidFill>
                  <a:srgbClr val="64748B"/>
                </a:solidFill>
                <a:latin typeface="Consolas"/>
                <a:ea typeface="Consolas"/>
                <a:cs typeface="Consolas"/>
              </a:rPr>
              <a:t># 2 level naik</a:t>
            </a:r>
            <a:endParaRPr sz="1300"/>
          </a:p>
        </p:txBody>
      </p:sp>
      <p:sp>
        <p:nvSpPr>
          <p:cNvPr id="22" name="Text 18">
            <a:extLst xmlns:a="http://schemas.openxmlformats.org/drawingml/2006/main">
              <a:ext uri="{FF2B5EF4-FFF2-40B4-BE49-F238E27FC236}">
                <a16:creationId xmlns:a16="http://schemas.microsoft.com/office/drawing/2014/main" id="{76A8F1E0-53ED-42C5-9ED2-CEB8E7EA5AC9}"/>
              </a:ext>
            </a:extLst>
          </p:cNvPr>
          <p:cNvSpPr>
            <a:spLocks xmlns:a="http://schemas.openxmlformats.org/drawingml/2006/main" noGrp="1"/>
          </p:cNvSpPr>
          <p:nvPr/>
        </p:nvSpPr>
        <p:spPr>
          <a:xfrm xmlns:a="http://schemas.openxmlformats.org/drawingml/2006/main">
            <a:off x="6400800" y="4434840"/>
            <a:ext cx="51206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64748B"/>
                </a:solidFill>
                <a:latin typeface="Calibri"/>
                <a:ea typeface="Calibri"/>
                <a:cs typeface="Calibri"/>
              </a:rPr>
              <a:t>Shortcut wajib hafal:</a:t>
            </a:r>
            <a:endParaRPr sz="1200"/>
          </a:p>
        </p:txBody>
      </p:sp>
      <p:sp>
        <p:nvSpPr>
          <p:cNvPr id="23" name="Text 19">
            <a:extLst xmlns:a="http://schemas.openxmlformats.org/drawingml/2006/main">
              <a:ext uri="{FF2B5EF4-FFF2-40B4-BE49-F238E27FC236}">
                <a16:creationId xmlns:a16="http://schemas.microsoft.com/office/drawing/2014/main" id="{DF61ACEA-D175-4589-8321-AB4C610FFDEC}"/>
              </a:ext>
            </a:extLst>
          </p:cNvPr>
          <p:cNvSpPr>
            <a:spLocks xmlns:a="http://schemas.openxmlformats.org/drawingml/2006/main" noGrp="1"/>
          </p:cNvSpPr>
          <p:nvPr/>
        </p:nvSpPr>
        <p:spPr>
          <a:xfrm xmlns:a="http://schemas.openxmlformats.org/drawingml/2006/main">
            <a:off x="6537960" y="4709160"/>
            <a:ext cx="5029200" cy="1371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spcAft>
                <a:spcPts val="300"/>
              </a:spcAft>
              <a:buNone/>
            </a:pPr>
            <a:r>
              <a:rPr sz="1100" b="1">
                <a:solidFill>
                  <a:srgbClr val="F37021"/>
                </a:solidFill>
                <a:latin typeface="Consolas"/>
                <a:ea typeface="Consolas"/>
                <a:cs typeface="Consolas"/>
              </a:rPr>
              <a:t>.  </a:t>
            </a:r>
            <a:r>
              <a:rPr sz="1100">
                <a:solidFill>
                  <a:srgbClr val="1E293B"/>
                </a:solidFill>
                <a:latin typeface="Calibri"/>
                <a:ea typeface="Calibri"/>
                <a:cs typeface="Calibri"/>
              </a:rPr>
              <a:t>= direktori saat ini      </a:t>
            </a:r>
            <a:r>
              <a:rPr sz="1100" b="1">
                <a:solidFill>
                  <a:srgbClr val="F37021"/>
                </a:solidFill>
                <a:latin typeface="Consolas"/>
                <a:ea typeface="Consolas"/>
                <a:cs typeface="Consolas"/>
              </a:rPr>
              <a:t>..  </a:t>
            </a:r>
            <a:r>
              <a:rPr sz="1100">
                <a:solidFill>
                  <a:srgbClr val="1E293B"/>
                </a:solidFill>
                <a:latin typeface="Calibri"/>
                <a:ea typeface="Calibri"/>
                <a:cs typeface="Calibri"/>
              </a:rPr>
              <a:t>= parent (satu level atas)</a:t>
            </a:r>
            <a:endParaRPr sz="1100"/>
          </a:p>
          <a:p xmlns:a="http://schemas.openxmlformats.org/drawingml/2006/main">
            <a:pPr marL="0" indent="0">
              <a:spcAft>
                <a:spcPts val="300"/>
              </a:spcAft>
              <a:buNone/>
            </a:pPr>
            <a:r>
              <a:rPr sz="1100" b="1">
                <a:solidFill>
                  <a:srgbClr val="F37021"/>
                </a:solidFill>
                <a:latin typeface="Consolas"/>
                <a:ea typeface="Consolas"/>
                <a:cs typeface="Consolas"/>
              </a:rPr>
              <a:t>~  </a:t>
            </a:r>
            <a:r>
              <a:rPr sz="1100">
                <a:solidFill>
                  <a:srgbClr val="1E293B"/>
                </a:solidFill>
                <a:latin typeface="Calibri"/>
                <a:ea typeface="Calibri"/>
                <a:cs typeface="Calibri"/>
              </a:rPr>
              <a:t>= home directory user      </a:t>
            </a:r>
            <a:r>
              <a:rPr sz="1100" b="1">
                <a:solidFill>
                  <a:srgbClr val="F37021"/>
                </a:solidFill>
                <a:latin typeface="Consolas"/>
                <a:ea typeface="Consolas"/>
                <a:cs typeface="Consolas"/>
              </a:rPr>
              <a:t>-  </a:t>
            </a:r>
            <a:r>
              <a:rPr sz="1100">
                <a:solidFill>
                  <a:srgbClr val="1E293B"/>
                </a:solidFill>
                <a:latin typeface="Calibri"/>
                <a:ea typeface="Calibri"/>
                <a:cs typeface="Calibri"/>
              </a:rPr>
              <a:t>= cwd sebelumnya (cd -)</a:t>
            </a:r>
            <a:endParaRPr sz="1100"/>
          </a:p>
        </p:txBody>
      </p:sp>
    </p:spTree>
    <p:extLst>
      <p:ext uri="{BB962C8B-B14F-4D97-AF65-F5344CB8AC3E}">
        <p14:creationId xmlns:p14="http://schemas.microsoft.com/office/powerpoint/2010/main" val="208004102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80F1AA8-21AF-4F2B-84B4-A116A94B7B45}"/>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2</a:t>
            </a:r>
            <a:endParaRPr sz="900"/>
          </a:p>
        </p:txBody>
      </p:sp>
      <p:sp>
        <p:nvSpPr>
          <p:cNvPr id="3" name="Text 1">
            <a:extLst xmlns:a="http://schemas.openxmlformats.org/drawingml/2006/main">
              <a:ext uri="{FF2B5EF4-FFF2-40B4-BE49-F238E27FC236}">
                <a16:creationId xmlns:a16="http://schemas.microsoft.com/office/drawing/2014/main" id="{10559CCB-4E08-498B-BD8E-4933F8FDC7D8}"/>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11</a:t>
            </a:r>
            <a:endParaRPr sz="900"/>
          </a:p>
        </p:txBody>
      </p:sp>
      <p:sp>
        <p:nvSpPr>
          <p:cNvPr id="4" name="Shape 2">
            <a:extLst xmlns:a="http://schemas.openxmlformats.org/drawingml/2006/main">
              <a:ext uri="{FF2B5EF4-FFF2-40B4-BE49-F238E27FC236}">
                <a16:creationId xmlns:a16="http://schemas.microsoft.com/office/drawing/2014/main" id="{9DB99EF5-7033-47FC-B0FE-B32186D9868E}"/>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3" name="Image 0"/>
          <p:cNvPicPr>
            <a:picLocks xmlns:a="http://schemas.openxmlformats.org/drawingml/2006/main" noChangeAspect="1"/>
          </p:cNvPicPr>
          <p:nvPr/>
        </p:nvPicPr>
        <p:blipFill>
          <a:blip xmlns:r="http://schemas.openxmlformats.org/officeDocument/2006/relationships" xmlns:a="http://schemas.openxmlformats.org/drawingml/2006/main" r:embed="R689f334482914541"/>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4" name="Image 1"/>
          <p:cNvPicPr>
            <a:picLocks xmlns:a="http://schemas.openxmlformats.org/drawingml/2006/main" noChangeAspect="1"/>
          </p:cNvPicPr>
          <p:nvPr/>
        </p:nvPicPr>
        <p:blipFill>
          <a:blip xmlns:r="http://schemas.openxmlformats.org/officeDocument/2006/relationships" xmlns:a="http://schemas.openxmlformats.org/drawingml/2006/main" r:embed="R1647727b935b4bee"/>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1AD732D9-DA37-432C-8FFA-675B0F56E6DB}"/>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EAC1F403-9322-46F3-9457-04B8C817D326}"/>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Inspecting File Contents</a:t>
            </a:r>
            <a:endParaRPr sz="2200"/>
          </a:p>
        </p:txBody>
      </p:sp>
      <p:sp>
        <p:nvSpPr>
          <p:cNvPr id="9" name="Text 5">
            <a:extLst xmlns:a="http://schemas.openxmlformats.org/drawingml/2006/main">
              <a:ext uri="{FF2B5EF4-FFF2-40B4-BE49-F238E27FC236}">
                <a16:creationId xmlns:a16="http://schemas.microsoft.com/office/drawing/2014/main" id="{EA12503C-6586-4A2B-9C8F-459572210C45}"/>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Baca file tanpa text editor - cepat &amp; cocok untuk log</a:t>
            </a:r>
            <a:endParaRPr sz="1200"/>
          </a:p>
        </p:txBody>
      </p:sp>
      <p:sp>
        <p:nvSpPr>
          <p:cNvPr id="10" name="Shape 6">
            <a:extLst xmlns:a="http://schemas.openxmlformats.org/drawingml/2006/main">
              <a:ext uri="{FF2B5EF4-FFF2-40B4-BE49-F238E27FC236}">
                <a16:creationId xmlns:a16="http://schemas.microsoft.com/office/drawing/2014/main" id="{0DCE9EF8-FDB6-4F2B-B543-092328D5673E}"/>
              </a:ext>
            </a:extLst>
          </p:cNvPr>
          <p:cNvSpPr>
            <a:spLocks xmlns:a="http://schemas.openxmlformats.org/drawingml/2006/main" noGrp="1"/>
          </p:cNvSpPr>
          <p:nvPr/>
        </p:nvSpPr>
        <p:spPr>
          <a:xfrm xmlns:a="http://schemas.openxmlformats.org/drawingml/2006/main">
            <a:off x="457200" y="1417320"/>
            <a:ext cx="5577840" cy="210312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8BD49ACF-1447-4C47-B61B-7A4B479D80C7}"/>
              </a:ext>
            </a:extLst>
          </p:cNvPr>
          <p:cNvSpPr>
            <a:spLocks xmlns:a="http://schemas.openxmlformats.org/drawingml/2006/main" noGrp="1"/>
          </p:cNvSpPr>
          <p:nvPr/>
        </p:nvSpPr>
        <p:spPr>
          <a:xfrm xmlns:a="http://schemas.openxmlformats.org/drawingml/2006/main">
            <a:off x="457200" y="1417320"/>
            <a:ext cx="1645920" cy="210312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12" name="Text 8">
            <a:extLst xmlns:a="http://schemas.openxmlformats.org/drawingml/2006/main">
              <a:ext uri="{FF2B5EF4-FFF2-40B4-BE49-F238E27FC236}">
                <a16:creationId xmlns:a16="http://schemas.microsoft.com/office/drawing/2014/main" id="{8EC1F040-8290-4AE8-8268-05BE0E22569F}"/>
              </a:ext>
            </a:extLst>
          </p:cNvPr>
          <p:cNvSpPr>
            <a:spLocks xmlns:a="http://schemas.openxmlformats.org/drawingml/2006/main" noGrp="1"/>
          </p:cNvSpPr>
          <p:nvPr/>
        </p:nvSpPr>
        <p:spPr>
          <a:xfrm xmlns:a="http://schemas.openxmlformats.org/drawingml/2006/main">
            <a:off x="548640" y="1600200"/>
            <a:ext cx="146304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10B981"/>
                </a:solidFill>
                <a:latin typeface="Consolas"/>
                <a:ea typeface="Consolas"/>
                <a:cs typeface="Consolas"/>
              </a:rPr>
              <a:t>cat</a:t>
            </a:r>
            <a:endParaRPr sz="1800"/>
          </a:p>
        </p:txBody>
      </p:sp>
      <p:sp>
        <p:nvSpPr>
          <p:cNvPr id="13" name="Text 9">
            <a:extLst xmlns:a="http://schemas.openxmlformats.org/drawingml/2006/main">
              <a:ext uri="{FF2B5EF4-FFF2-40B4-BE49-F238E27FC236}">
                <a16:creationId xmlns:a16="http://schemas.microsoft.com/office/drawing/2014/main" id="{7A8A7764-17F4-41F3-8EBB-50BF5011ACF7}"/>
              </a:ext>
            </a:extLst>
          </p:cNvPr>
          <p:cNvSpPr>
            <a:spLocks xmlns:a="http://schemas.openxmlformats.org/drawingml/2006/main" noGrp="1"/>
          </p:cNvSpPr>
          <p:nvPr/>
        </p:nvSpPr>
        <p:spPr>
          <a:xfrm xmlns:a="http://schemas.openxmlformats.org/drawingml/2006/main">
            <a:off x="2240280" y="1600200"/>
            <a:ext cx="3657600" cy="10058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a:solidFill>
                  <a:srgbClr val="1E293B"/>
                </a:solidFill>
                <a:latin typeface="Calibri"/>
                <a:ea typeface="Calibri"/>
                <a:cs typeface="Calibri"/>
              </a:rPr>
              <a:t>Print seluruh isi file ke layar (cocok untuk file pendek)</a:t>
            </a:r>
            <a:endParaRPr sz="1200"/>
          </a:p>
        </p:txBody>
      </p:sp>
      <p:sp>
        <p:nvSpPr>
          <p:cNvPr id="14" name="Shape 10">
            <a:extLst xmlns:a="http://schemas.openxmlformats.org/drawingml/2006/main">
              <a:ext uri="{FF2B5EF4-FFF2-40B4-BE49-F238E27FC236}">
                <a16:creationId xmlns:a16="http://schemas.microsoft.com/office/drawing/2014/main" id="{2E1A7B84-0441-42BB-A0CF-EF78ED126B89}"/>
              </a:ext>
            </a:extLst>
          </p:cNvPr>
          <p:cNvSpPr>
            <a:spLocks xmlns:a="http://schemas.openxmlformats.org/drawingml/2006/main" noGrp="1"/>
          </p:cNvSpPr>
          <p:nvPr/>
        </p:nvSpPr>
        <p:spPr>
          <a:xfrm xmlns:a="http://schemas.openxmlformats.org/drawingml/2006/main">
            <a:off x="2240280" y="2651760"/>
            <a:ext cx="3657600" cy="7315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15" name="Text 11">
            <a:extLst xmlns:a="http://schemas.openxmlformats.org/drawingml/2006/main">
              <a:ext uri="{FF2B5EF4-FFF2-40B4-BE49-F238E27FC236}">
                <a16:creationId xmlns:a16="http://schemas.microsoft.com/office/drawing/2014/main" id="{0DA74F16-9A3E-479C-B943-73F57E2F9921}"/>
              </a:ext>
            </a:extLst>
          </p:cNvPr>
          <p:cNvSpPr>
            <a:spLocks xmlns:a="http://schemas.openxmlformats.org/drawingml/2006/main" noGrp="1"/>
          </p:cNvSpPr>
          <p:nvPr/>
        </p:nvSpPr>
        <p:spPr>
          <a:xfrm xmlns:a="http://schemas.openxmlformats.org/drawingml/2006/main">
            <a:off x="2331720" y="2743200"/>
            <a:ext cx="34747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 </a:t>
            </a:r>
            <a:r>
              <a:rPr sz="1100">
                <a:solidFill>
                  <a:srgbClr val="E2E8F0"/>
                </a:solidFill>
                <a:latin typeface="Consolas"/>
                <a:ea typeface="Consolas"/>
                <a:cs typeface="Consolas"/>
              </a:rPr>
              <a:t>cat /etc/hostname</a:t>
            </a:r>
            <a:endParaRPr sz="1100"/>
          </a:p>
        </p:txBody>
      </p:sp>
      <p:sp>
        <p:nvSpPr>
          <p:cNvPr id="16" name="Shape 12">
            <a:extLst xmlns:a="http://schemas.openxmlformats.org/drawingml/2006/main">
              <a:ext uri="{FF2B5EF4-FFF2-40B4-BE49-F238E27FC236}">
                <a16:creationId xmlns:a16="http://schemas.microsoft.com/office/drawing/2014/main" id="{2F703AB3-B411-4C62-8E58-C5288E5C3C61}"/>
              </a:ext>
            </a:extLst>
          </p:cNvPr>
          <p:cNvSpPr>
            <a:spLocks xmlns:a="http://schemas.openxmlformats.org/drawingml/2006/main" noGrp="1"/>
          </p:cNvSpPr>
          <p:nvPr/>
        </p:nvSpPr>
        <p:spPr>
          <a:xfrm xmlns:a="http://schemas.openxmlformats.org/drawingml/2006/main">
            <a:off x="6309360" y="1417320"/>
            <a:ext cx="5577840" cy="210312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7" name="Shape 13">
            <a:extLst xmlns:a="http://schemas.openxmlformats.org/drawingml/2006/main">
              <a:ext uri="{FF2B5EF4-FFF2-40B4-BE49-F238E27FC236}">
                <a16:creationId xmlns:a16="http://schemas.microsoft.com/office/drawing/2014/main" id="{9AF4C22D-46FF-4BC4-97EE-DF248418BB40}"/>
              </a:ext>
            </a:extLst>
          </p:cNvPr>
          <p:cNvSpPr>
            <a:spLocks xmlns:a="http://schemas.openxmlformats.org/drawingml/2006/main" noGrp="1"/>
          </p:cNvSpPr>
          <p:nvPr/>
        </p:nvSpPr>
        <p:spPr>
          <a:xfrm xmlns:a="http://schemas.openxmlformats.org/drawingml/2006/main">
            <a:off x="6309360" y="1417320"/>
            <a:ext cx="1645920" cy="210312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18" name="Text 14">
            <a:extLst xmlns:a="http://schemas.openxmlformats.org/drawingml/2006/main">
              <a:ext uri="{FF2B5EF4-FFF2-40B4-BE49-F238E27FC236}">
                <a16:creationId xmlns:a16="http://schemas.microsoft.com/office/drawing/2014/main" id="{C5E12CA2-2BF2-47B2-9ED6-0AA21541B7D3}"/>
              </a:ext>
            </a:extLst>
          </p:cNvPr>
          <p:cNvSpPr>
            <a:spLocks xmlns:a="http://schemas.openxmlformats.org/drawingml/2006/main" noGrp="1"/>
          </p:cNvSpPr>
          <p:nvPr/>
        </p:nvSpPr>
        <p:spPr>
          <a:xfrm xmlns:a="http://schemas.openxmlformats.org/drawingml/2006/main">
            <a:off x="6400800" y="1600200"/>
            <a:ext cx="146304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10B981"/>
                </a:solidFill>
                <a:latin typeface="Consolas"/>
                <a:ea typeface="Consolas"/>
                <a:cs typeface="Consolas"/>
              </a:rPr>
              <a:t>less</a:t>
            </a:r>
            <a:endParaRPr sz="1800"/>
          </a:p>
        </p:txBody>
      </p:sp>
      <p:sp>
        <p:nvSpPr>
          <p:cNvPr id="19" name="Text 15">
            <a:extLst xmlns:a="http://schemas.openxmlformats.org/drawingml/2006/main">
              <a:ext uri="{FF2B5EF4-FFF2-40B4-BE49-F238E27FC236}">
                <a16:creationId xmlns:a16="http://schemas.microsoft.com/office/drawing/2014/main" id="{3556245E-9631-490E-A948-628D2558AF3A}"/>
              </a:ext>
            </a:extLst>
          </p:cNvPr>
          <p:cNvSpPr>
            <a:spLocks xmlns:a="http://schemas.openxmlformats.org/drawingml/2006/main" noGrp="1"/>
          </p:cNvSpPr>
          <p:nvPr/>
        </p:nvSpPr>
        <p:spPr>
          <a:xfrm xmlns:a="http://schemas.openxmlformats.org/drawingml/2006/main">
            <a:off x="8092440" y="1600200"/>
            <a:ext cx="3657600" cy="10058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a:solidFill>
                  <a:srgbClr val="1E293B"/>
                </a:solidFill>
                <a:latin typeface="Calibri"/>
                <a:ea typeface="Calibri"/>
                <a:cs typeface="Calibri"/>
              </a:rPr>
              <a:t>Pager - scroll naik-turun (q untuk keluar, / untuk search)</a:t>
            </a:r>
            <a:endParaRPr sz="1200"/>
          </a:p>
        </p:txBody>
      </p:sp>
      <p:sp>
        <p:nvSpPr>
          <p:cNvPr id="20" name="Shape 16">
            <a:extLst xmlns:a="http://schemas.openxmlformats.org/drawingml/2006/main">
              <a:ext uri="{FF2B5EF4-FFF2-40B4-BE49-F238E27FC236}">
                <a16:creationId xmlns:a16="http://schemas.microsoft.com/office/drawing/2014/main" id="{0AF14F37-8EF8-4970-9EE5-FB33A48E47EE}"/>
              </a:ext>
            </a:extLst>
          </p:cNvPr>
          <p:cNvSpPr>
            <a:spLocks xmlns:a="http://schemas.openxmlformats.org/drawingml/2006/main" noGrp="1"/>
          </p:cNvSpPr>
          <p:nvPr/>
        </p:nvSpPr>
        <p:spPr>
          <a:xfrm xmlns:a="http://schemas.openxmlformats.org/drawingml/2006/main">
            <a:off x="8092440" y="2651760"/>
            <a:ext cx="3657600" cy="7315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21" name="Text 17">
            <a:extLst xmlns:a="http://schemas.openxmlformats.org/drawingml/2006/main">
              <a:ext uri="{FF2B5EF4-FFF2-40B4-BE49-F238E27FC236}">
                <a16:creationId xmlns:a16="http://schemas.microsoft.com/office/drawing/2014/main" id="{D3B915A0-8167-4126-A001-98137789718E}"/>
              </a:ext>
            </a:extLst>
          </p:cNvPr>
          <p:cNvSpPr>
            <a:spLocks xmlns:a="http://schemas.openxmlformats.org/drawingml/2006/main" noGrp="1"/>
          </p:cNvSpPr>
          <p:nvPr/>
        </p:nvSpPr>
        <p:spPr>
          <a:xfrm xmlns:a="http://schemas.openxmlformats.org/drawingml/2006/main">
            <a:off x="8183880" y="2743200"/>
            <a:ext cx="34747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 </a:t>
            </a:r>
            <a:r>
              <a:rPr sz="1100">
                <a:solidFill>
                  <a:srgbClr val="E2E8F0"/>
                </a:solidFill>
                <a:latin typeface="Consolas"/>
                <a:ea typeface="Consolas"/>
                <a:cs typeface="Consolas"/>
              </a:rPr>
              <a:t>less /var/log/syslog</a:t>
            </a:r>
            <a:endParaRPr sz="1100"/>
          </a:p>
        </p:txBody>
      </p:sp>
      <p:sp>
        <p:nvSpPr>
          <p:cNvPr id="22" name="Shape 18">
            <a:extLst xmlns:a="http://schemas.openxmlformats.org/drawingml/2006/main">
              <a:ext uri="{FF2B5EF4-FFF2-40B4-BE49-F238E27FC236}">
                <a16:creationId xmlns:a16="http://schemas.microsoft.com/office/drawing/2014/main" id="{5B101C54-AA44-4464-B76F-356FFEE81D0F}"/>
              </a:ext>
            </a:extLst>
          </p:cNvPr>
          <p:cNvSpPr>
            <a:spLocks xmlns:a="http://schemas.openxmlformats.org/drawingml/2006/main" noGrp="1"/>
          </p:cNvSpPr>
          <p:nvPr/>
        </p:nvSpPr>
        <p:spPr>
          <a:xfrm xmlns:a="http://schemas.openxmlformats.org/drawingml/2006/main">
            <a:off x="457200" y="3703320"/>
            <a:ext cx="5577840" cy="210312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3" name="Shape 19">
            <a:extLst xmlns:a="http://schemas.openxmlformats.org/drawingml/2006/main">
              <a:ext uri="{FF2B5EF4-FFF2-40B4-BE49-F238E27FC236}">
                <a16:creationId xmlns:a16="http://schemas.microsoft.com/office/drawing/2014/main" id="{9C32D041-0C7B-48A4-83E3-57C850752ED4}"/>
              </a:ext>
            </a:extLst>
          </p:cNvPr>
          <p:cNvSpPr>
            <a:spLocks xmlns:a="http://schemas.openxmlformats.org/drawingml/2006/main" noGrp="1"/>
          </p:cNvSpPr>
          <p:nvPr/>
        </p:nvSpPr>
        <p:spPr>
          <a:xfrm xmlns:a="http://schemas.openxmlformats.org/drawingml/2006/main">
            <a:off x="457200" y="3703320"/>
            <a:ext cx="1645920" cy="210312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24" name="Text 20">
            <a:extLst xmlns:a="http://schemas.openxmlformats.org/drawingml/2006/main">
              <a:ext uri="{FF2B5EF4-FFF2-40B4-BE49-F238E27FC236}">
                <a16:creationId xmlns:a16="http://schemas.microsoft.com/office/drawing/2014/main" id="{3DB1CE6F-91B2-4190-BE66-206C77D229BE}"/>
              </a:ext>
            </a:extLst>
          </p:cNvPr>
          <p:cNvSpPr>
            <a:spLocks xmlns:a="http://schemas.openxmlformats.org/drawingml/2006/main" noGrp="1"/>
          </p:cNvSpPr>
          <p:nvPr/>
        </p:nvSpPr>
        <p:spPr>
          <a:xfrm xmlns:a="http://schemas.openxmlformats.org/drawingml/2006/main">
            <a:off x="548640" y="3886200"/>
            <a:ext cx="146304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10B981"/>
                </a:solidFill>
                <a:latin typeface="Consolas"/>
                <a:ea typeface="Consolas"/>
                <a:cs typeface="Consolas"/>
              </a:rPr>
              <a:t>head -n N</a:t>
            </a:r>
            <a:endParaRPr sz="1800"/>
          </a:p>
        </p:txBody>
      </p:sp>
      <p:sp>
        <p:nvSpPr>
          <p:cNvPr id="25" name="Text 21">
            <a:extLst xmlns:a="http://schemas.openxmlformats.org/drawingml/2006/main">
              <a:ext uri="{FF2B5EF4-FFF2-40B4-BE49-F238E27FC236}">
                <a16:creationId xmlns:a16="http://schemas.microsoft.com/office/drawing/2014/main" id="{BED7595F-3BBD-4257-88C2-F2E2208A10A8}"/>
              </a:ext>
            </a:extLst>
          </p:cNvPr>
          <p:cNvSpPr>
            <a:spLocks xmlns:a="http://schemas.openxmlformats.org/drawingml/2006/main" noGrp="1"/>
          </p:cNvSpPr>
          <p:nvPr/>
        </p:nvSpPr>
        <p:spPr>
          <a:xfrm xmlns:a="http://schemas.openxmlformats.org/drawingml/2006/main">
            <a:off x="2240280" y="3886200"/>
            <a:ext cx="3657600" cy="10058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a:solidFill>
                  <a:srgbClr val="1E293B"/>
                </a:solidFill>
                <a:latin typeface="Calibri"/>
                <a:ea typeface="Calibri"/>
                <a:cs typeface="Calibri"/>
              </a:rPr>
              <a:t>N baris pertama (default 10)</a:t>
            </a:r>
            <a:endParaRPr sz="1200"/>
          </a:p>
        </p:txBody>
      </p:sp>
      <p:sp>
        <p:nvSpPr>
          <p:cNvPr id="26" name="Shape 22">
            <a:extLst xmlns:a="http://schemas.openxmlformats.org/drawingml/2006/main">
              <a:ext uri="{FF2B5EF4-FFF2-40B4-BE49-F238E27FC236}">
                <a16:creationId xmlns:a16="http://schemas.microsoft.com/office/drawing/2014/main" id="{BB9D1FCD-B75D-421F-8792-1433E16AC0D8}"/>
              </a:ext>
            </a:extLst>
          </p:cNvPr>
          <p:cNvSpPr>
            <a:spLocks xmlns:a="http://schemas.openxmlformats.org/drawingml/2006/main" noGrp="1"/>
          </p:cNvSpPr>
          <p:nvPr/>
        </p:nvSpPr>
        <p:spPr>
          <a:xfrm xmlns:a="http://schemas.openxmlformats.org/drawingml/2006/main">
            <a:off x="2240280" y="4937760"/>
            <a:ext cx="3657600" cy="7315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27" name="Text 23">
            <a:extLst xmlns:a="http://schemas.openxmlformats.org/drawingml/2006/main">
              <a:ext uri="{FF2B5EF4-FFF2-40B4-BE49-F238E27FC236}">
                <a16:creationId xmlns:a16="http://schemas.microsoft.com/office/drawing/2014/main" id="{46EE232D-5551-4F75-9A0A-BD4C6C8F0496}"/>
              </a:ext>
            </a:extLst>
          </p:cNvPr>
          <p:cNvSpPr>
            <a:spLocks xmlns:a="http://schemas.openxmlformats.org/drawingml/2006/main" noGrp="1"/>
          </p:cNvSpPr>
          <p:nvPr/>
        </p:nvSpPr>
        <p:spPr>
          <a:xfrm xmlns:a="http://schemas.openxmlformats.org/drawingml/2006/main">
            <a:off x="2331720" y="5029200"/>
            <a:ext cx="34747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 </a:t>
            </a:r>
            <a:r>
              <a:rPr sz="1100">
                <a:solidFill>
                  <a:srgbClr val="E2E8F0"/>
                </a:solidFill>
                <a:latin typeface="Consolas"/>
                <a:ea typeface="Consolas"/>
                <a:cs typeface="Consolas"/>
              </a:rPr>
              <a:t>head -n 20 access.log</a:t>
            </a:r>
            <a:endParaRPr sz="1100"/>
          </a:p>
        </p:txBody>
      </p:sp>
      <p:sp>
        <p:nvSpPr>
          <p:cNvPr id="28" name="Shape 24">
            <a:extLst xmlns:a="http://schemas.openxmlformats.org/drawingml/2006/main">
              <a:ext uri="{FF2B5EF4-FFF2-40B4-BE49-F238E27FC236}">
                <a16:creationId xmlns:a16="http://schemas.microsoft.com/office/drawing/2014/main" id="{6E36B816-2D52-41D0-8EB4-D873A3F203C9}"/>
              </a:ext>
            </a:extLst>
          </p:cNvPr>
          <p:cNvSpPr>
            <a:spLocks xmlns:a="http://schemas.openxmlformats.org/drawingml/2006/main" noGrp="1"/>
          </p:cNvSpPr>
          <p:nvPr/>
        </p:nvSpPr>
        <p:spPr>
          <a:xfrm xmlns:a="http://schemas.openxmlformats.org/drawingml/2006/main">
            <a:off x="6309360" y="3703320"/>
            <a:ext cx="5577840" cy="210312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9" name="Shape 25">
            <a:extLst xmlns:a="http://schemas.openxmlformats.org/drawingml/2006/main">
              <a:ext uri="{FF2B5EF4-FFF2-40B4-BE49-F238E27FC236}">
                <a16:creationId xmlns:a16="http://schemas.microsoft.com/office/drawing/2014/main" id="{2EF1804D-B932-4C74-A52C-2211E7846945}"/>
              </a:ext>
            </a:extLst>
          </p:cNvPr>
          <p:cNvSpPr>
            <a:spLocks xmlns:a="http://schemas.openxmlformats.org/drawingml/2006/main" noGrp="1"/>
          </p:cNvSpPr>
          <p:nvPr/>
        </p:nvSpPr>
        <p:spPr>
          <a:xfrm xmlns:a="http://schemas.openxmlformats.org/drawingml/2006/main">
            <a:off x="6309360" y="3703320"/>
            <a:ext cx="1645920" cy="210312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30" name="Text 26">
            <a:extLst xmlns:a="http://schemas.openxmlformats.org/drawingml/2006/main">
              <a:ext uri="{FF2B5EF4-FFF2-40B4-BE49-F238E27FC236}">
                <a16:creationId xmlns:a16="http://schemas.microsoft.com/office/drawing/2014/main" id="{2DC5A167-B372-4E93-81EB-9EAB7D04D9EB}"/>
              </a:ext>
            </a:extLst>
          </p:cNvPr>
          <p:cNvSpPr>
            <a:spLocks xmlns:a="http://schemas.openxmlformats.org/drawingml/2006/main" noGrp="1"/>
          </p:cNvSpPr>
          <p:nvPr/>
        </p:nvSpPr>
        <p:spPr>
          <a:xfrm xmlns:a="http://schemas.openxmlformats.org/drawingml/2006/main">
            <a:off x="6400800" y="3886200"/>
            <a:ext cx="146304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10B981"/>
                </a:solidFill>
                <a:latin typeface="Consolas"/>
                <a:ea typeface="Consolas"/>
                <a:cs typeface="Consolas"/>
              </a:rPr>
              <a:t>tail -n N</a:t>
            </a:r>
            <a:endParaRPr sz="1800"/>
          </a:p>
        </p:txBody>
      </p:sp>
      <p:sp>
        <p:nvSpPr>
          <p:cNvPr id="31" name="Text 27">
            <a:extLst xmlns:a="http://schemas.openxmlformats.org/drawingml/2006/main">
              <a:ext uri="{FF2B5EF4-FFF2-40B4-BE49-F238E27FC236}">
                <a16:creationId xmlns:a16="http://schemas.microsoft.com/office/drawing/2014/main" id="{FA25D85A-18EE-49EB-B2F8-8CE3FD766A3B}"/>
              </a:ext>
            </a:extLst>
          </p:cNvPr>
          <p:cNvSpPr>
            <a:spLocks xmlns:a="http://schemas.openxmlformats.org/drawingml/2006/main" noGrp="1"/>
          </p:cNvSpPr>
          <p:nvPr/>
        </p:nvSpPr>
        <p:spPr>
          <a:xfrm xmlns:a="http://schemas.openxmlformats.org/drawingml/2006/main">
            <a:off x="8092440" y="3886200"/>
            <a:ext cx="3657600" cy="10058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a:solidFill>
                  <a:srgbClr val="1E293B"/>
                </a:solidFill>
                <a:latin typeface="Calibri"/>
                <a:ea typeface="Calibri"/>
                <a:cs typeface="Calibri"/>
              </a:rPr>
              <a:t>N baris terakhir - sangat berguna untuk debug log</a:t>
            </a:r>
            <a:endParaRPr sz="1200"/>
          </a:p>
        </p:txBody>
      </p:sp>
      <p:sp>
        <p:nvSpPr>
          <p:cNvPr id="32" name="Shape 28">
            <a:extLst xmlns:a="http://schemas.openxmlformats.org/drawingml/2006/main">
              <a:ext uri="{FF2B5EF4-FFF2-40B4-BE49-F238E27FC236}">
                <a16:creationId xmlns:a16="http://schemas.microsoft.com/office/drawing/2014/main" id="{C0F0B9F9-6DD4-42F4-B620-2BB9378B554A}"/>
              </a:ext>
            </a:extLst>
          </p:cNvPr>
          <p:cNvSpPr>
            <a:spLocks xmlns:a="http://schemas.openxmlformats.org/drawingml/2006/main" noGrp="1"/>
          </p:cNvSpPr>
          <p:nvPr/>
        </p:nvSpPr>
        <p:spPr>
          <a:xfrm xmlns:a="http://schemas.openxmlformats.org/drawingml/2006/main">
            <a:off x="8092440" y="4937760"/>
            <a:ext cx="3657600" cy="7315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33" name="Text 29">
            <a:extLst xmlns:a="http://schemas.openxmlformats.org/drawingml/2006/main">
              <a:ext uri="{FF2B5EF4-FFF2-40B4-BE49-F238E27FC236}">
                <a16:creationId xmlns:a16="http://schemas.microsoft.com/office/drawing/2014/main" id="{46C76B62-26F8-4AD2-A8DF-7C8D6BD6EB32}"/>
              </a:ext>
            </a:extLst>
          </p:cNvPr>
          <p:cNvSpPr>
            <a:spLocks xmlns:a="http://schemas.openxmlformats.org/drawingml/2006/main" noGrp="1"/>
          </p:cNvSpPr>
          <p:nvPr/>
        </p:nvSpPr>
        <p:spPr>
          <a:xfrm xmlns:a="http://schemas.openxmlformats.org/drawingml/2006/main">
            <a:off x="8183880" y="5029200"/>
            <a:ext cx="34747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 </a:t>
            </a:r>
            <a:r>
              <a:rPr sz="1100">
                <a:solidFill>
                  <a:srgbClr val="E2E8F0"/>
                </a:solidFill>
                <a:latin typeface="Consolas"/>
                <a:ea typeface="Consolas"/>
                <a:cs typeface="Consolas"/>
              </a:rPr>
              <a:t>tail -f nginx-error.log</a:t>
            </a:r>
            <a:endParaRPr sz="1100"/>
          </a:p>
        </p:txBody>
      </p:sp>
      <p:sp>
        <p:nvSpPr>
          <p:cNvPr id="34" name="Shape 30">
            <a:extLst xmlns:a="http://schemas.openxmlformats.org/drawingml/2006/main">
              <a:ext uri="{FF2B5EF4-FFF2-40B4-BE49-F238E27FC236}">
                <a16:creationId xmlns:a16="http://schemas.microsoft.com/office/drawing/2014/main" id="{B4F2C41C-F0AB-41A1-9620-B963DB85A79D}"/>
              </a:ext>
            </a:extLst>
          </p:cNvPr>
          <p:cNvSpPr>
            <a:spLocks xmlns:a="http://schemas.openxmlformats.org/drawingml/2006/main" noGrp="1"/>
          </p:cNvSpPr>
          <p:nvPr/>
        </p:nvSpPr>
        <p:spPr>
          <a:xfrm xmlns:a="http://schemas.openxmlformats.org/drawingml/2006/main">
            <a:off x="457200" y="6035040"/>
            <a:ext cx="11247120" cy="41148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pic>
        <p:nvPicPr>
          <p:cNvPr id="73" name="Image 2"/>
          <p:cNvPicPr>
            <a:picLocks xmlns:a="http://schemas.openxmlformats.org/drawingml/2006/main" noChangeAspect="1"/>
          </p:cNvPicPr>
          <p:nvPr/>
        </p:nvPicPr>
        <p:blipFill>
          <a:blip xmlns:r="http://schemas.openxmlformats.org/officeDocument/2006/relationships" xmlns:a="http://schemas.openxmlformats.org/drawingml/2006/main" r:embed="R87e533bd59174a40"/>
          <a:stretch xmlns:a="http://schemas.openxmlformats.org/drawingml/2006/main">
            <a:fillRect l="0" t="0" r="0" b="0"/>
          </a:stretch>
        </p:blipFill>
        <p:spPr>
          <a:xfrm xmlns:a="http://schemas.openxmlformats.org/drawingml/2006/main">
            <a:off x="640080" y="6099048"/>
            <a:ext cx="274320" cy="274320"/>
          </a:xfrm>
          <a:prstGeom xmlns:a="http://schemas.openxmlformats.org/drawingml/2006/main" prst="rect">
            <a:avLst/>
          </a:prstGeom>
        </p:spPr>
      </p:pic>
      <p:sp>
        <p:nvSpPr>
          <p:cNvPr id="36" name="Text 31">
            <a:extLst xmlns:a="http://schemas.openxmlformats.org/drawingml/2006/main">
              <a:ext uri="{FF2B5EF4-FFF2-40B4-BE49-F238E27FC236}">
                <a16:creationId xmlns:a16="http://schemas.microsoft.com/office/drawing/2014/main" id="{34FEBF32-A81A-4411-A6B7-0E2308B10F07}"/>
              </a:ext>
            </a:extLst>
          </p:cNvPr>
          <p:cNvSpPr>
            <a:spLocks xmlns:a="http://schemas.openxmlformats.org/drawingml/2006/main" noGrp="1"/>
          </p:cNvSpPr>
          <p:nvPr/>
        </p:nvSpPr>
        <p:spPr>
          <a:xfrm xmlns:a="http://schemas.openxmlformats.org/drawingml/2006/main">
            <a:off x="1005840" y="6035040"/>
            <a:ext cx="10515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37021"/>
                </a:solidFill>
                <a:latin typeface="Calibri"/>
                <a:ea typeface="Calibri"/>
                <a:cs typeface="Calibri"/>
              </a:rPr>
              <a:t>Tail follow:  </a:t>
            </a:r>
            <a:r>
              <a:rPr sz="1100" b="1">
                <a:solidFill>
                  <a:srgbClr val="FFFFFF"/>
                </a:solidFill>
                <a:latin typeface="Consolas"/>
                <a:ea typeface="Consolas"/>
                <a:cs typeface="Consolas"/>
              </a:rPr>
              <a:t>tail -f</a:t>
            </a:r>
            <a:r>
              <a:rPr sz="1100">
                <a:solidFill>
                  <a:srgbClr val="FFFFFF"/>
                </a:solidFill>
                <a:latin typeface="Calibri"/>
                <a:ea typeface="Calibri"/>
                <a:cs typeface="Calibri"/>
              </a:rPr>
              <a:t>  ikut update real-time - cocok saat debug aplikasi yang lagi jalan. Ctrl+C untuk keluar.</a:t>
            </a:r>
            <a:endParaRPr sz="1100"/>
          </a:p>
        </p:txBody>
      </p:sp>
    </p:spTree>
    <p:extLst>
      <p:ext uri="{BB962C8B-B14F-4D97-AF65-F5344CB8AC3E}">
        <p14:creationId xmlns:p14="http://schemas.microsoft.com/office/powerpoint/2010/main" val="1578065859"/>
      </p:ext>
    </p:extLst>
  </p:cSld>
</p:sld>
</file>

<file path=ppt/slides/slide12.xml><?xml version="1.0" encoding="utf-8"?>
<p:sld xmlns:p="http://schemas.openxmlformats.org/presentationml/2006/main">
  <p:cSld>
    <p:bg>
      <p:bgPr>
        <a:solidFill xmlns:a="http://schemas.openxmlformats.org/drawingml/2006/main">
          <a:srgbClr val="0D47A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0BCF6E3-8314-4B83-837C-AEE958867C46}"/>
              </a:ext>
            </a:extLst>
          </p:cNvPr>
          <p:cNvSpPr>
            <a:spLocks xmlns:a="http://schemas.openxmlformats.org/drawingml/2006/main" noGrp="1"/>
          </p:cNvSpPr>
          <p:nvPr/>
        </p:nvSpPr>
        <p:spPr>
          <a:xfrm xmlns:a="http://schemas.openxmlformats.org/drawingml/2006/main">
            <a:off x="-1828800" y="3657600"/>
            <a:ext cx="6400800" cy="6400800"/>
          </a:xfrm>
          <a:prstGeom xmlns:a="http://schemas.openxmlformats.org/drawingml/2006/main" prst="ellipse">
            <a:avLst/>
          </a:prstGeom>
          <a:solidFill xmlns:a="http://schemas.openxmlformats.org/drawingml/2006/main">
            <a:srgbClr val="1565C0">
              <a:alpha val="25000"/>
            </a:srgbClr>
          </a:solidFill>
          <a:ln xmlns:a="http://schemas.openxmlformats.org/drawingml/2006/main" w="12700">
            <a:solidFill>
              <a:srgbClr val="1565C0">
                <a:alpha val="0"/>
              </a:srgbClr>
            </a:solidFill>
            <a:prstDash val="solid"/>
          </a:ln>
        </p:spPr>
      </p:sp>
      <p:sp>
        <p:nvSpPr>
          <p:cNvPr id="3" name="Shape 1">
            <a:extLst xmlns:a="http://schemas.openxmlformats.org/drawingml/2006/main">
              <a:ext uri="{FF2B5EF4-FFF2-40B4-BE49-F238E27FC236}">
                <a16:creationId xmlns:a16="http://schemas.microsoft.com/office/drawing/2014/main" id="{97EFA292-1F95-47BE-A3F9-0B460F8CA6CC}"/>
              </a:ext>
            </a:extLst>
          </p:cNvPr>
          <p:cNvSpPr>
            <a:spLocks xmlns:a="http://schemas.openxmlformats.org/drawingml/2006/main" noGrp="1"/>
          </p:cNvSpPr>
          <p:nvPr/>
        </p:nvSpPr>
        <p:spPr>
          <a:xfrm xmlns:a="http://schemas.openxmlformats.org/drawingml/2006/main">
            <a:off x="7315200" y="-914400"/>
            <a:ext cx="7315200" cy="7315200"/>
          </a:xfrm>
          <a:prstGeom xmlns:a="http://schemas.openxmlformats.org/drawingml/2006/main" prst="ellipse">
            <a:avLst/>
          </a:prstGeom>
          <a:solidFill xmlns:a="http://schemas.openxmlformats.org/drawingml/2006/main">
            <a:srgbClr val="1976D2">
              <a:alpha val="20000"/>
            </a:srgbClr>
          </a:solidFill>
          <a:ln xmlns:a="http://schemas.openxmlformats.org/drawingml/2006/main" w="12700">
            <a:solidFill>
              <a:srgbClr val="1976D2">
                <a:alpha val="0"/>
              </a:srgbClr>
            </a:solidFill>
            <a:prstDash val="solid"/>
          </a:ln>
        </p:spPr>
      </p:sp>
      <p:sp>
        <p:nvSpPr>
          <p:cNvPr id="4" name="Shape 2">
            <a:extLst xmlns:a="http://schemas.openxmlformats.org/drawingml/2006/main">
              <a:ext uri="{FF2B5EF4-FFF2-40B4-BE49-F238E27FC236}">
                <a16:creationId xmlns:a16="http://schemas.microsoft.com/office/drawing/2014/main" id="{1A0F7794-7934-4EFC-AD97-5761A22806E0}"/>
              </a:ext>
            </a:extLst>
          </p:cNvPr>
          <p:cNvSpPr>
            <a:spLocks xmlns:a="http://schemas.openxmlformats.org/drawingml/2006/main" noGrp="1"/>
          </p:cNvSpPr>
          <p:nvPr/>
        </p:nvSpPr>
        <p:spPr>
          <a:xfrm xmlns:a="http://schemas.openxmlformats.org/drawingml/2006/main" rot="8100000">
            <a:off x="5852160" y="-182880"/>
            <a:ext cx="1188720" cy="1188720"/>
          </a:xfrm>
          <a:prstGeom xmlns:a="http://schemas.openxmlformats.org/drawingml/2006/main" prst="rtTriangle">
            <a:avLst/>
          </a:prstGeom>
          <a:solidFill xmlns:a="http://schemas.openxmlformats.org/drawingml/2006/main">
            <a:srgbClr val="F37021"/>
          </a:solidFill>
          <a:ln xmlns:a="http://schemas.openxmlformats.org/drawingml/2006/main" w="12700">
            <a:solidFill>
              <a:srgbClr val="F37021"/>
            </a:solidFill>
            <a:prstDash val="solid"/>
          </a:ln>
        </p:spPr>
      </p:sp>
      <p:sp>
        <p:nvSpPr>
          <p:cNvPr id="5" name="Shape 3">
            <a:extLst xmlns:a="http://schemas.openxmlformats.org/drawingml/2006/main">
              <a:ext uri="{FF2B5EF4-FFF2-40B4-BE49-F238E27FC236}">
                <a16:creationId xmlns:a16="http://schemas.microsoft.com/office/drawing/2014/main" id="{D937109B-DEF9-4E0B-82DB-71656873D71E}"/>
              </a:ext>
            </a:extLst>
          </p:cNvPr>
          <p:cNvSpPr>
            <a:spLocks xmlns:a="http://schemas.openxmlformats.org/drawingml/2006/main" noGrp="1"/>
          </p:cNvSpPr>
          <p:nvPr/>
        </p:nvSpPr>
        <p:spPr>
          <a:xfrm xmlns:a="http://schemas.openxmlformats.org/drawingml/2006/main">
            <a:off x="6355080"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6" name="Shape 4">
            <a:extLst xmlns:a="http://schemas.openxmlformats.org/drawingml/2006/main">
              <a:ext uri="{FF2B5EF4-FFF2-40B4-BE49-F238E27FC236}">
                <a16:creationId xmlns:a16="http://schemas.microsoft.com/office/drawing/2014/main" id="{11D23B44-2D18-4820-BC86-705FB31B3A4B}"/>
              </a:ext>
            </a:extLst>
          </p:cNvPr>
          <p:cNvSpPr>
            <a:spLocks xmlns:a="http://schemas.openxmlformats.org/drawingml/2006/main" noGrp="1"/>
          </p:cNvSpPr>
          <p:nvPr/>
        </p:nvSpPr>
        <p:spPr>
          <a:xfrm xmlns:a="http://schemas.openxmlformats.org/drawingml/2006/main">
            <a:off x="6556248"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7" name="Shape 5">
            <a:extLst xmlns:a="http://schemas.openxmlformats.org/drawingml/2006/main">
              <a:ext uri="{FF2B5EF4-FFF2-40B4-BE49-F238E27FC236}">
                <a16:creationId xmlns:a16="http://schemas.microsoft.com/office/drawing/2014/main" id="{6FF721B5-3EF3-472D-83E2-B6F1E868F816}"/>
              </a:ext>
            </a:extLst>
          </p:cNvPr>
          <p:cNvSpPr>
            <a:spLocks xmlns:a="http://schemas.openxmlformats.org/drawingml/2006/main" noGrp="1"/>
          </p:cNvSpPr>
          <p:nvPr/>
        </p:nvSpPr>
        <p:spPr>
          <a:xfrm xmlns:a="http://schemas.openxmlformats.org/drawingml/2006/main">
            <a:off x="6757416"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8" name="Shape 6">
            <a:extLst xmlns:a="http://schemas.openxmlformats.org/drawingml/2006/main">
              <a:ext uri="{FF2B5EF4-FFF2-40B4-BE49-F238E27FC236}">
                <a16:creationId xmlns:a16="http://schemas.microsoft.com/office/drawing/2014/main" id="{FA7B2A17-0B23-4846-A1C8-E72AC5ED8615}"/>
              </a:ext>
            </a:extLst>
          </p:cNvPr>
          <p:cNvSpPr>
            <a:spLocks xmlns:a="http://schemas.openxmlformats.org/drawingml/2006/main" noGrp="1"/>
          </p:cNvSpPr>
          <p:nvPr/>
        </p:nvSpPr>
        <p:spPr>
          <a:xfrm xmlns:a="http://schemas.openxmlformats.org/drawingml/2006/main" flipV="1">
            <a:off x="457200" y="4114800"/>
            <a:ext cx="3657600" cy="1828800"/>
          </a:xfrm>
          <a:prstGeom xmlns:a="http://schemas.openxmlformats.org/drawingml/2006/main" prst="line">
            <a:avLst/>
          </a:prstGeom>
          <a:noFill xmlns:a="http://schemas.openxmlformats.org/drawingml/2006/main"/>
          <a:ln xmlns:a="http://schemas.openxmlformats.org/drawingml/2006/main" w="12700">
            <a:solidFill>
              <a:srgbClr val="FFFFFF">
                <a:alpha val="40000"/>
              </a:srgbClr>
            </a:solidFill>
            <a:prstDash val="dash"/>
          </a:ln>
        </p:spPr>
      </p:sp>
      <p:pic>
        <p:nvPicPr>
          <p:cNvPr id="24" name="Image 0"/>
          <p:cNvPicPr>
            <a:picLocks xmlns:a="http://schemas.openxmlformats.org/drawingml/2006/main" noChangeAspect="1"/>
          </p:cNvPicPr>
          <p:nvPr/>
        </p:nvPicPr>
        <p:blipFill>
          <a:blip xmlns:r="http://schemas.openxmlformats.org/officeDocument/2006/relationships" xmlns:a="http://schemas.openxmlformats.org/drawingml/2006/main" r:embed="R271b4f0e93bb4161"/>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25" name="Image 1"/>
          <p:cNvPicPr>
            <a:picLocks xmlns:a="http://schemas.openxmlformats.org/drawingml/2006/main" noChangeAspect="1"/>
          </p:cNvPicPr>
          <p:nvPr/>
        </p:nvPicPr>
        <p:blipFill>
          <a:blip xmlns:r="http://schemas.openxmlformats.org/officeDocument/2006/relationships" xmlns:a="http://schemas.openxmlformats.org/drawingml/2006/main" r:embed="R3de9206730a04024"/>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A7E1A62F-0784-404D-87C8-ED3783D4B329}"/>
              </a:ext>
            </a:extLst>
          </p:cNvPr>
          <p:cNvSpPr>
            <a:spLocks xmlns:a="http://schemas.openxmlformats.org/drawingml/2006/main" noGrp="1"/>
          </p:cNvSpPr>
          <p:nvPr/>
        </p:nvSpPr>
        <p:spPr>
          <a:xfrm xmlns:a="http://schemas.openxmlformats.org/drawingml/2006/main">
            <a:off x="457200" y="2560320"/>
            <a:ext cx="10972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spc="600">
                <a:solidFill>
                  <a:srgbClr val="F37021"/>
                </a:solidFill>
                <a:latin typeface="Calibri"/>
                <a:ea typeface="Calibri"/>
                <a:cs typeface="Calibri"/>
              </a:rPr>
              <a:t>BAGIAN 03</a:t>
            </a:r>
            <a:endParaRPr sz="1600"/>
          </a:p>
        </p:txBody>
      </p:sp>
      <p:sp>
        <p:nvSpPr>
          <p:cNvPr id="12" name="Text 8">
            <a:extLst xmlns:a="http://schemas.openxmlformats.org/drawingml/2006/main">
              <a:ext uri="{FF2B5EF4-FFF2-40B4-BE49-F238E27FC236}">
                <a16:creationId xmlns:a16="http://schemas.microsoft.com/office/drawing/2014/main" id="{EA185CEB-7AEB-4C9E-BC5C-25AF77764E1D}"/>
              </a:ext>
            </a:extLst>
          </p:cNvPr>
          <p:cNvSpPr>
            <a:spLocks xmlns:a="http://schemas.openxmlformats.org/drawingml/2006/main" noGrp="1"/>
          </p:cNvSpPr>
          <p:nvPr/>
        </p:nvSpPr>
        <p:spPr>
          <a:xfrm xmlns:a="http://schemas.openxmlformats.org/drawingml/2006/main">
            <a:off x="457200" y="3017520"/>
            <a:ext cx="1124712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5200" b="1">
                <a:solidFill>
                  <a:srgbClr val="FFFFFF"/>
                </a:solidFill>
                <a:latin typeface="Calibri"/>
                <a:ea typeface="Calibri"/>
                <a:cs typeface="Calibri"/>
              </a:rPr>
              <a:t>File Operations</a:t>
            </a:r>
            <a:endParaRPr sz="5200"/>
          </a:p>
          <a:p xmlns:a="http://schemas.openxmlformats.org/drawingml/2006/main">
            <a:pPr marL="0" indent="0" algn="ctr">
              <a:buNone/>
            </a:pPr>
            <a:r>
              <a:rPr sz="5200" b="1">
                <a:solidFill>
                  <a:srgbClr val="FFFFFF"/>
                </a:solidFill>
                <a:latin typeface="Calibri"/>
                <a:ea typeface="Calibri"/>
                <a:cs typeface="Calibri"/>
              </a:rPr>
              <a:t>&amp; Pipes</a:t>
            </a:r>
            <a:endParaRPr sz="5200"/>
          </a:p>
        </p:txBody>
      </p:sp>
      <p:sp>
        <p:nvSpPr>
          <p:cNvPr id="13" name="Shape 9">
            <a:extLst xmlns:a="http://schemas.openxmlformats.org/drawingml/2006/main">
              <a:ext uri="{FF2B5EF4-FFF2-40B4-BE49-F238E27FC236}">
                <a16:creationId xmlns:a16="http://schemas.microsoft.com/office/drawing/2014/main" id="{D356BD37-4F05-44B8-BCEB-DB5F78D9F273}"/>
              </a:ext>
            </a:extLst>
          </p:cNvPr>
          <p:cNvSpPr>
            <a:spLocks xmlns:a="http://schemas.openxmlformats.org/drawingml/2006/main" noGrp="1"/>
          </p:cNvSpPr>
          <p:nvPr/>
        </p:nvSpPr>
        <p:spPr>
          <a:xfrm xmlns:a="http://schemas.openxmlformats.org/drawingml/2006/main">
            <a:off x="5715000" y="50292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BD2F1776-8004-4C5F-8F89-EE667933B438}"/>
              </a:ext>
            </a:extLst>
          </p:cNvPr>
          <p:cNvSpPr>
            <a:spLocks xmlns:a="http://schemas.openxmlformats.org/drawingml/2006/main" noGrp="1"/>
          </p:cNvSpPr>
          <p:nvPr/>
        </p:nvSpPr>
        <p:spPr>
          <a:xfrm xmlns:a="http://schemas.openxmlformats.org/drawingml/2006/main">
            <a:off x="457200" y="5212080"/>
            <a:ext cx="112471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i="1">
                <a:solidFill>
                  <a:srgbClr val="FED7AA"/>
                </a:solidFill>
                <a:latin typeface="Calibri"/>
                <a:ea typeface="Calibri"/>
                <a:cs typeface="Calibri"/>
              </a:rPr>
              <a:t>Membuat, memindah, menggabungkan - dan kekuatan pipe Unix.</a:t>
            </a:r>
            <a:endParaRPr sz="1400"/>
          </a:p>
        </p:txBody>
      </p:sp>
    </p:spTree>
    <p:extLst>
      <p:ext uri="{BB962C8B-B14F-4D97-AF65-F5344CB8AC3E}">
        <p14:creationId xmlns:p14="http://schemas.microsoft.com/office/powerpoint/2010/main" val="34790409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51280B-795D-4220-A96E-D66C6E6A56FE}"/>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2</a:t>
            </a:r>
            <a:endParaRPr sz="900"/>
          </a:p>
        </p:txBody>
      </p:sp>
      <p:sp>
        <p:nvSpPr>
          <p:cNvPr id="3" name="Text 1">
            <a:extLst xmlns:a="http://schemas.openxmlformats.org/drawingml/2006/main">
              <a:ext uri="{FF2B5EF4-FFF2-40B4-BE49-F238E27FC236}">
                <a16:creationId xmlns:a16="http://schemas.microsoft.com/office/drawing/2014/main" id="{F56CF3F0-6367-4BFF-AE84-8C7012F4C727}"/>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13</a:t>
            </a:r>
            <a:endParaRPr sz="900"/>
          </a:p>
        </p:txBody>
      </p:sp>
      <p:sp>
        <p:nvSpPr>
          <p:cNvPr id="4" name="Shape 2">
            <a:extLst xmlns:a="http://schemas.openxmlformats.org/drawingml/2006/main">
              <a:ext uri="{FF2B5EF4-FFF2-40B4-BE49-F238E27FC236}">
                <a16:creationId xmlns:a16="http://schemas.microsoft.com/office/drawing/2014/main" id="{4494ED34-FF77-473C-9E3A-57B9852029A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57" name="Image 0"/>
          <p:cNvPicPr>
            <a:picLocks xmlns:a="http://schemas.openxmlformats.org/drawingml/2006/main" noChangeAspect="1"/>
          </p:cNvPicPr>
          <p:nvPr/>
        </p:nvPicPr>
        <p:blipFill>
          <a:blip xmlns:r="http://schemas.openxmlformats.org/officeDocument/2006/relationships" xmlns:a="http://schemas.openxmlformats.org/drawingml/2006/main" r:embed="Rab3a8802074a4985"/>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58" name="Image 1"/>
          <p:cNvPicPr>
            <a:picLocks xmlns:a="http://schemas.openxmlformats.org/drawingml/2006/main" noChangeAspect="1"/>
          </p:cNvPicPr>
          <p:nvPr/>
        </p:nvPicPr>
        <p:blipFill>
          <a:blip xmlns:r="http://schemas.openxmlformats.org/officeDocument/2006/relationships" xmlns:a="http://schemas.openxmlformats.org/drawingml/2006/main" r:embed="R8c26ddbc2b334671"/>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E087C77B-B76F-4EF8-AAF0-DBC03B0A1DEB}"/>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4406EABC-0221-4D20-B23E-FAFB002493C8}"/>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Create, Copy, Move, Delete</a:t>
            </a:r>
            <a:endParaRPr sz="2200"/>
          </a:p>
        </p:txBody>
      </p:sp>
      <p:sp>
        <p:nvSpPr>
          <p:cNvPr id="9" name="Text 5">
            <a:extLst xmlns:a="http://schemas.openxmlformats.org/drawingml/2006/main">
              <a:ext uri="{FF2B5EF4-FFF2-40B4-BE49-F238E27FC236}">
                <a16:creationId xmlns:a16="http://schemas.microsoft.com/office/drawing/2014/main" id="{30CABBC2-9A9A-4EA6-A047-91A92C2B90F7}"/>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Operasi dasar manipulasi file</a:t>
            </a:r>
            <a:endParaRPr sz="1200"/>
          </a:p>
        </p:txBody>
      </p:sp>
      <p:sp>
        <p:nvSpPr>
          <p:cNvPr id="10" name="Shape 6">
            <a:extLst xmlns:a="http://schemas.openxmlformats.org/drawingml/2006/main">
              <a:ext uri="{FF2B5EF4-FFF2-40B4-BE49-F238E27FC236}">
                <a16:creationId xmlns:a16="http://schemas.microsoft.com/office/drawing/2014/main" id="{406FB82B-1718-4FA2-9545-7114DE90FE68}"/>
              </a:ext>
            </a:extLst>
          </p:cNvPr>
          <p:cNvSpPr>
            <a:spLocks xmlns:a="http://schemas.openxmlformats.org/drawingml/2006/main" noGrp="1"/>
          </p:cNvSpPr>
          <p:nvPr/>
        </p:nvSpPr>
        <p:spPr>
          <a:xfrm xmlns:a="http://schemas.openxmlformats.org/drawingml/2006/main">
            <a:off x="457200" y="1417320"/>
            <a:ext cx="5943600" cy="749808"/>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44D161F4-AC5B-4D37-A6A9-33F1BCC00365}"/>
              </a:ext>
            </a:extLst>
          </p:cNvPr>
          <p:cNvSpPr>
            <a:spLocks xmlns:a="http://schemas.openxmlformats.org/drawingml/2006/main" noGrp="1"/>
          </p:cNvSpPr>
          <p:nvPr/>
        </p:nvSpPr>
        <p:spPr>
          <a:xfrm xmlns:a="http://schemas.openxmlformats.org/drawingml/2006/main">
            <a:off x="457200" y="1417320"/>
            <a:ext cx="73152" cy="749808"/>
          </a:xfrm>
          <a:prstGeom xmlns:a="http://schemas.openxmlformats.org/drawingml/2006/main" prst="rect">
            <a:avLst/>
          </a:prstGeom>
          <a:solidFill xmlns:a="http://schemas.openxmlformats.org/drawingml/2006/main">
            <a:srgbClr val="059669"/>
          </a:solidFill>
          <a:ln xmlns:a="http://schemas.openxmlformats.org/drawingml/2006/main" w="12700">
            <a:solidFill>
              <a:srgbClr val="059669"/>
            </a:solidFill>
            <a:prstDash val="solid"/>
          </a:ln>
        </p:spPr>
      </p:sp>
      <p:pic>
        <p:nvPicPr>
          <p:cNvPr id="64" name="Image 2"/>
          <p:cNvPicPr>
            <a:picLocks xmlns:a="http://schemas.openxmlformats.org/drawingml/2006/main" noChangeAspect="1"/>
          </p:cNvPicPr>
          <p:nvPr/>
        </p:nvPicPr>
        <p:blipFill>
          <a:blip xmlns:r="http://schemas.openxmlformats.org/officeDocument/2006/relationships" xmlns:a="http://schemas.openxmlformats.org/drawingml/2006/main" r:embed="R8a25df76cd994f0b"/>
          <a:stretch xmlns:a="http://schemas.openxmlformats.org/drawingml/2006/main">
            <a:fillRect l="0" t="0" r="0" b="0"/>
          </a:stretch>
        </p:blipFill>
        <p:spPr>
          <a:xfrm xmlns:a="http://schemas.openxmlformats.org/drawingml/2006/main">
            <a:off x="640080" y="1600200"/>
            <a:ext cx="411480" cy="411480"/>
          </a:xfrm>
          <a:prstGeom xmlns:a="http://schemas.openxmlformats.org/drawingml/2006/main" prst="rect">
            <a:avLst/>
          </a:prstGeom>
        </p:spPr>
      </p:pic>
      <p:sp>
        <p:nvSpPr>
          <p:cNvPr id="13" name="Text 8">
            <a:extLst xmlns:a="http://schemas.openxmlformats.org/drawingml/2006/main">
              <a:ext uri="{FF2B5EF4-FFF2-40B4-BE49-F238E27FC236}">
                <a16:creationId xmlns:a16="http://schemas.microsoft.com/office/drawing/2014/main" id="{45474417-184B-4F7E-B0F1-582037CB06DB}"/>
              </a:ext>
            </a:extLst>
          </p:cNvPr>
          <p:cNvSpPr>
            <a:spLocks xmlns:a="http://schemas.openxmlformats.org/drawingml/2006/main" noGrp="1"/>
          </p:cNvSpPr>
          <p:nvPr/>
        </p:nvSpPr>
        <p:spPr>
          <a:xfrm xmlns:a="http://schemas.openxmlformats.org/drawingml/2006/main">
            <a:off x="1188720" y="1463040"/>
            <a:ext cx="2194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onsolas"/>
                <a:ea typeface="Consolas"/>
                <a:cs typeface="Consolas"/>
              </a:rPr>
              <a:t>touch &lt;file&gt;</a:t>
            </a:r>
            <a:endParaRPr sz="1300"/>
          </a:p>
        </p:txBody>
      </p:sp>
      <p:sp>
        <p:nvSpPr>
          <p:cNvPr id="14" name="Text 9">
            <a:extLst xmlns:a="http://schemas.openxmlformats.org/drawingml/2006/main">
              <a:ext uri="{FF2B5EF4-FFF2-40B4-BE49-F238E27FC236}">
                <a16:creationId xmlns:a16="http://schemas.microsoft.com/office/drawing/2014/main" id="{DB62C3FC-E7D3-40F9-9412-138014213654}"/>
              </a:ext>
            </a:extLst>
          </p:cNvPr>
          <p:cNvSpPr>
            <a:spLocks xmlns:a="http://schemas.openxmlformats.org/drawingml/2006/main" noGrp="1"/>
          </p:cNvSpPr>
          <p:nvPr/>
        </p:nvSpPr>
        <p:spPr>
          <a:xfrm xmlns:a="http://schemas.openxmlformats.org/drawingml/2006/main">
            <a:off x="1188720" y="1783080"/>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Buat file kosong (atau update timestamp kalau sudah ada)</a:t>
            </a:r>
            <a:endParaRPr sz="1000"/>
          </a:p>
        </p:txBody>
      </p:sp>
      <p:sp>
        <p:nvSpPr>
          <p:cNvPr id="15" name="Shape 10">
            <a:extLst xmlns:a="http://schemas.openxmlformats.org/drawingml/2006/main">
              <a:ext uri="{FF2B5EF4-FFF2-40B4-BE49-F238E27FC236}">
                <a16:creationId xmlns:a16="http://schemas.microsoft.com/office/drawing/2014/main" id="{274CD2C7-4C19-4811-A214-CF07521A7DBE}"/>
              </a:ext>
            </a:extLst>
          </p:cNvPr>
          <p:cNvSpPr>
            <a:spLocks xmlns:a="http://schemas.openxmlformats.org/drawingml/2006/main" noGrp="1"/>
          </p:cNvSpPr>
          <p:nvPr/>
        </p:nvSpPr>
        <p:spPr>
          <a:xfrm xmlns:a="http://schemas.openxmlformats.org/drawingml/2006/main">
            <a:off x="457200" y="2258568"/>
            <a:ext cx="5943600" cy="749808"/>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6" name="Shape 11">
            <a:extLst xmlns:a="http://schemas.openxmlformats.org/drawingml/2006/main">
              <a:ext uri="{FF2B5EF4-FFF2-40B4-BE49-F238E27FC236}">
                <a16:creationId xmlns:a16="http://schemas.microsoft.com/office/drawing/2014/main" id="{D8CFDD08-1019-484A-BCC0-CEB2AB91B64D}"/>
              </a:ext>
            </a:extLst>
          </p:cNvPr>
          <p:cNvSpPr>
            <a:spLocks xmlns:a="http://schemas.openxmlformats.org/drawingml/2006/main" noGrp="1"/>
          </p:cNvSpPr>
          <p:nvPr/>
        </p:nvSpPr>
        <p:spPr>
          <a:xfrm xmlns:a="http://schemas.openxmlformats.org/drawingml/2006/main">
            <a:off x="457200" y="2258568"/>
            <a:ext cx="73152" cy="749808"/>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pic>
        <p:nvPicPr>
          <p:cNvPr id="69" name="Image 3"/>
          <p:cNvPicPr>
            <a:picLocks xmlns:a="http://schemas.openxmlformats.org/drawingml/2006/main" noChangeAspect="1"/>
          </p:cNvPicPr>
          <p:nvPr/>
        </p:nvPicPr>
        <p:blipFill>
          <a:blip xmlns:r="http://schemas.openxmlformats.org/officeDocument/2006/relationships" xmlns:a="http://schemas.openxmlformats.org/drawingml/2006/main" r:embed="R3b12f0dc4e074638"/>
          <a:stretch xmlns:a="http://schemas.openxmlformats.org/drawingml/2006/main">
            <a:fillRect l="0" t="0" r="0" b="0"/>
          </a:stretch>
        </p:blipFill>
        <p:spPr>
          <a:xfrm xmlns:a="http://schemas.openxmlformats.org/drawingml/2006/main">
            <a:off x="640080" y="2441448"/>
            <a:ext cx="411480" cy="411480"/>
          </a:xfrm>
          <a:prstGeom xmlns:a="http://schemas.openxmlformats.org/drawingml/2006/main" prst="rect">
            <a:avLst/>
          </a:prstGeom>
        </p:spPr>
      </p:pic>
      <p:sp>
        <p:nvSpPr>
          <p:cNvPr id="18" name="Text 12">
            <a:extLst xmlns:a="http://schemas.openxmlformats.org/drawingml/2006/main">
              <a:ext uri="{FF2B5EF4-FFF2-40B4-BE49-F238E27FC236}">
                <a16:creationId xmlns:a16="http://schemas.microsoft.com/office/drawing/2014/main" id="{4384DA04-C660-4315-B16C-CB667FC4AFAE}"/>
              </a:ext>
            </a:extLst>
          </p:cNvPr>
          <p:cNvSpPr>
            <a:spLocks xmlns:a="http://schemas.openxmlformats.org/drawingml/2006/main" noGrp="1"/>
          </p:cNvSpPr>
          <p:nvPr/>
        </p:nvSpPr>
        <p:spPr>
          <a:xfrm xmlns:a="http://schemas.openxmlformats.org/drawingml/2006/main">
            <a:off x="1188720" y="2304288"/>
            <a:ext cx="2194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onsolas"/>
                <a:ea typeface="Consolas"/>
                <a:cs typeface="Consolas"/>
              </a:rPr>
              <a:t>mkdir -p &lt;dir&gt;</a:t>
            </a:r>
            <a:endParaRPr sz="1300"/>
          </a:p>
        </p:txBody>
      </p:sp>
      <p:sp>
        <p:nvSpPr>
          <p:cNvPr id="19" name="Text 13">
            <a:extLst xmlns:a="http://schemas.openxmlformats.org/drawingml/2006/main">
              <a:ext uri="{FF2B5EF4-FFF2-40B4-BE49-F238E27FC236}">
                <a16:creationId xmlns:a16="http://schemas.microsoft.com/office/drawing/2014/main" id="{4DBB7F79-2F42-49B4-A760-BD38CBEB8EEF}"/>
              </a:ext>
            </a:extLst>
          </p:cNvPr>
          <p:cNvSpPr>
            <a:spLocks xmlns:a="http://schemas.openxmlformats.org/drawingml/2006/main" noGrp="1"/>
          </p:cNvSpPr>
          <p:nvPr/>
        </p:nvSpPr>
        <p:spPr>
          <a:xfrm xmlns:a="http://schemas.openxmlformats.org/drawingml/2006/main">
            <a:off x="1188720" y="2624328"/>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Buat direktori. Flag -p untuk buat parent sekalian</a:t>
            </a:r>
            <a:endParaRPr sz="1000"/>
          </a:p>
        </p:txBody>
      </p:sp>
      <p:sp>
        <p:nvSpPr>
          <p:cNvPr id="20" name="Shape 14">
            <a:extLst xmlns:a="http://schemas.openxmlformats.org/drawingml/2006/main">
              <a:ext uri="{FF2B5EF4-FFF2-40B4-BE49-F238E27FC236}">
                <a16:creationId xmlns:a16="http://schemas.microsoft.com/office/drawing/2014/main" id="{E88A7399-22F6-4F71-B7F1-2A4AE1CC6A12}"/>
              </a:ext>
            </a:extLst>
          </p:cNvPr>
          <p:cNvSpPr>
            <a:spLocks xmlns:a="http://schemas.openxmlformats.org/drawingml/2006/main" noGrp="1"/>
          </p:cNvSpPr>
          <p:nvPr/>
        </p:nvSpPr>
        <p:spPr>
          <a:xfrm xmlns:a="http://schemas.openxmlformats.org/drawingml/2006/main">
            <a:off x="457200" y="3099816"/>
            <a:ext cx="5943600" cy="749808"/>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1" name="Shape 15">
            <a:extLst xmlns:a="http://schemas.openxmlformats.org/drawingml/2006/main">
              <a:ext uri="{FF2B5EF4-FFF2-40B4-BE49-F238E27FC236}">
                <a16:creationId xmlns:a16="http://schemas.microsoft.com/office/drawing/2014/main" id="{9D898F0B-39E4-4D11-90EE-18C41F498C5F}"/>
              </a:ext>
            </a:extLst>
          </p:cNvPr>
          <p:cNvSpPr>
            <a:spLocks xmlns:a="http://schemas.openxmlformats.org/drawingml/2006/main" noGrp="1"/>
          </p:cNvSpPr>
          <p:nvPr/>
        </p:nvSpPr>
        <p:spPr>
          <a:xfrm xmlns:a="http://schemas.openxmlformats.org/drawingml/2006/main">
            <a:off x="457200" y="3099816"/>
            <a:ext cx="73152" cy="749808"/>
          </a:xfrm>
          <a:prstGeom xmlns:a="http://schemas.openxmlformats.org/drawingml/2006/main" prst="rect">
            <a:avLst/>
          </a:prstGeom>
          <a:solidFill xmlns:a="http://schemas.openxmlformats.org/drawingml/2006/main">
            <a:srgbClr val="1E40AF"/>
          </a:solidFill>
          <a:ln xmlns:a="http://schemas.openxmlformats.org/drawingml/2006/main" w="12700">
            <a:solidFill>
              <a:srgbClr val="1E40AF"/>
            </a:solidFill>
            <a:prstDash val="solid"/>
          </a:ln>
        </p:spPr>
      </p:sp>
      <p:pic>
        <p:nvPicPr>
          <p:cNvPr id="74" name="Image 4"/>
          <p:cNvPicPr>
            <a:picLocks xmlns:a="http://schemas.openxmlformats.org/drawingml/2006/main" noChangeAspect="1"/>
          </p:cNvPicPr>
          <p:nvPr/>
        </p:nvPicPr>
        <p:blipFill>
          <a:blip xmlns:r="http://schemas.openxmlformats.org/officeDocument/2006/relationships" xmlns:a="http://schemas.openxmlformats.org/drawingml/2006/main" r:embed="Rf95aea7120754470"/>
          <a:stretch xmlns:a="http://schemas.openxmlformats.org/drawingml/2006/main">
            <a:fillRect l="0" t="0" r="0" b="0"/>
          </a:stretch>
        </p:blipFill>
        <p:spPr>
          <a:xfrm xmlns:a="http://schemas.openxmlformats.org/drawingml/2006/main">
            <a:off x="640080" y="3282696"/>
            <a:ext cx="411480" cy="411480"/>
          </a:xfrm>
          <a:prstGeom xmlns:a="http://schemas.openxmlformats.org/drawingml/2006/main" prst="rect">
            <a:avLst/>
          </a:prstGeom>
        </p:spPr>
      </p:pic>
      <p:sp>
        <p:nvSpPr>
          <p:cNvPr id="23" name="Text 16">
            <a:extLst xmlns:a="http://schemas.openxmlformats.org/drawingml/2006/main">
              <a:ext uri="{FF2B5EF4-FFF2-40B4-BE49-F238E27FC236}">
                <a16:creationId xmlns:a16="http://schemas.microsoft.com/office/drawing/2014/main" id="{A5E21CD5-2740-440E-9AEF-DAE4A85B51E4}"/>
              </a:ext>
            </a:extLst>
          </p:cNvPr>
          <p:cNvSpPr>
            <a:spLocks xmlns:a="http://schemas.openxmlformats.org/drawingml/2006/main" noGrp="1"/>
          </p:cNvSpPr>
          <p:nvPr/>
        </p:nvSpPr>
        <p:spPr>
          <a:xfrm xmlns:a="http://schemas.openxmlformats.org/drawingml/2006/main">
            <a:off x="1188720" y="3145536"/>
            <a:ext cx="2194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onsolas"/>
                <a:ea typeface="Consolas"/>
                <a:cs typeface="Consolas"/>
              </a:rPr>
              <a:t>cp -r &lt;src&gt; &lt;dst&gt;</a:t>
            </a:r>
            <a:endParaRPr sz="1300"/>
          </a:p>
        </p:txBody>
      </p:sp>
      <p:sp>
        <p:nvSpPr>
          <p:cNvPr id="24" name="Text 17">
            <a:extLst xmlns:a="http://schemas.openxmlformats.org/drawingml/2006/main">
              <a:ext uri="{FF2B5EF4-FFF2-40B4-BE49-F238E27FC236}">
                <a16:creationId xmlns:a16="http://schemas.microsoft.com/office/drawing/2014/main" id="{1E8B5493-1B6B-42C4-890B-DDD0AA5B684F}"/>
              </a:ext>
            </a:extLst>
          </p:cNvPr>
          <p:cNvSpPr>
            <a:spLocks xmlns:a="http://schemas.openxmlformats.org/drawingml/2006/main" noGrp="1"/>
          </p:cNvSpPr>
          <p:nvPr/>
        </p:nvSpPr>
        <p:spPr>
          <a:xfrm xmlns:a="http://schemas.openxmlformats.org/drawingml/2006/main">
            <a:off x="1188720" y="3465576"/>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Copy file/folder. Flag -r untuk recursive (folder)</a:t>
            </a:r>
            <a:endParaRPr sz="1000"/>
          </a:p>
        </p:txBody>
      </p:sp>
      <p:sp>
        <p:nvSpPr>
          <p:cNvPr id="25" name="Shape 18">
            <a:extLst xmlns:a="http://schemas.openxmlformats.org/drawingml/2006/main">
              <a:ext uri="{FF2B5EF4-FFF2-40B4-BE49-F238E27FC236}">
                <a16:creationId xmlns:a16="http://schemas.microsoft.com/office/drawing/2014/main" id="{A684F01D-506E-408E-B914-48F403EA00CE}"/>
              </a:ext>
            </a:extLst>
          </p:cNvPr>
          <p:cNvSpPr>
            <a:spLocks xmlns:a="http://schemas.openxmlformats.org/drawingml/2006/main" noGrp="1"/>
          </p:cNvSpPr>
          <p:nvPr/>
        </p:nvSpPr>
        <p:spPr>
          <a:xfrm xmlns:a="http://schemas.openxmlformats.org/drawingml/2006/main">
            <a:off x="457200" y="3941064"/>
            <a:ext cx="5943600" cy="749808"/>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6" name="Shape 19">
            <a:extLst xmlns:a="http://schemas.openxmlformats.org/drawingml/2006/main">
              <a:ext uri="{FF2B5EF4-FFF2-40B4-BE49-F238E27FC236}">
                <a16:creationId xmlns:a16="http://schemas.microsoft.com/office/drawing/2014/main" id="{A74A7D9A-186D-4018-B755-472BB4A06499}"/>
              </a:ext>
            </a:extLst>
          </p:cNvPr>
          <p:cNvSpPr>
            <a:spLocks xmlns:a="http://schemas.openxmlformats.org/drawingml/2006/main" noGrp="1"/>
          </p:cNvSpPr>
          <p:nvPr/>
        </p:nvSpPr>
        <p:spPr>
          <a:xfrm xmlns:a="http://schemas.openxmlformats.org/drawingml/2006/main">
            <a:off x="457200" y="3941064"/>
            <a:ext cx="73152" cy="749808"/>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79" name="Image 5"/>
          <p:cNvPicPr>
            <a:picLocks xmlns:a="http://schemas.openxmlformats.org/drawingml/2006/main" noChangeAspect="1"/>
          </p:cNvPicPr>
          <p:nvPr/>
        </p:nvPicPr>
        <p:blipFill>
          <a:blip xmlns:r="http://schemas.openxmlformats.org/officeDocument/2006/relationships" xmlns:a="http://schemas.openxmlformats.org/drawingml/2006/main" r:embed="R015dda558e734aea"/>
          <a:stretch xmlns:a="http://schemas.openxmlformats.org/drawingml/2006/main">
            <a:fillRect l="0" t="0" r="0" b="0"/>
          </a:stretch>
        </p:blipFill>
        <p:spPr>
          <a:xfrm xmlns:a="http://schemas.openxmlformats.org/drawingml/2006/main">
            <a:off x="640080" y="4123944"/>
            <a:ext cx="411480" cy="411480"/>
          </a:xfrm>
          <a:prstGeom xmlns:a="http://schemas.openxmlformats.org/drawingml/2006/main" prst="rect">
            <a:avLst/>
          </a:prstGeom>
        </p:spPr>
      </p:pic>
      <p:sp>
        <p:nvSpPr>
          <p:cNvPr id="28" name="Text 20">
            <a:extLst xmlns:a="http://schemas.openxmlformats.org/drawingml/2006/main">
              <a:ext uri="{FF2B5EF4-FFF2-40B4-BE49-F238E27FC236}">
                <a16:creationId xmlns:a16="http://schemas.microsoft.com/office/drawing/2014/main" id="{A900D811-8DBC-453A-B210-22D7B456BB69}"/>
              </a:ext>
            </a:extLst>
          </p:cNvPr>
          <p:cNvSpPr>
            <a:spLocks xmlns:a="http://schemas.openxmlformats.org/drawingml/2006/main" noGrp="1"/>
          </p:cNvSpPr>
          <p:nvPr/>
        </p:nvSpPr>
        <p:spPr>
          <a:xfrm xmlns:a="http://schemas.openxmlformats.org/drawingml/2006/main">
            <a:off x="1188720" y="3986784"/>
            <a:ext cx="2194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onsolas"/>
                <a:ea typeface="Consolas"/>
                <a:cs typeface="Consolas"/>
              </a:rPr>
              <a:t>mv &lt;src&gt; &lt;dst&gt;</a:t>
            </a:r>
            <a:endParaRPr sz="1300"/>
          </a:p>
        </p:txBody>
      </p:sp>
      <p:sp>
        <p:nvSpPr>
          <p:cNvPr id="29" name="Text 21">
            <a:extLst xmlns:a="http://schemas.openxmlformats.org/drawingml/2006/main">
              <a:ext uri="{FF2B5EF4-FFF2-40B4-BE49-F238E27FC236}">
                <a16:creationId xmlns:a16="http://schemas.microsoft.com/office/drawing/2014/main" id="{17E18183-48E1-4AD5-8B16-881067F4B8D6}"/>
              </a:ext>
            </a:extLst>
          </p:cNvPr>
          <p:cNvSpPr>
            <a:spLocks xmlns:a="http://schemas.openxmlformats.org/drawingml/2006/main" noGrp="1"/>
          </p:cNvSpPr>
          <p:nvPr/>
        </p:nvSpPr>
        <p:spPr>
          <a:xfrm xmlns:a="http://schemas.openxmlformats.org/drawingml/2006/main">
            <a:off x="1188720" y="4306824"/>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Move atau rename (tidak ada command 'rename' di Linux)</a:t>
            </a:r>
            <a:endParaRPr sz="1000"/>
          </a:p>
        </p:txBody>
      </p:sp>
      <p:sp>
        <p:nvSpPr>
          <p:cNvPr id="30" name="Shape 22">
            <a:extLst xmlns:a="http://schemas.openxmlformats.org/drawingml/2006/main">
              <a:ext uri="{FF2B5EF4-FFF2-40B4-BE49-F238E27FC236}">
                <a16:creationId xmlns:a16="http://schemas.microsoft.com/office/drawing/2014/main" id="{BBBA7EDD-731F-45E7-9D11-04EA9099EE67}"/>
              </a:ext>
            </a:extLst>
          </p:cNvPr>
          <p:cNvSpPr>
            <a:spLocks xmlns:a="http://schemas.openxmlformats.org/drawingml/2006/main" noGrp="1"/>
          </p:cNvSpPr>
          <p:nvPr/>
        </p:nvSpPr>
        <p:spPr>
          <a:xfrm xmlns:a="http://schemas.openxmlformats.org/drawingml/2006/main">
            <a:off x="457200" y="4782312"/>
            <a:ext cx="5943600" cy="749808"/>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1" name="Shape 23">
            <a:extLst xmlns:a="http://schemas.openxmlformats.org/drawingml/2006/main">
              <a:ext uri="{FF2B5EF4-FFF2-40B4-BE49-F238E27FC236}">
                <a16:creationId xmlns:a16="http://schemas.microsoft.com/office/drawing/2014/main" id="{E2481C56-3F10-4BB4-88D4-589C7759C27F}"/>
              </a:ext>
            </a:extLst>
          </p:cNvPr>
          <p:cNvSpPr>
            <a:spLocks xmlns:a="http://schemas.openxmlformats.org/drawingml/2006/main" noGrp="1"/>
          </p:cNvSpPr>
          <p:nvPr/>
        </p:nvSpPr>
        <p:spPr>
          <a:xfrm xmlns:a="http://schemas.openxmlformats.org/drawingml/2006/main">
            <a:off x="457200" y="4782312"/>
            <a:ext cx="73152" cy="749808"/>
          </a:xfrm>
          <a:prstGeom xmlns:a="http://schemas.openxmlformats.org/drawingml/2006/main" prst="rect">
            <a:avLst/>
          </a:prstGeom>
          <a:solidFill xmlns:a="http://schemas.openxmlformats.org/drawingml/2006/main">
            <a:srgbClr val="DC2626"/>
          </a:solidFill>
          <a:ln xmlns:a="http://schemas.openxmlformats.org/drawingml/2006/main" w="12700">
            <a:solidFill>
              <a:srgbClr val="DC2626"/>
            </a:solidFill>
            <a:prstDash val="solid"/>
          </a:ln>
        </p:spPr>
      </p:sp>
      <p:pic>
        <p:nvPicPr>
          <p:cNvPr id="84" name="Image 6"/>
          <p:cNvPicPr>
            <a:picLocks xmlns:a="http://schemas.openxmlformats.org/drawingml/2006/main" noChangeAspect="1"/>
          </p:cNvPicPr>
          <p:nvPr/>
        </p:nvPicPr>
        <p:blipFill>
          <a:blip xmlns:r="http://schemas.openxmlformats.org/officeDocument/2006/relationships" xmlns:a="http://schemas.openxmlformats.org/drawingml/2006/main" r:embed="R8a6274dd99e04aa0"/>
          <a:stretch xmlns:a="http://schemas.openxmlformats.org/drawingml/2006/main">
            <a:fillRect l="0" t="0" r="0" b="0"/>
          </a:stretch>
        </p:blipFill>
        <p:spPr>
          <a:xfrm xmlns:a="http://schemas.openxmlformats.org/drawingml/2006/main">
            <a:off x="640080" y="4965192"/>
            <a:ext cx="411480" cy="411480"/>
          </a:xfrm>
          <a:prstGeom xmlns:a="http://schemas.openxmlformats.org/drawingml/2006/main" prst="rect">
            <a:avLst/>
          </a:prstGeom>
        </p:spPr>
      </p:pic>
      <p:sp>
        <p:nvSpPr>
          <p:cNvPr id="33" name="Text 24">
            <a:extLst xmlns:a="http://schemas.openxmlformats.org/drawingml/2006/main">
              <a:ext uri="{FF2B5EF4-FFF2-40B4-BE49-F238E27FC236}">
                <a16:creationId xmlns:a16="http://schemas.microsoft.com/office/drawing/2014/main" id="{7D508D67-4D9C-4DD0-A33E-186332F7299C}"/>
              </a:ext>
            </a:extLst>
          </p:cNvPr>
          <p:cNvSpPr>
            <a:spLocks xmlns:a="http://schemas.openxmlformats.org/drawingml/2006/main" noGrp="1"/>
          </p:cNvSpPr>
          <p:nvPr/>
        </p:nvSpPr>
        <p:spPr>
          <a:xfrm xmlns:a="http://schemas.openxmlformats.org/drawingml/2006/main">
            <a:off x="1188720" y="4828032"/>
            <a:ext cx="2194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onsolas"/>
                <a:ea typeface="Consolas"/>
                <a:cs typeface="Consolas"/>
              </a:rPr>
              <a:t>rm -rf &lt;path&gt;</a:t>
            </a:r>
            <a:endParaRPr sz="1300"/>
          </a:p>
        </p:txBody>
      </p:sp>
      <p:sp>
        <p:nvSpPr>
          <p:cNvPr id="34" name="Text 25">
            <a:extLst xmlns:a="http://schemas.openxmlformats.org/drawingml/2006/main">
              <a:ext uri="{FF2B5EF4-FFF2-40B4-BE49-F238E27FC236}">
                <a16:creationId xmlns:a16="http://schemas.microsoft.com/office/drawing/2014/main" id="{A0A468DE-D585-4B13-9382-E8BF6FEC7167}"/>
              </a:ext>
            </a:extLst>
          </p:cNvPr>
          <p:cNvSpPr>
            <a:spLocks xmlns:a="http://schemas.openxmlformats.org/drawingml/2006/main" noGrp="1"/>
          </p:cNvSpPr>
          <p:nvPr/>
        </p:nvSpPr>
        <p:spPr>
          <a:xfrm xmlns:a="http://schemas.openxmlformats.org/drawingml/2006/main">
            <a:off x="1188720" y="5148072"/>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Delete. -r recursive, -f force. HATI-HATI - tidak ada trash!</a:t>
            </a:r>
            <a:endParaRPr sz="1000"/>
          </a:p>
        </p:txBody>
      </p:sp>
      <p:sp>
        <p:nvSpPr>
          <p:cNvPr id="35" name="Shape 26">
            <a:extLst xmlns:a="http://schemas.openxmlformats.org/drawingml/2006/main">
              <a:ext uri="{FF2B5EF4-FFF2-40B4-BE49-F238E27FC236}">
                <a16:creationId xmlns:a16="http://schemas.microsoft.com/office/drawing/2014/main" id="{80C42194-22BA-4659-9944-F76E57CA5A97}"/>
              </a:ext>
            </a:extLst>
          </p:cNvPr>
          <p:cNvSpPr>
            <a:spLocks xmlns:a="http://schemas.openxmlformats.org/drawingml/2006/main" noGrp="1"/>
          </p:cNvSpPr>
          <p:nvPr/>
        </p:nvSpPr>
        <p:spPr>
          <a:xfrm xmlns:a="http://schemas.openxmlformats.org/drawingml/2006/main">
            <a:off x="6675120" y="1417320"/>
            <a:ext cx="5029200" cy="1463040"/>
          </a:xfrm>
          <a:prstGeom xmlns:a="http://schemas.openxmlformats.org/drawingml/2006/main" prst="rect">
            <a:avLst/>
          </a:prstGeom>
          <a:solidFill xmlns:a="http://schemas.openxmlformats.org/drawingml/2006/main">
            <a:srgbClr val="FEE2E2"/>
          </a:solidFill>
          <a:ln xmlns:a="http://schemas.openxmlformats.org/drawingml/2006/main" w="25400">
            <a:solidFill>
              <a:srgbClr val="DC2626"/>
            </a:solidFill>
            <a:prstDash val="solid"/>
          </a:ln>
        </p:spPr>
      </p:sp>
      <p:pic>
        <p:nvPicPr>
          <p:cNvPr id="88" name="Image 7"/>
          <p:cNvPicPr>
            <a:picLocks xmlns:a="http://schemas.openxmlformats.org/drawingml/2006/main" noChangeAspect="1"/>
          </p:cNvPicPr>
          <p:nvPr/>
        </p:nvPicPr>
        <p:blipFill>
          <a:blip xmlns:r="http://schemas.openxmlformats.org/officeDocument/2006/relationships" xmlns:a="http://schemas.openxmlformats.org/drawingml/2006/main" r:embed="R21c9820404d4483a"/>
          <a:stretch xmlns:a="http://schemas.openxmlformats.org/drawingml/2006/main">
            <a:fillRect l="0" t="0" r="0" b="0"/>
          </a:stretch>
        </p:blipFill>
        <p:spPr>
          <a:xfrm xmlns:a="http://schemas.openxmlformats.org/drawingml/2006/main">
            <a:off x="6858000" y="1600200"/>
            <a:ext cx="502920" cy="502920"/>
          </a:xfrm>
          <a:prstGeom xmlns:a="http://schemas.openxmlformats.org/drawingml/2006/main" prst="rect">
            <a:avLst/>
          </a:prstGeom>
        </p:spPr>
      </p:pic>
      <p:sp>
        <p:nvSpPr>
          <p:cNvPr id="37" name="Text 27">
            <a:extLst xmlns:a="http://schemas.openxmlformats.org/drawingml/2006/main">
              <a:ext uri="{FF2B5EF4-FFF2-40B4-BE49-F238E27FC236}">
                <a16:creationId xmlns:a16="http://schemas.microsoft.com/office/drawing/2014/main" id="{B47819B6-E493-44C4-BB3D-C9D2B77FC0D0}"/>
              </a:ext>
            </a:extLst>
          </p:cNvPr>
          <p:cNvSpPr>
            <a:spLocks xmlns:a="http://schemas.openxmlformats.org/drawingml/2006/main" noGrp="1"/>
          </p:cNvSpPr>
          <p:nvPr/>
        </p:nvSpPr>
        <p:spPr>
          <a:xfrm xmlns:a="http://schemas.openxmlformats.org/drawingml/2006/main">
            <a:off x="7498080" y="1554480"/>
            <a:ext cx="4114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DC2626"/>
                </a:solidFill>
                <a:latin typeface="Calibri"/>
                <a:ea typeface="Calibri"/>
                <a:cs typeface="Calibri"/>
              </a:rPr>
              <a:t>rm -rf / akan menghapus SEMUA file di sistem</a:t>
            </a:r>
            <a:endParaRPr sz="1300"/>
          </a:p>
        </p:txBody>
      </p:sp>
      <p:sp>
        <p:nvSpPr>
          <p:cNvPr id="38" name="Text 28">
            <a:extLst xmlns:a="http://schemas.openxmlformats.org/drawingml/2006/main">
              <a:ext uri="{FF2B5EF4-FFF2-40B4-BE49-F238E27FC236}">
                <a16:creationId xmlns:a16="http://schemas.microsoft.com/office/drawing/2014/main" id="{A96EF42C-CF98-4B13-A7F7-EE1CE92731BF}"/>
              </a:ext>
            </a:extLst>
          </p:cNvPr>
          <p:cNvSpPr>
            <a:spLocks xmlns:a="http://schemas.openxmlformats.org/drawingml/2006/main" noGrp="1"/>
          </p:cNvSpPr>
          <p:nvPr/>
        </p:nvSpPr>
        <p:spPr>
          <a:xfrm xmlns:a="http://schemas.openxmlformats.org/drawingml/2006/main">
            <a:off x="6858000" y="2103120"/>
            <a:ext cx="475488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Selalu cek: pwd, lalu ls. Jangan jalankan rm -rf dengan variabel kosong (rm -rf $X/* bisa fatal kalau $X tidak diset).</a:t>
            </a:r>
            <a:endParaRPr sz="1100"/>
          </a:p>
        </p:txBody>
      </p:sp>
      <p:sp>
        <p:nvSpPr>
          <p:cNvPr id="39" name="Shape 29">
            <a:extLst xmlns:a="http://schemas.openxmlformats.org/drawingml/2006/main">
              <a:ext uri="{FF2B5EF4-FFF2-40B4-BE49-F238E27FC236}">
                <a16:creationId xmlns:a16="http://schemas.microsoft.com/office/drawing/2014/main" id="{77A041BF-B489-4397-A7E8-7A48037A5FDF}"/>
              </a:ext>
            </a:extLst>
          </p:cNvPr>
          <p:cNvSpPr>
            <a:spLocks xmlns:a="http://schemas.openxmlformats.org/drawingml/2006/main" noGrp="1"/>
          </p:cNvSpPr>
          <p:nvPr/>
        </p:nvSpPr>
        <p:spPr>
          <a:xfrm xmlns:a="http://schemas.openxmlformats.org/drawingml/2006/main">
            <a:off x="6675120" y="3017520"/>
            <a:ext cx="5029200" cy="338328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40" name="Shape 30">
            <a:extLst xmlns:a="http://schemas.openxmlformats.org/drawingml/2006/main">
              <a:ext uri="{FF2B5EF4-FFF2-40B4-BE49-F238E27FC236}">
                <a16:creationId xmlns:a16="http://schemas.microsoft.com/office/drawing/2014/main" id="{05C46804-0170-496E-A7F5-991A50108BB7}"/>
              </a:ext>
            </a:extLst>
          </p:cNvPr>
          <p:cNvSpPr>
            <a:spLocks xmlns:a="http://schemas.openxmlformats.org/drawingml/2006/main" noGrp="1"/>
          </p:cNvSpPr>
          <p:nvPr/>
        </p:nvSpPr>
        <p:spPr>
          <a:xfrm xmlns:a="http://schemas.openxmlformats.org/drawingml/2006/main">
            <a:off x="6675120" y="3017520"/>
            <a:ext cx="502920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41" name="Shape 31">
            <a:extLst xmlns:a="http://schemas.openxmlformats.org/drawingml/2006/main">
              <a:ext uri="{FF2B5EF4-FFF2-40B4-BE49-F238E27FC236}">
                <a16:creationId xmlns:a16="http://schemas.microsoft.com/office/drawing/2014/main" id="{7C83A9C1-6270-4746-95B1-579125C2DBE2}"/>
              </a:ext>
            </a:extLst>
          </p:cNvPr>
          <p:cNvSpPr>
            <a:spLocks xmlns:a="http://schemas.openxmlformats.org/drawingml/2006/main" noGrp="1"/>
          </p:cNvSpPr>
          <p:nvPr/>
        </p:nvSpPr>
        <p:spPr>
          <a:xfrm xmlns:a="http://schemas.openxmlformats.org/drawingml/2006/main">
            <a:off x="6766560" y="309981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42" name="Shape 32">
            <a:extLst xmlns:a="http://schemas.openxmlformats.org/drawingml/2006/main">
              <a:ext uri="{FF2B5EF4-FFF2-40B4-BE49-F238E27FC236}">
                <a16:creationId xmlns:a16="http://schemas.microsoft.com/office/drawing/2014/main" id="{98F3C145-23D3-4205-930A-29F3639AA5D7}"/>
              </a:ext>
            </a:extLst>
          </p:cNvPr>
          <p:cNvSpPr>
            <a:spLocks xmlns:a="http://schemas.openxmlformats.org/drawingml/2006/main" noGrp="1"/>
          </p:cNvSpPr>
          <p:nvPr/>
        </p:nvSpPr>
        <p:spPr>
          <a:xfrm xmlns:a="http://schemas.openxmlformats.org/drawingml/2006/main">
            <a:off x="6903720" y="309981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43" name="Shape 33">
            <a:extLst xmlns:a="http://schemas.openxmlformats.org/drawingml/2006/main">
              <a:ext uri="{FF2B5EF4-FFF2-40B4-BE49-F238E27FC236}">
                <a16:creationId xmlns:a16="http://schemas.microsoft.com/office/drawing/2014/main" id="{CDE5A43B-B3F2-4654-AA20-8B5913A570CA}"/>
              </a:ext>
            </a:extLst>
          </p:cNvPr>
          <p:cNvSpPr>
            <a:spLocks xmlns:a="http://schemas.openxmlformats.org/drawingml/2006/main" noGrp="1"/>
          </p:cNvSpPr>
          <p:nvPr/>
        </p:nvSpPr>
        <p:spPr>
          <a:xfrm xmlns:a="http://schemas.openxmlformats.org/drawingml/2006/main">
            <a:off x="7040880" y="309981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44" name="Text 34">
            <a:extLst xmlns:a="http://schemas.openxmlformats.org/drawingml/2006/main">
              <a:ext uri="{FF2B5EF4-FFF2-40B4-BE49-F238E27FC236}">
                <a16:creationId xmlns:a16="http://schemas.microsoft.com/office/drawing/2014/main" id="{C4568B8A-E2D1-45EE-8F46-8A0968330C13}"/>
              </a:ext>
            </a:extLst>
          </p:cNvPr>
          <p:cNvSpPr>
            <a:spLocks xmlns:a="http://schemas.openxmlformats.org/drawingml/2006/main" noGrp="1"/>
          </p:cNvSpPr>
          <p:nvPr/>
        </p:nvSpPr>
        <p:spPr>
          <a:xfrm xmlns:a="http://schemas.openxmlformats.org/drawingml/2006/main">
            <a:off x="7223760" y="3017520"/>
            <a:ext cx="4297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common operations</a:t>
            </a:r>
            <a:endParaRPr sz="900"/>
          </a:p>
        </p:txBody>
      </p:sp>
      <p:sp>
        <p:nvSpPr>
          <p:cNvPr id="45" name="Text 35">
            <a:extLst xmlns:a="http://schemas.openxmlformats.org/drawingml/2006/main">
              <a:ext uri="{FF2B5EF4-FFF2-40B4-BE49-F238E27FC236}">
                <a16:creationId xmlns:a16="http://schemas.microsoft.com/office/drawing/2014/main" id="{FBB6C7AB-F08E-4F2F-BDE9-B58E51B95879}"/>
              </a:ext>
            </a:extLst>
          </p:cNvPr>
          <p:cNvSpPr>
            <a:spLocks xmlns:a="http://schemas.openxmlformats.org/drawingml/2006/main" noGrp="1"/>
          </p:cNvSpPr>
          <p:nvPr/>
        </p:nvSpPr>
        <p:spPr>
          <a:xfrm xmlns:a="http://schemas.openxmlformats.org/drawingml/2006/main">
            <a:off x="6812280" y="3383280"/>
            <a:ext cx="4754880" cy="2926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mkdir -p projects/cloud/notes</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touch projects/cloud/notes/m02.md</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cp m02.md m02-backup.md</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mv m02-backup.md ../archive/</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Rename file:</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mv old-name.txt new-name.txt</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Hapus folder beserta isinya:</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rm -rf temp/</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Confirm sebelum delete (-i):</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rm -i important.txt</a:t>
            </a:r>
            <a:endParaRPr sz="1100"/>
          </a:p>
          <a:p xmlns:a="http://schemas.openxmlformats.org/drawingml/2006/main">
            <a:pPr marL="0" indent="0">
              <a:spcAft>
                <a:spcPts val="200"/>
              </a:spcAft>
              <a:buNone/>
            </a:pPr>
            <a:r>
              <a:rPr sz="1100">
                <a:solidFill>
                  <a:srgbClr val="94A3B8"/>
                </a:solidFill>
                <a:latin typeface="Consolas"/>
                <a:ea typeface="Consolas"/>
                <a:cs typeface="Consolas"/>
              </a:rPr>
              <a:t>rm: remove regular file </a:t>
            </a:r>
            <a:endParaRPr sz="1100"/>
          </a:p>
          <a:p xmlns:a="http://schemas.openxmlformats.org/drawingml/2006/main">
            <a:pPr marL="0" indent="0">
              <a:spcAft>
                <a:spcPts val="200"/>
              </a:spcAft>
              <a:buNone/>
            </a:pPr>
            <a:r>
              <a:rPr sz="1100">
                <a:solidFill>
                  <a:srgbClr val="F37021"/>
                </a:solidFill>
                <a:latin typeface="Consolas"/>
                <a:ea typeface="Consolas"/>
                <a:cs typeface="Consolas"/>
              </a:rPr>
              <a:t>'important.txt'?</a:t>
            </a:r>
            <a:endParaRPr sz="1100"/>
          </a:p>
        </p:txBody>
      </p:sp>
    </p:spTree>
    <p:extLst>
      <p:ext uri="{BB962C8B-B14F-4D97-AF65-F5344CB8AC3E}">
        <p14:creationId xmlns:p14="http://schemas.microsoft.com/office/powerpoint/2010/main" val="133301991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03365B5-2021-4141-BAE1-C6AA418BBE05}"/>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2</a:t>
            </a:r>
            <a:endParaRPr sz="900"/>
          </a:p>
        </p:txBody>
      </p:sp>
      <p:sp>
        <p:nvSpPr>
          <p:cNvPr id="3" name="Text 1">
            <a:extLst xmlns:a="http://schemas.openxmlformats.org/drawingml/2006/main">
              <a:ext uri="{FF2B5EF4-FFF2-40B4-BE49-F238E27FC236}">
                <a16:creationId xmlns:a16="http://schemas.microsoft.com/office/drawing/2014/main" id="{9B9A8975-A791-45CC-BBA1-09C792C36B91}"/>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14</a:t>
            </a:r>
            <a:endParaRPr sz="900"/>
          </a:p>
        </p:txBody>
      </p:sp>
      <p:sp>
        <p:nvSpPr>
          <p:cNvPr id="4" name="Shape 2">
            <a:extLst xmlns:a="http://schemas.openxmlformats.org/drawingml/2006/main">
              <a:ext uri="{FF2B5EF4-FFF2-40B4-BE49-F238E27FC236}">
                <a16:creationId xmlns:a16="http://schemas.microsoft.com/office/drawing/2014/main" id="{9FFB8706-9F59-4D0E-9AD1-DAFC01E64261}"/>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55" name="Image 0"/>
          <p:cNvPicPr>
            <a:picLocks xmlns:a="http://schemas.openxmlformats.org/drawingml/2006/main" noChangeAspect="1"/>
          </p:cNvPicPr>
          <p:nvPr/>
        </p:nvPicPr>
        <p:blipFill>
          <a:blip xmlns:r="http://schemas.openxmlformats.org/officeDocument/2006/relationships" xmlns:a="http://schemas.openxmlformats.org/drawingml/2006/main" r:embed="R6eb80a290bbb4d6f"/>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56" name="Image 1"/>
          <p:cNvPicPr>
            <a:picLocks xmlns:a="http://schemas.openxmlformats.org/drawingml/2006/main" noChangeAspect="1"/>
          </p:cNvPicPr>
          <p:nvPr/>
        </p:nvPicPr>
        <p:blipFill>
          <a:blip xmlns:r="http://schemas.openxmlformats.org/officeDocument/2006/relationships" xmlns:a="http://schemas.openxmlformats.org/drawingml/2006/main" r:embed="R999b691e335c4ae1"/>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27273969-A1F5-4861-B16F-A055697C8841}"/>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8DA71576-65B5-4076-8AC1-DEAA9DE69D8D}"/>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Editor Survival Kit</a:t>
            </a:r>
            <a:endParaRPr sz="2200"/>
          </a:p>
        </p:txBody>
      </p:sp>
      <p:sp>
        <p:nvSpPr>
          <p:cNvPr id="9" name="Text 5">
            <a:extLst xmlns:a="http://schemas.openxmlformats.org/drawingml/2006/main">
              <a:ext uri="{FF2B5EF4-FFF2-40B4-BE49-F238E27FC236}">
                <a16:creationId xmlns:a16="http://schemas.microsoft.com/office/drawing/2014/main" id="{18EE023B-569F-4280-A985-9354BA553CF7}"/>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Cukup tahu satu, tapi vim wajib dikenal</a:t>
            </a:r>
            <a:endParaRPr sz="1200"/>
          </a:p>
        </p:txBody>
      </p:sp>
      <p:sp>
        <p:nvSpPr>
          <p:cNvPr id="10" name="Shape 6">
            <a:extLst xmlns:a="http://schemas.openxmlformats.org/drawingml/2006/main">
              <a:ext uri="{FF2B5EF4-FFF2-40B4-BE49-F238E27FC236}">
                <a16:creationId xmlns:a16="http://schemas.microsoft.com/office/drawing/2014/main" id="{9D2C1457-BD39-4B10-8F93-E8CA1263B1AD}"/>
              </a:ext>
            </a:extLst>
          </p:cNvPr>
          <p:cNvSpPr>
            <a:spLocks xmlns:a="http://schemas.openxmlformats.org/drawingml/2006/main" noGrp="1"/>
          </p:cNvSpPr>
          <p:nvPr/>
        </p:nvSpPr>
        <p:spPr>
          <a:xfrm xmlns:a="http://schemas.openxmlformats.org/drawingml/2006/main">
            <a:off x="457200" y="1417320"/>
            <a:ext cx="557784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C753B5A2-7761-4811-8520-8C8030ABF601}"/>
              </a:ext>
            </a:extLst>
          </p:cNvPr>
          <p:cNvSpPr>
            <a:spLocks xmlns:a="http://schemas.openxmlformats.org/drawingml/2006/main" noGrp="1"/>
          </p:cNvSpPr>
          <p:nvPr/>
        </p:nvSpPr>
        <p:spPr>
          <a:xfrm xmlns:a="http://schemas.openxmlformats.org/drawingml/2006/main">
            <a:off x="457200" y="1417320"/>
            <a:ext cx="5577840" cy="640080"/>
          </a:xfrm>
          <a:prstGeom xmlns:a="http://schemas.openxmlformats.org/drawingml/2006/main" prst="rect">
            <a:avLst/>
          </a:prstGeom>
          <a:solidFill xmlns:a="http://schemas.openxmlformats.org/drawingml/2006/main">
            <a:srgbClr val="059669"/>
          </a:solidFill>
          <a:ln xmlns:a="http://schemas.openxmlformats.org/drawingml/2006/main" w="12700">
            <a:solidFill>
              <a:srgbClr val="059669"/>
            </a:solidFill>
            <a:prstDash val="solid"/>
          </a:ln>
        </p:spPr>
      </p:sp>
      <p:sp>
        <p:nvSpPr>
          <p:cNvPr id="12" name="Text 8">
            <a:extLst xmlns:a="http://schemas.openxmlformats.org/drawingml/2006/main">
              <a:ext uri="{FF2B5EF4-FFF2-40B4-BE49-F238E27FC236}">
                <a16:creationId xmlns:a16="http://schemas.microsoft.com/office/drawing/2014/main" id="{AD09C339-5F0C-42BF-8FAA-35AA54E9521D}"/>
              </a:ext>
            </a:extLst>
          </p:cNvPr>
          <p:cNvSpPr>
            <a:spLocks xmlns:a="http://schemas.openxmlformats.org/drawingml/2006/main" noGrp="1"/>
          </p:cNvSpPr>
          <p:nvPr/>
        </p:nvSpPr>
        <p:spPr>
          <a:xfrm xmlns:a="http://schemas.openxmlformats.org/drawingml/2006/main">
            <a:off x="457200" y="1417320"/>
            <a:ext cx="55778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Calibri"/>
                <a:ea typeface="Calibri"/>
                <a:cs typeface="Calibri"/>
              </a:rPr>
              <a:t>nano  -  newbie-friendly</a:t>
            </a:r>
            <a:endParaRPr sz="1800"/>
          </a:p>
        </p:txBody>
      </p:sp>
      <p:sp>
        <p:nvSpPr>
          <p:cNvPr id="13" name="Text 9">
            <a:extLst xmlns:a="http://schemas.openxmlformats.org/drawingml/2006/main">
              <a:ext uri="{FF2B5EF4-FFF2-40B4-BE49-F238E27FC236}">
                <a16:creationId xmlns:a16="http://schemas.microsoft.com/office/drawing/2014/main" id="{702D6BEE-14CD-496E-9469-21BE34E9686E}"/>
              </a:ext>
            </a:extLst>
          </p:cNvPr>
          <p:cNvSpPr>
            <a:spLocks xmlns:a="http://schemas.openxmlformats.org/drawingml/2006/main" noGrp="1"/>
          </p:cNvSpPr>
          <p:nvPr/>
        </p:nvSpPr>
        <p:spPr>
          <a:xfrm xmlns:a="http://schemas.openxmlformats.org/drawingml/2006/main">
            <a:off x="640080" y="2148840"/>
            <a:ext cx="521208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1E293B"/>
                </a:solidFill>
                <a:latin typeface="Calibri"/>
                <a:ea typeface="Calibri"/>
                <a:cs typeface="Calibri"/>
              </a:rPr>
              <a:t>Editor yang langsung bisa dipakai. Shortcut tampil di bawah layar.</a:t>
            </a:r>
            <a:endParaRPr sz="1200"/>
          </a:p>
        </p:txBody>
      </p:sp>
      <p:sp>
        <p:nvSpPr>
          <p:cNvPr id="14" name="Shape 10">
            <a:extLst xmlns:a="http://schemas.openxmlformats.org/drawingml/2006/main">
              <a:ext uri="{FF2B5EF4-FFF2-40B4-BE49-F238E27FC236}">
                <a16:creationId xmlns:a16="http://schemas.microsoft.com/office/drawing/2014/main" id="{B1506D93-A6DA-449C-A49C-5E6F088C66F0}"/>
              </a:ext>
            </a:extLst>
          </p:cNvPr>
          <p:cNvSpPr>
            <a:spLocks xmlns:a="http://schemas.openxmlformats.org/drawingml/2006/main" noGrp="1"/>
          </p:cNvSpPr>
          <p:nvPr/>
        </p:nvSpPr>
        <p:spPr>
          <a:xfrm xmlns:a="http://schemas.openxmlformats.org/drawingml/2006/main">
            <a:off x="640080" y="2743200"/>
            <a:ext cx="1463040" cy="411480"/>
          </a:xfrm>
          <a:prstGeom xmlns:a="http://schemas.openxmlformats.org/drawingml/2006/main" prst="roundRect">
            <a:avLst>
              <a:gd name="adj" fmla="val 11111"/>
            </a:avLst>
          </a:prstGeom>
          <a:solidFill xmlns:a="http://schemas.openxmlformats.org/drawingml/2006/main">
            <a:srgbClr val="002677"/>
          </a:solidFill>
          <a:ln xmlns:a="http://schemas.openxmlformats.org/drawingml/2006/main" w="12700">
            <a:solidFill>
              <a:srgbClr val="002677"/>
            </a:solidFill>
            <a:prstDash val="solid"/>
          </a:ln>
        </p:spPr>
      </p:sp>
      <p:sp>
        <p:nvSpPr>
          <p:cNvPr id="15" name="Text 11">
            <a:extLst xmlns:a="http://schemas.openxmlformats.org/drawingml/2006/main">
              <a:ext uri="{FF2B5EF4-FFF2-40B4-BE49-F238E27FC236}">
                <a16:creationId xmlns:a16="http://schemas.microsoft.com/office/drawing/2014/main" id="{BC03FF98-BDED-4177-815D-C80338A1F53B}"/>
              </a:ext>
            </a:extLst>
          </p:cNvPr>
          <p:cNvSpPr>
            <a:spLocks xmlns:a="http://schemas.openxmlformats.org/drawingml/2006/main" noGrp="1"/>
          </p:cNvSpPr>
          <p:nvPr/>
        </p:nvSpPr>
        <p:spPr>
          <a:xfrm xmlns:a="http://schemas.openxmlformats.org/drawingml/2006/main">
            <a:off x="640080" y="2743200"/>
            <a:ext cx="14630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onsolas"/>
                <a:ea typeface="Consolas"/>
                <a:cs typeface="Consolas"/>
              </a:rPr>
              <a:t>Ctrl + O</a:t>
            </a:r>
            <a:endParaRPr sz="1100"/>
          </a:p>
        </p:txBody>
      </p:sp>
      <p:sp>
        <p:nvSpPr>
          <p:cNvPr id="16" name="Text 12">
            <a:extLst xmlns:a="http://schemas.openxmlformats.org/drawingml/2006/main">
              <a:ext uri="{FF2B5EF4-FFF2-40B4-BE49-F238E27FC236}">
                <a16:creationId xmlns:a16="http://schemas.microsoft.com/office/drawing/2014/main" id="{2D096249-2683-46F8-BDEC-6279121BBEB0}"/>
              </a:ext>
            </a:extLst>
          </p:cNvPr>
          <p:cNvSpPr>
            <a:spLocks xmlns:a="http://schemas.openxmlformats.org/drawingml/2006/main" noGrp="1"/>
          </p:cNvSpPr>
          <p:nvPr/>
        </p:nvSpPr>
        <p:spPr>
          <a:xfrm xmlns:a="http://schemas.openxmlformats.org/drawingml/2006/main">
            <a:off x="2194560" y="2743200"/>
            <a:ext cx="3657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Save (Write Out)</a:t>
            </a:r>
            <a:endParaRPr sz="1200"/>
          </a:p>
        </p:txBody>
      </p:sp>
      <p:sp>
        <p:nvSpPr>
          <p:cNvPr id="17" name="Shape 13">
            <a:extLst xmlns:a="http://schemas.openxmlformats.org/drawingml/2006/main">
              <a:ext uri="{FF2B5EF4-FFF2-40B4-BE49-F238E27FC236}">
                <a16:creationId xmlns:a16="http://schemas.microsoft.com/office/drawing/2014/main" id="{F0F237F6-8EA3-4672-9DF3-4510DD277AFC}"/>
              </a:ext>
            </a:extLst>
          </p:cNvPr>
          <p:cNvSpPr>
            <a:spLocks xmlns:a="http://schemas.openxmlformats.org/drawingml/2006/main" noGrp="1"/>
          </p:cNvSpPr>
          <p:nvPr/>
        </p:nvSpPr>
        <p:spPr>
          <a:xfrm xmlns:a="http://schemas.openxmlformats.org/drawingml/2006/main">
            <a:off x="640080" y="3291840"/>
            <a:ext cx="1463040" cy="411480"/>
          </a:xfrm>
          <a:prstGeom xmlns:a="http://schemas.openxmlformats.org/drawingml/2006/main" prst="roundRect">
            <a:avLst>
              <a:gd name="adj" fmla="val 11111"/>
            </a:avLst>
          </a:prstGeom>
          <a:solidFill xmlns:a="http://schemas.openxmlformats.org/drawingml/2006/main">
            <a:srgbClr val="002677"/>
          </a:solidFill>
          <a:ln xmlns:a="http://schemas.openxmlformats.org/drawingml/2006/main" w="12700">
            <a:solidFill>
              <a:srgbClr val="002677"/>
            </a:solidFill>
            <a:prstDash val="solid"/>
          </a:ln>
        </p:spPr>
      </p:sp>
      <p:sp>
        <p:nvSpPr>
          <p:cNvPr id="18" name="Text 14">
            <a:extLst xmlns:a="http://schemas.openxmlformats.org/drawingml/2006/main">
              <a:ext uri="{FF2B5EF4-FFF2-40B4-BE49-F238E27FC236}">
                <a16:creationId xmlns:a16="http://schemas.microsoft.com/office/drawing/2014/main" id="{C929F5C5-6573-4FFD-B60C-D51367B158E1}"/>
              </a:ext>
            </a:extLst>
          </p:cNvPr>
          <p:cNvSpPr>
            <a:spLocks xmlns:a="http://schemas.openxmlformats.org/drawingml/2006/main" noGrp="1"/>
          </p:cNvSpPr>
          <p:nvPr/>
        </p:nvSpPr>
        <p:spPr>
          <a:xfrm xmlns:a="http://schemas.openxmlformats.org/drawingml/2006/main">
            <a:off x="640080" y="3291840"/>
            <a:ext cx="14630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onsolas"/>
                <a:ea typeface="Consolas"/>
                <a:cs typeface="Consolas"/>
              </a:rPr>
              <a:t>Ctrl + X</a:t>
            </a:r>
            <a:endParaRPr sz="1100"/>
          </a:p>
        </p:txBody>
      </p:sp>
      <p:sp>
        <p:nvSpPr>
          <p:cNvPr id="19" name="Text 15">
            <a:extLst xmlns:a="http://schemas.openxmlformats.org/drawingml/2006/main">
              <a:ext uri="{FF2B5EF4-FFF2-40B4-BE49-F238E27FC236}">
                <a16:creationId xmlns:a16="http://schemas.microsoft.com/office/drawing/2014/main" id="{0D7CDF9D-C42D-43EC-9719-DA3A351FEF9C}"/>
              </a:ext>
            </a:extLst>
          </p:cNvPr>
          <p:cNvSpPr>
            <a:spLocks xmlns:a="http://schemas.openxmlformats.org/drawingml/2006/main" noGrp="1"/>
          </p:cNvSpPr>
          <p:nvPr/>
        </p:nvSpPr>
        <p:spPr>
          <a:xfrm xmlns:a="http://schemas.openxmlformats.org/drawingml/2006/main">
            <a:off x="2194560" y="3291840"/>
            <a:ext cx="3657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Exit</a:t>
            </a:r>
            <a:endParaRPr sz="1200"/>
          </a:p>
        </p:txBody>
      </p:sp>
      <p:sp>
        <p:nvSpPr>
          <p:cNvPr id="20" name="Shape 16">
            <a:extLst xmlns:a="http://schemas.openxmlformats.org/drawingml/2006/main">
              <a:ext uri="{FF2B5EF4-FFF2-40B4-BE49-F238E27FC236}">
                <a16:creationId xmlns:a16="http://schemas.microsoft.com/office/drawing/2014/main" id="{2D0CBF1E-2577-4176-B561-3A857312EBF2}"/>
              </a:ext>
            </a:extLst>
          </p:cNvPr>
          <p:cNvSpPr>
            <a:spLocks xmlns:a="http://schemas.openxmlformats.org/drawingml/2006/main" noGrp="1"/>
          </p:cNvSpPr>
          <p:nvPr/>
        </p:nvSpPr>
        <p:spPr>
          <a:xfrm xmlns:a="http://schemas.openxmlformats.org/drawingml/2006/main">
            <a:off x="640080" y="3840480"/>
            <a:ext cx="1463040" cy="411480"/>
          </a:xfrm>
          <a:prstGeom xmlns:a="http://schemas.openxmlformats.org/drawingml/2006/main" prst="roundRect">
            <a:avLst>
              <a:gd name="adj" fmla="val 11111"/>
            </a:avLst>
          </a:prstGeom>
          <a:solidFill xmlns:a="http://schemas.openxmlformats.org/drawingml/2006/main">
            <a:srgbClr val="002677"/>
          </a:solidFill>
          <a:ln xmlns:a="http://schemas.openxmlformats.org/drawingml/2006/main" w="12700">
            <a:solidFill>
              <a:srgbClr val="002677"/>
            </a:solidFill>
            <a:prstDash val="solid"/>
          </a:ln>
        </p:spPr>
      </p:sp>
      <p:sp>
        <p:nvSpPr>
          <p:cNvPr id="21" name="Text 17">
            <a:extLst xmlns:a="http://schemas.openxmlformats.org/drawingml/2006/main">
              <a:ext uri="{FF2B5EF4-FFF2-40B4-BE49-F238E27FC236}">
                <a16:creationId xmlns:a16="http://schemas.microsoft.com/office/drawing/2014/main" id="{F122E0E9-1219-45B4-9C2C-181497B3145E}"/>
              </a:ext>
            </a:extLst>
          </p:cNvPr>
          <p:cNvSpPr>
            <a:spLocks xmlns:a="http://schemas.openxmlformats.org/drawingml/2006/main" noGrp="1"/>
          </p:cNvSpPr>
          <p:nvPr/>
        </p:nvSpPr>
        <p:spPr>
          <a:xfrm xmlns:a="http://schemas.openxmlformats.org/drawingml/2006/main">
            <a:off x="640080" y="3840480"/>
            <a:ext cx="14630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onsolas"/>
                <a:ea typeface="Consolas"/>
                <a:cs typeface="Consolas"/>
              </a:rPr>
              <a:t>Ctrl + W</a:t>
            </a:r>
            <a:endParaRPr sz="1100"/>
          </a:p>
        </p:txBody>
      </p:sp>
      <p:sp>
        <p:nvSpPr>
          <p:cNvPr id="22" name="Text 18">
            <a:extLst xmlns:a="http://schemas.openxmlformats.org/drawingml/2006/main">
              <a:ext uri="{FF2B5EF4-FFF2-40B4-BE49-F238E27FC236}">
                <a16:creationId xmlns:a16="http://schemas.microsoft.com/office/drawing/2014/main" id="{821B8F86-D8A7-4E42-AF03-510D2B4C54AC}"/>
              </a:ext>
            </a:extLst>
          </p:cNvPr>
          <p:cNvSpPr>
            <a:spLocks xmlns:a="http://schemas.openxmlformats.org/drawingml/2006/main" noGrp="1"/>
          </p:cNvSpPr>
          <p:nvPr/>
        </p:nvSpPr>
        <p:spPr>
          <a:xfrm xmlns:a="http://schemas.openxmlformats.org/drawingml/2006/main">
            <a:off x="2194560" y="3840480"/>
            <a:ext cx="3657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Search di file</a:t>
            </a:r>
            <a:endParaRPr sz="1200"/>
          </a:p>
        </p:txBody>
      </p:sp>
      <p:sp>
        <p:nvSpPr>
          <p:cNvPr id="23" name="Shape 19">
            <a:extLst xmlns:a="http://schemas.openxmlformats.org/drawingml/2006/main">
              <a:ext uri="{FF2B5EF4-FFF2-40B4-BE49-F238E27FC236}">
                <a16:creationId xmlns:a16="http://schemas.microsoft.com/office/drawing/2014/main" id="{C42DD7CA-E82E-4B86-A7BB-C21EAA3C2FBD}"/>
              </a:ext>
            </a:extLst>
          </p:cNvPr>
          <p:cNvSpPr>
            <a:spLocks xmlns:a="http://schemas.openxmlformats.org/drawingml/2006/main" noGrp="1"/>
          </p:cNvSpPr>
          <p:nvPr/>
        </p:nvSpPr>
        <p:spPr>
          <a:xfrm xmlns:a="http://schemas.openxmlformats.org/drawingml/2006/main">
            <a:off x="640080" y="4389120"/>
            <a:ext cx="1463040" cy="411480"/>
          </a:xfrm>
          <a:prstGeom xmlns:a="http://schemas.openxmlformats.org/drawingml/2006/main" prst="roundRect">
            <a:avLst>
              <a:gd name="adj" fmla="val 11111"/>
            </a:avLst>
          </a:prstGeom>
          <a:solidFill xmlns:a="http://schemas.openxmlformats.org/drawingml/2006/main">
            <a:srgbClr val="002677"/>
          </a:solidFill>
          <a:ln xmlns:a="http://schemas.openxmlformats.org/drawingml/2006/main" w="12700">
            <a:solidFill>
              <a:srgbClr val="002677"/>
            </a:solidFill>
            <a:prstDash val="solid"/>
          </a:ln>
        </p:spPr>
      </p:sp>
      <p:sp>
        <p:nvSpPr>
          <p:cNvPr id="24" name="Text 20">
            <a:extLst xmlns:a="http://schemas.openxmlformats.org/drawingml/2006/main">
              <a:ext uri="{FF2B5EF4-FFF2-40B4-BE49-F238E27FC236}">
                <a16:creationId xmlns:a16="http://schemas.microsoft.com/office/drawing/2014/main" id="{73E747A3-5F32-4893-AD9D-53699B8844F6}"/>
              </a:ext>
            </a:extLst>
          </p:cNvPr>
          <p:cNvSpPr>
            <a:spLocks xmlns:a="http://schemas.openxmlformats.org/drawingml/2006/main" noGrp="1"/>
          </p:cNvSpPr>
          <p:nvPr/>
        </p:nvSpPr>
        <p:spPr>
          <a:xfrm xmlns:a="http://schemas.openxmlformats.org/drawingml/2006/main">
            <a:off x="640080" y="4389120"/>
            <a:ext cx="14630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onsolas"/>
                <a:ea typeface="Consolas"/>
                <a:cs typeface="Consolas"/>
              </a:rPr>
              <a:t>Ctrl + K</a:t>
            </a:r>
            <a:endParaRPr sz="1100"/>
          </a:p>
        </p:txBody>
      </p:sp>
      <p:sp>
        <p:nvSpPr>
          <p:cNvPr id="25" name="Text 21">
            <a:extLst xmlns:a="http://schemas.openxmlformats.org/drawingml/2006/main">
              <a:ext uri="{FF2B5EF4-FFF2-40B4-BE49-F238E27FC236}">
                <a16:creationId xmlns:a16="http://schemas.microsoft.com/office/drawing/2014/main" id="{42EF0A64-24C4-4A4E-989E-C5C395A975FE}"/>
              </a:ext>
            </a:extLst>
          </p:cNvPr>
          <p:cNvSpPr>
            <a:spLocks xmlns:a="http://schemas.openxmlformats.org/drawingml/2006/main" noGrp="1"/>
          </p:cNvSpPr>
          <p:nvPr/>
        </p:nvSpPr>
        <p:spPr>
          <a:xfrm xmlns:a="http://schemas.openxmlformats.org/drawingml/2006/main">
            <a:off x="2194560" y="4389120"/>
            <a:ext cx="3657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Cut baris</a:t>
            </a:r>
            <a:endParaRPr sz="1200"/>
          </a:p>
        </p:txBody>
      </p:sp>
      <p:sp>
        <p:nvSpPr>
          <p:cNvPr id="26" name="Shape 22">
            <a:extLst xmlns:a="http://schemas.openxmlformats.org/drawingml/2006/main">
              <a:ext uri="{FF2B5EF4-FFF2-40B4-BE49-F238E27FC236}">
                <a16:creationId xmlns:a16="http://schemas.microsoft.com/office/drawing/2014/main" id="{590DBC24-FCA1-43E1-BF31-36375D261569}"/>
              </a:ext>
            </a:extLst>
          </p:cNvPr>
          <p:cNvSpPr>
            <a:spLocks xmlns:a="http://schemas.openxmlformats.org/drawingml/2006/main" noGrp="1"/>
          </p:cNvSpPr>
          <p:nvPr/>
        </p:nvSpPr>
        <p:spPr>
          <a:xfrm xmlns:a="http://schemas.openxmlformats.org/drawingml/2006/main">
            <a:off x="640080" y="4937760"/>
            <a:ext cx="1463040" cy="411480"/>
          </a:xfrm>
          <a:prstGeom xmlns:a="http://schemas.openxmlformats.org/drawingml/2006/main" prst="roundRect">
            <a:avLst>
              <a:gd name="adj" fmla="val 11111"/>
            </a:avLst>
          </a:prstGeom>
          <a:solidFill xmlns:a="http://schemas.openxmlformats.org/drawingml/2006/main">
            <a:srgbClr val="002677"/>
          </a:solidFill>
          <a:ln xmlns:a="http://schemas.openxmlformats.org/drawingml/2006/main" w="12700">
            <a:solidFill>
              <a:srgbClr val="002677"/>
            </a:solidFill>
            <a:prstDash val="solid"/>
          </a:ln>
        </p:spPr>
      </p:sp>
      <p:sp>
        <p:nvSpPr>
          <p:cNvPr id="27" name="Text 23">
            <a:extLst xmlns:a="http://schemas.openxmlformats.org/drawingml/2006/main">
              <a:ext uri="{FF2B5EF4-FFF2-40B4-BE49-F238E27FC236}">
                <a16:creationId xmlns:a16="http://schemas.microsoft.com/office/drawing/2014/main" id="{F62D935C-88C7-4BEF-8BFA-5726570E1399}"/>
              </a:ext>
            </a:extLst>
          </p:cNvPr>
          <p:cNvSpPr>
            <a:spLocks xmlns:a="http://schemas.openxmlformats.org/drawingml/2006/main" noGrp="1"/>
          </p:cNvSpPr>
          <p:nvPr/>
        </p:nvSpPr>
        <p:spPr>
          <a:xfrm xmlns:a="http://schemas.openxmlformats.org/drawingml/2006/main">
            <a:off x="640080" y="4937760"/>
            <a:ext cx="14630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onsolas"/>
                <a:ea typeface="Consolas"/>
                <a:cs typeface="Consolas"/>
              </a:rPr>
              <a:t>Ctrl + U</a:t>
            </a:r>
            <a:endParaRPr sz="1100"/>
          </a:p>
        </p:txBody>
      </p:sp>
      <p:sp>
        <p:nvSpPr>
          <p:cNvPr id="28" name="Text 24">
            <a:extLst xmlns:a="http://schemas.openxmlformats.org/drawingml/2006/main">
              <a:ext uri="{FF2B5EF4-FFF2-40B4-BE49-F238E27FC236}">
                <a16:creationId xmlns:a16="http://schemas.microsoft.com/office/drawing/2014/main" id="{B01F9001-8C63-411F-9784-DF26A073E05B}"/>
              </a:ext>
            </a:extLst>
          </p:cNvPr>
          <p:cNvSpPr>
            <a:spLocks xmlns:a="http://schemas.openxmlformats.org/drawingml/2006/main" noGrp="1"/>
          </p:cNvSpPr>
          <p:nvPr/>
        </p:nvSpPr>
        <p:spPr>
          <a:xfrm xmlns:a="http://schemas.openxmlformats.org/drawingml/2006/main">
            <a:off x="2194560" y="4937760"/>
            <a:ext cx="3657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Paste baris</a:t>
            </a:r>
            <a:endParaRPr sz="1200"/>
          </a:p>
        </p:txBody>
      </p:sp>
      <p:sp>
        <p:nvSpPr>
          <p:cNvPr id="29" name="Text 25">
            <a:extLst xmlns:a="http://schemas.openxmlformats.org/drawingml/2006/main">
              <a:ext uri="{FF2B5EF4-FFF2-40B4-BE49-F238E27FC236}">
                <a16:creationId xmlns:a16="http://schemas.microsoft.com/office/drawing/2014/main" id="{93CB40AD-4281-4BEE-9D12-7978A9E7582A}"/>
              </a:ext>
            </a:extLst>
          </p:cNvPr>
          <p:cNvSpPr>
            <a:spLocks xmlns:a="http://schemas.openxmlformats.org/drawingml/2006/main" noGrp="1"/>
          </p:cNvSpPr>
          <p:nvPr/>
        </p:nvSpPr>
        <p:spPr>
          <a:xfrm xmlns:a="http://schemas.openxmlformats.org/drawingml/2006/main">
            <a:off x="640080" y="5532120"/>
            <a:ext cx="521208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64748B"/>
                </a:solidFill>
                <a:latin typeface="Calibri"/>
                <a:ea typeface="Calibri"/>
                <a:cs typeface="Calibri"/>
              </a:rPr>
              <a:t>Cocok untuk: edit config singkat di server cloud (nginx.conf, .env)</a:t>
            </a:r>
            <a:endParaRPr sz="1000"/>
          </a:p>
        </p:txBody>
      </p:sp>
      <p:sp>
        <p:nvSpPr>
          <p:cNvPr id="30" name="Shape 26">
            <a:extLst xmlns:a="http://schemas.openxmlformats.org/drawingml/2006/main">
              <a:ext uri="{FF2B5EF4-FFF2-40B4-BE49-F238E27FC236}">
                <a16:creationId xmlns:a16="http://schemas.microsoft.com/office/drawing/2014/main" id="{AB7B7FDF-8EB9-4E00-8101-D3A855F92641}"/>
              </a:ext>
            </a:extLst>
          </p:cNvPr>
          <p:cNvSpPr>
            <a:spLocks xmlns:a="http://schemas.openxmlformats.org/drawingml/2006/main" noGrp="1"/>
          </p:cNvSpPr>
          <p:nvPr/>
        </p:nvSpPr>
        <p:spPr>
          <a:xfrm xmlns:a="http://schemas.openxmlformats.org/drawingml/2006/main">
            <a:off x="6217920" y="1417320"/>
            <a:ext cx="548640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1" name="Shape 27">
            <a:extLst xmlns:a="http://schemas.openxmlformats.org/drawingml/2006/main">
              <a:ext uri="{FF2B5EF4-FFF2-40B4-BE49-F238E27FC236}">
                <a16:creationId xmlns:a16="http://schemas.microsoft.com/office/drawing/2014/main" id="{2AE89615-DDD5-4BE1-ABFB-376049620BFC}"/>
              </a:ext>
            </a:extLst>
          </p:cNvPr>
          <p:cNvSpPr>
            <a:spLocks xmlns:a="http://schemas.openxmlformats.org/drawingml/2006/main" noGrp="1"/>
          </p:cNvSpPr>
          <p:nvPr/>
        </p:nvSpPr>
        <p:spPr>
          <a:xfrm xmlns:a="http://schemas.openxmlformats.org/drawingml/2006/main">
            <a:off x="6217920" y="1417320"/>
            <a:ext cx="5486400" cy="64008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32" name="Text 28">
            <a:extLst xmlns:a="http://schemas.openxmlformats.org/drawingml/2006/main">
              <a:ext uri="{FF2B5EF4-FFF2-40B4-BE49-F238E27FC236}">
                <a16:creationId xmlns:a16="http://schemas.microsoft.com/office/drawing/2014/main" id="{8D84D026-FCC4-498E-876B-84ADA251B0D9}"/>
              </a:ext>
            </a:extLst>
          </p:cNvPr>
          <p:cNvSpPr>
            <a:spLocks xmlns:a="http://schemas.openxmlformats.org/drawingml/2006/main" noGrp="1"/>
          </p:cNvSpPr>
          <p:nvPr/>
        </p:nvSpPr>
        <p:spPr>
          <a:xfrm xmlns:a="http://schemas.openxmlformats.org/drawingml/2006/main">
            <a:off x="6217920" y="1417320"/>
            <a:ext cx="54864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Calibri"/>
                <a:ea typeface="Calibri"/>
                <a:cs typeface="Calibri"/>
              </a:rPr>
              <a:t>vim  -  ada di SEMUA server</a:t>
            </a:r>
            <a:endParaRPr sz="1800"/>
          </a:p>
        </p:txBody>
      </p:sp>
      <p:sp>
        <p:nvSpPr>
          <p:cNvPr id="33" name="Text 29">
            <a:extLst xmlns:a="http://schemas.openxmlformats.org/drawingml/2006/main">
              <a:ext uri="{FF2B5EF4-FFF2-40B4-BE49-F238E27FC236}">
                <a16:creationId xmlns:a16="http://schemas.microsoft.com/office/drawing/2014/main" id="{3E7DAE85-693F-4E6E-B4BE-F81F28EF212B}"/>
              </a:ext>
            </a:extLst>
          </p:cNvPr>
          <p:cNvSpPr>
            <a:spLocks xmlns:a="http://schemas.openxmlformats.org/drawingml/2006/main" noGrp="1"/>
          </p:cNvSpPr>
          <p:nvPr/>
        </p:nvSpPr>
        <p:spPr>
          <a:xfrm xmlns:a="http://schemas.openxmlformats.org/drawingml/2006/main">
            <a:off x="6400800" y="2148840"/>
            <a:ext cx="512064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1E293B"/>
                </a:solidFill>
                <a:latin typeface="Calibri"/>
                <a:ea typeface="Calibri"/>
                <a:cs typeface="Calibri"/>
              </a:rPr>
              <a:t>Modal: NORMAL (default), INSERT (ketik), VISUAL (select). 5 command minimum:</a:t>
            </a:r>
            <a:endParaRPr sz="1200"/>
          </a:p>
        </p:txBody>
      </p:sp>
      <p:sp>
        <p:nvSpPr>
          <p:cNvPr id="34" name="Shape 30">
            <a:extLst xmlns:a="http://schemas.openxmlformats.org/drawingml/2006/main">
              <a:ext uri="{FF2B5EF4-FFF2-40B4-BE49-F238E27FC236}">
                <a16:creationId xmlns:a16="http://schemas.microsoft.com/office/drawing/2014/main" id="{F4B5D927-507F-48CB-8C87-5A48BA5F4918}"/>
              </a:ext>
            </a:extLst>
          </p:cNvPr>
          <p:cNvSpPr>
            <a:spLocks xmlns:a="http://schemas.openxmlformats.org/drawingml/2006/main" noGrp="1"/>
          </p:cNvSpPr>
          <p:nvPr/>
        </p:nvSpPr>
        <p:spPr>
          <a:xfrm xmlns:a="http://schemas.openxmlformats.org/drawingml/2006/main">
            <a:off x="6400800" y="2743200"/>
            <a:ext cx="914400" cy="411480"/>
          </a:xfrm>
          <a:prstGeom xmlns:a="http://schemas.openxmlformats.org/drawingml/2006/main" prst="roundRect">
            <a:avLst>
              <a:gd name="adj" fmla="val 11111"/>
            </a:avLst>
          </a:prstGeom>
          <a:solidFill xmlns:a="http://schemas.openxmlformats.org/drawingml/2006/main">
            <a:srgbClr val="F37021"/>
          </a:solidFill>
          <a:ln xmlns:a="http://schemas.openxmlformats.org/drawingml/2006/main" w="12700">
            <a:solidFill>
              <a:srgbClr val="F37021"/>
            </a:solidFill>
            <a:prstDash val="solid"/>
          </a:ln>
        </p:spPr>
      </p:sp>
      <p:sp>
        <p:nvSpPr>
          <p:cNvPr id="35" name="Text 31">
            <a:extLst xmlns:a="http://schemas.openxmlformats.org/drawingml/2006/main">
              <a:ext uri="{FF2B5EF4-FFF2-40B4-BE49-F238E27FC236}">
                <a16:creationId xmlns:a16="http://schemas.microsoft.com/office/drawing/2014/main" id="{947530D0-E88D-4EE6-BFEF-306D17C618BA}"/>
              </a:ext>
            </a:extLst>
          </p:cNvPr>
          <p:cNvSpPr>
            <a:spLocks xmlns:a="http://schemas.openxmlformats.org/drawingml/2006/main" noGrp="1"/>
          </p:cNvSpPr>
          <p:nvPr/>
        </p:nvSpPr>
        <p:spPr>
          <a:xfrm xmlns:a="http://schemas.openxmlformats.org/drawingml/2006/main">
            <a:off x="6400800" y="2743200"/>
            <a:ext cx="914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onsolas"/>
                <a:ea typeface="Consolas"/>
                <a:cs typeface="Consolas"/>
              </a:rPr>
              <a:t>i</a:t>
            </a:r>
            <a:endParaRPr sz="1200"/>
          </a:p>
        </p:txBody>
      </p:sp>
      <p:sp>
        <p:nvSpPr>
          <p:cNvPr id="36" name="Text 32">
            <a:extLst xmlns:a="http://schemas.openxmlformats.org/drawingml/2006/main">
              <a:ext uri="{FF2B5EF4-FFF2-40B4-BE49-F238E27FC236}">
                <a16:creationId xmlns:a16="http://schemas.microsoft.com/office/drawing/2014/main" id="{9239138F-CA6E-4638-9591-3AE7A7A6F497}"/>
              </a:ext>
            </a:extLst>
          </p:cNvPr>
          <p:cNvSpPr>
            <a:spLocks xmlns:a="http://schemas.openxmlformats.org/drawingml/2006/main" noGrp="1"/>
          </p:cNvSpPr>
          <p:nvPr/>
        </p:nvSpPr>
        <p:spPr>
          <a:xfrm xmlns:a="http://schemas.openxmlformats.org/drawingml/2006/main">
            <a:off x="7406640" y="2743200"/>
            <a:ext cx="4114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Masuk INSERT mode (mulai mengetik)</a:t>
            </a:r>
            <a:endParaRPr sz="1200"/>
          </a:p>
        </p:txBody>
      </p:sp>
      <p:sp>
        <p:nvSpPr>
          <p:cNvPr id="37" name="Shape 33">
            <a:extLst xmlns:a="http://schemas.openxmlformats.org/drawingml/2006/main">
              <a:ext uri="{FF2B5EF4-FFF2-40B4-BE49-F238E27FC236}">
                <a16:creationId xmlns:a16="http://schemas.microsoft.com/office/drawing/2014/main" id="{0464CF2F-1AB4-4419-8576-F14E06FF704C}"/>
              </a:ext>
            </a:extLst>
          </p:cNvPr>
          <p:cNvSpPr>
            <a:spLocks xmlns:a="http://schemas.openxmlformats.org/drawingml/2006/main" noGrp="1"/>
          </p:cNvSpPr>
          <p:nvPr/>
        </p:nvSpPr>
        <p:spPr>
          <a:xfrm xmlns:a="http://schemas.openxmlformats.org/drawingml/2006/main">
            <a:off x="6400800" y="3291840"/>
            <a:ext cx="914400" cy="411480"/>
          </a:xfrm>
          <a:prstGeom xmlns:a="http://schemas.openxmlformats.org/drawingml/2006/main" prst="roundRect">
            <a:avLst>
              <a:gd name="adj" fmla="val 11111"/>
            </a:avLst>
          </a:prstGeom>
          <a:solidFill xmlns:a="http://schemas.openxmlformats.org/drawingml/2006/main">
            <a:srgbClr val="F37021"/>
          </a:solidFill>
          <a:ln xmlns:a="http://schemas.openxmlformats.org/drawingml/2006/main" w="12700">
            <a:solidFill>
              <a:srgbClr val="F37021"/>
            </a:solidFill>
            <a:prstDash val="solid"/>
          </a:ln>
        </p:spPr>
      </p:sp>
      <p:sp>
        <p:nvSpPr>
          <p:cNvPr id="38" name="Text 34">
            <a:extLst xmlns:a="http://schemas.openxmlformats.org/drawingml/2006/main">
              <a:ext uri="{FF2B5EF4-FFF2-40B4-BE49-F238E27FC236}">
                <a16:creationId xmlns:a16="http://schemas.microsoft.com/office/drawing/2014/main" id="{254CD081-89BF-41E9-80CB-55CB2D22FB15}"/>
              </a:ext>
            </a:extLst>
          </p:cNvPr>
          <p:cNvSpPr>
            <a:spLocks xmlns:a="http://schemas.openxmlformats.org/drawingml/2006/main" noGrp="1"/>
          </p:cNvSpPr>
          <p:nvPr/>
        </p:nvSpPr>
        <p:spPr>
          <a:xfrm xmlns:a="http://schemas.openxmlformats.org/drawingml/2006/main">
            <a:off x="6400800" y="3291840"/>
            <a:ext cx="914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onsolas"/>
                <a:ea typeface="Consolas"/>
                <a:cs typeface="Consolas"/>
              </a:rPr>
              <a:t>Esc</a:t>
            </a:r>
            <a:endParaRPr sz="1200"/>
          </a:p>
        </p:txBody>
      </p:sp>
      <p:sp>
        <p:nvSpPr>
          <p:cNvPr id="39" name="Text 35">
            <a:extLst xmlns:a="http://schemas.openxmlformats.org/drawingml/2006/main">
              <a:ext uri="{FF2B5EF4-FFF2-40B4-BE49-F238E27FC236}">
                <a16:creationId xmlns:a16="http://schemas.microsoft.com/office/drawing/2014/main" id="{0333565D-40B4-4285-9910-D5A65CBF07F6}"/>
              </a:ext>
            </a:extLst>
          </p:cNvPr>
          <p:cNvSpPr>
            <a:spLocks xmlns:a="http://schemas.openxmlformats.org/drawingml/2006/main" noGrp="1"/>
          </p:cNvSpPr>
          <p:nvPr/>
        </p:nvSpPr>
        <p:spPr>
          <a:xfrm xmlns:a="http://schemas.openxmlformats.org/drawingml/2006/main">
            <a:off x="7406640" y="3291840"/>
            <a:ext cx="4114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Keluar ke NORMAL mode</a:t>
            </a:r>
            <a:endParaRPr sz="1200"/>
          </a:p>
        </p:txBody>
      </p:sp>
      <p:sp>
        <p:nvSpPr>
          <p:cNvPr id="40" name="Shape 36">
            <a:extLst xmlns:a="http://schemas.openxmlformats.org/drawingml/2006/main">
              <a:ext uri="{FF2B5EF4-FFF2-40B4-BE49-F238E27FC236}">
                <a16:creationId xmlns:a16="http://schemas.microsoft.com/office/drawing/2014/main" id="{54D0A8EA-9FAC-4947-9698-DF4824E0AD6F}"/>
              </a:ext>
            </a:extLst>
          </p:cNvPr>
          <p:cNvSpPr>
            <a:spLocks xmlns:a="http://schemas.openxmlformats.org/drawingml/2006/main" noGrp="1"/>
          </p:cNvSpPr>
          <p:nvPr/>
        </p:nvSpPr>
        <p:spPr>
          <a:xfrm xmlns:a="http://schemas.openxmlformats.org/drawingml/2006/main">
            <a:off x="6400800" y="3840480"/>
            <a:ext cx="914400" cy="411480"/>
          </a:xfrm>
          <a:prstGeom xmlns:a="http://schemas.openxmlformats.org/drawingml/2006/main" prst="roundRect">
            <a:avLst>
              <a:gd name="adj" fmla="val 11111"/>
            </a:avLst>
          </a:prstGeom>
          <a:solidFill xmlns:a="http://schemas.openxmlformats.org/drawingml/2006/main">
            <a:srgbClr val="F37021"/>
          </a:solidFill>
          <a:ln xmlns:a="http://schemas.openxmlformats.org/drawingml/2006/main" w="12700">
            <a:solidFill>
              <a:srgbClr val="F37021"/>
            </a:solidFill>
            <a:prstDash val="solid"/>
          </a:ln>
        </p:spPr>
      </p:sp>
      <p:sp>
        <p:nvSpPr>
          <p:cNvPr id="41" name="Text 37">
            <a:extLst xmlns:a="http://schemas.openxmlformats.org/drawingml/2006/main">
              <a:ext uri="{FF2B5EF4-FFF2-40B4-BE49-F238E27FC236}">
                <a16:creationId xmlns:a16="http://schemas.microsoft.com/office/drawing/2014/main" id="{37AE1422-83F9-47B0-949C-2EE5CAEBDD8E}"/>
              </a:ext>
            </a:extLst>
          </p:cNvPr>
          <p:cNvSpPr>
            <a:spLocks xmlns:a="http://schemas.openxmlformats.org/drawingml/2006/main" noGrp="1"/>
          </p:cNvSpPr>
          <p:nvPr/>
        </p:nvSpPr>
        <p:spPr>
          <a:xfrm xmlns:a="http://schemas.openxmlformats.org/drawingml/2006/main">
            <a:off x="6400800" y="3840480"/>
            <a:ext cx="914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onsolas"/>
                <a:ea typeface="Consolas"/>
                <a:cs typeface="Consolas"/>
              </a:rPr>
              <a:t>:w</a:t>
            </a:r>
            <a:endParaRPr sz="1200"/>
          </a:p>
        </p:txBody>
      </p:sp>
      <p:sp>
        <p:nvSpPr>
          <p:cNvPr id="42" name="Text 38">
            <a:extLst xmlns:a="http://schemas.openxmlformats.org/drawingml/2006/main">
              <a:ext uri="{FF2B5EF4-FFF2-40B4-BE49-F238E27FC236}">
                <a16:creationId xmlns:a16="http://schemas.microsoft.com/office/drawing/2014/main" id="{3DE43873-68CE-4218-8A2F-07E97649BFEC}"/>
              </a:ext>
            </a:extLst>
          </p:cNvPr>
          <p:cNvSpPr>
            <a:spLocks xmlns:a="http://schemas.openxmlformats.org/drawingml/2006/main" noGrp="1"/>
          </p:cNvSpPr>
          <p:nvPr/>
        </p:nvSpPr>
        <p:spPr>
          <a:xfrm xmlns:a="http://schemas.openxmlformats.org/drawingml/2006/main">
            <a:off x="7406640" y="3840480"/>
            <a:ext cx="4114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Save file</a:t>
            </a:r>
            <a:endParaRPr sz="1200"/>
          </a:p>
        </p:txBody>
      </p:sp>
      <p:sp>
        <p:nvSpPr>
          <p:cNvPr id="43" name="Shape 39">
            <a:extLst xmlns:a="http://schemas.openxmlformats.org/drawingml/2006/main">
              <a:ext uri="{FF2B5EF4-FFF2-40B4-BE49-F238E27FC236}">
                <a16:creationId xmlns:a16="http://schemas.microsoft.com/office/drawing/2014/main" id="{F0DF3E46-1801-4774-9A6A-46DDA359E59E}"/>
              </a:ext>
            </a:extLst>
          </p:cNvPr>
          <p:cNvSpPr>
            <a:spLocks xmlns:a="http://schemas.openxmlformats.org/drawingml/2006/main" noGrp="1"/>
          </p:cNvSpPr>
          <p:nvPr/>
        </p:nvSpPr>
        <p:spPr>
          <a:xfrm xmlns:a="http://schemas.openxmlformats.org/drawingml/2006/main">
            <a:off x="6400800" y="4389120"/>
            <a:ext cx="914400" cy="411480"/>
          </a:xfrm>
          <a:prstGeom xmlns:a="http://schemas.openxmlformats.org/drawingml/2006/main" prst="roundRect">
            <a:avLst>
              <a:gd name="adj" fmla="val 11111"/>
            </a:avLst>
          </a:prstGeom>
          <a:solidFill xmlns:a="http://schemas.openxmlformats.org/drawingml/2006/main">
            <a:srgbClr val="F37021"/>
          </a:solidFill>
          <a:ln xmlns:a="http://schemas.openxmlformats.org/drawingml/2006/main" w="12700">
            <a:solidFill>
              <a:srgbClr val="F37021"/>
            </a:solidFill>
            <a:prstDash val="solid"/>
          </a:ln>
        </p:spPr>
      </p:sp>
      <p:sp>
        <p:nvSpPr>
          <p:cNvPr id="44" name="Text 40">
            <a:extLst xmlns:a="http://schemas.openxmlformats.org/drawingml/2006/main">
              <a:ext uri="{FF2B5EF4-FFF2-40B4-BE49-F238E27FC236}">
                <a16:creationId xmlns:a16="http://schemas.microsoft.com/office/drawing/2014/main" id="{F2C472D4-216C-4091-BCB9-5B85ABA1CE16}"/>
              </a:ext>
            </a:extLst>
          </p:cNvPr>
          <p:cNvSpPr>
            <a:spLocks xmlns:a="http://schemas.openxmlformats.org/drawingml/2006/main" noGrp="1"/>
          </p:cNvSpPr>
          <p:nvPr/>
        </p:nvSpPr>
        <p:spPr>
          <a:xfrm xmlns:a="http://schemas.openxmlformats.org/drawingml/2006/main">
            <a:off x="6400800" y="4389120"/>
            <a:ext cx="914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onsolas"/>
                <a:ea typeface="Consolas"/>
                <a:cs typeface="Consolas"/>
              </a:rPr>
              <a:t>:q</a:t>
            </a:r>
            <a:endParaRPr sz="1200"/>
          </a:p>
        </p:txBody>
      </p:sp>
      <p:sp>
        <p:nvSpPr>
          <p:cNvPr id="45" name="Text 41">
            <a:extLst xmlns:a="http://schemas.openxmlformats.org/drawingml/2006/main">
              <a:ext uri="{FF2B5EF4-FFF2-40B4-BE49-F238E27FC236}">
                <a16:creationId xmlns:a16="http://schemas.microsoft.com/office/drawing/2014/main" id="{D7DE7E0C-4E8D-41B1-81BC-9E666A2A61F1}"/>
              </a:ext>
            </a:extLst>
          </p:cNvPr>
          <p:cNvSpPr>
            <a:spLocks xmlns:a="http://schemas.openxmlformats.org/drawingml/2006/main" noGrp="1"/>
          </p:cNvSpPr>
          <p:nvPr/>
        </p:nvSpPr>
        <p:spPr>
          <a:xfrm xmlns:a="http://schemas.openxmlformats.org/drawingml/2006/main">
            <a:off x="7406640" y="4389120"/>
            <a:ext cx="4114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Quit (tambah ! untuk force: :q!)</a:t>
            </a:r>
            <a:endParaRPr sz="1200"/>
          </a:p>
        </p:txBody>
      </p:sp>
      <p:sp>
        <p:nvSpPr>
          <p:cNvPr id="46" name="Shape 42">
            <a:extLst xmlns:a="http://schemas.openxmlformats.org/drawingml/2006/main">
              <a:ext uri="{FF2B5EF4-FFF2-40B4-BE49-F238E27FC236}">
                <a16:creationId xmlns:a16="http://schemas.microsoft.com/office/drawing/2014/main" id="{964F33F3-67D9-48F1-895C-EB60EF0A0AFE}"/>
              </a:ext>
            </a:extLst>
          </p:cNvPr>
          <p:cNvSpPr>
            <a:spLocks xmlns:a="http://schemas.openxmlformats.org/drawingml/2006/main" noGrp="1"/>
          </p:cNvSpPr>
          <p:nvPr/>
        </p:nvSpPr>
        <p:spPr>
          <a:xfrm xmlns:a="http://schemas.openxmlformats.org/drawingml/2006/main">
            <a:off x="6400800" y="4937760"/>
            <a:ext cx="914400" cy="411480"/>
          </a:xfrm>
          <a:prstGeom xmlns:a="http://schemas.openxmlformats.org/drawingml/2006/main" prst="roundRect">
            <a:avLst>
              <a:gd name="adj" fmla="val 11111"/>
            </a:avLst>
          </a:prstGeom>
          <a:solidFill xmlns:a="http://schemas.openxmlformats.org/drawingml/2006/main">
            <a:srgbClr val="F37021"/>
          </a:solidFill>
          <a:ln xmlns:a="http://schemas.openxmlformats.org/drawingml/2006/main" w="12700">
            <a:solidFill>
              <a:srgbClr val="F37021"/>
            </a:solidFill>
            <a:prstDash val="solid"/>
          </a:ln>
        </p:spPr>
      </p:sp>
      <p:sp>
        <p:nvSpPr>
          <p:cNvPr id="47" name="Text 43">
            <a:extLst xmlns:a="http://schemas.openxmlformats.org/drawingml/2006/main">
              <a:ext uri="{FF2B5EF4-FFF2-40B4-BE49-F238E27FC236}">
                <a16:creationId xmlns:a16="http://schemas.microsoft.com/office/drawing/2014/main" id="{C41DE6DA-65E0-4E1E-8812-F9ECED89FB7B}"/>
              </a:ext>
            </a:extLst>
          </p:cNvPr>
          <p:cNvSpPr>
            <a:spLocks xmlns:a="http://schemas.openxmlformats.org/drawingml/2006/main" noGrp="1"/>
          </p:cNvSpPr>
          <p:nvPr/>
        </p:nvSpPr>
        <p:spPr>
          <a:xfrm xmlns:a="http://schemas.openxmlformats.org/drawingml/2006/main">
            <a:off x="6400800" y="4937760"/>
            <a:ext cx="914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onsolas"/>
                <a:ea typeface="Consolas"/>
                <a:cs typeface="Consolas"/>
              </a:rPr>
              <a:t>:wq</a:t>
            </a:r>
            <a:endParaRPr sz="1200"/>
          </a:p>
        </p:txBody>
      </p:sp>
      <p:sp>
        <p:nvSpPr>
          <p:cNvPr id="48" name="Text 44">
            <a:extLst xmlns:a="http://schemas.openxmlformats.org/drawingml/2006/main">
              <a:ext uri="{FF2B5EF4-FFF2-40B4-BE49-F238E27FC236}">
                <a16:creationId xmlns:a16="http://schemas.microsoft.com/office/drawing/2014/main" id="{CD31B4AE-EBE8-47EA-8F7C-2444E4E11DA6}"/>
              </a:ext>
            </a:extLst>
          </p:cNvPr>
          <p:cNvSpPr>
            <a:spLocks xmlns:a="http://schemas.openxmlformats.org/drawingml/2006/main" noGrp="1"/>
          </p:cNvSpPr>
          <p:nvPr/>
        </p:nvSpPr>
        <p:spPr>
          <a:xfrm xmlns:a="http://schemas.openxmlformats.org/drawingml/2006/main">
            <a:off x="7406640" y="4937760"/>
            <a:ext cx="4114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Save lalu quit (atau ZZ)</a:t>
            </a:r>
            <a:endParaRPr sz="1200"/>
          </a:p>
        </p:txBody>
      </p:sp>
      <p:sp>
        <p:nvSpPr>
          <p:cNvPr id="49" name="Text 45">
            <a:extLst xmlns:a="http://schemas.openxmlformats.org/drawingml/2006/main">
              <a:ext uri="{FF2B5EF4-FFF2-40B4-BE49-F238E27FC236}">
                <a16:creationId xmlns:a16="http://schemas.microsoft.com/office/drawing/2014/main" id="{121A5DA6-BF81-4ED8-80E7-33F2F575C8C6}"/>
              </a:ext>
            </a:extLst>
          </p:cNvPr>
          <p:cNvSpPr>
            <a:spLocks xmlns:a="http://schemas.openxmlformats.org/drawingml/2006/main" noGrp="1"/>
          </p:cNvSpPr>
          <p:nvPr/>
        </p:nvSpPr>
        <p:spPr>
          <a:xfrm xmlns:a="http://schemas.openxmlformats.org/drawingml/2006/main">
            <a:off x="6400800" y="5532120"/>
            <a:ext cx="512064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i="1">
                <a:solidFill>
                  <a:srgbClr val="F37021"/>
                </a:solidFill>
                <a:latin typeface="Calibri"/>
                <a:ea typeface="Calibri"/>
                <a:cs typeface="Calibri"/>
              </a:rPr>
              <a:t>Stuck di vim?  </a:t>
            </a:r>
            <a:r>
              <a:rPr sz="1100" i="1">
                <a:solidFill>
                  <a:srgbClr val="1E293B"/>
                </a:solidFill>
                <a:latin typeface="Calibri"/>
                <a:ea typeface="Calibri"/>
                <a:cs typeface="Calibri"/>
              </a:rPr>
              <a:t>Esc Esc, lalu </a:t>
            </a:r>
            <a:r>
              <a:rPr sz="1100" b="1" i="1">
                <a:solidFill>
                  <a:srgbClr val="002677"/>
                </a:solidFill>
                <a:latin typeface="Consolas"/>
                <a:ea typeface="Consolas"/>
                <a:cs typeface="Consolas"/>
              </a:rPr>
              <a:t>:q!</a:t>
            </a:r>
            <a:r>
              <a:rPr sz="1100" i="1">
                <a:solidFill>
                  <a:srgbClr val="1E293B"/>
                </a:solidFill>
                <a:latin typeface="Calibri"/>
                <a:ea typeface="Calibri"/>
                <a:cs typeface="Calibri"/>
              </a:rPr>
              <a:t> untuk keluar paksa tanpa save.</a:t>
            </a:r>
            <a:endParaRPr sz="1100"/>
          </a:p>
        </p:txBody>
      </p:sp>
    </p:spTree>
    <p:extLst>
      <p:ext uri="{BB962C8B-B14F-4D97-AF65-F5344CB8AC3E}">
        <p14:creationId xmlns:p14="http://schemas.microsoft.com/office/powerpoint/2010/main" val="183677886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6A25937-A9F6-43C6-9633-A15047F0EBA7}"/>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2</a:t>
            </a:r>
            <a:endParaRPr sz="900"/>
          </a:p>
        </p:txBody>
      </p:sp>
      <p:sp>
        <p:nvSpPr>
          <p:cNvPr id="3" name="Text 1">
            <a:extLst xmlns:a="http://schemas.openxmlformats.org/drawingml/2006/main">
              <a:ext uri="{FF2B5EF4-FFF2-40B4-BE49-F238E27FC236}">
                <a16:creationId xmlns:a16="http://schemas.microsoft.com/office/drawing/2014/main" id="{6A481F7F-4A32-4FC8-9AC3-5111EB49E811}"/>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15</a:t>
            </a:r>
            <a:endParaRPr sz="900"/>
          </a:p>
        </p:txBody>
      </p:sp>
      <p:sp>
        <p:nvSpPr>
          <p:cNvPr id="4" name="Shape 2">
            <a:extLst xmlns:a="http://schemas.openxmlformats.org/drawingml/2006/main">
              <a:ext uri="{FF2B5EF4-FFF2-40B4-BE49-F238E27FC236}">
                <a16:creationId xmlns:a16="http://schemas.microsoft.com/office/drawing/2014/main" id="{7D15D4B4-2313-422C-9386-E944AB8C1E8C}"/>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9" name="Image 0"/>
          <p:cNvPicPr>
            <a:picLocks xmlns:a="http://schemas.openxmlformats.org/drawingml/2006/main" noChangeAspect="1"/>
          </p:cNvPicPr>
          <p:nvPr/>
        </p:nvPicPr>
        <p:blipFill>
          <a:blip xmlns:r="http://schemas.openxmlformats.org/officeDocument/2006/relationships" xmlns:a="http://schemas.openxmlformats.org/drawingml/2006/main" r:embed="R90cbff2f54694e72"/>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50" name="Image 1"/>
          <p:cNvPicPr>
            <a:picLocks xmlns:a="http://schemas.openxmlformats.org/drawingml/2006/main" noChangeAspect="1"/>
          </p:cNvPicPr>
          <p:nvPr/>
        </p:nvPicPr>
        <p:blipFill>
          <a:blip xmlns:r="http://schemas.openxmlformats.org/officeDocument/2006/relationships" xmlns:a="http://schemas.openxmlformats.org/drawingml/2006/main" r:embed="R7e2030957b3647bb"/>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2030C677-7061-430A-8816-DA5F13A21EDD}"/>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8E0F1D31-EC9E-4D2D-B4C7-639062A8255B}"/>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Pipes &amp; Redirects</a:t>
            </a:r>
            <a:endParaRPr sz="2200"/>
          </a:p>
        </p:txBody>
      </p:sp>
      <p:sp>
        <p:nvSpPr>
          <p:cNvPr id="9" name="Text 5">
            <a:extLst xmlns:a="http://schemas.openxmlformats.org/drawingml/2006/main">
              <a:ext uri="{FF2B5EF4-FFF2-40B4-BE49-F238E27FC236}">
                <a16:creationId xmlns:a16="http://schemas.microsoft.com/office/drawing/2014/main" id="{C51441F4-549A-4B81-97F4-EC42A38C13F0}"/>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Senjata utama Unix: gabungkan command kecil jadi tool kuat</a:t>
            </a:r>
            <a:endParaRPr sz="1200"/>
          </a:p>
        </p:txBody>
      </p:sp>
      <p:sp>
        <p:nvSpPr>
          <p:cNvPr id="10" name="Shape 6">
            <a:extLst xmlns:a="http://schemas.openxmlformats.org/drawingml/2006/main">
              <a:ext uri="{FF2B5EF4-FFF2-40B4-BE49-F238E27FC236}">
                <a16:creationId xmlns:a16="http://schemas.microsoft.com/office/drawing/2014/main" id="{DFA52A82-17C7-4339-AE59-5A6B886E78A5}"/>
              </a:ext>
            </a:extLst>
          </p:cNvPr>
          <p:cNvSpPr>
            <a:spLocks xmlns:a="http://schemas.openxmlformats.org/drawingml/2006/main" noGrp="1"/>
          </p:cNvSpPr>
          <p:nvPr/>
        </p:nvSpPr>
        <p:spPr>
          <a:xfrm xmlns:a="http://schemas.openxmlformats.org/drawingml/2006/main">
            <a:off x="457200" y="1417320"/>
            <a:ext cx="548640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Text 7">
            <a:extLst xmlns:a="http://schemas.openxmlformats.org/drawingml/2006/main">
              <a:ext uri="{FF2B5EF4-FFF2-40B4-BE49-F238E27FC236}">
                <a16:creationId xmlns:a16="http://schemas.microsoft.com/office/drawing/2014/main" id="{86DA48AD-4728-4677-96F0-ED605CE6015B}"/>
              </a:ext>
            </a:extLst>
          </p:cNvPr>
          <p:cNvSpPr>
            <a:spLocks xmlns:a="http://schemas.openxmlformats.org/drawingml/2006/main" noGrp="1"/>
          </p:cNvSpPr>
          <p:nvPr/>
        </p:nvSpPr>
        <p:spPr>
          <a:xfrm xmlns:a="http://schemas.openxmlformats.org/drawingml/2006/main">
            <a:off x="640080" y="1554480"/>
            <a:ext cx="51206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002677"/>
                </a:solidFill>
                <a:latin typeface="Calibri"/>
                <a:ea typeface="Calibri"/>
                <a:cs typeface="Calibri"/>
              </a:rPr>
              <a:t>Konsep Dasar</a:t>
            </a:r>
            <a:endParaRPr sz="1600"/>
          </a:p>
        </p:txBody>
      </p:sp>
      <p:sp>
        <p:nvSpPr>
          <p:cNvPr id="12" name="Shape 8">
            <a:extLst xmlns:a="http://schemas.openxmlformats.org/drawingml/2006/main">
              <a:ext uri="{FF2B5EF4-FFF2-40B4-BE49-F238E27FC236}">
                <a16:creationId xmlns:a16="http://schemas.microsoft.com/office/drawing/2014/main" id="{C6762B2D-B22B-4D93-8C54-7A9196095CEB}"/>
              </a:ext>
            </a:extLst>
          </p:cNvPr>
          <p:cNvSpPr>
            <a:spLocks xmlns:a="http://schemas.openxmlformats.org/drawingml/2006/main" noGrp="1"/>
          </p:cNvSpPr>
          <p:nvPr/>
        </p:nvSpPr>
        <p:spPr>
          <a:xfrm xmlns:a="http://schemas.openxmlformats.org/drawingml/2006/main">
            <a:off x="640080" y="2057400"/>
            <a:ext cx="5120640" cy="68580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13" name="Shape 9">
            <a:extLst xmlns:a="http://schemas.openxmlformats.org/drawingml/2006/main">
              <a:ext uri="{FF2B5EF4-FFF2-40B4-BE49-F238E27FC236}">
                <a16:creationId xmlns:a16="http://schemas.microsoft.com/office/drawing/2014/main" id="{3E76BD5E-F6AE-4885-AFD8-FE0009EDF3CD}"/>
              </a:ext>
            </a:extLst>
          </p:cNvPr>
          <p:cNvSpPr>
            <a:spLocks xmlns:a="http://schemas.openxmlformats.org/drawingml/2006/main" noGrp="1"/>
          </p:cNvSpPr>
          <p:nvPr/>
        </p:nvSpPr>
        <p:spPr>
          <a:xfrm xmlns:a="http://schemas.openxmlformats.org/drawingml/2006/main">
            <a:off x="640080" y="2057400"/>
            <a:ext cx="822960" cy="68580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7A981FD1-B9E1-492A-9C48-67EA527EF26D}"/>
              </a:ext>
            </a:extLst>
          </p:cNvPr>
          <p:cNvSpPr>
            <a:spLocks xmlns:a="http://schemas.openxmlformats.org/drawingml/2006/main" noGrp="1"/>
          </p:cNvSpPr>
          <p:nvPr/>
        </p:nvSpPr>
        <p:spPr>
          <a:xfrm xmlns:a="http://schemas.openxmlformats.org/drawingml/2006/main">
            <a:off x="640080" y="2057400"/>
            <a:ext cx="8229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onsolas"/>
                <a:ea typeface="Consolas"/>
                <a:cs typeface="Consolas"/>
              </a:rPr>
              <a:t>|</a:t>
            </a:r>
            <a:endParaRPr sz="2200"/>
          </a:p>
        </p:txBody>
      </p:sp>
      <p:sp>
        <p:nvSpPr>
          <p:cNvPr id="15" name="Text 11">
            <a:extLst xmlns:a="http://schemas.openxmlformats.org/drawingml/2006/main">
              <a:ext uri="{FF2B5EF4-FFF2-40B4-BE49-F238E27FC236}">
                <a16:creationId xmlns:a16="http://schemas.microsoft.com/office/drawing/2014/main" id="{A0C48CF6-B614-4BB4-B705-D30ED40C88DD}"/>
              </a:ext>
            </a:extLst>
          </p:cNvPr>
          <p:cNvSpPr>
            <a:spLocks xmlns:a="http://schemas.openxmlformats.org/drawingml/2006/main" noGrp="1"/>
          </p:cNvSpPr>
          <p:nvPr/>
        </p:nvSpPr>
        <p:spPr>
          <a:xfrm xmlns:a="http://schemas.openxmlformats.org/drawingml/2006/main">
            <a:off x="1600200" y="2103120"/>
            <a:ext cx="1371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02677"/>
                </a:solidFill>
                <a:latin typeface="Calibri"/>
                <a:ea typeface="Calibri"/>
                <a:cs typeface="Calibri"/>
              </a:rPr>
              <a:t>PIPE</a:t>
            </a:r>
            <a:endParaRPr sz="1100"/>
          </a:p>
        </p:txBody>
      </p:sp>
      <p:sp>
        <p:nvSpPr>
          <p:cNvPr id="16" name="Text 12">
            <a:extLst xmlns:a="http://schemas.openxmlformats.org/drawingml/2006/main">
              <a:ext uri="{FF2B5EF4-FFF2-40B4-BE49-F238E27FC236}">
                <a16:creationId xmlns:a16="http://schemas.microsoft.com/office/drawing/2014/main" id="{2B7F516E-3B9B-471B-9EB1-816E1641E226}"/>
              </a:ext>
            </a:extLst>
          </p:cNvPr>
          <p:cNvSpPr>
            <a:spLocks xmlns:a="http://schemas.openxmlformats.org/drawingml/2006/main" noGrp="1"/>
          </p:cNvSpPr>
          <p:nvPr/>
        </p:nvSpPr>
        <p:spPr>
          <a:xfrm xmlns:a="http://schemas.openxmlformats.org/drawingml/2006/main">
            <a:off x="1600200" y="2423160"/>
            <a:ext cx="4023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Output command kiri jadi input command kanan</a:t>
            </a:r>
            <a:endParaRPr sz="1000"/>
          </a:p>
        </p:txBody>
      </p:sp>
      <p:sp>
        <p:nvSpPr>
          <p:cNvPr id="17" name="Shape 13">
            <a:extLst xmlns:a="http://schemas.openxmlformats.org/drawingml/2006/main">
              <a:ext uri="{FF2B5EF4-FFF2-40B4-BE49-F238E27FC236}">
                <a16:creationId xmlns:a16="http://schemas.microsoft.com/office/drawing/2014/main" id="{29760D57-F9E8-4902-862C-BD2630FF062F}"/>
              </a:ext>
            </a:extLst>
          </p:cNvPr>
          <p:cNvSpPr>
            <a:spLocks xmlns:a="http://schemas.openxmlformats.org/drawingml/2006/main" noGrp="1"/>
          </p:cNvSpPr>
          <p:nvPr/>
        </p:nvSpPr>
        <p:spPr>
          <a:xfrm xmlns:a="http://schemas.openxmlformats.org/drawingml/2006/main">
            <a:off x="640080" y="2834640"/>
            <a:ext cx="5120640" cy="68580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18" name="Shape 14">
            <a:extLst xmlns:a="http://schemas.openxmlformats.org/drawingml/2006/main">
              <a:ext uri="{FF2B5EF4-FFF2-40B4-BE49-F238E27FC236}">
                <a16:creationId xmlns:a16="http://schemas.microsoft.com/office/drawing/2014/main" id="{8D7F08A8-4258-4A7D-B969-CF18C0D07DCE}"/>
              </a:ext>
            </a:extLst>
          </p:cNvPr>
          <p:cNvSpPr>
            <a:spLocks xmlns:a="http://schemas.openxmlformats.org/drawingml/2006/main" noGrp="1"/>
          </p:cNvSpPr>
          <p:nvPr/>
        </p:nvSpPr>
        <p:spPr>
          <a:xfrm xmlns:a="http://schemas.openxmlformats.org/drawingml/2006/main">
            <a:off x="640080" y="2834640"/>
            <a:ext cx="822960" cy="68580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9" name="Text 15">
            <a:extLst xmlns:a="http://schemas.openxmlformats.org/drawingml/2006/main">
              <a:ext uri="{FF2B5EF4-FFF2-40B4-BE49-F238E27FC236}">
                <a16:creationId xmlns:a16="http://schemas.microsoft.com/office/drawing/2014/main" id="{293AEDB7-28C3-4EFD-90D7-400BA34245AD}"/>
              </a:ext>
            </a:extLst>
          </p:cNvPr>
          <p:cNvSpPr>
            <a:spLocks xmlns:a="http://schemas.openxmlformats.org/drawingml/2006/main" noGrp="1"/>
          </p:cNvSpPr>
          <p:nvPr/>
        </p:nvSpPr>
        <p:spPr>
          <a:xfrm xmlns:a="http://schemas.openxmlformats.org/drawingml/2006/main">
            <a:off x="640080" y="2834640"/>
            <a:ext cx="8229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onsolas"/>
                <a:ea typeface="Consolas"/>
                <a:cs typeface="Consolas"/>
              </a:rPr>
              <a:t>&gt;</a:t>
            </a:r>
            <a:endParaRPr sz="2200"/>
          </a:p>
        </p:txBody>
      </p:sp>
      <p:sp>
        <p:nvSpPr>
          <p:cNvPr id="20" name="Text 16">
            <a:extLst xmlns:a="http://schemas.openxmlformats.org/drawingml/2006/main">
              <a:ext uri="{FF2B5EF4-FFF2-40B4-BE49-F238E27FC236}">
                <a16:creationId xmlns:a16="http://schemas.microsoft.com/office/drawing/2014/main" id="{D61FEBED-78EA-4720-95F2-882938C3EC49}"/>
              </a:ext>
            </a:extLst>
          </p:cNvPr>
          <p:cNvSpPr>
            <a:spLocks xmlns:a="http://schemas.openxmlformats.org/drawingml/2006/main" noGrp="1"/>
          </p:cNvSpPr>
          <p:nvPr/>
        </p:nvSpPr>
        <p:spPr>
          <a:xfrm xmlns:a="http://schemas.openxmlformats.org/drawingml/2006/main">
            <a:off x="1600200" y="2880360"/>
            <a:ext cx="1371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02677"/>
                </a:solidFill>
                <a:latin typeface="Calibri"/>
                <a:ea typeface="Calibri"/>
                <a:cs typeface="Calibri"/>
              </a:rPr>
              <a:t>REDIRECT</a:t>
            </a:r>
            <a:endParaRPr sz="1100"/>
          </a:p>
        </p:txBody>
      </p:sp>
      <p:sp>
        <p:nvSpPr>
          <p:cNvPr id="21" name="Text 17">
            <a:extLst xmlns:a="http://schemas.openxmlformats.org/drawingml/2006/main">
              <a:ext uri="{FF2B5EF4-FFF2-40B4-BE49-F238E27FC236}">
                <a16:creationId xmlns:a16="http://schemas.microsoft.com/office/drawing/2014/main" id="{AE7D6DA5-01A4-41A6-990A-5C48C36D945E}"/>
              </a:ext>
            </a:extLst>
          </p:cNvPr>
          <p:cNvSpPr>
            <a:spLocks xmlns:a="http://schemas.openxmlformats.org/drawingml/2006/main" noGrp="1"/>
          </p:cNvSpPr>
          <p:nvPr/>
        </p:nvSpPr>
        <p:spPr>
          <a:xfrm xmlns:a="http://schemas.openxmlformats.org/drawingml/2006/main">
            <a:off x="1600200" y="3200400"/>
            <a:ext cx="4023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Tulis stdout ke file (overwrite)</a:t>
            </a:r>
            <a:endParaRPr sz="1000"/>
          </a:p>
        </p:txBody>
      </p:sp>
      <p:sp>
        <p:nvSpPr>
          <p:cNvPr id="22" name="Shape 18">
            <a:extLst xmlns:a="http://schemas.openxmlformats.org/drawingml/2006/main">
              <a:ext uri="{FF2B5EF4-FFF2-40B4-BE49-F238E27FC236}">
                <a16:creationId xmlns:a16="http://schemas.microsoft.com/office/drawing/2014/main" id="{373D2A2D-C73F-43CE-9963-FD40E26FA96E}"/>
              </a:ext>
            </a:extLst>
          </p:cNvPr>
          <p:cNvSpPr>
            <a:spLocks xmlns:a="http://schemas.openxmlformats.org/drawingml/2006/main" noGrp="1"/>
          </p:cNvSpPr>
          <p:nvPr/>
        </p:nvSpPr>
        <p:spPr>
          <a:xfrm xmlns:a="http://schemas.openxmlformats.org/drawingml/2006/main">
            <a:off x="640080" y="3611880"/>
            <a:ext cx="5120640" cy="68580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3" name="Shape 19">
            <a:extLst xmlns:a="http://schemas.openxmlformats.org/drawingml/2006/main">
              <a:ext uri="{FF2B5EF4-FFF2-40B4-BE49-F238E27FC236}">
                <a16:creationId xmlns:a16="http://schemas.microsoft.com/office/drawing/2014/main" id="{DEC66B9E-03E4-4C27-AD71-81756BAB2769}"/>
              </a:ext>
            </a:extLst>
          </p:cNvPr>
          <p:cNvSpPr>
            <a:spLocks xmlns:a="http://schemas.openxmlformats.org/drawingml/2006/main" noGrp="1"/>
          </p:cNvSpPr>
          <p:nvPr/>
        </p:nvSpPr>
        <p:spPr>
          <a:xfrm xmlns:a="http://schemas.openxmlformats.org/drawingml/2006/main">
            <a:off x="640080" y="3611880"/>
            <a:ext cx="822960" cy="685800"/>
          </a:xfrm>
          <a:prstGeom xmlns:a="http://schemas.openxmlformats.org/drawingml/2006/main" prst="rect">
            <a:avLst/>
          </a:prstGeom>
          <a:solidFill xmlns:a="http://schemas.openxmlformats.org/drawingml/2006/main">
            <a:srgbClr val="1E40AF"/>
          </a:solidFill>
          <a:ln xmlns:a="http://schemas.openxmlformats.org/drawingml/2006/main" w="12700">
            <a:solidFill>
              <a:srgbClr val="1E40AF"/>
            </a:solidFill>
            <a:prstDash val="solid"/>
          </a:ln>
        </p:spPr>
      </p:sp>
      <p:sp>
        <p:nvSpPr>
          <p:cNvPr id="24" name="Text 20">
            <a:extLst xmlns:a="http://schemas.openxmlformats.org/drawingml/2006/main">
              <a:ext uri="{FF2B5EF4-FFF2-40B4-BE49-F238E27FC236}">
                <a16:creationId xmlns:a16="http://schemas.microsoft.com/office/drawing/2014/main" id="{DAA655AE-3919-4104-9BB8-D6FCBF70CCCD}"/>
              </a:ext>
            </a:extLst>
          </p:cNvPr>
          <p:cNvSpPr>
            <a:spLocks xmlns:a="http://schemas.openxmlformats.org/drawingml/2006/main" noGrp="1"/>
          </p:cNvSpPr>
          <p:nvPr/>
        </p:nvSpPr>
        <p:spPr>
          <a:xfrm xmlns:a="http://schemas.openxmlformats.org/drawingml/2006/main">
            <a:off x="640080" y="3611880"/>
            <a:ext cx="8229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onsolas"/>
                <a:ea typeface="Consolas"/>
                <a:cs typeface="Consolas"/>
              </a:rPr>
              <a:t>&gt;&gt;</a:t>
            </a:r>
            <a:endParaRPr sz="2200"/>
          </a:p>
        </p:txBody>
      </p:sp>
      <p:sp>
        <p:nvSpPr>
          <p:cNvPr id="25" name="Text 21">
            <a:extLst xmlns:a="http://schemas.openxmlformats.org/drawingml/2006/main">
              <a:ext uri="{FF2B5EF4-FFF2-40B4-BE49-F238E27FC236}">
                <a16:creationId xmlns:a16="http://schemas.microsoft.com/office/drawing/2014/main" id="{A192B886-51DE-42A1-A79E-E464BEDD5433}"/>
              </a:ext>
            </a:extLst>
          </p:cNvPr>
          <p:cNvSpPr>
            <a:spLocks xmlns:a="http://schemas.openxmlformats.org/drawingml/2006/main" noGrp="1"/>
          </p:cNvSpPr>
          <p:nvPr/>
        </p:nvSpPr>
        <p:spPr>
          <a:xfrm xmlns:a="http://schemas.openxmlformats.org/drawingml/2006/main">
            <a:off x="1600200" y="3657600"/>
            <a:ext cx="1371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02677"/>
                </a:solidFill>
                <a:latin typeface="Calibri"/>
                <a:ea typeface="Calibri"/>
                <a:cs typeface="Calibri"/>
              </a:rPr>
              <a:t>APPEND</a:t>
            </a:r>
            <a:endParaRPr sz="1100"/>
          </a:p>
        </p:txBody>
      </p:sp>
      <p:sp>
        <p:nvSpPr>
          <p:cNvPr id="26" name="Text 22">
            <a:extLst xmlns:a="http://schemas.openxmlformats.org/drawingml/2006/main">
              <a:ext uri="{FF2B5EF4-FFF2-40B4-BE49-F238E27FC236}">
                <a16:creationId xmlns:a16="http://schemas.microsoft.com/office/drawing/2014/main" id="{38940BC4-4F82-4BA9-9891-E5E42D9B2EFC}"/>
              </a:ext>
            </a:extLst>
          </p:cNvPr>
          <p:cNvSpPr>
            <a:spLocks xmlns:a="http://schemas.openxmlformats.org/drawingml/2006/main" noGrp="1"/>
          </p:cNvSpPr>
          <p:nvPr/>
        </p:nvSpPr>
        <p:spPr>
          <a:xfrm xmlns:a="http://schemas.openxmlformats.org/drawingml/2006/main">
            <a:off x="1600200" y="3977640"/>
            <a:ext cx="4023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Tulis stdout ke file (tambahkan ke akhir)</a:t>
            </a:r>
            <a:endParaRPr sz="1000"/>
          </a:p>
        </p:txBody>
      </p:sp>
      <p:sp>
        <p:nvSpPr>
          <p:cNvPr id="27" name="Shape 23">
            <a:extLst xmlns:a="http://schemas.openxmlformats.org/drawingml/2006/main">
              <a:ext uri="{FF2B5EF4-FFF2-40B4-BE49-F238E27FC236}">
                <a16:creationId xmlns:a16="http://schemas.microsoft.com/office/drawing/2014/main" id="{0F16CFC9-9AB9-48BE-819A-F00641D03C0D}"/>
              </a:ext>
            </a:extLst>
          </p:cNvPr>
          <p:cNvSpPr>
            <a:spLocks xmlns:a="http://schemas.openxmlformats.org/drawingml/2006/main" noGrp="1"/>
          </p:cNvSpPr>
          <p:nvPr/>
        </p:nvSpPr>
        <p:spPr>
          <a:xfrm xmlns:a="http://schemas.openxmlformats.org/drawingml/2006/main">
            <a:off x="640080" y="4389120"/>
            <a:ext cx="5120640" cy="68580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8" name="Shape 24">
            <a:extLst xmlns:a="http://schemas.openxmlformats.org/drawingml/2006/main">
              <a:ext uri="{FF2B5EF4-FFF2-40B4-BE49-F238E27FC236}">
                <a16:creationId xmlns:a16="http://schemas.microsoft.com/office/drawing/2014/main" id="{7203BCC5-4784-4855-9C32-19BE09D652EF}"/>
              </a:ext>
            </a:extLst>
          </p:cNvPr>
          <p:cNvSpPr>
            <a:spLocks xmlns:a="http://schemas.openxmlformats.org/drawingml/2006/main" noGrp="1"/>
          </p:cNvSpPr>
          <p:nvPr/>
        </p:nvSpPr>
        <p:spPr>
          <a:xfrm xmlns:a="http://schemas.openxmlformats.org/drawingml/2006/main">
            <a:off x="640080" y="4389120"/>
            <a:ext cx="822960" cy="685800"/>
          </a:xfrm>
          <a:prstGeom xmlns:a="http://schemas.openxmlformats.org/drawingml/2006/main" prst="rect">
            <a:avLst/>
          </a:prstGeom>
          <a:solidFill xmlns:a="http://schemas.openxmlformats.org/drawingml/2006/main">
            <a:srgbClr val="059669"/>
          </a:solidFill>
          <a:ln xmlns:a="http://schemas.openxmlformats.org/drawingml/2006/main" w="12700">
            <a:solidFill>
              <a:srgbClr val="059669"/>
            </a:solidFill>
            <a:prstDash val="solid"/>
          </a:ln>
        </p:spPr>
      </p:sp>
      <p:sp>
        <p:nvSpPr>
          <p:cNvPr id="29" name="Text 25">
            <a:extLst xmlns:a="http://schemas.openxmlformats.org/drawingml/2006/main">
              <a:ext uri="{FF2B5EF4-FFF2-40B4-BE49-F238E27FC236}">
                <a16:creationId xmlns:a16="http://schemas.microsoft.com/office/drawing/2014/main" id="{F97FB0FC-DBC4-4BE9-93F7-1DFB473493B8}"/>
              </a:ext>
            </a:extLst>
          </p:cNvPr>
          <p:cNvSpPr>
            <a:spLocks xmlns:a="http://schemas.openxmlformats.org/drawingml/2006/main" noGrp="1"/>
          </p:cNvSpPr>
          <p:nvPr/>
        </p:nvSpPr>
        <p:spPr>
          <a:xfrm xmlns:a="http://schemas.openxmlformats.org/drawingml/2006/main">
            <a:off x="640080" y="4389120"/>
            <a:ext cx="8229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onsolas"/>
                <a:ea typeface="Consolas"/>
                <a:cs typeface="Consolas"/>
              </a:rPr>
              <a:t>&lt;</a:t>
            </a:r>
            <a:endParaRPr sz="2200"/>
          </a:p>
        </p:txBody>
      </p:sp>
      <p:sp>
        <p:nvSpPr>
          <p:cNvPr id="30" name="Text 26">
            <a:extLst xmlns:a="http://schemas.openxmlformats.org/drawingml/2006/main">
              <a:ext uri="{FF2B5EF4-FFF2-40B4-BE49-F238E27FC236}">
                <a16:creationId xmlns:a16="http://schemas.microsoft.com/office/drawing/2014/main" id="{C7F9CEEC-5829-4695-A38E-35EA94A1315E}"/>
              </a:ext>
            </a:extLst>
          </p:cNvPr>
          <p:cNvSpPr>
            <a:spLocks xmlns:a="http://schemas.openxmlformats.org/drawingml/2006/main" noGrp="1"/>
          </p:cNvSpPr>
          <p:nvPr/>
        </p:nvSpPr>
        <p:spPr>
          <a:xfrm xmlns:a="http://schemas.openxmlformats.org/drawingml/2006/main">
            <a:off x="1600200" y="4434840"/>
            <a:ext cx="1371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02677"/>
                </a:solidFill>
                <a:latin typeface="Calibri"/>
                <a:ea typeface="Calibri"/>
                <a:cs typeface="Calibri"/>
              </a:rPr>
              <a:t>INPUT</a:t>
            </a:r>
            <a:endParaRPr sz="1100"/>
          </a:p>
        </p:txBody>
      </p:sp>
      <p:sp>
        <p:nvSpPr>
          <p:cNvPr id="31" name="Text 27">
            <a:extLst xmlns:a="http://schemas.openxmlformats.org/drawingml/2006/main">
              <a:ext uri="{FF2B5EF4-FFF2-40B4-BE49-F238E27FC236}">
                <a16:creationId xmlns:a16="http://schemas.microsoft.com/office/drawing/2014/main" id="{AFB3098B-CECA-4968-A14E-D6A10F7A5DE3}"/>
              </a:ext>
            </a:extLst>
          </p:cNvPr>
          <p:cNvSpPr>
            <a:spLocks xmlns:a="http://schemas.openxmlformats.org/drawingml/2006/main" noGrp="1"/>
          </p:cNvSpPr>
          <p:nvPr/>
        </p:nvSpPr>
        <p:spPr>
          <a:xfrm xmlns:a="http://schemas.openxmlformats.org/drawingml/2006/main">
            <a:off x="1600200" y="4754880"/>
            <a:ext cx="4023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Baca stdin dari file</a:t>
            </a:r>
            <a:endParaRPr sz="1000"/>
          </a:p>
        </p:txBody>
      </p:sp>
      <p:sp>
        <p:nvSpPr>
          <p:cNvPr id="32" name="Shape 28">
            <a:extLst xmlns:a="http://schemas.openxmlformats.org/drawingml/2006/main">
              <a:ext uri="{FF2B5EF4-FFF2-40B4-BE49-F238E27FC236}">
                <a16:creationId xmlns:a16="http://schemas.microsoft.com/office/drawing/2014/main" id="{BA5AAAED-A2F4-4E9A-92DC-FCBC2188CA82}"/>
              </a:ext>
            </a:extLst>
          </p:cNvPr>
          <p:cNvSpPr>
            <a:spLocks xmlns:a="http://schemas.openxmlformats.org/drawingml/2006/main" noGrp="1"/>
          </p:cNvSpPr>
          <p:nvPr/>
        </p:nvSpPr>
        <p:spPr>
          <a:xfrm xmlns:a="http://schemas.openxmlformats.org/drawingml/2006/main">
            <a:off x="640080" y="5166360"/>
            <a:ext cx="5120640" cy="68580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33" name="Shape 29">
            <a:extLst xmlns:a="http://schemas.openxmlformats.org/drawingml/2006/main">
              <a:ext uri="{FF2B5EF4-FFF2-40B4-BE49-F238E27FC236}">
                <a16:creationId xmlns:a16="http://schemas.microsoft.com/office/drawing/2014/main" id="{AA499E58-3A8F-49A3-925E-976BE170161F}"/>
              </a:ext>
            </a:extLst>
          </p:cNvPr>
          <p:cNvSpPr>
            <a:spLocks xmlns:a="http://schemas.openxmlformats.org/drawingml/2006/main" noGrp="1"/>
          </p:cNvSpPr>
          <p:nvPr/>
        </p:nvSpPr>
        <p:spPr>
          <a:xfrm xmlns:a="http://schemas.openxmlformats.org/drawingml/2006/main">
            <a:off x="640080" y="5166360"/>
            <a:ext cx="822960" cy="685800"/>
          </a:xfrm>
          <a:prstGeom xmlns:a="http://schemas.openxmlformats.org/drawingml/2006/main" prst="rect">
            <a:avLst/>
          </a:prstGeom>
          <a:solidFill xmlns:a="http://schemas.openxmlformats.org/drawingml/2006/main">
            <a:srgbClr val="DC2626"/>
          </a:solidFill>
          <a:ln xmlns:a="http://schemas.openxmlformats.org/drawingml/2006/main" w="12700">
            <a:solidFill>
              <a:srgbClr val="DC2626"/>
            </a:solidFill>
            <a:prstDash val="solid"/>
          </a:ln>
        </p:spPr>
      </p:sp>
      <p:sp>
        <p:nvSpPr>
          <p:cNvPr id="34" name="Text 30">
            <a:extLst xmlns:a="http://schemas.openxmlformats.org/drawingml/2006/main">
              <a:ext uri="{FF2B5EF4-FFF2-40B4-BE49-F238E27FC236}">
                <a16:creationId xmlns:a16="http://schemas.microsoft.com/office/drawing/2014/main" id="{F8AE5643-4124-44FE-926E-63E5EF167DDE}"/>
              </a:ext>
            </a:extLst>
          </p:cNvPr>
          <p:cNvSpPr>
            <a:spLocks xmlns:a="http://schemas.openxmlformats.org/drawingml/2006/main" noGrp="1"/>
          </p:cNvSpPr>
          <p:nvPr/>
        </p:nvSpPr>
        <p:spPr>
          <a:xfrm xmlns:a="http://schemas.openxmlformats.org/drawingml/2006/main">
            <a:off x="640080" y="5166360"/>
            <a:ext cx="8229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onsolas"/>
                <a:ea typeface="Consolas"/>
                <a:cs typeface="Consolas"/>
              </a:rPr>
              <a:t>2&gt;</a:t>
            </a:r>
            <a:endParaRPr sz="2200"/>
          </a:p>
        </p:txBody>
      </p:sp>
      <p:sp>
        <p:nvSpPr>
          <p:cNvPr id="35" name="Text 31">
            <a:extLst xmlns:a="http://schemas.openxmlformats.org/drawingml/2006/main">
              <a:ext uri="{FF2B5EF4-FFF2-40B4-BE49-F238E27FC236}">
                <a16:creationId xmlns:a16="http://schemas.microsoft.com/office/drawing/2014/main" id="{32049F75-BDF9-45FF-9CB0-A6D10CECA565}"/>
              </a:ext>
            </a:extLst>
          </p:cNvPr>
          <p:cNvSpPr>
            <a:spLocks xmlns:a="http://schemas.openxmlformats.org/drawingml/2006/main" noGrp="1"/>
          </p:cNvSpPr>
          <p:nvPr/>
        </p:nvSpPr>
        <p:spPr>
          <a:xfrm xmlns:a="http://schemas.openxmlformats.org/drawingml/2006/main">
            <a:off x="1600200" y="5212080"/>
            <a:ext cx="1371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02677"/>
                </a:solidFill>
                <a:latin typeface="Calibri"/>
                <a:ea typeface="Calibri"/>
                <a:cs typeface="Calibri"/>
              </a:rPr>
              <a:t>STDERR</a:t>
            </a:r>
            <a:endParaRPr sz="1100"/>
          </a:p>
        </p:txBody>
      </p:sp>
      <p:sp>
        <p:nvSpPr>
          <p:cNvPr id="36" name="Text 32">
            <a:extLst xmlns:a="http://schemas.openxmlformats.org/drawingml/2006/main">
              <a:ext uri="{FF2B5EF4-FFF2-40B4-BE49-F238E27FC236}">
                <a16:creationId xmlns:a16="http://schemas.microsoft.com/office/drawing/2014/main" id="{848A4E73-45DF-49FB-BA18-AA44D770CFB3}"/>
              </a:ext>
            </a:extLst>
          </p:cNvPr>
          <p:cNvSpPr>
            <a:spLocks xmlns:a="http://schemas.openxmlformats.org/drawingml/2006/main" noGrp="1"/>
          </p:cNvSpPr>
          <p:nvPr/>
        </p:nvSpPr>
        <p:spPr>
          <a:xfrm xmlns:a="http://schemas.openxmlformats.org/drawingml/2006/main">
            <a:off x="1600200" y="5532120"/>
            <a:ext cx="4023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Redirect error stream ke file</a:t>
            </a:r>
            <a:endParaRPr sz="1000"/>
          </a:p>
        </p:txBody>
      </p:sp>
      <p:sp>
        <p:nvSpPr>
          <p:cNvPr id="37" name="Shape 33">
            <a:extLst xmlns:a="http://schemas.openxmlformats.org/drawingml/2006/main">
              <a:ext uri="{FF2B5EF4-FFF2-40B4-BE49-F238E27FC236}">
                <a16:creationId xmlns:a16="http://schemas.microsoft.com/office/drawing/2014/main" id="{573D0316-42F4-4BD2-8F45-A21B286FAD8F}"/>
              </a:ext>
            </a:extLst>
          </p:cNvPr>
          <p:cNvSpPr>
            <a:spLocks xmlns:a="http://schemas.openxmlformats.org/drawingml/2006/main" noGrp="1"/>
          </p:cNvSpPr>
          <p:nvPr/>
        </p:nvSpPr>
        <p:spPr>
          <a:xfrm xmlns:a="http://schemas.openxmlformats.org/drawingml/2006/main">
            <a:off x="6217920" y="1417320"/>
            <a:ext cx="5486400" cy="475488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38" name="Shape 34">
            <a:extLst xmlns:a="http://schemas.openxmlformats.org/drawingml/2006/main">
              <a:ext uri="{FF2B5EF4-FFF2-40B4-BE49-F238E27FC236}">
                <a16:creationId xmlns:a16="http://schemas.microsoft.com/office/drawing/2014/main" id="{2079E472-E912-470F-AD43-D2450EF8E3EE}"/>
              </a:ext>
            </a:extLst>
          </p:cNvPr>
          <p:cNvSpPr>
            <a:spLocks xmlns:a="http://schemas.openxmlformats.org/drawingml/2006/main" noGrp="1"/>
          </p:cNvSpPr>
          <p:nvPr/>
        </p:nvSpPr>
        <p:spPr>
          <a:xfrm xmlns:a="http://schemas.openxmlformats.org/drawingml/2006/main">
            <a:off x="6217920" y="1417320"/>
            <a:ext cx="548640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39" name="Shape 35">
            <a:extLst xmlns:a="http://schemas.openxmlformats.org/drawingml/2006/main">
              <a:ext uri="{FF2B5EF4-FFF2-40B4-BE49-F238E27FC236}">
                <a16:creationId xmlns:a16="http://schemas.microsoft.com/office/drawing/2014/main" id="{8E218337-24E9-48B1-9883-7693E9A2F169}"/>
              </a:ext>
            </a:extLst>
          </p:cNvPr>
          <p:cNvSpPr>
            <a:spLocks xmlns:a="http://schemas.openxmlformats.org/drawingml/2006/main" noGrp="1"/>
          </p:cNvSpPr>
          <p:nvPr/>
        </p:nvSpPr>
        <p:spPr>
          <a:xfrm xmlns:a="http://schemas.openxmlformats.org/drawingml/2006/main">
            <a:off x="6309360" y="149961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40" name="Shape 36">
            <a:extLst xmlns:a="http://schemas.openxmlformats.org/drawingml/2006/main">
              <a:ext uri="{FF2B5EF4-FFF2-40B4-BE49-F238E27FC236}">
                <a16:creationId xmlns:a16="http://schemas.microsoft.com/office/drawing/2014/main" id="{0F6AC651-D5AE-45AC-9DD9-85595B8BBE09}"/>
              </a:ext>
            </a:extLst>
          </p:cNvPr>
          <p:cNvSpPr>
            <a:spLocks xmlns:a="http://schemas.openxmlformats.org/drawingml/2006/main" noGrp="1"/>
          </p:cNvSpPr>
          <p:nvPr/>
        </p:nvSpPr>
        <p:spPr>
          <a:xfrm xmlns:a="http://schemas.openxmlformats.org/drawingml/2006/main">
            <a:off x="6446520" y="149961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41" name="Shape 37">
            <a:extLst xmlns:a="http://schemas.openxmlformats.org/drawingml/2006/main">
              <a:ext uri="{FF2B5EF4-FFF2-40B4-BE49-F238E27FC236}">
                <a16:creationId xmlns:a16="http://schemas.microsoft.com/office/drawing/2014/main" id="{05B77E1E-C3A4-4F48-9622-993116E3AA38}"/>
              </a:ext>
            </a:extLst>
          </p:cNvPr>
          <p:cNvSpPr>
            <a:spLocks xmlns:a="http://schemas.openxmlformats.org/drawingml/2006/main" noGrp="1"/>
          </p:cNvSpPr>
          <p:nvPr/>
        </p:nvSpPr>
        <p:spPr>
          <a:xfrm xmlns:a="http://schemas.openxmlformats.org/drawingml/2006/main">
            <a:off x="6583680" y="149961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42" name="Text 38">
            <a:extLst xmlns:a="http://schemas.openxmlformats.org/drawingml/2006/main">
              <a:ext uri="{FF2B5EF4-FFF2-40B4-BE49-F238E27FC236}">
                <a16:creationId xmlns:a16="http://schemas.microsoft.com/office/drawing/2014/main" id="{6209EE29-ADB8-46B2-A471-C13431504F99}"/>
              </a:ext>
            </a:extLst>
          </p:cNvPr>
          <p:cNvSpPr>
            <a:spLocks xmlns:a="http://schemas.openxmlformats.org/drawingml/2006/main" noGrp="1"/>
          </p:cNvSpPr>
          <p:nvPr/>
        </p:nvSpPr>
        <p:spPr>
          <a:xfrm xmlns:a="http://schemas.openxmlformats.org/drawingml/2006/main">
            <a:off x="6766560" y="1417320"/>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pipes in action</a:t>
            </a:r>
            <a:endParaRPr sz="900"/>
          </a:p>
        </p:txBody>
      </p:sp>
      <p:sp>
        <p:nvSpPr>
          <p:cNvPr id="43" name="Text 39">
            <a:extLst xmlns:a="http://schemas.openxmlformats.org/drawingml/2006/main">
              <a:ext uri="{FF2B5EF4-FFF2-40B4-BE49-F238E27FC236}">
                <a16:creationId xmlns:a16="http://schemas.microsoft.com/office/drawing/2014/main" id="{7425D14A-B57F-4760-A5F7-FCB100ED644F}"/>
              </a:ext>
            </a:extLst>
          </p:cNvPr>
          <p:cNvSpPr>
            <a:spLocks xmlns:a="http://schemas.openxmlformats.org/drawingml/2006/main" noGrp="1"/>
          </p:cNvSpPr>
          <p:nvPr/>
        </p:nvSpPr>
        <p:spPr>
          <a:xfrm xmlns:a="http://schemas.openxmlformats.org/drawingml/2006/main">
            <a:off x="6355080" y="1783080"/>
            <a:ext cx="5212080" cy="4297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a:solidFill>
                  <a:srgbClr val="94A3B8"/>
                </a:solidFill>
                <a:latin typeface="Consolas"/>
                <a:ea typeface="Consolas"/>
                <a:cs typeface="Consolas"/>
              </a:rPr>
              <a:t># Daftar 5 proses paling boros memori:</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ps aux | sort -k4 -nr | head -5</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Cari ERROR di log:</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cat app.log | grep ERROR</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Save ke file:</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ls -lh &gt; listing.txt</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Append ke log file:</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echo "deploy done" &gt;&gt; deploy.log</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Pisah error dari output:</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build.sh &gt; out.log 2&gt; err.log</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Gabung stderr ke stdout:</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build.sh &gt; all.log 2&gt;&amp;1</a:t>
            </a:r>
            <a:endParaRPr sz="1100"/>
          </a:p>
        </p:txBody>
      </p:sp>
    </p:spTree>
    <p:extLst>
      <p:ext uri="{BB962C8B-B14F-4D97-AF65-F5344CB8AC3E}">
        <p14:creationId xmlns:p14="http://schemas.microsoft.com/office/powerpoint/2010/main" val="18636731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ACDC000-7145-4E17-82D8-E04ECC581BE2}"/>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2</a:t>
            </a:r>
            <a:endParaRPr sz="900"/>
          </a:p>
        </p:txBody>
      </p:sp>
      <p:sp>
        <p:nvSpPr>
          <p:cNvPr id="3" name="Text 1">
            <a:extLst xmlns:a="http://schemas.openxmlformats.org/drawingml/2006/main">
              <a:ext uri="{FF2B5EF4-FFF2-40B4-BE49-F238E27FC236}">
                <a16:creationId xmlns:a16="http://schemas.microsoft.com/office/drawing/2014/main" id="{E9AB37CE-3CC6-41DA-9686-4EFE1E91D6AC}"/>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16</a:t>
            </a:r>
            <a:endParaRPr sz="900"/>
          </a:p>
        </p:txBody>
      </p:sp>
      <p:sp>
        <p:nvSpPr>
          <p:cNvPr id="4" name="Shape 2">
            <a:extLst xmlns:a="http://schemas.openxmlformats.org/drawingml/2006/main">
              <a:ext uri="{FF2B5EF4-FFF2-40B4-BE49-F238E27FC236}">
                <a16:creationId xmlns:a16="http://schemas.microsoft.com/office/drawing/2014/main" id="{EA525F23-5981-45B3-A8BA-72438BA07129}"/>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58" name="Image 0"/>
          <p:cNvPicPr>
            <a:picLocks xmlns:a="http://schemas.openxmlformats.org/drawingml/2006/main" noChangeAspect="1"/>
          </p:cNvPicPr>
          <p:nvPr/>
        </p:nvPicPr>
        <p:blipFill>
          <a:blip xmlns:r="http://schemas.openxmlformats.org/officeDocument/2006/relationships" xmlns:a="http://schemas.openxmlformats.org/drawingml/2006/main" r:embed="R426dd25d1d544788"/>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59" name="Image 1"/>
          <p:cNvPicPr>
            <a:picLocks xmlns:a="http://schemas.openxmlformats.org/drawingml/2006/main" noChangeAspect="1"/>
          </p:cNvPicPr>
          <p:nvPr/>
        </p:nvPicPr>
        <p:blipFill>
          <a:blip xmlns:r="http://schemas.openxmlformats.org/officeDocument/2006/relationships" xmlns:a="http://schemas.openxmlformats.org/drawingml/2006/main" r:embed="Ra11d267cecc84ba5"/>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7E9D8663-1937-4AA9-91B6-57E92A2BDD77}"/>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F331286E-0768-49E3-BB54-EC9E5473807F}"/>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Powerful One-Liners</a:t>
            </a:r>
            <a:endParaRPr sz="2200"/>
          </a:p>
        </p:txBody>
      </p:sp>
      <p:sp>
        <p:nvSpPr>
          <p:cNvPr id="9" name="Text 5">
            <a:extLst xmlns:a="http://schemas.openxmlformats.org/drawingml/2006/main">
              <a:ext uri="{FF2B5EF4-FFF2-40B4-BE49-F238E27FC236}">
                <a16:creationId xmlns:a16="http://schemas.microsoft.com/office/drawing/2014/main" id="{867E5200-1C58-496D-8D49-45C3E90D283B}"/>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Command yang dipakai sehari-hari oleh sysadmin</a:t>
            </a:r>
            <a:endParaRPr sz="1200"/>
          </a:p>
        </p:txBody>
      </p:sp>
      <p:sp>
        <p:nvSpPr>
          <p:cNvPr id="10" name="Shape 6">
            <a:extLst xmlns:a="http://schemas.openxmlformats.org/drawingml/2006/main">
              <a:ext uri="{FF2B5EF4-FFF2-40B4-BE49-F238E27FC236}">
                <a16:creationId xmlns:a16="http://schemas.microsoft.com/office/drawing/2014/main" id="{0D6BC732-4BFE-4D0E-988E-F2280A71E2C5}"/>
              </a:ext>
            </a:extLst>
          </p:cNvPr>
          <p:cNvSpPr>
            <a:spLocks xmlns:a="http://schemas.openxmlformats.org/drawingml/2006/main" noGrp="1"/>
          </p:cNvSpPr>
          <p:nvPr/>
        </p:nvSpPr>
        <p:spPr>
          <a:xfrm xmlns:a="http://schemas.openxmlformats.org/drawingml/2006/main">
            <a:off x="457200" y="1417320"/>
            <a:ext cx="3703320" cy="21945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EC02F821-FB33-466D-BAC1-8287C9622663}"/>
              </a:ext>
            </a:extLst>
          </p:cNvPr>
          <p:cNvSpPr>
            <a:spLocks xmlns:a="http://schemas.openxmlformats.org/drawingml/2006/main" noGrp="1"/>
          </p:cNvSpPr>
          <p:nvPr/>
        </p:nvSpPr>
        <p:spPr>
          <a:xfrm xmlns:a="http://schemas.openxmlformats.org/drawingml/2006/main">
            <a:off x="457200" y="1417320"/>
            <a:ext cx="3703320" cy="64008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2" name="Text 8">
            <a:extLst xmlns:a="http://schemas.openxmlformats.org/drawingml/2006/main">
              <a:ext uri="{FF2B5EF4-FFF2-40B4-BE49-F238E27FC236}">
                <a16:creationId xmlns:a16="http://schemas.microsoft.com/office/drawing/2014/main" id="{38BBCBEE-0E7D-4E5A-973B-EF75EA3231E9}"/>
              </a:ext>
            </a:extLst>
          </p:cNvPr>
          <p:cNvSpPr>
            <a:spLocks xmlns:a="http://schemas.openxmlformats.org/drawingml/2006/main" noGrp="1"/>
          </p:cNvSpPr>
          <p:nvPr/>
        </p:nvSpPr>
        <p:spPr>
          <a:xfrm xmlns:a="http://schemas.openxmlformats.org/drawingml/2006/main">
            <a:off x="640080" y="1463040"/>
            <a:ext cx="18288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F37021"/>
                </a:solidFill>
                <a:latin typeface="Consolas"/>
                <a:ea typeface="Consolas"/>
                <a:cs typeface="Consolas"/>
              </a:rPr>
              <a:t>grep</a:t>
            </a:r>
            <a:endParaRPr sz="2200"/>
          </a:p>
        </p:txBody>
      </p:sp>
      <p:sp>
        <p:nvSpPr>
          <p:cNvPr id="13" name="Text 9">
            <a:extLst xmlns:a="http://schemas.openxmlformats.org/drawingml/2006/main">
              <a:ext uri="{FF2B5EF4-FFF2-40B4-BE49-F238E27FC236}">
                <a16:creationId xmlns:a16="http://schemas.microsoft.com/office/drawing/2014/main" id="{F2EC9EFE-ED99-4C0D-8F65-0B4A5DE2FF36}"/>
              </a:ext>
            </a:extLst>
          </p:cNvPr>
          <p:cNvSpPr>
            <a:spLocks xmlns:a="http://schemas.openxmlformats.org/drawingml/2006/main" noGrp="1"/>
          </p:cNvSpPr>
          <p:nvPr/>
        </p:nvSpPr>
        <p:spPr>
          <a:xfrm xmlns:a="http://schemas.openxmlformats.org/drawingml/2006/main">
            <a:off x="2697480" y="1463040"/>
            <a:ext cx="1280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i="1">
                <a:solidFill>
                  <a:srgbClr val="FFFFFF"/>
                </a:solidFill>
                <a:latin typeface="Calibri"/>
                <a:ea typeface="Calibri"/>
                <a:cs typeface="Calibri"/>
              </a:rPr>
              <a:t>Cari pattern</a:t>
            </a:r>
            <a:endParaRPr sz="1100"/>
          </a:p>
        </p:txBody>
      </p:sp>
      <p:sp>
        <p:nvSpPr>
          <p:cNvPr id="14" name="Shape 10">
            <a:extLst xmlns:a="http://schemas.openxmlformats.org/drawingml/2006/main">
              <a:ext uri="{FF2B5EF4-FFF2-40B4-BE49-F238E27FC236}">
                <a16:creationId xmlns:a16="http://schemas.microsoft.com/office/drawing/2014/main" id="{61BC26A0-FFF9-4EF6-9E16-F36D30B5A8DD}"/>
              </a:ext>
            </a:extLst>
          </p:cNvPr>
          <p:cNvSpPr>
            <a:spLocks xmlns:a="http://schemas.openxmlformats.org/drawingml/2006/main" noGrp="1"/>
          </p:cNvSpPr>
          <p:nvPr/>
        </p:nvSpPr>
        <p:spPr>
          <a:xfrm xmlns:a="http://schemas.openxmlformats.org/drawingml/2006/main">
            <a:off x="594360" y="2194560"/>
            <a:ext cx="3429000" cy="50292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15" name="Text 11">
            <a:extLst xmlns:a="http://schemas.openxmlformats.org/drawingml/2006/main">
              <a:ext uri="{FF2B5EF4-FFF2-40B4-BE49-F238E27FC236}">
                <a16:creationId xmlns:a16="http://schemas.microsoft.com/office/drawing/2014/main" id="{4EABACE4-D0E7-4DC0-84F8-6224681FE935}"/>
              </a:ext>
            </a:extLst>
          </p:cNvPr>
          <p:cNvSpPr>
            <a:spLocks xmlns:a="http://schemas.openxmlformats.org/drawingml/2006/main" noGrp="1"/>
          </p:cNvSpPr>
          <p:nvPr/>
        </p:nvSpPr>
        <p:spPr>
          <a:xfrm xmlns:a="http://schemas.openxmlformats.org/drawingml/2006/main">
            <a:off x="685800" y="2258568"/>
            <a:ext cx="3337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 </a:t>
            </a:r>
            <a:r>
              <a:rPr sz="1100">
                <a:solidFill>
                  <a:srgbClr val="E2E8F0"/>
                </a:solidFill>
                <a:latin typeface="Consolas"/>
                <a:ea typeface="Consolas"/>
                <a:cs typeface="Consolas"/>
              </a:rPr>
              <a:t>grep -r 'TODO' src/</a:t>
            </a:r>
            <a:endParaRPr sz="1100"/>
          </a:p>
        </p:txBody>
      </p:sp>
      <p:sp>
        <p:nvSpPr>
          <p:cNvPr id="16" name="Text 12">
            <a:extLst xmlns:a="http://schemas.openxmlformats.org/drawingml/2006/main">
              <a:ext uri="{FF2B5EF4-FFF2-40B4-BE49-F238E27FC236}">
                <a16:creationId xmlns:a16="http://schemas.microsoft.com/office/drawing/2014/main" id="{D535C662-8F17-4EBE-B0EF-D181BB29DFF0}"/>
              </a:ext>
            </a:extLst>
          </p:cNvPr>
          <p:cNvSpPr>
            <a:spLocks xmlns:a="http://schemas.openxmlformats.org/drawingml/2006/main" noGrp="1"/>
          </p:cNvSpPr>
          <p:nvPr/>
        </p:nvSpPr>
        <p:spPr>
          <a:xfrm xmlns:a="http://schemas.openxmlformats.org/drawingml/2006/main">
            <a:off x="640080" y="2834640"/>
            <a:ext cx="3337560" cy="685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Recursive cari kata 'TODO' di folder src/</a:t>
            </a:r>
            <a:endParaRPr sz="1100"/>
          </a:p>
        </p:txBody>
      </p:sp>
      <p:sp>
        <p:nvSpPr>
          <p:cNvPr id="17" name="Shape 13">
            <a:extLst xmlns:a="http://schemas.openxmlformats.org/drawingml/2006/main">
              <a:ext uri="{FF2B5EF4-FFF2-40B4-BE49-F238E27FC236}">
                <a16:creationId xmlns:a16="http://schemas.microsoft.com/office/drawing/2014/main" id="{68CE0C49-60B4-4F22-AF42-CA7F5D040BA3}"/>
              </a:ext>
            </a:extLst>
          </p:cNvPr>
          <p:cNvSpPr>
            <a:spLocks xmlns:a="http://schemas.openxmlformats.org/drawingml/2006/main" noGrp="1"/>
          </p:cNvSpPr>
          <p:nvPr/>
        </p:nvSpPr>
        <p:spPr>
          <a:xfrm xmlns:a="http://schemas.openxmlformats.org/drawingml/2006/main">
            <a:off x="4297680" y="1417320"/>
            <a:ext cx="3703320" cy="21945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8" name="Shape 14">
            <a:extLst xmlns:a="http://schemas.openxmlformats.org/drawingml/2006/main">
              <a:ext uri="{FF2B5EF4-FFF2-40B4-BE49-F238E27FC236}">
                <a16:creationId xmlns:a16="http://schemas.microsoft.com/office/drawing/2014/main" id="{9D9BEC87-1D1A-479B-A190-A5A0E04D8AE7}"/>
              </a:ext>
            </a:extLst>
          </p:cNvPr>
          <p:cNvSpPr>
            <a:spLocks xmlns:a="http://schemas.openxmlformats.org/drawingml/2006/main" noGrp="1"/>
          </p:cNvSpPr>
          <p:nvPr/>
        </p:nvSpPr>
        <p:spPr>
          <a:xfrm xmlns:a="http://schemas.openxmlformats.org/drawingml/2006/main">
            <a:off x="4297680" y="1417320"/>
            <a:ext cx="3703320" cy="64008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9" name="Text 15">
            <a:extLst xmlns:a="http://schemas.openxmlformats.org/drawingml/2006/main">
              <a:ext uri="{FF2B5EF4-FFF2-40B4-BE49-F238E27FC236}">
                <a16:creationId xmlns:a16="http://schemas.microsoft.com/office/drawing/2014/main" id="{2BEADB80-0355-439D-94B8-5AFE417ABC42}"/>
              </a:ext>
            </a:extLst>
          </p:cNvPr>
          <p:cNvSpPr>
            <a:spLocks xmlns:a="http://schemas.openxmlformats.org/drawingml/2006/main" noGrp="1"/>
          </p:cNvSpPr>
          <p:nvPr/>
        </p:nvSpPr>
        <p:spPr>
          <a:xfrm xmlns:a="http://schemas.openxmlformats.org/drawingml/2006/main">
            <a:off x="4480560" y="1463040"/>
            <a:ext cx="18288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F37021"/>
                </a:solidFill>
                <a:latin typeface="Consolas"/>
                <a:ea typeface="Consolas"/>
                <a:cs typeface="Consolas"/>
              </a:rPr>
              <a:t>find</a:t>
            </a:r>
            <a:endParaRPr sz="2200"/>
          </a:p>
        </p:txBody>
      </p:sp>
      <p:sp>
        <p:nvSpPr>
          <p:cNvPr id="20" name="Text 16">
            <a:extLst xmlns:a="http://schemas.openxmlformats.org/drawingml/2006/main">
              <a:ext uri="{FF2B5EF4-FFF2-40B4-BE49-F238E27FC236}">
                <a16:creationId xmlns:a16="http://schemas.microsoft.com/office/drawing/2014/main" id="{8D2EF417-A75B-4506-B5C8-A78D9D80A752}"/>
              </a:ext>
            </a:extLst>
          </p:cNvPr>
          <p:cNvSpPr>
            <a:spLocks xmlns:a="http://schemas.openxmlformats.org/drawingml/2006/main" noGrp="1"/>
          </p:cNvSpPr>
          <p:nvPr/>
        </p:nvSpPr>
        <p:spPr>
          <a:xfrm xmlns:a="http://schemas.openxmlformats.org/drawingml/2006/main">
            <a:off x="6537960" y="1463040"/>
            <a:ext cx="1280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i="1">
                <a:solidFill>
                  <a:srgbClr val="FFFFFF"/>
                </a:solidFill>
                <a:latin typeface="Calibri"/>
                <a:ea typeface="Calibri"/>
                <a:cs typeface="Calibri"/>
              </a:rPr>
              <a:t>Cari file</a:t>
            </a:r>
            <a:endParaRPr sz="1100"/>
          </a:p>
        </p:txBody>
      </p:sp>
      <p:sp>
        <p:nvSpPr>
          <p:cNvPr id="21" name="Shape 17">
            <a:extLst xmlns:a="http://schemas.openxmlformats.org/drawingml/2006/main">
              <a:ext uri="{FF2B5EF4-FFF2-40B4-BE49-F238E27FC236}">
                <a16:creationId xmlns:a16="http://schemas.microsoft.com/office/drawing/2014/main" id="{A182DD6A-4D2B-4CA8-BFB6-6147649D0653}"/>
              </a:ext>
            </a:extLst>
          </p:cNvPr>
          <p:cNvSpPr>
            <a:spLocks xmlns:a="http://schemas.openxmlformats.org/drawingml/2006/main" noGrp="1"/>
          </p:cNvSpPr>
          <p:nvPr/>
        </p:nvSpPr>
        <p:spPr>
          <a:xfrm xmlns:a="http://schemas.openxmlformats.org/drawingml/2006/main">
            <a:off x="4434840" y="2194560"/>
            <a:ext cx="3429000" cy="50292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22" name="Text 18">
            <a:extLst xmlns:a="http://schemas.openxmlformats.org/drawingml/2006/main">
              <a:ext uri="{FF2B5EF4-FFF2-40B4-BE49-F238E27FC236}">
                <a16:creationId xmlns:a16="http://schemas.microsoft.com/office/drawing/2014/main" id="{A26F776C-435B-4D3E-8E85-FEBF0FCC42C1}"/>
              </a:ext>
            </a:extLst>
          </p:cNvPr>
          <p:cNvSpPr>
            <a:spLocks xmlns:a="http://schemas.openxmlformats.org/drawingml/2006/main" noGrp="1"/>
          </p:cNvSpPr>
          <p:nvPr/>
        </p:nvSpPr>
        <p:spPr>
          <a:xfrm xmlns:a="http://schemas.openxmlformats.org/drawingml/2006/main">
            <a:off x="4526280" y="2258568"/>
            <a:ext cx="3337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 </a:t>
            </a:r>
            <a:r>
              <a:rPr sz="1100">
                <a:solidFill>
                  <a:srgbClr val="E2E8F0"/>
                </a:solidFill>
                <a:latin typeface="Consolas"/>
                <a:ea typeface="Consolas"/>
                <a:cs typeface="Consolas"/>
              </a:rPr>
              <a:t>find . -name '*.log' -mtime +7</a:t>
            </a:r>
            <a:endParaRPr sz="1100"/>
          </a:p>
        </p:txBody>
      </p:sp>
      <p:sp>
        <p:nvSpPr>
          <p:cNvPr id="23" name="Text 19">
            <a:extLst xmlns:a="http://schemas.openxmlformats.org/drawingml/2006/main">
              <a:ext uri="{FF2B5EF4-FFF2-40B4-BE49-F238E27FC236}">
                <a16:creationId xmlns:a16="http://schemas.microsoft.com/office/drawing/2014/main" id="{5057DF06-CC12-4B7D-8A47-EA963753E363}"/>
              </a:ext>
            </a:extLst>
          </p:cNvPr>
          <p:cNvSpPr>
            <a:spLocks xmlns:a="http://schemas.openxmlformats.org/drawingml/2006/main" noGrp="1"/>
          </p:cNvSpPr>
          <p:nvPr/>
        </p:nvSpPr>
        <p:spPr>
          <a:xfrm xmlns:a="http://schemas.openxmlformats.org/drawingml/2006/main">
            <a:off x="4480560" y="2834640"/>
            <a:ext cx="3337560" cy="685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File .log lebih lama dari 7 hari</a:t>
            </a:r>
            <a:endParaRPr sz="1100"/>
          </a:p>
        </p:txBody>
      </p:sp>
      <p:sp>
        <p:nvSpPr>
          <p:cNvPr id="24" name="Shape 20">
            <a:extLst xmlns:a="http://schemas.openxmlformats.org/drawingml/2006/main">
              <a:ext uri="{FF2B5EF4-FFF2-40B4-BE49-F238E27FC236}">
                <a16:creationId xmlns:a16="http://schemas.microsoft.com/office/drawing/2014/main" id="{C872B02B-7808-41AB-B9DB-8AA39A5F2A5C}"/>
              </a:ext>
            </a:extLst>
          </p:cNvPr>
          <p:cNvSpPr>
            <a:spLocks xmlns:a="http://schemas.openxmlformats.org/drawingml/2006/main" noGrp="1"/>
          </p:cNvSpPr>
          <p:nvPr/>
        </p:nvSpPr>
        <p:spPr>
          <a:xfrm xmlns:a="http://schemas.openxmlformats.org/drawingml/2006/main">
            <a:off x="8138160" y="1417320"/>
            <a:ext cx="3703320" cy="21945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5" name="Shape 21">
            <a:extLst xmlns:a="http://schemas.openxmlformats.org/drawingml/2006/main">
              <a:ext uri="{FF2B5EF4-FFF2-40B4-BE49-F238E27FC236}">
                <a16:creationId xmlns:a16="http://schemas.microsoft.com/office/drawing/2014/main" id="{F701C244-CA79-4ACF-9254-A80C440BE8F5}"/>
              </a:ext>
            </a:extLst>
          </p:cNvPr>
          <p:cNvSpPr>
            <a:spLocks xmlns:a="http://schemas.openxmlformats.org/drawingml/2006/main" noGrp="1"/>
          </p:cNvSpPr>
          <p:nvPr/>
        </p:nvSpPr>
        <p:spPr>
          <a:xfrm xmlns:a="http://schemas.openxmlformats.org/drawingml/2006/main">
            <a:off x="8138160" y="1417320"/>
            <a:ext cx="3703320" cy="64008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26" name="Text 22">
            <a:extLst xmlns:a="http://schemas.openxmlformats.org/drawingml/2006/main">
              <a:ext uri="{FF2B5EF4-FFF2-40B4-BE49-F238E27FC236}">
                <a16:creationId xmlns:a16="http://schemas.microsoft.com/office/drawing/2014/main" id="{88C4C745-6A1E-43A7-A699-744623D2BF63}"/>
              </a:ext>
            </a:extLst>
          </p:cNvPr>
          <p:cNvSpPr>
            <a:spLocks xmlns:a="http://schemas.openxmlformats.org/drawingml/2006/main" noGrp="1"/>
          </p:cNvSpPr>
          <p:nvPr/>
        </p:nvSpPr>
        <p:spPr>
          <a:xfrm xmlns:a="http://schemas.openxmlformats.org/drawingml/2006/main">
            <a:off x="8321040" y="1463040"/>
            <a:ext cx="18288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F37021"/>
                </a:solidFill>
                <a:latin typeface="Consolas"/>
                <a:ea typeface="Consolas"/>
                <a:cs typeface="Consolas"/>
              </a:rPr>
              <a:t>wc</a:t>
            </a:r>
            <a:endParaRPr sz="2200"/>
          </a:p>
        </p:txBody>
      </p:sp>
      <p:sp>
        <p:nvSpPr>
          <p:cNvPr id="27" name="Text 23">
            <a:extLst xmlns:a="http://schemas.openxmlformats.org/drawingml/2006/main">
              <a:ext uri="{FF2B5EF4-FFF2-40B4-BE49-F238E27FC236}">
                <a16:creationId xmlns:a16="http://schemas.microsoft.com/office/drawing/2014/main" id="{E0AB4FB6-7F0F-49D3-8C39-42C234D186BA}"/>
              </a:ext>
            </a:extLst>
          </p:cNvPr>
          <p:cNvSpPr>
            <a:spLocks xmlns:a="http://schemas.openxmlformats.org/drawingml/2006/main" noGrp="1"/>
          </p:cNvSpPr>
          <p:nvPr/>
        </p:nvSpPr>
        <p:spPr>
          <a:xfrm xmlns:a="http://schemas.openxmlformats.org/drawingml/2006/main">
            <a:off x="10378440" y="1463040"/>
            <a:ext cx="1280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i="1">
                <a:solidFill>
                  <a:srgbClr val="FFFFFF"/>
                </a:solidFill>
                <a:latin typeface="Calibri"/>
                <a:ea typeface="Calibri"/>
                <a:cs typeface="Calibri"/>
              </a:rPr>
              <a:t>Hitung</a:t>
            </a:r>
            <a:endParaRPr sz="1100"/>
          </a:p>
        </p:txBody>
      </p:sp>
      <p:sp>
        <p:nvSpPr>
          <p:cNvPr id="28" name="Shape 24">
            <a:extLst xmlns:a="http://schemas.openxmlformats.org/drawingml/2006/main">
              <a:ext uri="{FF2B5EF4-FFF2-40B4-BE49-F238E27FC236}">
                <a16:creationId xmlns:a16="http://schemas.microsoft.com/office/drawing/2014/main" id="{08CE062C-E820-4807-8445-3CFA0747F2DA}"/>
              </a:ext>
            </a:extLst>
          </p:cNvPr>
          <p:cNvSpPr>
            <a:spLocks xmlns:a="http://schemas.openxmlformats.org/drawingml/2006/main" noGrp="1"/>
          </p:cNvSpPr>
          <p:nvPr/>
        </p:nvSpPr>
        <p:spPr>
          <a:xfrm xmlns:a="http://schemas.openxmlformats.org/drawingml/2006/main">
            <a:off x="8275320" y="2194560"/>
            <a:ext cx="3429000" cy="50292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29" name="Text 25">
            <a:extLst xmlns:a="http://schemas.openxmlformats.org/drawingml/2006/main">
              <a:ext uri="{FF2B5EF4-FFF2-40B4-BE49-F238E27FC236}">
                <a16:creationId xmlns:a16="http://schemas.microsoft.com/office/drawing/2014/main" id="{99FBA0AB-2489-4BA6-9E2B-5045033B8357}"/>
              </a:ext>
            </a:extLst>
          </p:cNvPr>
          <p:cNvSpPr>
            <a:spLocks xmlns:a="http://schemas.openxmlformats.org/drawingml/2006/main" noGrp="1"/>
          </p:cNvSpPr>
          <p:nvPr/>
        </p:nvSpPr>
        <p:spPr>
          <a:xfrm xmlns:a="http://schemas.openxmlformats.org/drawingml/2006/main">
            <a:off x="8366760" y="2258568"/>
            <a:ext cx="3337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 </a:t>
            </a:r>
            <a:r>
              <a:rPr sz="1100">
                <a:solidFill>
                  <a:srgbClr val="E2E8F0"/>
                </a:solidFill>
                <a:latin typeface="Consolas"/>
                <a:ea typeface="Consolas"/>
                <a:cs typeface="Consolas"/>
              </a:rPr>
              <a:t>wc -l access.log</a:t>
            </a:r>
            <a:endParaRPr sz="1100"/>
          </a:p>
        </p:txBody>
      </p:sp>
      <p:sp>
        <p:nvSpPr>
          <p:cNvPr id="30" name="Text 26">
            <a:extLst xmlns:a="http://schemas.openxmlformats.org/drawingml/2006/main">
              <a:ext uri="{FF2B5EF4-FFF2-40B4-BE49-F238E27FC236}">
                <a16:creationId xmlns:a16="http://schemas.microsoft.com/office/drawing/2014/main" id="{7616D2D5-C4AC-40B8-8063-912716D6455F}"/>
              </a:ext>
            </a:extLst>
          </p:cNvPr>
          <p:cNvSpPr>
            <a:spLocks xmlns:a="http://schemas.openxmlformats.org/drawingml/2006/main" noGrp="1"/>
          </p:cNvSpPr>
          <p:nvPr/>
        </p:nvSpPr>
        <p:spPr>
          <a:xfrm xmlns:a="http://schemas.openxmlformats.org/drawingml/2006/main">
            <a:off x="8321040" y="2834640"/>
            <a:ext cx="3337560" cy="685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Hitung jumlah baris (line count)</a:t>
            </a:r>
            <a:endParaRPr sz="1100"/>
          </a:p>
        </p:txBody>
      </p:sp>
      <p:sp>
        <p:nvSpPr>
          <p:cNvPr id="31" name="Shape 27">
            <a:extLst xmlns:a="http://schemas.openxmlformats.org/drawingml/2006/main">
              <a:ext uri="{FF2B5EF4-FFF2-40B4-BE49-F238E27FC236}">
                <a16:creationId xmlns:a16="http://schemas.microsoft.com/office/drawing/2014/main" id="{72D93F7C-6778-4EAB-B4C7-EC8F082ABB8E}"/>
              </a:ext>
            </a:extLst>
          </p:cNvPr>
          <p:cNvSpPr>
            <a:spLocks xmlns:a="http://schemas.openxmlformats.org/drawingml/2006/main" noGrp="1"/>
          </p:cNvSpPr>
          <p:nvPr/>
        </p:nvSpPr>
        <p:spPr>
          <a:xfrm xmlns:a="http://schemas.openxmlformats.org/drawingml/2006/main">
            <a:off x="457200" y="3794760"/>
            <a:ext cx="3703320" cy="21945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2" name="Shape 28">
            <a:extLst xmlns:a="http://schemas.openxmlformats.org/drawingml/2006/main">
              <a:ext uri="{FF2B5EF4-FFF2-40B4-BE49-F238E27FC236}">
                <a16:creationId xmlns:a16="http://schemas.microsoft.com/office/drawing/2014/main" id="{D5169F34-5566-4C22-B243-5EB945324D8B}"/>
              </a:ext>
            </a:extLst>
          </p:cNvPr>
          <p:cNvSpPr>
            <a:spLocks xmlns:a="http://schemas.openxmlformats.org/drawingml/2006/main" noGrp="1"/>
          </p:cNvSpPr>
          <p:nvPr/>
        </p:nvSpPr>
        <p:spPr>
          <a:xfrm xmlns:a="http://schemas.openxmlformats.org/drawingml/2006/main">
            <a:off x="457200" y="3794760"/>
            <a:ext cx="3703320" cy="64008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33" name="Text 29">
            <a:extLst xmlns:a="http://schemas.openxmlformats.org/drawingml/2006/main">
              <a:ext uri="{FF2B5EF4-FFF2-40B4-BE49-F238E27FC236}">
                <a16:creationId xmlns:a16="http://schemas.microsoft.com/office/drawing/2014/main" id="{AFDACAC1-C106-4FED-85F8-5D3C957D87F7}"/>
              </a:ext>
            </a:extLst>
          </p:cNvPr>
          <p:cNvSpPr>
            <a:spLocks xmlns:a="http://schemas.openxmlformats.org/drawingml/2006/main" noGrp="1"/>
          </p:cNvSpPr>
          <p:nvPr/>
        </p:nvSpPr>
        <p:spPr>
          <a:xfrm xmlns:a="http://schemas.openxmlformats.org/drawingml/2006/main">
            <a:off x="640080" y="3840480"/>
            <a:ext cx="18288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F37021"/>
                </a:solidFill>
                <a:latin typeface="Consolas"/>
                <a:ea typeface="Consolas"/>
                <a:cs typeface="Consolas"/>
              </a:rPr>
              <a:t>sort</a:t>
            </a:r>
            <a:endParaRPr sz="2200"/>
          </a:p>
        </p:txBody>
      </p:sp>
      <p:sp>
        <p:nvSpPr>
          <p:cNvPr id="34" name="Text 30">
            <a:extLst xmlns:a="http://schemas.openxmlformats.org/drawingml/2006/main">
              <a:ext uri="{FF2B5EF4-FFF2-40B4-BE49-F238E27FC236}">
                <a16:creationId xmlns:a16="http://schemas.microsoft.com/office/drawing/2014/main" id="{2A48AE84-2FAF-4E44-A32D-803BDBC65368}"/>
              </a:ext>
            </a:extLst>
          </p:cNvPr>
          <p:cNvSpPr>
            <a:spLocks xmlns:a="http://schemas.openxmlformats.org/drawingml/2006/main" noGrp="1"/>
          </p:cNvSpPr>
          <p:nvPr/>
        </p:nvSpPr>
        <p:spPr>
          <a:xfrm xmlns:a="http://schemas.openxmlformats.org/drawingml/2006/main">
            <a:off x="2697480" y="3840480"/>
            <a:ext cx="1280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i="1">
                <a:solidFill>
                  <a:srgbClr val="FFFFFF"/>
                </a:solidFill>
                <a:latin typeface="Calibri"/>
                <a:ea typeface="Calibri"/>
                <a:cs typeface="Calibri"/>
              </a:rPr>
              <a:t>Urutkan</a:t>
            </a:r>
            <a:endParaRPr sz="1100"/>
          </a:p>
        </p:txBody>
      </p:sp>
      <p:sp>
        <p:nvSpPr>
          <p:cNvPr id="35" name="Shape 31">
            <a:extLst xmlns:a="http://schemas.openxmlformats.org/drawingml/2006/main">
              <a:ext uri="{FF2B5EF4-FFF2-40B4-BE49-F238E27FC236}">
                <a16:creationId xmlns:a16="http://schemas.microsoft.com/office/drawing/2014/main" id="{392413F5-DD03-43DC-AA05-743F601ECF1F}"/>
              </a:ext>
            </a:extLst>
          </p:cNvPr>
          <p:cNvSpPr>
            <a:spLocks xmlns:a="http://schemas.openxmlformats.org/drawingml/2006/main" noGrp="1"/>
          </p:cNvSpPr>
          <p:nvPr/>
        </p:nvSpPr>
        <p:spPr>
          <a:xfrm xmlns:a="http://schemas.openxmlformats.org/drawingml/2006/main">
            <a:off x="594360" y="4572000"/>
            <a:ext cx="3429000" cy="50292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36" name="Text 32">
            <a:extLst xmlns:a="http://schemas.openxmlformats.org/drawingml/2006/main">
              <a:ext uri="{FF2B5EF4-FFF2-40B4-BE49-F238E27FC236}">
                <a16:creationId xmlns:a16="http://schemas.microsoft.com/office/drawing/2014/main" id="{AEF576D4-F2DC-4CF6-A245-A208ED1B75A1}"/>
              </a:ext>
            </a:extLst>
          </p:cNvPr>
          <p:cNvSpPr>
            <a:spLocks xmlns:a="http://schemas.openxmlformats.org/drawingml/2006/main" noGrp="1"/>
          </p:cNvSpPr>
          <p:nvPr/>
        </p:nvSpPr>
        <p:spPr>
          <a:xfrm xmlns:a="http://schemas.openxmlformats.org/drawingml/2006/main">
            <a:off x="685800" y="4636008"/>
            <a:ext cx="3337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 </a:t>
            </a:r>
            <a:r>
              <a:rPr sz="1100">
                <a:solidFill>
                  <a:srgbClr val="E2E8F0"/>
                </a:solidFill>
                <a:latin typeface="Consolas"/>
                <a:ea typeface="Consolas"/>
                <a:cs typeface="Consolas"/>
              </a:rPr>
              <a:t>sort -u emails.txt</a:t>
            </a:r>
            <a:endParaRPr sz="1100"/>
          </a:p>
        </p:txBody>
      </p:sp>
      <p:sp>
        <p:nvSpPr>
          <p:cNvPr id="37" name="Text 33">
            <a:extLst xmlns:a="http://schemas.openxmlformats.org/drawingml/2006/main">
              <a:ext uri="{FF2B5EF4-FFF2-40B4-BE49-F238E27FC236}">
                <a16:creationId xmlns:a16="http://schemas.microsoft.com/office/drawing/2014/main" id="{DC2FF8E6-E5A1-4F30-9656-46B300017837}"/>
              </a:ext>
            </a:extLst>
          </p:cNvPr>
          <p:cNvSpPr>
            <a:spLocks xmlns:a="http://schemas.openxmlformats.org/drawingml/2006/main" noGrp="1"/>
          </p:cNvSpPr>
          <p:nvPr/>
        </p:nvSpPr>
        <p:spPr>
          <a:xfrm xmlns:a="http://schemas.openxmlformats.org/drawingml/2006/main">
            <a:off x="640080" y="5212080"/>
            <a:ext cx="3337560" cy="685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Urutkan + hapus duplikat</a:t>
            </a:r>
            <a:endParaRPr sz="1100"/>
          </a:p>
        </p:txBody>
      </p:sp>
      <p:sp>
        <p:nvSpPr>
          <p:cNvPr id="38" name="Shape 34">
            <a:extLst xmlns:a="http://schemas.openxmlformats.org/drawingml/2006/main">
              <a:ext uri="{FF2B5EF4-FFF2-40B4-BE49-F238E27FC236}">
                <a16:creationId xmlns:a16="http://schemas.microsoft.com/office/drawing/2014/main" id="{A6382796-73AA-45C9-AC1C-9361F4FC0D7D}"/>
              </a:ext>
            </a:extLst>
          </p:cNvPr>
          <p:cNvSpPr>
            <a:spLocks xmlns:a="http://schemas.openxmlformats.org/drawingml/2006/main" noGrp="1"/>
          </p:cNvSpPr>
          <p:nvPr/>
        </p:nvSpPr>
        <p:spPr>
          <a:xfrm xmlns:a="http://schemas.openxmlformats.org/drawingml/2006/main">
            <a:off x="4297680" y="3794760"/>
            <a:ext cx="3703320" cy="21945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9" name="Shape 35">
            <a:extLst xmlns:a="http://schemas.openxmlformats.org/drawingml/2006/main">
              <a:ext uri="{FF2B5EF4-FFF2-40B4-BE49-F238E27FC236}">
                <a16:creationId xmlns:a16="http://schemas.microsoft.com/office/drawing/2014/main" id="{348E9FD7-FB31-447E-B187-222AF92B8BF2}"/>
              </a:ext>
            </a:extLst>
          </p:cNvPr>
          <p:cNvSpPr>
            <a:spLocks xmlns:a="http://schemas.openxmlformats.org/drawingml/2006/main" noGrp="1"/>
          </p:cNvSpPr>
          <p:nvPr/>
        </p:nvSpPr>
        <p:spPr>
          <a:xfrm xmlns:a="http://schemas.openxmlformats.org/drawingml/2006/main">
            <a:off x="4297680" y="3794760"/>
            <a:ext cx="3703320" cy="64008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40" name="Text 36">
            <a:extLst xmlns:a="http://schemas.openxmlformats.org/drawingml/2006/main">
              <a:ext uri="{FF2B5EF4-FFF2-40B4-BE49-F238E27FC236}">
                <a16:creationId xmlns:a16="http://schemas.microsoft.com/office/drawing/2014/main" id="{72B67AF9-F178-4E07-B031-2D00E0717071}"/>
              </a:ext>
            </a:extLst>
          </p:cNvPr>
          <p:cNvSpPr>
            <a:spLocks xmlns:a="http://schemas.openxmlformats.org/drawingml/2006/main" noGrp="1"/>
          </p:cNvSpPr>
          <p:nvPr/>
        </p:nvSpPr>
        <p:spPr>
          <a:xfrm xmlns:a="http://schemas.openxmlformats.org/drawingml/2006/main">
            <a:off x="4480560" y="3840480"/>
            <a:ext cx="18288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F37021"/>
                </a:solidFill>
                <a:latin typeface="Consolas"/>
                <a:ea typeface="Consolas"/>
                <a:cs typeface="Consolas"/>
              </a:rPr>
              <a:t>uniq</a:t>
            </a:r>
            <a:endParaRPr sz="2200"/>
          </a:p>
        </p:txBody>
      </p:sp>
      <p:sp>
        <p:nvSpPr>
          <p:cNvPr id="41" name="Text 37">
            <a:extLst xmlns:a="http://schemas.openxmlformats.org/drawingml/2006/main">
              <a:ext uri="{FF2B5EF4-FFF2-40B4-BE49-F238E27FC236}">
                <a16:creationId xmlns:a16="http://schemas.microsoft.com/office/drawing/2014/main" id="{AF256345-2DB7-47FD-BB12-A395C0D59AA1}"/>
              </a:ext>
            </a:extLst>
          </p:cNvPr>
          <p:cNvSpPr>
            <a:spLocks xmlns:a="http://schemas.openxmlformats.org/drawingml/2006/main" noGrp="1"/>
          </p:cNvSpPr>
          <p:nvPr/>
        </p:nvSpPr>
        <p:spPr>
          <a:xfrm xmlns:a="http://schemas.openxmlformats.org/drawingml/2006/main">
            <a:off x="6537960" y="3840480"/>
            <a:ext cx="1280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i="1">
                <a:solidFill>
                  <a:srgbClr val="FFFFFF"/>
                </a:solidFill>
                <a:latin typeface="Calibri"/>
                <a:ea typeface="Calibri"/>
                <a:cs typeface="Calibri"/>
              </a:rPr>
              <a:t>Dedup</a:t>
            </a:r>
            <a:endParaRPr sz="1100"/>
          </a:p>
        </p:txBody>
      </p:sp>
      <p:sp>
        <p:nvSpPr>
          <p:cNvPr id="42" name="Shape 38">
            <a:extLst xmlns:a="http://schemas.openxmlformats.org/drawingml/2006/main">
              <a:ext uri="{FF2B5EF4-FFF2-40B4-BE49-F238E27FC236}">
                <a16:creationId xmlns:a16="http://schemas.microsoft.com/office/drawing/2014/main" id="{070D96DE-6185-43A5-829A-F7781074AC1B}"/>
              </a:ext>
            </a:extLst>
          </p:cNvPr>
          <p:cNvSpPr>
            <a:spLocks xmlns:a="http://schemas.openxmlformats.org/drawingml/2006/main" noGrp="1"/>
          </p:cNvSpPr>
          <p:nvPr/>
        </p:nvSpPr>
        <p:spPr>
          <a:xfrm xmlns:a="http://schemas.openxmlformats.org/drawingml/2006/main">
            <a:off x="4434840" y="4572000"/>
            <a:ext cx="3429000" cy="50292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43" name="Text 39">
            <a:extLst xmlns:a="http://schemas.openxmlformats.org/drawingml/2006/main">
              <a:ext uri="{FF2B5EF4-FFF2-40B4-BE49-F238E27FC236}">
                <a16:creationId xmlns:a16="http://schemas.microsoft.com/office/drawing/2014/main" id="{F87E1833-7754-452D-AD1D-194E95C2BCB0}"/>
              </a:ext>
            </a:extLst>
          </p:cNvPr>
          <p:cNvSpPr>
            <a:spLocks xmlns:a="http://schemas.openxmlformats.org/drawingml/2006/main" noGrp="1"/>
          </p:cNvSpPr>
          <p:nvPr/>
        </p:nvSpPr>
        <p:spPr>
          <a:xfrm xmlns:a="http://schemas.openxmlformats.org/drawingml/2006/main">
            <a:off x="4526280" y="4636008"/>
            <a:ext cx="3337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 </a:t>
            </a:r>
            <a:r>
              <a:rPr sz="1100">
                <a:solidFill>
                  <a:srgbClr val="E2E8F0"/>
                </a:solidFill>
                <a:latin typeface="Consolas"/>
                <a:ea typeface="Consolas"/>
                <a:cs typeface="Consolas"/>
              </a:rPr>
              <a:t>sort log | uniq -c | sort -rn</a:t>
            </a:r>
            <a:endParaRPr sz="1100"/>
          </a:p>
        </p:txBody>
      </p:sp>
      <p:sp>
        <p:nvSpPr>
          <p:cNvPr id="44" name="Text 40">
            <a:extLst xmlns:a="http://schemas.openxmlformats.org/drawingml/2006/main">
              <a:ext uri="{FF2B5EF4-FFF2-40B4-BE49-F238E27FC236}">
                <a16:creationId xmlns:a16="http://schemas.microsoft.com/office/drawing/2014/main" id="{6301E35A-0BB3-4436-BD26-A5A3D3039FC2}"/>
              </a:ext>
            </a:extLst>
          </p:cNvPr>
          <p:cNvSpPr>
            <a:spLocks xmlns:a="http://schemas.openxmlformats.org/drawingml/2006/main" noGrp="1"/>
          </p:cNvSpPr>
          <p:nvPr/>
        </p:nvSpPr>
        <p:spPr>
          <a:xfrm xmlns:a="http://schemas.openxmlformats.org/drawingml/2006/main">
            <a:off x="4480560" y="5212080"/>
            <a:ext cx="3337560" cy="685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Hitung frekuensi tiap baris</a:t>
            </a:r>
            <a:endParaRPr sz="1100"/>
          </a:p>
        </p:txBody>
      </p:sp>
      <p:sp>
        <p:nvSpPr>
          <p:cNvPr id="45" name="Shape 41">
            <a:extLst xmlns:a="http://schemas.openxmlformats.org/drawingml/2006/main">
              <a:ext uri="{FF2B5EF4-FFF2-40B4-BE49-F238E27FC236}">
                <a16:creationId xmlns:a16="http://schemas.microsoft.com/office/drawing/2014/main" id="{161BDF8C-43B5-4599-AA5C-B20783522B41}"/>
              </a:ext>
            </a:extLst>
          </p:cNvPr>
          <p:cNvSpPr>
            <a:spLocks xmlns:a="http://schemas.openxmlformats.org/drawingml/2006/main" noGrp="1"/>
          </p:cNvSpPr>
          <p:nvPr/>
        </p:nvSpPr>
        <p:spPr>
          <a:xfrm xmlns:a="http://schemas.openxmlformats.org/drawingml/2006/main">
            <a:off x="8138160" y="3794760"/>
            <a:ext cx="3703320" cy="21945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46" name="Shape 42">
            <a:extLst xmlns:a="http://schemas.openxmlformats.org/drawingml/2006/main">
              <a:ext uri="{FF2B5EF4-FFF2-40B4-BE49-F238E27FC236}">
                <a16:creationId xmlns:a16="http://schemas.microsoft.com/office/drawing/2014/main" id="{A48BF7B9-6585-45E3-8D5C-EFB58D3BAD60}"/>
              </a:ext>
            </a:extLst>
          </p:cNvPr>
          <p:cNvSpPr>
            <a:spLocks xmlns:a="http://schemas.openxmlformats.org/drawingml/2006/main" noGrp="1"/>
          </p:cNvSpPr>
          <p:nvPr/>
        </p:nvSpPr>
        <p:spPr>
          <a:xfrm xmlns:a="http://schemas.openxmlformats.org/drawingml/2006/main">
            <a:off x="8138160" y="3794760"/>
            <a:ext cx="3703320" cy="64008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47" name="Text 43">
            <a:extLst xmlns:a="http://schemas.openxmlformats.org/drawingml/2006/main">
              <a:ext uri="{FF2B5EF4-FFF2-40B4-BE49-F238E27FC236}">
                <a16:creationId xmlns:a16="http://schemas.microsoft.com/office/drawing/2014/main" id="{A8821531-3A03-43DA-AA2C-5B5321A38399}"/>
              </a:ext>
            </a:extLst>
          </p:cNvPr>
          <p:cNvSpPr>
            <a:spLocks xmlns:a="http://schemas.openxmlformats.org/drawingml/2006/main" noGrp="1"/>
          </p:cNvSpPr>
          <p:nvPr/>
        </p:nvSpPr>
        <p:spPr>
          <a:xfrm xmlns:a="http://schemas.openxmlformats.org/drawingml/2006/main">
            <a:off x="8321040" y="3840480"/>
            <a:ext cx="18288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F37021"/>
                </a:solidFill>
                <a:latin typeface="Consolas"/>
                <a:ea typeface="Consolas"/>
                <a:cs typeface="Consolas"/>
              </a:rPr>
              <a:t>xargs</a:t>
            </a:r>
            <a:endParaRPr sz="2200"/>
          </a:p>
        </p:txBody>
      </p:sp>
      <p:sp>
        <p:nvSpPr>
          <p:cNvPr id="48" name="Text 44">
            <a:extLst xmlns:a="http://schemas.openxmlformats.org/drawingml/2006/main">
              <a:ext uri="{FF2B5EF4-FFF2-40B4-BE49-F238E27FC236}">
                <a16:creationId xmlns:a16="http://schemas.microsoft.com/office/drawing/2014/main" id="{611313CD-0638-404C-B80C-522832F5DCE3}"/>
              </a:ext>
            </a:extLst>
          </p:cNvPr>
          <p:cNvSpPr>
            <a:spLocks xmlns:a="http://schemas.openxmlformats.org/drawingml/2006/main" noGrp="1"/>
          </p:cNvSpPr>
          <p:nvPr/>
        </p:nvSpPr>
        <p:spPr>
          <a:xfrm xmlns:a="http://schemas.openxmlformats.org/drawingml/2006/main">
            <a:off x="10378440" y="3840480"/>
            <a:ext cx="1280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i="1">
                <a:solidFill>
                  <a:srgbClr val="FFFFFF"/>
                </a:solidFill>
                <a:latin typeface="Calibri"/>
                <a:ea typeface="Calibri"/>
                <a:cs typeface="Calibri"/>
              </a:rPr>
              <a:t>Iterate</a:t>
            </a:r>
            <a:endParaRPr sz="1100"/>
          </a:p>
        </p:txBody>
      </p:sp>
      <p:sp>
        <p:nvSpPr>
          <p:cNvPr id="49" name="Shape 45">
            <a:extLst xmlns:a="http://schemas.openxmlformats.org/drawingml/2006/main">
              <a:ext uri="{FF2B5EF4-FFF2-40B4-BE49-F238E27FC236}">
                <a16:creationId xmlns:a16="http://schemas.microsoft.com/office/drawing/2014/main" id="{17E8BCA4-6E1A-4958-8D36-2F46CD9DF4C9}"/>
              </a:ext>
            </a:extLst>
          </p:cNvPr>
          <p:cNvSpPr>
            <a:spLocks xmlns:a="http://schemas.openxmlformats.org/drawingml/2006/main" noGrp="1"/>
          </p:cNvSpPr>
          <p:nvPr/>
        </p:nvSpPr>
        <p:spPr>
          <a:xfrm xmlns:a="http://schemas.openxmlformats.org/drawingml/2006/main">
            <a:off x="8275320" y="4572000"/>
            <a:ext cx="3429000" cy="50292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50" name="Text 46">
            <a:extLst xmlns:a="http://schemas.openxmlformats.org/drawingml/2006/main">
              <a:ext uri="{FF2B5EF4-FFF2-40B4-BE49-F238E27FC236}">
                <a16:creationId xmlns:a16="http://schemas.microsoft.com/office/drawing/2014/main" id="{B09FFAB3-BDEE-44DB-97EE-A58E798A07F3}"/>
              </a:ext>
            </a:extLst>
          </p:cNvPr>
          <p:cNvSpPr>
            <a:spLocks xmlns:a="http://schemas.openxmlformats.org/drawingml/2006/main" noGrp="1"/>
          </p:cNvSpPr>
          <p:nvPr/>
        </p:nvSpPr>
        <p:spPr>
          <a:xfrm xmlns:a="http://schemas.openxmlformats.org/drawingml/2006/main">
            <a:off x="8366760" y="4636008"/>
            <a:ext cx="3337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 </a:t>
            </a:r>
            <a:r>
              <a:rPr sz="1100">
                <a:solidFill>
                  <a:srgbClr val="E2E8F0"/>
                </a:solidFill>
                <a:latin typeface="Consolas"/>
                <a:ea typeface="Consolas"/>
                <a:cs typeface="Consolas"/>
              </a:rPr>
              <a:t>find . -name '*.tmp' -print0 | xargs -0 -r rm</a:t>
            </a:r>
            <a:endParaRPr sz="1100"/>
          </a:p>
        </p:txBody>
      </p:sp>
      <p:sp>
        <p:nvSpPr>
          <p:cNvPr id="51" name="Text 47">
            <a:extLst xmlns:a="http://schemas.openxmlformats.org/drawingml/2006/main">
              <a:ext uri="{FF2B5EF4-FFF2-40B4-BE49-F238E27FC236}">
                <a16:creationId xmlns:a16="http://schemas.microsoft.com/office/drawing/2014/main" id="{565E585E-756D-42E8-9F8D-E75903D2F049}"/>
              </a:ext>
            </a:extLst>
          </p:cNvPr>
          <p:cNvSpPr>
            <a:spLocks xmlns:a="http://schemas.openxmlformats.org/drawingml/2006/main" noGrp="1"/>
          </p:cNvSpPr>
          <p:nvPr/>
        </p:nvSpPr>
        <p:spPr>
          <a:xfrm xmlns:a="http://schemas.openxmlformats.org/drawingml/2006/main">
            <a:off x="8321040" y="5212080"/>
            <a:ext cx="3337560" cy="685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Hapus semua file .tmp</a:t>
            </a:r>
            <a:endParaRPr sz="1100"/>
          </a:p>
        </p:txBody>
      </p:sp>
      <p:sp>
        <p:nvSpPr>
          <p:cNvPr id="52" name="Text 48">
            <a:extLst xmlns:a="http://schemas.openxmlformats.org/drawingml/2006/main">
              <a:ext uri="{FF2B5EF4-FFF2-40B4-BE49-F238E27FC236}">
                <a16:creationId xmlns:a16="http://schemas.microsoft.com/office/drawing/2014/main" id="{C5EA47AA-3064-4F14-A383-468A4065BA73}"/>
              </a:ext>
            </a:extLst>
          </p:cNvPr>
          <p:cNvSpPr>
            <a:spLocks xmlns:a="http://schemas.openxmlformats.org/drawingml/2006/main" noGrp="1"/>
          </p:cNvSpPr>
          <p:nvPr/>
        </p:nvSpPr>
        <p:spPr>
          <a:xfrm xmlns:a="http://schemas.openxmlformats.org/drawingml/2006/main">
            <a:off x="457200" y="626364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i="1">
                <a:solidFill>
                  <a:srgbClr val="F37021"/>
                </a:solidFill>
                <a:latin typeface="Calibri"/>
                <a:ea typeface="Calibri"/>
                <a:cs typeface="Calibri"/>
              </a:rPr>
              <a:t>Kombinasi paling powerful:  </a:t>
            </a:r>
            <a:r>
              <a:rPr sz="1100" b="1" i="1">
                <a:solidFill>
                  <a:srgbClr val="002677"/>
                </a:solidFill>
                <a:latin typeface="Consolas"/>
                <a:ea typeface="Consolas"/>
                <a:cs typeface="Consolas"/>
              </a:rPr>
              <a:t>find ... | xargs ...  </a:t>
            </a:r>
            <a:r>
              <a:rPr sz="1100" i="1">
                <a:solidFill>
                  <a:srgbClr val="1E293B"/>
                </a:solidFill>
                <a:latin typeface="Calibri"/>
                <a:ea typeface="Calibri"/>
                <a:cs typeface="Calibri"/>
              </a:rPr>
              <a:t>atau </a:t>
            </a:r>
            <a:r>
              <a:rPr sz="1100" b="1" i="1">
                <a:solidFill>
                  <a:srgbClr val="002677"/>
                </a:solidFill>
                <a:latin typeface="Consolas"/>
                <a:ea typeface="Consolas"/>
                <a:cs typeface="Consolas"/>
              </a:rPr>
              <a:t>grep ... | sort | uniq -c</a:t>
            </a:r>
            <a:r>
              <a:rPr sz="1100" i="1">
                <a:solidFill>
                  <a:srgbClr val="1E293B"/>
                </a:solidFill>
                <a:latin typeface="Calibri"/>
                <a:ea typeface="Calibri"/>
                <a:cs typeface="Calibri"/>
              </a:rPr>
              <a:t> - dua pola yang sering dipakai untuk analisis log.</a:t>
            </a:r>
            <a:endParaRPr sz="1100"/>
          </a:p>
        </p:txBody>
      </p:sp>
    </p:spTree>
    <p:extLst>
      <p:ext uri="{BB962C8B-B14F-4D97-AF65-F5344CB8AC3E}">
        <p14:creationId xmlns:p14="http://schemas.microsoft.com/office/powerpoint/2010/main" val="1643881998"/>
      </p:ext>
    </p:extLst>
  </p:cSld>
</p:sld>
</file>

<file path=ppt/slides/slide17.xml><?xml version="1.0" encoding="utf-8"?>
<p:sld xmlns:p="http://schemas.openxmlformats.org/presentationml/2006/main">
  <p:cSld>
    <p:bg>
      <p:bgPr>
        <a:solidFill xmlns:a="http://schemas.openxmlformats.org/drawingml/2006/main">
          <a:srgbClr val="0D47A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4FBA9DE-16EE-4F8D-A6F6-7EAF384FCE30}"/>
              </a:ext>
            </a:extLst>
          </p:cNvPr>
          <p:cNvSpPr>
            <a:spLocks xmlns:a="http://schemas.openxmlformats.org/drawingml/2006/main" noGrp="1"/>
          </p:cNvSpPr>
          <p:nvPr/>
        </p:nvSpPr>
        <p:spPr>
          <a:xfrm xmlns:a="http://schemas.openxmlformats.org/drawingml/2006/main">
            <a:off x="-1828800" y="3657600"/>
            <a:ext cx="6400800" cy="6400800"/>
          </a:xfrm>
          <a:prstGeom xmlns:a="http://schemas.openxmlformats.org/drawingml/2006/main" prst="ellipse">
            <a:avLst/>
          </a:prstGeom>
          <a:solidFill xmlns:a="http://schemas.openxmlformats.org/drawingml/2006/main">
            <a:srgbClr val="1565C0">
              <a:alpha val="25000"/>
            </a:srgbClr>
          </a:solidFill>
          <a:ln xmlns:a="http://schemas.openxmlformats.org/drawingml/2006/main" w="12700">
            <a:solidFill>
              <a:srgbClr val="1565C0">
                <a:alpha val="0"/>
              </a:srgbClr>
            </a:solidFill>
            <a:prstDash val="solid"/>
          </a:ln>
        </p:spPr>
      </p:sp>
      <p:sp>
        <p:nvSpPr>
          <p:cNvPr id="3" name="Shape 1">
            <a:extLst xmlns:a="http://schemas.openxmlformats.org/drawingml/2006/main">
              <a:ext uri="{FF2B5EF4-FFF2-40B4-BE49-F238E27FC236}">
                <a16:creationId xmlns:a16="http://schemas.microsoft.com/office/drawing/2014/main" id="{09322AD1-7D0B-4E0A-A0B3-1229253CB0CE}"/>
              </a:ext>
            </a:extLst>
          </p:cNvPr>
          <p:cNvSpPr>
            <a:spLocks xmlns:a="http://schemas.openxmlformats.org/drawingml/2006/main" noGrp="1"/>
          </p:cNvSpPr>
          <p:nvPr/>
        </p:nvSpPr>
        <p:spPr>
          <a:xfrm xmlns:a="http://schemas.openxmlformats.org/drawingml/2006/main">
            <a:off x="7315200" y="-914400"/>
            <a:ext cx="7315200" cy="7315200"/>
          </a:xfrm>
          <a:prstGeom xmlns:a="http://schemas.openxmlformats.org/drawingml/2006/main" prst="ellipse">
            <a:avLst/>
          </a:prstGeom>
          <a:solidFill xmlns:a="http://schemas.openxmlformats.org/drawingml/2006/main">
            <a:srgbClr val="1976D2">
              <a:alpha val="20000"/>
            </a:srgbClr>
          </a:solidFill>
          <a:ln xmlns:a="http://schemas.openxmlformats.org/drawingml/2006/main" w="12700">
            <a:solidFill>
              <a:srgbClr val="1976D2">
                <a:alpha val="0"/>
              </a:srgbClr>
            </a:solidFill>
            <a:prstDash val="solid"/>
          </a:ln>
        </p:spPr>
      </p:sp>
      <p:sp>
        <p:nvSpPr>
          <p:cNvPr id="4" name="Shape 2">
            <a:extLst xmlns:a="http://schemas.openxmlformats.org/drawingml/2006/main">
              <a:ext uri="{FF2B5EF4-FFF2-40B4-BE49-F238E27FC236}">
                <a16:creationId xmlns:a16="http://schemas.microsoft.com/office/drawing/2014/main" id="{F568B6E9-7EE6-4273-9E94-30ABE7E85C14}"/>
              </a:ext>
            </a:extLst>
          </p:cNvPr>
          <p:cNvSpPr>
            <a:spLocks xmlns:a="http://schemas.openxmlformats.org/drawingml/2006/main" noGrp="1"/>
          </p:cNvSpPr>
          <p:nvPr/>
        </p:nvSpPr>
        <p:spPr>
          <a:xfrm xmlns:a="http://schemas.openxmlformats.org/drawingml/2006/main" rot="8100000">
            <a:off x="5852160" y="-182880"/>
            <a:ext cx="1188720" cy="1188720"/>
          </a:xfrm>
          <a:prstGeom xmlns:a="http://schemas.openxmlformats.org/drawingml/2006/main" prst="rtTriangle">
            <a:avLst/>
          </a:prstGeom>
          <a:solidFill xmlns:a="http://schemas.openxmlformats.org/drawingml/2006/main">
            <a:srgbClr val="F37021"/>
          </a:solidFill>
          <a:ln xmlns:a="http://schemas.openxmlformats.org/drawingml/2006/main" w="12700">
            <a:solidFill>
              <a:srgbClr val="F37021"/>
            </a:solidFill>
            <a:prstDash val="solid"/>
          </a:ln>
        </p:spPr>
      </p:sp>
      <p:sp>
        <p:nvSpPr>
          <p:cNvPr id="5" name="Shape 3">
            <a:extLst xmlns:a="http://schemas.openxmlformats.org/drawingml/2006/main">
              <a:ext uri="{FF2B5EF4-FFF2-40B4-BE49-F238E27FC236}">
                <a16:creationId xmlns:a16="http://schemas.microsoft.com/office/drawing/2014/main" id="{7DA0B754-BDF1-4FC4-B762-BD38EDEB38C8}"/>
              </a:ext>
            </a:extLst>
          </p:cNvPr>
          <p:cNvSpPr>
            <a:spLocks xmlns:a="http://schemas.openxmlformats.org/drawingml/2006/main" noGrp="1"/>
          </p:cNvSpPr>
          <p:nvPr/>
        </p:nvSpPr>
        <p:spPr>
          <a:xfrm xmlns:a="http://schemas.openxmlformats.org/drawingml/2006/main">
            <a:off x="6355080"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6" name="Shape 4">
            <a:extLst xmlns:a="http://schemas.openxmlformats.org/drawingml/2006/main">
              <a:ext uri="{FF2B5EF4-FFF2-40B4-BE49-F238E27FC236}">
                <a16:creationId xmlns:a16="http://schemas.microsoft.com/office/drawing/2014/main" id="{6BB4C45C-8264-4A09-A181-20C79FBFEC5B}"/>
              </a:ext>
            </a:extLst>
          </p:cNvPr>
          <p:cNvSpPr>
            <a:spLocks xmlns:a="http://schemas.openxmlformats.org/drawingml/2006/main" noGrp="1"/>
          </p:cNvSpPr>
          <p:nvPr/>
        </p:nvSpPr>
        <p:spPr>
          <a:xfrm xmlns:a="http://schemas.openxmlformats.org/drawingml/2006/main">
            <a:off x="6556248"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7" name="Shape 5">
            <a:extLst xmlns:a="http://schemas.openxmlformats.org/drawingml/2006/main">
              <a:ext uri="{FF2B5EF4-FFF2-40B4-BE49-F238E27FC236}">
                <a16:creationId xmlns:a16="http://schemas.microsoft.com/office/drawing/2014/main" id="{BFDC8D37-B0ED-4881-958E-17131B25F3EF}"/>
              </a:ext>
            </a:extLst>
          </p:cNvPr>
          <p:cNvSpPr>
            <a:spLocks xmlns:a="http://schemas.openxmlformats.org/drawingml/2006/main" noGrp="1"/>
          </p:cNvSpPr>
          <p:nvPr/>
        </p:nvSpPr>
        <p:spPr>
          <a:xfrm xmlns:a="http://schemas.openxmlformats.org/drawingml/2006/main">
            <a:off x="6757416"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8" name="Shape 6">
            <a:extLst xmlns:a="http://schemas.openxmlformats.org/drawingml/2006/main">
              <a:ext uri="{FF2B5EF4-FFF2-40B4-BE49-F238E27FC236}">
                <a16:creationId xmlns:a16="http://schemas.microsoft.com/office/drawing/2014/main" id="{0A43F5EF-5453-48B4-A8AA-7717D1405558}"/>
              </a:ext>
            </a:extLst>
          </p:cNvPr>
          <p:cNvSpPr>
            <a:spLocks xmlns:a="http://schemas.openxmlformats.org/drawingml/2006/main" noGrp="1"/>
          </p:cNvSpPr>
          <p:nvPr/>
        </p:nvSpPr>
        <p:spPr>
          <a:xfrm xmlns:a="http://schemas.openxmlformats.org/drawingml/2006/main" flipV="1">
            <a:off x="457200" y="4114800"/>
            <a:ext cx="3657600" cy="1828800"/>
          </a:xfrm>
          <a:prstGeom xmlns:a="http://schemas.openxmlformats.org/drawingml/2006/main" prst="line">
            <a:avLst/>
          </a:prstGeom>
          <a:noFill xmlns:a="http://schemas.openxmlformats.org/drawingml/2006/main"/>
          <a:ln xmlns:a="http://schemas.openxmlformats.org/drawingml/2006/main" w="12700">
            <a:solidFill>
              <a:srgbClr val="FFFFFF">
                <a:alpha val="40000"/>
              </a:srgbClr>
            </a:solidFill>
            <a:prstDash val="dash"/>
          </a:ln>
        </p:spPr>
      </p:sp>
      <p:pic>
        <p:nvPicPr>
          <p:cNvPr id="24" name="Image 0"/>
          <p:cNvPicPr>
            <a:picLocks xmlns:a="http://schemas.openxmlformats.org/drawingml/2006/main" noChangeAspect="1"/>
          </p:cNvPicPr>
          <p:nvPr/>
        </p:nvPicPr>
        <p:blipFill>
          <a:blip xmlns:r="http://schemas.openxmlformats.org/officeDocument/2006/relationships" xmlns:a="http://schemas.openxmlformats.org/drawingml/2006/main" r:embed="R41f3470cfcfa43f5"/>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25" name="Image 1"/>
          <p:cNvPicPr>
            <a:picLocks xmlns:a="http://schemas.openxmlformats.org/drawingml/2006/main" noChangeAspect="1"/>
          </p:cNvPicPr>
          <p:nvPr/>
        </p:nvPicPr>
        <p:blipFill>
          <a:blip xmlns:r="http://schemas.openxmlformats.org/officeDocument/2006/relationships" xmlns:a="http://schemas.openxmlformats.org/drawingml/2006/main" r:embed="R0b1314b69e5047d2"/>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0231A294-2C17-4B4A-9A00-CE89445C7D0E}"/>
              </a:ext>
            </a:extLst>
          </p:cNvPr>
          <p:cNvSpPr>
            <a:spLocks xmlns:a="http://schemas.openxmlformats.org/drawingml/2006/main" noGrp="1"/>
          </p:cNvSpPr>
          <p:nvPr/>
        </p:nvSpPr>
        <p:spPr>
          <a:xfrm xmlns:a="http://schemas.openxmlformats.org/drawingml/2006/main">
            <a:off x="457200" y="2560320"/>
            <a:ext cx="10972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spc="600">
                <a:solidFill>
                  <a:srgbClr val="F37021"/>
                </a:solidFill>
                <a:latin typeface="Calibri"/>
                <a:ea typeface="Calibri"/>
                <a:cs typeface="Calibri"/>
              </a:rPr>
              <a:t>BAGIAN 04</a:t>
            </a:r>
            <a:endParaRPr sz="1600"/>
          </a:p>
        </p:txBody>
      </p:sp>
      <p:sp>
        <p:nvSpPr>
          <p:cNvPr id="12" name="Text 8">
            <a:extLst xmlns:a="http://schemas.openxmlformats.org/drawingml/2006/main">
              <a:ext uri="{FF2B5EF4-FFF2-40B4-BE49-F238E27FC236}">
                <a16:creationId xmlns:a16="http://schemas.microsoft.com/office/drawing/2014/main" id="{6F628027-6015-4336-BC73-33E544DDC855}"/>
              </a:ext>
            </a:extLst>
          </p:cNvPr>
          <p:cNvSpPr>
            <a:spLocks xmlns:a="http://schemas.openxmlformats.org/drawingml/2006/main" noGrp="1"/>
          </p:cNvSpPr>
          <p:nvPr/>
        </p:nvSpPr>
        <p:spPr>
          <a:xfrm xmlns:a="http://schemas.openxmlformats.org/drawingml/2006/main">
            <a:off x="457200" y="3017520"/>
            <a:ext cx="1124712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5200" b="1">
                <a:solidFill>
                  <a:srgbClr val="FFFFFF"/>
                </a:solidFill>
                <a:latin typeface="Calibri"/>
                <a:ea typeface="Calibri"/>
                <a:cs typeface="Calibri"/>
              </a:rPr>
              <a:t>Permissions</a:t>
            </a:r>
            <a:endParaRPr sz="5200"/>
          </a:p>
          <a:p xmlns:a="http://schemas.openxmlformats.org/drawingml/2006/main">
            <a:pPr marL="0" indent="0" algn="ctr">
              <a:buNone/>
            </a:pPr>
            <a:r>
              <a:rPr sz="5200" b="1">
                <a:solidFill>
                  <a:srgbClr val="FFFFFF"/>
                </a:solidFill>
                <a:latin typeface="Calibri"/>
                <a:ea typeface="Calibri"/>
                <a:cs typeface="Calibri"/>
              </a:rPr>
              <a:t>&amp; Ownership</a:t>
            </a:r>
            <a:endParaRPr sz="5200"/>
          </a:p>
        </p:txBody>
      </p:sp>
      <p:sp>
        <p:nvSpPr>
          <p:cNvPr id="13" name="Shape 9">
            <a:extLst xmlns:a="http://schemas.openxmlformats.org/drawingml/2006/main">
              <a:ext uri="{FF2B5EF4-FFF2-40B4-BE49-F238E27FC236}">
                <a16:creationId xmlns:a16="http://schemas.microsoft.com/office/drawing/2014/main" id="{0CF357AF-4D24-4519-A808-947ABE95994E}"/>
              </a:ext>
            </a:extLst>
          </p:cNvPr>
          <p:cNvSpPr>
            <a:spLocks xmlns:a="http://schemas.openxmlformats.org/drawingml/2006/main" noGrp="1"/>
          </p:cNvSpPr>
          <p:nvPr/>
        </p:nvSpPr>
        <p:spPr>
          <a:xfrm xmlns:a="http://schemas.openxmlformats.org/drawingml/2006/main">
            <a:off x="5715000" y="50292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8043B35A-9DB2-48C5-B8EB-078B2DA4C2BF}"/>
              </a:ext>
            </a:extLst>
          </p:cNvPr>
          <p:cNvSpPr>
            <a:spLocks xmlns:a="http://schemas.openxmlformats.org/drawingml/2006/main" noGrp="1"/>
          </p:cNvSpPr>
          <p:nvPr/>
        </p:nvSpPr>
        <p:spPr>
          <a:xfrm xmlns:a="http://schemas.openxmlformats.org/drawingml/2006/main">
            <a:off x="457200" y="5212080"/>
            <a:ext cx="112471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i="1">
                <a:solidFill>
                  <a:srgbClr val="FED7AA"/>
                </a:solidFill>
                <a:latin typeface="Calibri"/>
                <a:ea typeface="Calibri"/>
                <a:cs typeface="Calibri"/>
              </a:rPr>
              <a:t>Siapa boleh baca, tulis, atau eksekusi - aturan utama keamanan Linux.</a:t>
            </a:r>
            <a:endParaRPr sz="1400"/>
          </a:p>
        </p:txBody>
      </p:sp>
    </p:spTree>
    <p:extLst>
      <p:ext uri="{BB962C8B-B14F-4D97-AF65-F5344CB8AC3E}">
        <p14:creationId xmlns:p14="http://schemas.microsoft.com/office/powerpoint/2010/main" val="72144243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F5452C6-158D-486D-B6EE-C1ABE56F24B0}"/>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2</a:t>
            </a:r>
            <a:endParaRPr sz="900"/>
          </a:p>
        </p:txBody>
      </p:sp>
      <p:sp>
        <p:nvSpPr>
          <p:cNvPr id="3" name="Text 1">
            <a:extLst xmlns:a="http://schemas.openxmlformats.org/drawingml/2006/main">
              <a:ext uri="{FF2B5EF4-FFF2-40B4-BE49-F238E27FC236}">
                <a16:creationId xmlns:a16="http://schemas.microsoft.com/office/drawing/2014/main" id="{E7961851-27F5-4D0D-9E12-776B4FDBB7BE}"/>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18</a:t>
            </a:r>
            <a:endParaRPr sz="900"/>
          </a:p>
        </p:txBody>
      </p:sp>
      <p:sp>
        <p:nvSpPr>
          <p:cNvPr id="4" name="Shape 2">
            <a:extLst xmlns:a="http://schemas.openxmlformats.org/drawingml/2006/main">
              <a:ext uri="{FF2B5EF4-FFF2-40B4-BE49-F238E27FC236}">
                <a16:creationId xmlns:a16="http://schemas.microsoft.com/office/drawing/2014/main" id="{244DBA70-B337-4B1B-9B8D-410E141B62E3}"/>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61" name="Image 0"/>
          <p:cNvPicPr>
            <a:picLocks xmlns:a="http://schemas.openxmlformats.org/drawingml/2006/main" noChangeAspect="1"/>
          </p:cNvPicPr>
          <p:nvPr/>
        </p:nvPicPr>
        <p:blipFill>
          <a:blip xmlns:r="http://schemas.openxmlformats.org/officeDocument/2006/relationships" xmlns:a="http://schemas.openxmlformats.org/drawingml/2006/main" r:embed="R6fbe910bd3a94710"/>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62" name="Image 1"/>
          <p:cNvPicPr>
            <a:picLocks xmlns:a="http://schemas.openxmlformats.org/drawingml/2006/main" noChangeAspect="1"/>
          </p:cNvPicPr>
          <p:nvPr/>
        </p:nvPicPr>
        <p:blipFill>
          <a:blip xmlns:r="http://schemas.openxmlformats.org/officeDocument/2006/relationships" xmlns:a="http://schemas.openxmlformats.org/drawingml/2006/main" r:embed="Rbd857a9199e541f3"/>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8C507BFB-D539-48B7-9FF9-D148BEA9A422}"/>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54C7E98D-0A7D-4B38-B118-44279A906F9A}"/>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Permission Model (rwx)</a:t>
            </a:r>
            <a:endParaRPr sz="2200"/>
          </a:p>
        </p:txBody>
      </p:sp>
      <p:sp>
        <p:nvSpPr>
          <p:cNvPr id="9" name="Text 5">
            <a:extLst xmlns:a="http://schemas.openxmlformats.org/drawingml/2006/main">
              <a:ext uri="{FF2B5EF4-FFF2-40B4-BE49-F238E27FC236}">
                <a16:creationId xmlns:a16="http://schemas.microsoft.com/office/drawing/2014/main" id="{F9CD55D2-36E3-472A-977F-DD1229C5BD4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Tiga aksi x tiga kelas = sembilan bit</a:t>
            </a:r>
            <a:endParaRPr sz="1200"/>
          </a:p>
        </p:txBody>
      </p:sp>
      <p:sp>
        <p:nvSpPr>
          <p:cNvPr id="10" name="Shape 6">
            <a:extLst xmlns:a="http://schemas.openxmlformats.org/drawingml/2006/main">
              <a:ext uri="{FF2B5EF4-FFF2-40B4-BE49-F238E27FC236}">
                <a16:creationId xmlns:a16="http://schemas.microsoft.com/office/drawing/2014/main" id="{4478F3FE-4C61-4DF8-92A1-F0BD095BC187}"/>
              </a:ext>
            </a:extLst>
          </p:cNvPr>
          <p:cNvSpPr>
            <a:spLocks xmlns:a="http://schemas.openxmlformats.org/drawingml/2006/main" noGrp="1"/>
          </p:cNvSpPr>
          <p:nvPr/>
        </p:nvSpPr>
        <p:spPr>
          <a:xfrm xmlns:a="http://schemas.openxmlformats.org/drawingml/2006/main">
            <a:off x="457200" y="1417320"/>
            <a:ext cx="566928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Text 7">
            <a:extLst xmlns:a="http://schemas.openxmlformats.org/drawingml/2006/main">
              <a:ext uri="{FF2B5EF4-FFF2-40B4-BE49-F238E27FC236}">
                <a16:creationId xmlns:a16="http://schemas.microsoft.com/office/drawing/2014/main" id="{47C6A92F-3875-423B-B139-B9D69A40BA66}"/>
              </a:ext>
            </a:extLst>
          </p:cNvPr>
          <p:cNvSpPr>
            <a:spLocks xmlns:a="http://schemas.openxmlformats.org/drawingml/2006/main" noGrp="1"/>
          </p:cNvSpPr>
          <p:nvPr/>
        </p:nvSpPr>
        <p:spPr>
          <a:xfrm xmlns:a="http://schemas.openxmlformats.org/drawingml/2006/main">
            <a:off x="640080" y="1554480"/>
            <a:ext cx="53035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Cara baca permission string</a:t>
            </a:r>
            <a:endParaRPr sz="1400"/>
          </a:p>
        </p:txBody>
      </p:sp>
      <p:sp>
        <p:nvSpPr>
          <p:cNvPr id="12" name="Shape 8">
            <a:extLst xmlns:a="http://schemas.openxmlformats.org/drawingml/2006/main">
              <a:ext uri="{FF2B5EF4-FFF2-40B4-BE49-F238E27FC236}">
                <a16:creationId xmlns:a16="http://schemas.microsoft.com/office/drawing/2014/main" id="{6BBA3DDC-0742-4E65-BA4C-D80D54A738DA}"/>
              </a:ext>
            </a:extLst>
          </p:cNvPr>
          <p:cNvSpPr>
            <a:spLocks xmlns:a="http://schemas.openxmlformats.org/drawingml/2006/main" noGrp="1"/>
          </p:cNvSpPr>
          <p:nvPr/>
        </p:nvSpPr>
        <p:spPr>
          <a:xfrm xmlns:a="http://schemas.openxmlformats.org/drawingml/2006/main">
            <a:off x="640080" y="2011680"/>
            <a:ext cx="5303520" cy="137160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13" name="Text 9">
            <a:extLst xmlns:a="http://schemas.openxmlformats.org/drawingml/2006/main">
              <a:ext uri="{FF2B5EF4-FFF2-40B4-BE49-F238E27FC236}">
                <a16:creationId xmlns:a16="http://schemas.microsoft.com/office/drawing/2014/main" id="{65F47B93-338B-4BD8-83DB-CB6142783493}"/>
              </a:ext>
            </a:extLst>
          </p:cNvPr>
          <p:cNvSpPr>
            <a:spLocks xmlns:a="http://schemas.openxmlformats.org/drawingml/2006/main" noGrp="1"/>
          </p:cNvSpPr>
          <p:nvPr/>
        </p:nvSpPr>
        <p:spPr>
          <a:xfrm xmlns:a="http://schemas.openxmlformats.org/drawingml/2006/main">
            <a:off x="777240" y="2194560"/>
            <a:ext cx="5029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200" b="1">
                <a:solidFill>
                  <a:srgbClr val="94A3B8"/>
                </a:solidFill>
                <a:latin typeface="Consolas"/>
                <a:ea typeface="Consolas"/>
                <a:cs typeface="Consolas"/>
              </a:rPr>
              <a:t>-</a:t>
            </a:r>
            <a:endParaRPr sz="3200"/>
          </a:p>
        </p:txBody>
      </p:sp>
      <p:sp>
        <p:nvSpPr>
          <p:cNvPr id="14" name="Text 10">
            <a:extLst xmlns:a="http://schemas.openxmlformats.org/drawingml/2006/main">
              <a:ext uri="{FF2B5EF4-FFF2-40B4-BE49-F238E27FC236}">
                <a16:creationId xmlns:a16="http://schemas.microsoft.com/office/drawing/2014/main" id="{745C3FFC-D0E5-4F77-A3B0-58BAE413AE5E}"/>
              </a:ext>
            </a:extLst>
          </p:cNvPr>
          <p:cNvSpPr>
            <a:spLocks xmlns:a="http://schemas.openxmlformats.org/drawingml/2006/main" noGrp="1"/>
          </p:cNvSpPr>
          <p:nvPr/>
        </p:nvSpPr>
        <p:spPr>
          <a:xfrm xmlns:a="http://schemas.openxmlformats.org/drawingml/2006/main">
            <a:off x="777240" y="2743200"/>
            <a:ext cx="5029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900" i="1">
                <a:solidFill>
                  <a:srgbClr val="94A3B8"/>
                </a:solidFill>
                <a:latin typeface="Calibri"/>
                <a:ea typeface="Calibri"/>
                <a:cs typeface="Calibri"/>
              </a:rPr>
              <a:t>type</a:t>
            </a:r>
            <a:endParaRPr sz="900"/>
          </a:p>
          <a:p xmlns:a="http://schemas.openxmlformats.org/drawingml/2006/main">
            <a:pPr marL="0" indent="0" algn="ctr">
              <a:buNone/>
            </a:pPr>
            <a:r>
              <a:rPr sz="900" i="1">
                <a:solidFill>
                  <a:srgbClr val="94A3B8"/>
                </a:solidFill>
                <a:latin typeface="Calibri"/>
                <a:ea typeface="Calibri"/>
                <a:cs typeface="Calibri"/>
              </a:rPr>
              <a:t>(file/dir)</a:t>
            </a:r>
            <a:endParaRPr sz="900"/>
          </a:p>
        </p:txBody>
      </p:sp>
      <p:sp>
        <p:nvSpPr>
          <p:cNvPr id="15" name="Text 11">
            <a:extLst xmlns:a="http://schemas.openxmlformats.org/drawingml/2006/main">
              <a:ext uri="{FF2B5EF4-FFF2-40B4-BE49-F238E27FC236}">
                <a16:creationId xmlns:a16="http://schemas.microsoft.com/office/drawing/2014/main" id="{79AD7040-8C84-4D32-9EDE-2B5CAAA6B99D}"/>
              </a:ext>
            </a:extLst>
          </p:cNvPr>
          <p:cNvSpPr>
            <a:spLocks xmlns:a="http://schemas.openxmlformats.org/drawingml/2006/main" noGrp="1"/>
          </p:cNvSpPr>
          <p:nvPr/>
        </p:nvSpPr>
        <p:spPr>
          <a:xfrm xmlns:a="http://schemas.openxmlformats.org/drawingml/2006/main">
            <a:off x="1463040" y="2194560"/>
            <a:ext cx="1280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200" b="1">
                <a:solidFill>
                  <a:srgbClr val="F37021"/>
                </a:solidFill>
                <a:latin typeface="Consolas"/>
                <a:ea typeface="Consolas"/>
                <a:cs typeface="Consolas"/>
              </a:rPr>
              <a:t>rwx</a:t>
            </a:r>
            <a:endParaRPr sz="3200"/>
          </a:p>
        </p:txBody>
      </p:sp>
      <p:sp>
        <p:nvSpPr>
          <p:cNvPr id="16" name="Text 12">
            <a:extLst xmlns:a="http://schemas.openxmlformats.org/drawingml/2006/main">
              <a:ext uri="{FF2B5EF4-FFF2-40B4-BE49-F238E27FC236}">
                <a16:creationId xmlns:a16="http://schemas.microsoft.com/office/drawing/2014/main" id="{C6D8C66F-5EBF-45A0-87A4-F51FE21F5F9D}"/>
              </a:ext>
            </a:extLst>
          </p:cNvPr>
          <p:cNvSpPr>
            <a:spLocks xmlns:a="http://schemas.openxmlformats.org/drawingml/2006/main" noGrp="1"/>
          </p:cNvSpPr>
          <p:nvPr/>
        </p:nvSpPr>
        <p:spPr>
          <a:xfrm xmlns:a="http://schemas.openxmlformats.org/drawingml/2006/main">
            <a:off x="1463040" y="2743200"/>
            <a:ext cx="128016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900" i="1">
                <a:solidFill>
                  <a:srgbClr val="94A3B8"/>
                </a:solidFill>
                <a:latin typeface="Calibri"/>
                <a:ea typeface="Calibri"/>
                <a:cs typeface="Calibri"/>
              </a:rPr>
              <a:t>owner</a:t>
            </a:r>
            <a:endParaRPr sz="900"/>
          </a:p>
          <a:p xmlns:a="http://schemas.openxmlformats.org/drawingml/2006/main">
            <a:pPr marL="0" indent="0" algn="ctr">
              <a:buNone/>
            </a:pPr>
            <a:r>
              <a:rPr sz="900" i="1">
                <a:solidFill>
                  <a:srgbClr val="94A3B8"/>
                </a:solidFill>
                <a:latin typeface="Calibri"/>
                <a:ea typeface="Calibri"/>
                <a:cs typeface="Calibri"/>
              </a:rPr>
              <a:t>(user)</a:t>
            </a:r>
            <a:endParaRPr sz="900"/>
          </a:p>
        </p:txBody>
      </p:sp>
      <p:sp>
        <p:nvSpPr>
          <p:cNvPr id="17" name="Text 13">
            <a:extLst xmlns:a="http://schemas.openxmlformats.org/drawingml/2006/main">
              <a:ext uri="{FF2B5EF4-FFF2-40B4-BE49-F238E27FC236}">
                <a16:creationId xmlns:a16="http://schemas.microsoft.com/office/drawing/2014/main" id="{3A850DA2-059A-4917-8A89-6BD57EFE9F99}"/>
              </a:ext>
            </a:extLst>
          </p:cNvPr>
          <p:cNvSpPr>
            <a:spLocks xmlns:a="http://schemas.openxmlformats.org/drawingml/2006/main" noGrp="1"/>
          </p:cNvSpPr>
          <p:nvPr/>
        </p:nvSpPr>
        <p:spPr>
          <a:xfrm xmlns:a="http://schemas.openxmlformats.org/drawingml/2006/main">
            <a:off x="2834640" y="2194560"/>
            <a:ext cx="1280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200" b="1">
                <a:solidFill>
                  <a:srgbClr val="10B981"/>
                </a:solidFill>
                <a:latin typeface="Consolas"/>
                <a:ea typeface="Consolas"/>
                <a:cs typeface="Consolas"/>
              </a:rPr>
              <a:t>r-x</a:t>
            </a:r>
            <a:endParaRPr sz="3200"/>
          </a:p>
        </p:txBody>
      </p:sp>
      <p:sp>
        <p:nvSpPr>
          <p:cNvPr id="18" name="Text 14">
            <a:extLst xmlns:a="http://schemas.openxmlformats.org/drawingml/2006/main">
              <a:ext uri="{FF2B5EF4-FFF2-40B4-BE49-F238E27FC236}">
                <a16:creationId xmlns:a16="http://schemas.microsoft.com/office/drawing/2014/main" id="{151D5345-97FB-45D5-B601-1A274DED7326}"/>
              </a:ext>
            </a:extLst>
          </p:cNvPr>
          <p:cNvSpPr>
            <a:spLocks xmlns:a="http://schemas.openxmlformats.org/drawingml/2006/main" noGrp="1"/>
          </p:cNvSpPr>
          <p:nvPr/>
        </p:nvSpPr>
        <p:spPr>
          <a:xfrm xmlns:a="http://schemas.openxmlformats.org/drawingml/2006/main">
            <a:off x="2834640" y="2743200"/>
            <a:ext cx="128016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900" i="1">
                <a:solidFill>
                  <a:srgbClr val="94A3B8"/>
                </a:solidFill>
                <a:latin typeface="Calibri"/>
                <a:ea typeface="Calibri"/>
                <a:cs typeface="Calibri"/>
              </a:rPr>
              <a:t>group</a:t>
            </a:r>
            <a:endParaRPr sz="900"/>
          </a:p>
        </p:txBody>
      </p:sp>
      <p:sp>
        <p:nvSpPr>
          <p:cNvPr id="19" name="Text 15">
            <a:extLst xmlns:a="http://schemas.openxmlformats.org/drawingml/2006/main">
              <a:ext uri="{FF2B5EF4-FFF2-40B4-BE49-F238E27FC236}">
                <a16:creationId xmlns:a16="http://schemas.microsoft.com/office/drawing/2014/main" id="{A5D42C9D-9015-4D3F-A458-6E5DF9C17124}"/>
              </a:ext>
            </a:extLst>
          </p:cNvPr>
          <p:cNvSpPr>
            <a:spLocks xmlns:a="http://schemas.openxmlformats.org/drawingml/2006/main" noGrp="1"/>
          </p:cNvSpPr>
          <p:nvPr/>
        </p:nvSpPr>
        <p:spPr>
          <a:xfrm xmlns:a="http://schemas.openxmlformats.org/drawingml/2006/main">
            <a:off x="4206240" y="2194560"/>
            <a:ext cx="1280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200" b="1">
                <a:solidFill>
                  <a:srgbClr val="60A5FA"/>
                </a:solidFill>
                <a:latin typeface="Consolas"/>
                <a:ea typeface="Consolas"/>
                <a:cs typeface="Consolas"/>
              </a:rPr>
              <a:t>r-x</a:t>
            </a:r>
            <a:endParaRPr sz="3200"/>
          </a:p>
        </p:txBody>
      </p:sp>
      <p:sp>
        <p:nvSpPr>
          <p:cNvPr id="20" name="Text 16">
            <a:extLst xmlns:a="http://schemas.openxmlformats.org/drawingml/2006/main">
              <a:ext uri="{FF2B5EF4-FFF2-40B4-BE49-F238E27FC236}">
                <a16:creationId xmlns:a16="http://schemas.microsoft.com/office/drawing/2014/main" id="{E5753BD4-654B-4684-8AA0-718561CDA198}"/>
              </a:ext>
            </a:extLst>
          </p:cNvPr>
          <p:cNvSpPr>
            <a:spLocks xmlns:a="http://schemas.openxmlformats.org/drawingml/2006/main" noGrp="1"/>
          </p:cNvSpPr>
          <p:nvPr/>
        </p:nvSpPr>
        <p:spPr>
          <a:xfrm xmlns:a="http://schemas.openxmlformats.org/drawingml/2006/main">
            <a:off x="4206240" y="2743200"/>
            <a:ext cx="128016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900" i="1">
                <a:solidFill>
                  <a:srgbClr val="94A3B8"/>
                </a:solidFill>
                <a:latin typeface="Calibri"/>
                <a:ea typeface="Calibri"/>
                <a:cs typeface="Calibri"/>
              </a:rPr>
              <a:t>others</a:t>
            </a:r>
            <a:endParaRPr sz="900"/>
          </a:p>
          <a:p xmlns:a="http://schemas.openxmlformats.org/drawingml/2006/main">
            <a:pPr marL="0" indent="0" algn="ctr">
              <a:buNone/>
            </a:pPr>
            <a:r>
              <a:rPr sz="900" i="1">
                <a:solidFill>
                  <a:srgbClr val="94A3B8"/>
                </a:solidFill>
                <a:latin typeface="Calibri"/>
                <a:ea typeface="Calibri"/>
                <a:cs typeface="Calibri"/>
              </a:rPr>
              <a:t>(world)</a:t>
            </a:r>
            <a:endParaRPr sz="900"/>
          </a:p>
        </p:txBody>
      </p:sp>
      <p:sp>
        <p:nvSpPr>
          <p:cNvPr id="21" name="Text 17">
            <a:extLst xmlns:a="http://schemas.openxmlformats.org/drawingml/2006/main">
              <a:ext uri="{FF2B5EF4-FFF2-40B4-BE49-F238E27FC236}">
                <a16:creationId xmlns:a16="http://schemas.microsoft.com/office/drawing/2014/main" id="{64127066-4A1A-42D6-A98D-8500AE75CB75}"/>
              </a:ext>
            </a:extLst>
          </p:cNvPr>
          <p:cNvSpPr>
            <a:spLocks xmlns:a="http://schemas.openxmlformats.org/drawingml/2006/main" noGrp="1"/>
          </p:cNvSpPr>
          <p:nvPr/>
        </p:nvSpPr>
        <p:spPr>
          <a:xfrm xmlns:a="http://schemas.openxmlformats.org/drawingml/2006/main">
            <a:off x="640080" y="3611880"/>
            <a:ext cx="530352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64748B"/>
                </a:solidFill>
                <a:latin typeface="Calibri"/>
                <a:ea typeface="Calibri"/>
                <a:cs typeface="Calibri"/>
              </a:rPr>
              <a:t>rwx breakdown:</a:t>
            </a:r>
            <a:endParaRPr sz="1200"/>
          </a:p>
        </p:txBody>
      </p:sp>
      <p:sp>
        <p:nvSpPr>
          <p:cNvPr id="22" name="Shape 18">
            <a:extLst xmlns:a="http://schemas.openxmlformats.org/drawingml/2006/main">
              <a:ext uri="{FF2B5EF4-FFF2-40B4-BE49-F238E27FC236}">
                <a16:creationId xmlns:a16="http://schemas.microsoft.com/office/drawing/2014/main" id="{4DA4CD2F-6290-49B2-8631-B70C91FA5C5E}"/>
              </a:ext>
            </a:extLst>
          </p:cNvPr>
          <p:cNvSpPr>
            <a:spLocks xmlns:a="http://schemas.openxmlformats.org/drawingml/2006/main" noGrp="1"/>
          </p:cNvSpPr>
          <p:nvPr/>
        </p:nvSpPr>
        <p:spPr>
          <a:xfrm xmlns:a="http://schemas.openxmlformats.org/drawingml/2006/main">
            <a:off x="640080" y="3931920"/>
            <a:ext cx="457200" cy="457200"/>
          </a:xfrm>
          <a:prstGeom xmlns:a="http://schemas.openxmlformats.org/drawingml/2006/main" prst="roundRect">
            <a:avLst>
              <a:gd name="adj" fmla="val 12000"/>
            </a:avLst>
          </a:prstGeom>
          <a:solidFill xmlns:a="http://schemas.openxmlformats.org/drawingml/2006/main">
            <a:srgbClr val="F37021"/>
          </a:solidFill>
          <a:ln xmlns:a="http://schemas.openxmlformats.org/drawingml/2006/main" w="12700">
            <a:solidFill>
              <a:srgbClr val="F37021"/>
            </a:solidFill>
            <a:prstDash val="solid"/>
          </a:ln>
        </p:spPr>
      </p:sp>
      <p:sp>
        <p:nvSpPr>
          <p:cNvPr id="23" name="Text 19">
            <a:extLst xmlns:a="http://schemas.openxmlformats.org/drawingml/2006/main">
              <a:ext uri="{FF2B5EF4-FFF2-40B4-BE49-F238E27FC236}">
                <a16:creationId xmlns:a16="http://schemas.microsoft.com/office/drawing/2014/main" id="{B1EEFAC7-EA9B-4BC7-9F44-20CDE93D5CC0}"/>
              </a:ext>
            </a:extLst>
          </p:cNvPr>
          <p:cNvSpPr>
            <a:spLocks xmlns:a="http://schemas.openxmlformats.org/drawingml/2006/main" noGrp="1"/>
          </p:cNvSpPr>
          <p:nvPr/>
        </p:nvSpPr>
        <p:spPr>
          <a:xfrm xmlns:a="http://schemas.openxmlformats.org/drawingml/2006/main">
            <a:off x="640080" y="39319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Consolas"/>
                <a:ea typeface="Consolas"/>
                <a:cs typeface="Consolas"/>
              </a:rPr>
              <a:t>r</a:t>
            </a:r>
            <a:endParaRPr sz="1800"/>
          </a:p>
        </p:txBody>
      </p:sp>
      <p:sp>
        <p:nvSpPr>
          <p:cNvPr id="24" name="Text 20">
            <a:extLst xmlns:a="http://schemas.openxmlformats.org/drawingml/2006/main">
              <a:ext uri="{FF2B5EF4-FFF2-40B4-BE49-F238E27FC236}">
                <a16:creationId xmlns:a16="http://schemas.microsoft.com/office/drawing/2014/main" id="{34F602CB-2A3A-4578-A090-9ADDABFEFD7B}"/>
              </a:ext>
            </a:extLst>
          </p:cNvPr>
          <p:cNvSpPr>
            <a:spLocks xmlns:a="http://schemas.openxmlformats.org/drawingml/2006/main" noGrp="1"/>
          </p:cNvSpPr>
          <p:nvPr/>
        </p:nvSpPr>
        <p:spPr>
          <a:xfrm xmlns:a="http://schemas.openxmlformats.org/drawingml/2006/main">
            <a:off x="1188720" y="3931920"/>
            <a:ext cx="1371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02677"/>
                </a:solidFill>
                <a:latin typeface="Calibri"/>
                <a:ea typeface="Calibri"/>
                <a:cs typeface="Calibri"/>
              </a:rPr>
              <a:t>Read (4)</a:t>
            </a:r>
            <a:endParaRPr sz="1200"/>
          </a:p>
        </p:txBody>
      </p:sp>
      <p:sp>
        <p:nvSpPr>
          <p:cNvPr id="25" name="Text 21">
            <a:extLst xmlns:a="http://schemas.openxmlformats.org/drawingml/2006/main">
              <a:ext uri="{FF2B5EF4-FFF2-40B4-BE49-F238E27FC236}">
                <a16:creationId xmlns:a16="http://schemas.microsoft.com/office/drawing/2014/main" id="{0EEBF8A5-0A97-49FD-BBFE-6CBD27706ECB}"/>
              </a:ext>
            </a:extLst>
          </p:cNvPr>
          <p:cNvSpPr>
            <a:spLocks xmlns:a="http://schemas.openxmlformats.org/drawingml/2006/main" noGrp="1"/>
          </p:cNvSpPr>
          <p:nvPr/>
        </p:nvSpPr>
        <p:spPr>
          <a:xfrm xmlns:a="http://schemas.openxmlformats.org/drawingml/2006/main">
            <a:off x="2606040" y="3931920"/>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lihat isi file / list direktori</a:t>
            </a:r>
            <a:endParaRPr sz="1100"/>
          </a:p>
        </p:txBody>
      </p:sp>
      <p:sp>
        <p:nvSpPr>
          <p:cNvPr id="26" name="Shape 22">
            <a:extLst xmlns:a="http://schemas.openxmlformats.org/drawingml/2006/main">
              <a:ext uri="{FF2B5EF4-FFF2-40B4-BE49-F238E27FC236}">
                <a16:creationId xmlns:a16="http://schemas.microsoft.com/office/drawing/2014/main" id="{6EA90DFE-4114-4D2A-A059-72D0957D33E1}"/>
              </a:ext>
            </a:extLst>
          </p:cNvPr>
          <p:cNvSpPr>
            <a:spLocks xmlns:a="http://schemas.openxmlformats.org/drawingml/2006/main" noGrp="1"/>
          </p:cNvSpPr>
          <p:nvPr/>
        </p:nvSpPr>
        <p:spPr>
          <a:xfrm xmlns:a="http://schemas.openxmlformats.org/drawingml/2006/main">
            <a:off x="640080" y="4526280"/>
            <a:ext cx="457200" cy="457200"/>
          </a:xfrm>
          <a:prstGeom xmlns:a="http://schemas.openxmlformats.org/drawingml/2006/main" prst="roundRect">
            <a:avLst>
              <a:gd name="adj" fmla="val 12000"/>
            </a:avLst>
          </a:prstGeom>
          <a:solidFill xmlns:a="http://schemas.openxmlformats.org/drawingml/2006/main">
            <a:srgbClr val="F37021"/>
          </a:solidFill>
          <a:ln xmlns:a="http://schemas.openxmlformats.org/drawingml/2006/main" w="12700">
            <a:solidFill>
              <a:srgbClr val="F37021"/>
            </a:solidFill>
            <a:prstDash val="solid"/>
          </a:ln>
        </p:spPr>
      </p:sp>
      <p:sp>
        <p:nvSpPr>
          <p:cNvPr id="27" name="Text 23">
            <a:extLst xmlns:a="http://schemas.openxmlformats.org/drawingml/2006/main">
              <a:ext uri="{FF2B5EF4-FFF2-40B4-BE49-F238E27FC236}">
                <a16:creationId xmlns:a16="http://schemas.microsoft.com/office/drawing/2014/main" id="{9D8AD3ED-F192-43FD-961E-869728560849}"/>
              </a:ext>
            </a:extLst>
          </p:cNvPr>
          <p:cNvSpPr>
            <a:spLocks xmlns:a="http://schemas.openxmlformats.org/drawingml/2006/main" noGrp="1"/>
          </p:cNvSpPr>
          <p:nvPr/>
        </p:nvSpPr>
        <p:spPr>
          <a:xfrm xmlns:a="http://schemas.openxmlformats.org/drawingml/2006/main">
            <a:off x="640080" y="452628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Consolas"/>
                <a:ea typeface="Consolas"/>
                <a:cs typeface="Consolas"/>
              </a:rPr>
              <a:t>w</a:t>
            </a:r>
            <a:endParaRPr sz="1800"/>
          </a:p>
        </p:txBody>
      </p:sp>
      <p:sp>
        <p:nvSpPr>
          <p:cNvPr id="28" name="Text 24">
            <a:extLst xmlns:a="http://schemas.openxmlformats.org/drawingml/2006/main">
              <a:ext uri="{FF2B5EF4-FFF2-40B4-BE49-F238E27FC236}">
                <a16:creationId xmlns:a16="http://schemas.microsoft.com/office/drawing/2014/main" id="{42AD90D4-7DB2-47FA-9CA1-5C063366A499}"/>
              </a:ext>
            </a:extLst>
          </p:cNvPr>
          <p:cNvSpPr>
            <a:spLocks xmlns:a="http://schemas.openxmlformats.org/drawingml/2006/main" noGrp="1"/>
          </p:cNvSpPr>
          <p:nvPr/>
        </p:nvSpPr>
        <p:spPr>
          <a:xfrm xmlns:a="http://schemas.openxmlformats.org/drawingml/2006/main">
            <a:off x="1188720" y="4526280"/>
            <a:ext cx="1371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02677"/>
                </a:solidFill>
                <a:latin typeface="Calibri"/>
                <a:ea typeface="Calibri"/>
                <a:cs typeface="Calibri"/>
              </a:rPr>
              <a:t>Write (2)</a:t>
            </a:r>
            <a:endParaRPr sz="1200"/>
          </a:p>
        </p:txBody>
      </p:sp>
      <p:sp>
        <p:nvSpPr>
          <p:cNvPr id="29" name="Text 25">
            <a:extLst xmlns:a="http://schemas.openxmlformats.org/drawingml/2006/main">
              <a:ext uri="{FF2B5EF4-FFF2-40B4-BE49-F238E27FC236}">
                <a16:creationId xmlns:a16="http://schemas.microsoft.com/office/drawing/2014/main" id="{994B3D0A-DBF8-4A2E-87D0-75A72E41495F}"/>
              </a:ext>
            </a:extLst>
          </p:cNvPr>
          <p:cNvSpPr>
            <a:spLocks xmlns:a="http://schemas.openxmlformats.org/drawingml/2006/main" noGrp="1"/>
          </p:cNvSpPr>
          <p:nvPr/>
        </p:nvSpPr>
        <p:spPr>
          <a:xfrm xmlns:a="http://schemas.openxmlformats.org/drawingml/2006/main">
            <a:off x="2606040" y="4526280"/>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edit file / buat-hapus di direktori</a:t>
            </a:r>
            <a:endParaRPr sz="1100"/>
          </a:p>
        </p:txBody>
      </p:sp>
      <p:sp>
        <p:nvSpPr>
          <p:cNvPr id="30" name="Shape 26">
            <a:extLst xmlns:a="http://schemas.openxmlformats.org/drawingml/2006/main">
              <a:ext uri="{FF2B5EF4-FFF2-40B4-BE49-F238E27FC236}">
                <a16:creationId xmlns:a16="http://schemas.microsoft.com/office/drawing/2014/main" id="{D6024E05-B129-4A42-8D69-B1FADFC6A028}"/>
              </a:ext>
            </a:extLst>
          </p:cNvPr>
          <p:cNvSpPr>
            <a:spLocks xmlns:a="http://schemas.openxmlformats.org/drawingml/2006/main" noGrp="1"/>
          </p:cNvSpPr>
          <p:nvPr/>
        </p:nvSpPr>
        <p:spPr>
          <a:xfrm xmlns:a="http://schemas.openxmlformats.org/drawingml/2006/main">
            <a:off x="640080" y="5120640"/>
            <a:ext cx="457200" cy="457200"/>
          </a:xfrm>
          <a:prstGeom xmlns:a="http://schemas.openxmlformats.org/drawingml/2006/main" prst="roundRect">
            <a:avLst>
              <a:gd name="adj" fmla="val 12000"/>
            </a:avLst>
          </a:prstGeom>
          <a:solidFill xmlns:a="http://schemas.openxmlformats.org/drawingml/2006/main">
            <a:srgbClr val="F37021"/>
          </a:solidFill>
          <a:ln xmlns:a="http://schemas.openxmlformats.org/drawingml/2006/main" w="12700">
            <a:solidFill>
              <a:srgbClr val="F37021"/>
            </a:solidFill>
            <a:prstDash val="solid"/>
          </a:ln>
        </p:spPr>
      </p:sp>
      <p:sp>
        <p:nvSpPr>
          <p:cNvPr id="31" name="Text 27">
            <a:extLst xmlns:a="http://schemas.openxmlformats.org/drawingml/2006/main">
              <a:ext uri="{FF2B5EF4-FFF2-40B4-BE49-F238E27FC236}">
                <a16:creationId xmlns:a16="http://schemas.microsoft.com/office/drawing/2014/main" id="{0700FC2A-5D2B-42D0-9518-263A173676DF}"/>
              </a:ext>
            </a:extLst>
          </p:cNvPr>
          <p:cNvSpPr>
            <a:spLocks xmlns:a="http://schemas.openxmlformats.org/drawingml/2006/main" noGrp="1"/>
          </p:cNvSpPr>
          <p:nvPr/>
        </p:nvSpPr>
        <p:spPr>
          <a:xfrm xmlns:a="http://schemas.openxmlformats.org/drawingml/2006/main">
            <a:off x="640080" y="512064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Consolas"/>
                <a:ea typeface="Consolas"/>
                <a:cs typeface="Consolas"/>
              </a:rPr>
              <a:t>x</a:t>
            </a:r>
            <a:endParaRPr sz="1800"/>
          </a:p>
        </p:txBody>
      </p:sp>
      <p:sp>
        <p:nvSpPr>
          <p:cNvPr id="32" name="Text 28">
            <a:extLst xmlns:a="http://schemas.openxmlformats.org/drawingml/2006/main">
              <a:ext uri="{FF2B5EF4-FFF2-40B4-BE49-F238E27FC236}">
                <a16:creationId xmlns:a16="http://schemas.microsoft.com/office/drawing/2014/main" id="{C6B34F20-30E4-493F-96B4-252EB21067DC}"/>
              </a:ext>
            </a:extLst>
          </p:cNvPr>
          <p:cNvSpPr>
            <a:spLocks xmlns:a="http://schemas.openxmlformats.org/drawingml/2006/main" noGrp="1"/>
          </p:cNvSpPr>
          <p:nvPr/>
        </p:nvSpPr>
        <p:spPr>
          <a:xfrm xmlns:a="http://schemas.openxmlformats.org/drawingml/2006/main">
            <a:off x="1188720" y="5120640"/>
            <a:ext cx="1371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02677"/>
                </a:solidFill>
                <a:latin typeface="Calibri"/>
                <a:ea typeface="Calibri"/>
                <a:cs typeface="Calibri"/>
              </a:rPr>
              <a:t>Execute (1)</a:t>
            </a:r>
            <a:endParaRPr sz="1200"/>
          </a:p>
        </p:txBody>
      </p:sp>
      <p:sp>
        <p:nvSpPr>
          <p:cNvPr id="33" name="Text 29">
            <a:extLst xmlns:a="http://schemas.openxmlformats.org/drawingml/2006/main">
              <a:ext uri="{FF2B5EF4-FFF2-40B4-BE49-F238E27FC236}">
                <a16:creationId xmlns:a16="http://schemas.microsoft.com/office/drawing/2014/main" id="{858C58D9-4CB4-4691-A9A5-FC0A13FF1366}"/>
              </a:ext>
            </a:extLst>
          </p:cNvPr>
          <p:cNvSpPr>
            <a:spLocks xmlns:a="http://schemas.openxmlformats.org/drawingml/2006/main" noGrp="1"/>
          </p:cNvSpPr>
          <p:nvPr/>
        </p:nvSpPr>
        <p:spPr>
          <a:xfrm xmlns:a="http://schemas.openxmlformats.org/drawingml/2006/main">
            <a:off x="2606040" y="5120640"/>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jalankan file / cd masuk direktori</a:t>
            </a:r>
            <a:endParaRPr sz="1100"/>
          </a:p>
        </p:txBody>
      </p:sp>
      <p:sp>
        <p:nvSpPr>
          <p:cNvPr id="34" name="Text 30">
            <a:extLst xmlns:a="http://schemas.openxmlformats.org/drawingml/2006/main">
              <a:ext uri="{FF2B5EF4-FFF2-40B4-BE49-F238E27FC236}">
                <a16:creationId xmlns:a16="http://schemas.microsoft.com/office/drawing/2014/main" id="{3D0C025B-DF21-4D2E-B326-A42FBD87070B}"/>
              </a:ext>
            </a:extLst>
          </p:cNvPr>
          <p:cNvSpPr>
            <a:spLocks xmlns:a="http://schemas.openxmlformats.org/drawingml/2006/main" noGrp="1"/>
          </p:cNvSpPr>
          <p:nvPr/>
        </p:nvSpPr>
        <p:spPr>
          <a:xfrm xmlns:a="http://schemas.openxmlformats.org/drawingml/2006/main">
            <a:off x="6400800" y="1554480"/>
            <a:ext cx="53035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Numeric notation (octal)</a:t>
            </a:r>
            <a:endParaRPr sz="1400"/>
          </a:p>
        </p:txBody>
      </p:sp>
      <p:sp>
        <p:nvSpPr>
          <p:cNvPr id="35" name="Text 31">
            <a:extLst xmlns:a="http://schemas.openxmlformats.org/drawingml/2006/main">
              <a:ext uri="{FF2B5EF4-FFF2-40B4-BE49-F238E27FC236}">
                <a16:creationId xmlns:a16="http://schemas.microsoft.com/office/drawing/2014/main" id="{9739B231-0BCB-444C-949D-5A9B7AD5AB0E}"/>
              </a:ext>
            </a:extLst>
          </p:cNvPr>
          <p:cNvSpPr>
            <a:spLocks xmlns:a="http://schemas.openxmlformats.org/drawingml/2006/main" noGrp="1"/>
          </p:cNvSpPr>
          <p:nvPr/>
        </p:nvSpPr>
        <p:spPr>
          <a:xfrm xmlns:a="http://schemas.openxmlformats.org/drawingml/2006/main">
            <a:off x="6400800" y="1920240"/>
            <a:ext cx="53035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1E293B"/>
                </a:solidFill>
                <a:latin typeface="Calibri"/>
                <a:ea typeface="Calibri"/>
                <a:cs typeface="Calibri"/>
              </a:rPr>
              <a:t>Tambahkan nilai: r=4, w=2, x=1. Tiga digit = owner/group/others.</a:t>
            </a:r>
            <a:endParaRPr sz="1100"/>
          </a:p>
        </p:txBody>
      </p:sp>
      <p:sp>
        <p:nvSpPr>
          <p:cNvPr id="36" name="Shape 32">
            <a:extLst xmlns:a="http://schemas.openxmlformats.org/drawingml/2006/main">
              <a:ext uri="{FF2B5EF4-FFF2-40B4-BE49-F238E27FC236}">
                <a16:creationId xmlns:a16="http://schemas.microsoft.com/office/drawing/2014/main" id="{61D65882-5918-4E3F-9C30-F0C5EAA57870}"/>
              </a:ext>
            </a:extLst>
          </p:cNvPr>
          <p:cNvSpPr>
            <a:spLocks xmlns:a="http://schemas.openxmlformats.org/drawingml/2006/main" noGrp="1"/>
          </p:cNvSpPr>
          <p:nvPr/>
        </p:nvSpPr>
        <p:spPr>
          <a:xfrm xmlns:a="http://schemas.openxmlformats.org/drawingml/2006/main">
            <a:off x="6400800" y="2377440"/>
            <a:ext cx="5303520" cy="621792"/>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37" name="Text 33">
            <a:extLst xmlns:a="http://schemas.openxmlformats.org/drawingml/2006/main">
              <a:ext uri="{FF2B5EF4-FFF2-40B4-BE49-F238E27FC236}">
                <a16:creationId xmlns:a16="http://schemas.microsoft.com/office/drawing/2014/main" id="{D6687A29-EE65-4B87-A09D-DFAE8F117A62}"/>
              </a:ext>
            </a:extLst>
          </p:cNvPr>
          <p:cNvSpPr>
            <a:spLocks xmlns:a="http://schemas.openxmlformats.org/drawingml/2006/main" noGrp="1"/>
          </p:cNvSpPr>
          <p:nvPr/>
        </p:nvSpPr>
        <p:spPr>
          <a:xfrm xmlns:a="http://schemas.openxmlformats.org/drawingml/2006/main">
            <a:off x="6492240" y="2441448"/>
            <a:ext cx="8229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37021"/>
                </a:solidFill>
                <a:latin typeface="Consolas"/>
                <a:ea typeface="Consolas"/>
                <a:cs typeface="Consolas"/>
              </a:rPr>
              <a:t>755</a:t>
            </a:r>
            <a:endParaRPr sz="2200"/>
          </a:p>
        </p:txBody>
      </p:sp>
      <p:sp>
        <p:nvSpPr>
          <p:cNvPr id="38" name="Text 34">
            <a:extLst xmlns:a="http://schemas.openxmlformats.org/drawingml/2006/main">
              <a:ext uri="{FF2B5EF4-FFF2-40B4-BE49-F238E27FC236}">
                <a16:creationId xmlns:a16="http://schemas.microsoft.com/office/drawing/2014/main" id="{A09DBC16-3F47-46E2-8C9D-D342DBB52642}"/>
              </a:ext>
            </a:extLst>
          </p:cNvPr>
          <p:cNvSpPr>
            <a:spLocks xmlns:a="http://schemas.openxmlformats.org/drawingml/2006/main" noGrp="1"/>
          </p:cNvSpPr>
          <p:nvPr/>
        </p:nvSpPr>
        <p:spPr>
          <a:xfrm xmlns:a="http://schemas.openxmlformats.org/drawingml/2006/main">
            <a:off x="7406640" y="2441448"/>
            <a:ext cx="13716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002677"/>
                </a:solidFill>
                <a:latin typeface="Consolas"/>
                <a:ea typeface="Consolas"/>
                <a:cs typeface="Consolas"/>
              </a:rPr>
              <a:t>rwxr-xr-x</a:t>
            </a:r>
            <a:endParaRPr sz="1300"/>
          </a:p>
        </p:txBody>
      </p:sp>
      <p:sp>
        <p:nvSpPr>
          <p:cNvPr id="39" name="Text 35">
            <a:extLst xmlns:a="http://schemas.openxmlformats.org/drawingml/2006/main">
              <a:ext uri="{FF2B5EF4-FFF2-40B4-BE49-F238E27FC236}">
                <a16:creationId xmlns:a16="http://schemas.microsoft.com/office/drawing/2014/main" id="{88281ED7-E91C-4673-9014-34D4D014B14B}"/>
              </a:ext>
            </a:extLst>
          </p:cNvPr>
          <p:cNvSpPr>
            <a:spLocks xmlns:a="http://schemas.openxmlformats.org/drawingml/2006/main" noGrp="1"/>
          </p:cNvSpPr>
          <p:nvPr/>
        </p:nvSpPr>
        <p:spPr>
          <a:xfrm xmlns:a="http://schemas.openxmlformats.org/drawingml/2006/main">
            <a:off x="8869680" y="2441448"/>
            <a:ext cx="2788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93B"/>
                </a:solidFill>
                <a:latin typeface="Calibri"/>
                <a:ea typeface="Calibri"/>
                <a:cs typeface="Calibri"/>
              </a:rPr>
              <a:t>Executable &amp; directory standar</a:t>
            </a:r>
            <a:endParaRPr sz="1000"/>
          </a:p>
        </p:txBody>
      </p:sp>
      <p:sp>
        <p:nvSpPr>
          <p:cNvPr id="40" name="Shape 36">
            <a:extLst xmlns:a="http://schemas.openxmlformats.org/drawingml/2006/main">
              <a:ext uri="{FF2B5EF4-FFF2-40B4-BE49-F238E27FC236}">
                <a16:creationId xmlns:a16="http://schemas.microsoft.com/office/drawing/2014/main" id="{9A8C01BB-6069-4D9E-A81E-28D37989D99E}"/>
              </a:ext>
            </a:extLst>
          </p:cNvPr>
          <p:cNvSpPr>
            <a:spLocks xmlns:a="http://schemas.openxmlformats.org/drawingml/2006/main" noGrp="1"/>
          </p:cNvSpPr>
          <p:nvPr/>
        </p:nvSpPr>
        <p:spPr>
          <a:xfrm xmlns:a="http://schemas.openxmlformats.org/drawingml/2006/main">
            <a:off x="6400800" y="3090672"/>
            <a:ext cx="5303520" cy="621792"/>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41" name="Text 37">
            <a:extLst xmlns:a="http://schemas.openxmlformats.org/drawingml/2006/main">
              <a:ext uri="{FF2B5EF4-FFF2-40B4-BE49-F238E27FC236}">
                <a16:creationId xmlns:a16="http://schemas.microsoft.com/office/drawing/2014/main" id="{CA3EA77D-9DEA-48CA-8870-B02F53247098}"/>
              </a:ext>
            </a:extLst>
          </p:cNvPr>
          <p:cNvSpPr>
            <a:spLocks xmlns:a="http://schemas.openxmlformats.org/drawingml/2006/main" noGrp="1"/>
          </p:cNvSpPr>
          <p:nvPr/>
        </p:nvSpPr>
        <p:spPr>
          <a:xfrm xmlns:a="http://schemas.openxmlformats.org/drawingml/2006/main">
            <a:off x="6492240" y="3154680"/>
            <a:ext cx="8229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37021"/>
                </a:solidFill>
                <a:latin typeface="Consolas"/>
                <a:ea typeface="Consolas"/>
                <a:cs typeface="Consolas"/>
              </a:rPr>
              <a:t>644</a:t>
            </a:r>
            <a:endParaRPr sz="2200"/>
          </a:p>
        </p:txBody>
      </p:sp>
      <p:sp>
        <p:nvSpPr>
          <p:cNvPr id="42" name="Text 38">
            <a:extLst xmlns:a="http://schemas.openxmlformats.org/drawingml/2006/main">
              <a:ext uri="{FF2B5EF4-FFF2-40B4-BE49-F238E27FC236}">
                <a16:creationId xmlns:a16="http://schemas.microsoft.com/office/drawing/2014/main" id="{D994361C-B812-4B5E-8946-978AA2B01493}"/>
              </a:ext>
            </a:extLst>
          </p:cNvPr>
          <p:cNvSpPr>
            <a:spLocks xmlns:a="http://schemas.openxmlformats.org/drawingml/2006/main" noGrp="1"/>
          </p:cNvSpPr>
          <p:nvPr/>
        </p:nvSpPr>
        <p:spPr>
          <a:xfrm xmlns:a="http://schemas.openxmlformats.org/drawingml/2006/main">
            <a:off x="7406640" y="3154680"/>
            <a:ext cx="13716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002677"/>
                </a:solidFill>
                <a:latin typeface="Consolas"/>
                <a:ea typeface="Consolas"/>
                <a:cs typeface="Consolas"/>
              </a:rPr>
              <a:t>rw-r--r--</a:t>
            </a:r>
            <a:endParaRPr sz="1300"/>
          </a:p>
        </p:txBody>
      </p:sp>
      <p:sp>
        <p:nvSpPr>
          <p:cNvPr id="43" name="Text 39">
            <a:extLst xmlns:a="http://schemas.openxmlformats.org/drawingml/2006/main">
              <a:ext uri="{FF2B5EF4-FFF2-40B4-BE49-F238E27FC236}">
                <a16:creationId xmlns:a16="http://schemas.microsoft.com/office/drawing/2014/main" id="{1EFEB2C6-33CC-4818-A386-9C7061C17F43}"/>
              </a:ext>
            </a:extLst>
          </p:cNvPr>
          <p:cNvSpPr>
            <a:spLocks xmlns:a="http://schemas.openxmlformats.org/drawingml/2006/main" noGrp="1"/>
          </p:cNvSpPr>
          <p:nvPr/>
        </p:nvSpPr>
        <p:spPr>
          <a:xfrm xmlns:a="http://schemas.openxmlformats.org/drawingml/2006/main">
            <a:off x="8869680" y="3154680"/>
            <a:ext cx="2788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93B"/>
                </a:solidFill>
                <a:latin typeface="Calibri"/>
                <a:ea typeface="Calibri"/>
                <a:cs typeface="Calibri"/>
              </a:rPr>
              <a:t>File teks / config umum</a:t>
            </a:r>
            <a:endParaRPr sz="1000"/>
          </a:p>
        </p:txBody>
      </p:sp>
      <p:sp>
        <p:nvSpPr>
          <p:cNvPr id="44" name="Shape 40">
            <a:extLst xmlns:a="http://schemas.openxmlformats.org/drawingml/2006/main">
              <a:ext uri="{FF2B5EF4-FFF2-40B4-BE49-F238E27FC236}">
                <a16:creationId xmlns:a16="http://schemas.microsoft.com/office/drawing/2014/main" id="{2333D03C-282C-40BF-979E-1D1BF12692FA}"/>
              </a:ext>
            </a:extLst>
          </p:cNvPr>
          <p:cNvSpPr>
            <a:spLocks xmlns:a="http://schemas.openxmlformats.org/drawingml/2006/main" noGrp="1"/>
          </p:cNvSpPr>
          <p:nvPr/>
        </p:nvSpPr>
        <p:spPr>
          <a:xfrm xmlns:a="http://schemas.openxmlformats.org/drawingml/2006/main">
            <a:off x="6400800" y="3803904"/>
            <a:ext cx="5303520" cy="621792"/>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45" name="Text 41">
            <a:extLst xmlns:a="http://schemas.openxmlformats.org/drawingml/2006/main">
              <a:ext uri="{FF2B5EF4-FFF2-40B4-BE49-F238E27FC236}">
                <a16:creationId xmlns:a16="http://schemas.microsoft.com/office/drawing/2014/main" id="{14A1E204-FC3F-4852-84BA-9C8D18FEC946}"/>
              </a:ext>
            </a:extLst>
          </p:cNvPr>
          <p:cNvSpPr>
            <a:spLocks xmlns:a="http://schemas.openxmlformats.org/drawingml/2006/main" noGrp="1"/>
          </p:cNvSpPr>
          <p:nvPr/>
        </p:nvSpPr>
        <p:spPr>
          <a:xfrm xmlns:a="http://schemas.openxmlformats.org/drawingml/2006/main">
            <a:off x="6492240" y="3867912"/>
            <a:ext cx="8229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37021"/>
                </a:solidFill>
                <a:latin typeface="Consolas"/>
                <a:ea typeface="Consolas"/>
                <a:cs typeface="Consolas"/>
              </a:rPr>
              <a:t>600</a:t>
            </a:r>
            <a:endParaRPr sz="2200"/>
          </a:p>
        </p:txBody>
      </p:sp>
      <p:sp>
        <p:nvSpPr>
          <p:cNvPr id="46" name="Text 42">
            <a:extLst xmlns:a="http://schemas.openxmlformats.org/drawingml/2006/main">
              <a:ext uri="{FF2B5EF4-FFF2-40B4-BE49-F238E27FC236}">
                <a16:creationId xmlns:a16="http://schemas.microsoft.com/office/drawing/2014/main" id="{CFBD1332-A43B-4F51-A4DB-9D605157BE0B}"/>
              </a:ext>
            </a:extLst>
          </p:cNvPr>
          <p:cNvSpPr>
            <a:spLocks xmlns:a="http://schemas.openxmlformats.org/drawingml/2006/main" noGrp="1"/>
          </p:cNvSpPr>
          <p:nvPr/>
        </p:nvSpPr>
        <p:spPr>
          <a:xfrm xmlns:a="http://schemas.openxmlformats.org/drawingml/2006/main">
            <a:off x="7406640" y="3867912"/>
            <a:ext cx="13716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002677"/>
                </a:solidFill>
                <a:latin typeface="Consolas"/>
                <a:ea typeface="Consolas"/>
                <a:cs typeface="Consolas"/>
              </a:rPr>
              <a:t>rw-------</a:t>
            </a:r>
            <a:endParaRPr sz="1300"/>
          </a:p>
        </p:txBody>
      </p:sp>
      <p:sp>
        <p:nvSpPr>
          <p:cNvPr id="47" name="Text 43">
            <a:extLst xmlns:a="http://schemas.openxmlformats.org/drawingml/2006/main">
              <a:ext uri="{FF2B5EF4-FFF2-40B4-BE49-F238E27FC236}">
                <a16:creationId xmlns:a16="http://schemas.microsoft.com/office/drawing/2014/main" id="{93C58D51-F81F-4206-8F03-1DA0DF77FEE9}"/>
              </a:ext>
            </a:extLst>
          </p:cNvPr>
          <p:cNvSpPr>
            <a:spLocks xmlns:a="http://schemas.openxmlformats.org/drawingml/2006/main" noGrp="1"/>
          </p:cNvSpPr>
          <p:nvPr/>
        </p:nvSpPr>
        <p:spPr>
          <a:xfrm xmlns:a="http://schemas.openxmlformats.org/drawingml/2006/main">
            <a:off x="8869680" y="3867912"/>
            <a:ext cx="2788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93B"/>
                </a:solidFill>
                <a:latin typeface="Calibri"/>
                <a:ea typeface="Calibri"/>
                <a:cs typeface="Calibri"/>
              </a:rPr>
              <a:t>Private key SSH, file rahasia</a:t>
            </a:r>
            <a:endParaRPr sz="1000"/>
          </a:p>
        </p:txBody>
      </p:sp>
      <p:sp>
        <p:nvSpPr>
          <p:cNvPr id="48" name="Shape 44">
            <a:extLst xmlns:a="http://schemas.openxmlformats.org/drawingml/2006/main">
              <a:ext uri="{FF2B5EF4-FFF2-40B4-BE49-F238E27FC236}">
                <a16:creationId xmlns:a16="http://schemas.microsoft.com/office/drawing/2014/main" id="{D4E70AB1-9FEE-4F91-92C1-0C049FFF5F47}"/>
              </a:ext>
            </a:extLst>
          </p:cNvPr>
          <p:cNvSpPr>
            <a:spLocks xmlns:a="http://schemas.openxmlformats.org/drawingml/2006/main" noGrp="1"/>
          </p:cNvSpPr>
          <p:nvPr/>
        </p:nvSpPr>
        <p:spPr>
          <a:xfrm xmlns:a="http://schemas.openxmlformats.org/drawingml/2006/main">
            <a:off x="6400800" y="4517136"/>
            <a:ext cx="5303520" cy="621792"/>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49" name="Text 45">
            <a:extLst xmlns:a="http://schemas.openxmlformats.org/drawingml/2006/main">
              <a:ext uri="{FF2B5EF4-FFF2-40B4-BE49-F238E27FC236}">
                <a16:creationId xmlns:a16="http://schemas.microsoft.com/office/drawing/2014/main" id="{F8F6C93D-1E62-45E3-88D8-C1225967923E}"/>
              </a:ext>
            </a:extLst>
          </p:cNvPr>
          <p:cNvSpPr>
            <a:spLocks xmlns:a="http://schemas.openxmlformats.org/drawingml/2006/main" noGrp="1"/>
          </p:cNvSpPr>
          <p:nvPr/>
        </p:nvSpPr>
        <p:spPr>
          <a:xfrm xmlns:a="http://schemas.openxmlformats.org/drawingml/2006/main">
            <a:off x="6492240" y="4581144"/>
            <a:ext cx="8229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37021"/>
                </a:solidFill>
                <a:latin typeface="Consolas"/>
                <a:ea typeface="Consolas"/>
                <a:cs typeface="Consolas"/>
              </a:rPr>
              <a:t>700</a:t>
            </a:r>
            <a:endParaRPr sz="2200"/>
          </a:p>
        </p:txBody>
      </p:sp>
      <p:sp>
        <p:nvSpPr>
          <p:cNvPr id="50" name="Text 46">
            <a:extLst xmlns:a="http://schemas.openxmlformats.org/drawingml/2006/main">
              <a:ext uri="{FF2B5EF4-FFF2-40B4-BE49-F238E27FC236}">
                <a16:creationId xmlns:a16="http://schemas.microsoft.com/office/drawing/2014/main" id="{12CC6447-465C-4312-9834-ACDD5C0B009A}"/>
              </a:ext>
            </a:extLst>
          </p:cNvPr>
          <p:cNvSpPr>
            <a:spLocks xmlns:a="http://schemas.openxmlformats.org/drawingml/2006/main" noGrp="1"/>
          </p:cNvSpPr>
          <p:nvPr/>
        </p:nvSpPr>
        <p:spPr>
          <a:xfrm xmlns:a="http://schemas.openxmlformats.org/drawingml/2006/main">
            <a:off x="7406640" y="4581144"/>
            <a:ext cx="13716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002677"/>
                </a:solidFill>
                <a:latin typeface="Consolas"/>
                <a:ea typeface="Consolas"/>
                <a:cs typeface="Consolas"/>
              </a:rPr>
              <a:t>rwx------</a:t>
            </a:r>
            <a:endParaRPr sz="1300"/>
          </a:p>
        </p:txBody>
      </p:sp>
      <p:sp>
        <p:nvSpPr>
          <p:cNvPr id="51" name="Text 47">
            <a:extLst xmlns:a="http://schemas.openxmlformats.org/drawingml/2006/main">
              <a:ext uri="{FF2B5EF4-FFF2-40B4-BE49-F238E27FC236}">
                <a16:creationId xmlns:a16="http://schemas.microsoft.com/office/drawing/2014/main" id="{F3274576-C0FA-44E8-9F54-28938909719A}"/>
              </a:ext>
            </a:extLst>
          </p:cNvPr>
          <p:cNvSpPr>
            <a:spLocks xmlns:a="http://schemas.openxmlformats.org/drawingml/2006/main" noGrp="1"/>
          </p:cNvSpPr>
          <p:nvPr/>
        </p:nvSpPr>
        <p:spPr>
          <a:xfrm xmlns:a="http://schemas.openxmlformats.org/drawingml/2006/main">
            <a:off x="8869680" y="4581144"/>
            <a:ext cx="2788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93B"/>
                </a:solidFill>
                <a:latin typeface="Calibri"/>
                <a:ea typeface="Calibri"/>
                <a:cs typeface="Calibri"/>
              </a:rPr>
              <a:t>~/.ssh directory</a:t>
            </a:r>
            <a:endParaRPr sz="1000"/>
          </a:p>
        </p:txBody>
      </p:sp>
      <p:sp>
        <p:nvSpPr>
          <p:cNvPr id="52" name="Shape 48">
            <a:extLst xmlns:a="http://schemas.openxmlformats.org/drawingml/2006/main">
              <a:ext uri="{FF2B5EF4-FFF2-40B4-BE49-F238E27FC236}">
                <a16:creationId xmlns:a16="http://schemas.microsoft.com/office/drawing/2014/main" id="{6E9F3EB5-7EFA-4181-BA16-AB0F96BA82A2}"/>
              </a:ext>
            </a:extLst>
          </p:cNvPr>
          <p:cNvSpPr>
            <a:spLocks xmlns:a="http://schemas.openxmlformats.org/drawingml/2006/main" noGrp="1"/>
          </p:cNvSpPr>
          <p:nvPr/>
        </p:nvSpPr>
        <p:spPr>
          <a:xfrm xmlns:a="http://schemas.openxmlformats.org/drawingml/2006/main">
            <a:off x="6400800" y="5230368"/>
            <a:ext cx="5303520" cy="621792"/>
          </a:xfrm>
          <a:prstGeom xmlns:a="http://schemas.openxmlformats.org/drawingml/2006/main" prst="rect">
            <a:avLst/>
          </a:prstGeom>
          <a:solidFill xmlns:a="http://schemas.openxmlformats.org/drawingml/2006/main">
            <a:srgbClr val="FEE2E2"/>
          </a:solidFill>
          <a:ln xmlns:a="http://schemas.openxmlformats.org/drawingml/2006/main" w="12700">
            <a:solidFill>
              <a:srgbClr val="DC2626"/>
            </a:solidFill>
            <a:prstDash val="solid"/>
          </a:ln>
        </p:spPr>
      </p:sp>
      <p:sp>
        <p:nvSpPr>
          <p:cNvPr id="53" name="Text 49">
            <a:extLst xmlns:a="http://schemas.openxmlformats.org/drawingml/2006/main">
              <a:ext uri="{FF2B5EF4-FFF2-40B4-BE49-F238E27FC236}">
                <a16:creationId xmlns:a16="http://schemas.microsoft.com/office/drawing/2014/main" id="{FF8DB73A-DEEE-45D6-8FAA-2EE3A2DBE10B}"/>
              </a:ext>
            </a:extLst>
          </p:cNvPr>
          <p:cNvSpPr>
            <a:spLocks xmlns:a="http://schemas.openxmlformats.org/drawingml/2006/main" noGrp="1"/>
          </p:cNvSpPr>
          <p:nvPr/>
        </p:nvSpPr>
        <p:spPr>
          <a:xfrm xmlns:a="http://schemas.openxmlformats.org/drawingml/2006/main">
            <a:off x="6492240" y="5294376"/>
            <a:ext cx="8229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DC2626"/>
                </a:solidFill>
                <a:latin typeface="Consolas"/>
                <a:ea typeface="Consolas"/>
                <a:cs typeface="Consolas"/>
              </a:rPr>
              <a:t>777</a:t>
            </a:r>
            <a:endParaRPr sz="2200"/>
          </a:p>
        </p:txBody>
      </p:sp>
      <p:sp>
        <p:nvSpPr>
          <p:cNvPr id="54" name="Text 50">
            <a:extLst xmlns:a="http://schemas.openxmlformats.org/drawingml/2006/main">
              <a:ext uri="{FF2B5EF4-FFF2-40B4-BE49-F238E27FC236}">
                <a16:creationId xmlns:a16="http://schemas.microsoft.com/office/drawing/2014/main" id="{41C39A7F-1431-406C-A765-E0C4CF1BC9FF}"/>
              </a:ext>
            </a:extLst>
          </p:cNvPr>
          <p:cNvSpPr>
            <a:spLocks xmlns:a="http://schemas.openxmlformats.org/drawingml/2006/main" noGrp="1"/>
          </p:cNvSpPr>
          <p:nvPr/>
        </p:nvSpPr>
        <p:spPr>
          <a:xfrm xmlns:a="http://schemas.openxmlformats.org/drawingml/2006/main">
            <a:off x="7406640" y="5294376"/>
            <a:ext cx="13716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002677"/>
                </a:solidFill>
                <a:latin typeface="Consolas"/>
                <a:ea typeface="Consolas"/>
                <a:cs typeface="Consolas"/>
              </a:rPr>
              <a:t>rwxrwxrwx</a:t>
            </a:r>
            <a:endParaRPr sz="1300"/>
          </a:p>
        </p:txBody>
      </p:sp>
      <p:sp>
        <p:nvSpPr>
          <p:cNvPr id="55" name="Text 51">
            <a:extLst xmlns:a="http://schemas.openxmlformats.org/drawingml/2006/main">
              <a:ext uri="{FF2B5EF4-FFF2-40B4-BE49-F238E27FC236}">
                <a16:creationId xmlns:a16="http://schemas.microsoft.com/office/drawing/2014/main" id="{2923D6BA-1B4F-477B-9435-E044D0D5FDED}"/>
              </a:ext>
            </a:extLst>
          </p:cNvPr>
          <p:cNvSpPr>
            <a:spLocks xmlns:a="http://schemas.openxmlformats.org/drawingml/2006/main" noGrp="1"/>
          </p:cNvSpPr>
          <p:nvPr/>
        </p:nvSpPr>
        <p:spPr>
          <a:xfrm xmlns:a="http://schemas.openxmlformats.org/drawingml/2006/main">
            <a:off x="8869680" y="5294376"/>
            <a:ext cx="2788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93B"/>
                </a:solidFill>
                <a:latin typeface="Calibri"/>
                <a:ea typeface="Calibri"/>
                <a:cs typeface="Calibri"/>
              </a:rPr>
              <a:t>Hampir tidak pernah! Insecure.</a:t>
            </a:r>
            <a:endParaRPr sz="1000"/>
          </a:p>
        </p:txBody>
      </p:sp>
    </p:spTree>
    <p:extLst>
      <p:ext uri="{BB962C8B-B14F-4D97-AF65-F5344CB8AC3E}">
        <p14:creationId xmlns:p14="http://schemas.microsoft.com/office/powerpoint/2010/main" val="212279818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88902B2-A711-4B7A-BB1B-03D7760A0DAE}"/>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2</a:t>
            </a:r>
            <a:endParaRPr sz="900"/>
          </a:p>
        </p:txBody>
      </p:sp>
      <p:sp>
        <p:nvSpPr>
          <p:cNvPr id="3" name="Text 1">
            <a:extLst xmlns:a="http://schemas.openxmlformats.org/drawingml/2006/main">
              <a:ext uri="{FF2B5EF4-FFF2-40B4-BE49-F238E27FC236}">
                <a16:creationId xmlns:a16="http://schemas.microsoft.com/office/drawing/2014/main" id="{988EDD65-9455-4473-A6F5-8199B148EEA8}"/>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19</a:t>
            </a:r>
            <a:endParaRPr sz="900"/>
          </a:p>
        </p:txBody>
      </p:sp>
      <p:sp>
        <p:nvSpPr>
          <p:cNvPr id="4" name="Shape 2">
            <a:extLst xmlns:a="http://schemas.openxmlformats.org/drawingml/2006/main">
              <a:ext uri="{FF2B5EF4-FFF2-40B4-BE49-F238E27FC236}">
                <a16:creationId xmlns:a16="http://schemas.microsoft.com/office/drawing/2014/main" id="{8523BD91-37AB-46A8-959D-9E476DD4E15D}"/>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5f5262362aab4cf7"/>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8" name="Image 1"/>
          <p:cNvPicPr>
            <a:picLocks xmlns:a="http://schemas.openxmlformats.org/drawingml/2006/main" noChangeAspect="1"/>
          </p:cNvPicPr>
          <p:nvPr/>
        </p:nvPicPr>
        <p:blipFill>
          <a:blip xmlns:r="http://schemas.openxmlformats.org/officeDocument/2006/relationships" xmlns:a="http://schemas.openxmlformats.org/drawingml/2006/main" r:embed="Rd87b1f74c025487f"/>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D4DDA8FA-7067-45F3-841A-9A5ED8E33131}"/>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2B8A0D2C-2BEA-47DE-BC8F-BEEBA2E5A3EE}"/>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chmod, chown, chgrp</a:t>
            </a:r>
            <a:endParaRPr sz="2200"/>
          </a:p>
        </p:txBody>
      </p:sp>
      <p:sp>
        <p:nvSpPr>
          <p:cNvPr id="9" name="Text 5">
            <a:extLst xmlns:a="http://schemas.openxmlformats.org/drawingml/2006/main">
              <a:ext uri="{FF2B5EF4-FFF2-40B4-BE49-F238E27FC236}">
                <a16:creationId xmlns:a16="http://schemas.microsoft.com/office/drawing/2014/main" id="{A213E179-93F5-4023-AD97-D479634ADA38}"/>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Mengubah permission dan kepemilikan</a:t>
            </a:r>
            <a:endParaRPr sz="1200"/>
          </a:p>
        </p:txBody>
      </p:sp>
      <p:sp>
        <p:nvSpPr>
          <p:cNvPr id="10" name="Shape 6">
            <a:extLst xmlns:a="http://schemas.openxmlformats.org/drawingml/2006/main">
              <a:ext uri="{FF2B5EF4-FFF2-40B4-BE49-F238E27FC236}">
                <a16:creationId xmlns:a16="http://schemas.microsoft.com/office/drawing/2014/main" id="{9372951E-0AE4-4E99-A6E8-215C4567BFB6}"/>
              </a:ext>
            </a:extLst>
          </p:cNvPr>
          <p:cNvSpPr>
            <a:spLocks xmlns:a="http://schemas.openxmlformats.org/drawingml/2006/main" noGrp="1"/>
          </p:cNvSpPr>
          <p:nvPr/>
        </p:nvSpPr>
        <p:spPr>
          <a:xfrm xmlns:a="http://schemas.openxmlformats.org/drawingml/2006/main">
            <a:off x="457200" y="1417320"/>
            <a:ext cx="557784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CAA28B8B-A7E0-4936-AE1E-0A8696E806BB}"/>
              </a:ext>
            </a:extLst>
          </p:cNvPr>
          <p:cNvSpPr>
            <a:spLocks xmlns:a="http://schemas.openxmlformats.org/drawingml/2006/main" noGrp="1"/>
          </p:cNvSpPr>
          <p:nvPr/>
        </p:nvSpPr>
        <p:spPr>
          <a:xfrm xmlns:a="http://schemas.openxmlformats.org/drawingml/2006/main">
            <a:off x="457200" y="1417320"/>
            <a:ext cx="5577840" cy="64008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2" name="Text 8">
            <a:extLst xmlns:a="http://schemas.openxmlformats.org/drawingml/2006/main">
              <a:ext uri="{FF2B5EF4-FFF2-40B4-BE49-F238E27FC236}">
                <a16:creationId xmlns:a16="http://schemas.microsoft.com/office/drawing/2014/main" id="{D1216330-6093-4409-B67C-B9C44769B3E7}"/>
              </a:ext>
            </a:extLst>
          </p:cNvPr>
          <p:cNvSpPr>
            <a:spLocks xmlns:a="http://schemas.openxmlformats.org/drawingml/2006/main" noGrp="1"/>
          </p:cNvSpPr>
          <p:nvPr/>
        </p:nvSpPr>
        <p:spPr>
          <a:xfrm xmlns:a="http://schemas.openxmlformats.org/drawingml/2006/main">
            <a:off x="457200" y="1417320"/>
            <a:ext cx="55778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libri"/>
                <a:ea typeface="Calibri"/>
                <a:cs typeface="Calibri"/>
              </a:rPr>
              <a:t>chmod  -  ganti permission</a:t>
            </a:r>
            <a:endParaRPr sz="1700"/>
          </a:p>
        </p:txBody>
      </p:sp>
      <p:sp>
        <p:nvSpPr>
          <p:cNvPr id="13" name="Text 9">
            <a:extLst xmlns:a="http://schemas.openxmlformats.org/drawingml/2006/main">
              <a:ext uri="{FF2B5EF4-FFF2-40B4-BE49-F238E27FC236}">
                <a16:creationId xmlns:a16="http://schemas.microsoft.com/office/drawing/2014/main" id="{464F5B2E-2583-4EDF-ADE4-0CF4B4D94F36}"/>
              </a:ext>
            </a:extLst>
          </p:cNvPr>
          <p:cNvSpPr>
            <a:spLocks xmlns:a="http://schemas.openxmlformats.org/drawingml/2006/main" noGrp="1"/>
          </p:cNvSpPr>
          <p:nvPr/>
        </p:nvSpPr>
        <p:spPr>
          <a:xfrm xmlns:a="http://schemas.openxmlformats.org/drawingml/2006/main">
            <a:off x="640080" y="2148840"/>
            <a:ext cx="52120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1E293B"/>
                </a:solidFill>
                <a:latin typeface="Calibri"/>
                <a:ea typeface="Calibri"/>
                <a:cs typeface="Calibri"/>
              </a:rPr>
              <a:t>Dua cara: symbolic (u+x) atau numeric (755).</a:t>
            </a:r>
            <a:endParaRPr sz="1200"/>
          </a:p>
        </p:txBody>
      </p:sp>
      <p:sp>
        <p:nvSpPr>
          <p:cNvPr id="14" name="Shape 10">
            <a:extLst xmlns:a="http://schemas.openxmlformats.org/drawingml/2006/main">
              <a:ext uri="{FF2B5EF4-FFF2-40B4-BE49-F238E27FC236}">
                <a16:creationId xmlns:a16="http://schemas.microsoft.com/office/drawing/2014/main" id="{44CE610F-E39D-4CF2-AD4D-6B3D085E5F21}"/>
              </a:ext>
            </a:extLst>
          </p:cNvPr>
          <p:cNvSpPr>
            <a:spLocks xmlns:a="http://schemas.openxmlformats.org/drawingml/2006/main" noGrp="1"/>
          </p:cNvSpPr>
          <p:nvPr/>
        </p:nvSpPr>
        <p:spPr>
          <a:xfrm xmlns:a="http://schemas.openxmlformats.org/drawingml/2006/main">
            <a:off x="640080" y="2606040"/>
            <a:ext cx="5212080" cy="338328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15" name="Shape 11">
            <a:extLst xmlns:a="http://schemas.openxmlformats.org/drawingml/2006/main">
              <a:ext uri="{FF2B5EF4-FFF2-40B4-BE49-F238E27FC236}">
                <a16:creationId xmlns:a16="http://schemas.microsoft.com/office/drawing/2014/main" id="{50776D9B-2352-4816-8681-E07820E55C82}"/>
              </a:ext>
            </a:extLst>
          </p:cNvPr>
          <p:cNvSpPr>
            <a:spLocks xmlns:a="http://schemas.openxmlformats.org/drawingml/2006/main" noGrp="1"/>
          </p:cNvSpPr>
          <p:nvPr/>
        </p:nvSpPr>
        <p:spPr>
          <a:xfrm xmlns:a="http://schemas.openxmlformats.org/drawingml/2006/main">
            <a:off x="640080" y="2606040"/>
            <a:ext cx="521208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16" name="Shape 12">
            <a:extLst xmlns:a="http://schemas.openxmlformats.org/drawingml/2006/main">
              <a:ext uri="{FF2B5EF4-FFF2-40B4-BE49-F238E27FC236}">
                <a16:creationId xmlns:a16="http://schemas.microsoft.com/office/drawing/2014/main" id="{7D961B08-8DCD-4C62-8517-D137FE467A42}"/>
              </a:ext>
            </a:extLst>
          </p:cNvPr>
          <p:cNvSpPr>
            <a:spLocks xmlns:a="http://schemas.openxmlformats.org/drawingml/2006/main" noGrp="1"/>
          </p:cNvSpPr>
          <p:nvPr/>
        </p:nvSpPr>
        <p:spPr>
          <a:xfrm xmlns:a="http://schemas.openxmlformats.org/drawingml/2006/main">
            <a:off x="731520" y="268833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17" name="Shape 13">
            <a:extLst xmlns:a="http://schemas.openxmlformats.org/drawingml/2006/main">
              <a:ext uri="{FF2B5EF4-FFF2-40B4-BE49-F238E27FC236}">
                <a16:creationId xmlns:a16="http://schemas.microsoft.com/office/drawing/2014/main" id="{0ACCE6DE-AE07-4A47-938B-DE21B911A7DB}"/>
              </a:ext>
            </a:extLst>
          </p:cNvPr>
          <p:cNvSpPr>
            <a:spLocks xmlns:a="http://schemas.openxmlformats.org/drawingml/2006/main" noGrp="1"/>
          </p:cNvSpPr>
          <p:nvPr/>
        </p:nvSpPr>
        <p:spPr>
          <a:xfrm xmlns:a="http://schemas.openxmlformats.org/drawingml/2006/main">
            <a:off x="868680" y="268833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18" name="Shape 14">
            <a:extLst xmlns:a="http://schemas.openxmlformats.org/drawingml/2006/main">
              <a:ext uri="{FF2B5EF4-FFF2-40B4-BE49-F238E27FC236}">
                <a16:creationId xmlns:a16="http://schemas.microsoft.com/office/drawing/2014/main" id="{F8262845-F5BB-4B94-A8A6-6E32633E9094}"/>
              </a:ext>
            </a:extLst>
          </p:cNvPr>
          <p:cNvSpPr>
            <a:spLocks xmlns:a="http://schemas.openxmlformats.org/drawingml/2006/main" noGrp="1"/>
          </p:cNvSpPr>
          <p:nvPr/>
        </p:nvSpPr>
        <p:spPr>
          <a:xfrm xmlns:a="http://schemas.openxmlformats.org/drawingml/2006/main">
            <a:off x="1005840" y="268833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19" name="Text 15">
            <a:extLst xmlns:a="http://schemas.openxmlformats.org/drawingml/2006/main">
              <a:ext uri="{FF2B5EF4-FFF2-40B4-BE49-F238E27FC236}">
                <a16:creationId xmlns:a16="http://schemas.microsoft.com/office/drawing/2014/main" id="{D9CF5A57-0B90-4438-83BD-5EF76677FE74}"/>
              </a:ext>
            </a:extLst>
          </p:cNvPr>
          <p:cNvSpPr>
            <a:spLocks xmlns:a="http://schemas.openxmlformats.org/drawingml/2006/main" noGrp="1"/>
          </p:cNvSpPr>
          <p:nvPr/>
        </p:nvSpPr>
        <p:spPr>
          <a:xfrm xmlns:a="http://schemas.openxmlformats.org/drawingml/2006/main">
            <a:off x="1188720" y="2606040"/>
            <a:ext cx="4480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chmod examples</a:t>
            </a:r>
            <a:endParaRPr sz="900"/>
          </a:p>
        </p:txBody>
      </p:sp>
      <p:sp>
        <p:nvSpPr>
          <p:cNvPr id="20" name="Text 16">
            <a:extLst xmlns:a="http://schemas.openxmlformats.org/drawingml/2006/main">
              <a:ext uri="{FF2B5EF4-FFF2-40B4-BE49-F238E27FC236}">
                <a16:creationId xmlns:a16="http://schemas.microsoft.com/office/drawing/2014/main" id="{F907B30F-0DE8-4869-A8A7-0BFB27D1910C}"/>
              </a:ext>
            </a:extLst>
          </p:cNvPr>
          <p:cNvSpPr>
            <a:spLocks xmlns:a="http://schemas.openxmlformats.org/drawingml/2006/main" noGrp="1"/>
          </p:cNvSpPr>
          <p:nvPr/>
        </p:nvSpPr>
        <p:spPr>
          <a:xfrm xmlns:a="http://schemas.openxmlformats.org/drawingml/2006/main">
            <a:off x="777240" y="2971800"/>
            <a:ext cx="4937760" cy="2926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a:solidFill>
                  <a:srgbClr val="94A3B8"/>
                </a:solidFill>
                <a:latin typeface="Consolas"/>
                <a:ea typeface="Consolas"/>
                <a:cs typeface="Consolas"/>
              </a:rPr>
              <a:t># Numeric - paling sering dipakai</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chmod 755 deploy.sh</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chmod 600 ~/.ssh/id_rsa</a:t>
            </a:r>
            <a:endParaRPr sz="1100"/>
          </a:p>
          <a:p xmlns:a="http://schemas.openxmlformats.org/drawingml/2006/main">
            <a:pPr marL="0" indent="0">
              <a:spcAft>
                <a:spcPts val="200"/>
              </a:spcAft>
              <a:buNone/>
            </a:pPr>
            <a:r>
              <a:rPr sz="1100">
                <a:solidFill>
                  <a:srgbClr val="E2E8F0"/>
                </a:solidFill>
                <a:latin typeface="Consolas"/>
                <a:ea typeface="Consolas"/>
                <a:cs typeface="Consolas"/>
              </a:rPr>
              <a:t>$ chmod 644 docs/readme.txt</a:t>
            </a:r>
            <a:endParaRPr sz="1100"/>
          </a:p>
          <a:p xmlns:a="http://schemas.openxmlformats.org/drawingml/2006/main">
            <a:pPr marL="0" indent="0">
              <a:spcAft>
                <a:spcPts val="200"/>
              </a:spcAft>
              <a:buNone/>
            </a:pPr>
            <a:r>
              <a:rPr sz="1100">
                <a:solidFill>
                  <a:srgbClr val="E2E8F0"/>
                </a:solidFill>
                <a:latin typeface="Consolas"/>
                <a:ea typeface="Consolas"/>
                <a:cs typeface="Consolas"/>
              </a:rPr>
              <a:t>$ chmod 755 docs/</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Symbolic - untuk perubahan kecil</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chmod u+x script.py        </a:t>
            </a:r>
            <a:r>
              <a:rPr sz="1100">
                <a:solidFill>
                  <a:srgbClr val="94A3B8"/>
                </a:solidFill>
                <a:latin typeface="Consolas"/>
                <a:ea typeface="Consolas"/>
                <a:cs typeface="Consolas"/>
              </a:rPr>
              <a:t># owner +execute</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chmod g-w report.pdf       </a:t>
            </a:r>
            <a:r>
              <a:rPr sz="1100">
                <a:solidFill>
                  <a:srgbClr val="94A3B8"/>
                </a:solidFill>
                <a:latin typeface="Consolas"/>
                <a:ea typeface="Consolas"/>
                <a:cs typeface="Consolas"/>
              </a:rPr>
              <a:t># group -write</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chmod o= secret.env        </a:t>
            </a:r>
            <a:r>
              <a:rPr sz="1100">
                <a:solidFill>
                  <a:srgbClr val="94A3B8"/>
                </a:solidFill>
                <a:latin typeface="Consolas"/>
                <a:ea typeface="Consolas"/>
                <a:cs typeface="Consolas"/>
              </a:rPr>
              <a:t># others = nothing</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chmod a+r README.md        </a:t>
            </a:r>
            <a:r>
              <a:rPr sz="1100">
                <a:solidFill>
                  <a:srgbClr val="94A3B8"/>
                </a:solidFill>
                <a:latin typeface="Consolas"/>
                <a:ea typeface="Consolas"/>
                <a:cs typeface="Consolas"/>
              </a:rPr>
              <a:t># all (u+g+o) +read</a:t>
            </a:r>
            <a:endParaRPr sz="1100"/>
          </a:p>
        </p:txBody>
      </p:sp>
      <p:sp>
        <p:nvSpPr>
          <p:cNvPr id="21" name="Shape 17">
            <a:extLst xmlns:a="http://schemas.openxmlformats.org/drawingml/2006/main">
              <a:ext uri="{FF2B5EF4-FFF2-40B4-BE49-F238E27FC236}">
                <a16:creationId xmlns:a16="http://schemas.microsoft.com/office/drawing/2014/main" id="{3515E4A3-51A7-4A55-8D0B-B5A294B6F1A3}"/>
              </a:ext>
            </a:extLst>
          </p:cNvPr>
          <p:cNvSpPr>
            <a:spLocks xmlns:a="http://schemas.openxmlformats.org/drawingml/2006/main" noGrp="1"/>
          </p:cNvSpPr>
          <p:nvPr/>
        </p:nvSpPr>
        <p:spPr>
          <a:xfrm xmlns:a="http://schemas.openxmlformats.org/drawingml/2006/main">
            <a:off x="6309360" y="1417320"/>
            <a:ext cx="548640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2" name="Shape 18">
            <a:extLst xmlns:a="http://schemas.openxmlformats.org/drawingml/2006/main">
              <a:ext uri="{FF2B5EF4-FFF2-40B4-BE49-F238E27FC236}">
                <a16:creationId xmlns:a16="http://schemas.microsoft.com/office/drawing/2014/main" id="{1C739F15-83C4-4748-95E6-F52557535C61}"/>
              </a:ext>
            </a:extLst>
          </p:cNvPr>
          <p:cNvSpPr>
            <a:spLocks xmlns:a="http://schemas.openxmlformats.org/drawingml/2006/main" noGrp="1"/>
          </p:cNvSpPr>
          <p:nvPr/>
        </p:nvSpPr>
        <p:spPr>
          <a:xfrm xmlns:a="http://schemas.openxmlformats.org/drawingml/2006/main">
            <a:off x="6309360" y="1417320"/>
            <a:ext cx="5486400" cy="64008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23" name="Text 19">
            <a:extLst xmlns:a="http://schemas.openxmlformats.org/drawingml/2006/main">
              <a:ext uri="{FF2B5EF4-FFF2-40B4-BE49-F238E27FC236}">
                <a16:creationId xmlns:a16="http://schemas.microsoft.com/office/drawing/2014/main" id="{7D66BA22-B8B1-4E78-B626-28B9AD9E0E68}"/>
              </a:ext>
            </a:extLst>
          </p:cNvPr>
          <p:cNvSpPr>
            <a:spLocks xmlns:a="http://schemas.openxmlformats.org/drawingml/2006/main" noGrp="1"/>
          </p:cNvSpPr>
          <p:nvPr/>
        </p:nvSpPr>
        <p:spPr>
          <a:xfrm xmlns:a="http://schemas.openxmlformats.org/drawingml/2006/main">
            <a:off x="6309360" y="1417320"/>
            <a:ext cx="54864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libri"/>
                <a:ea typeface="Calibri"/>
                <a:cs typeface="Calibri"/>
              </a:rPr>
              <a:t>chown / chgrp  -  ganti pemilik</a:t>
            </a:r>
            <a:endParaRPr sz="1700"/>
          </a:p>
        </p:txBody>
      </p:sp>
      <p:sp>
        <p:nvSpPr>
          <p:cNvPr id="24" name="Text 20">
            <a:extLst xmlns:a="http://schemas.openxmlformats.org/drawingml/2006/main">
              <a:ext uri="{FF2B5EF4-FFF2-40B4-BE49-F238E27FC236}">
                <a16:creationId xmlns:a16="http://schemas.microsoft.com/office/drawing/2014/main" id="{0076269D-BE35-48E8-86DB-435006A968AA}"/>
              </a:ext>
            </a:extLst>
          </p:cNvPr>
          <p:cNvSpPr>
            <a:spLocks xmlns:a="http://schemas.openxmlformats.org/drawingml/2006/main" noGrp="1"/>
          </p:cNvSpPr>
          <p:nvPr/>
        </p:nvSpPr>
        <p:spPr>
          <a:xfrm xmlns:a="http://schemas.openxmlformats.org/drawingml/2006/main">
            <a:off x="6492240" y="2148840"/>
            <a:ext cx="51206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1E293B"/>
                </a:solidFill>
                <a:latin typeface="Calibri"/>
                <a:ea typeface="Calibri"/>
                <a:cs typeface="Calibri"/>
              </a:rPr>
              <a:t>Ubah pemilik atau grup. Perubahan owner perlu hak administrator.</a:t>
            </a:r>
            <a:endParaRPr sz="1200"/>
          </a:p>
        </p:txBody>
      </p:sp>
      <p:sp>
        <p:nvSpPr>
          <p:cNvPr id="25" name="Shape 21">
            <a:extLst xmlns:a="http://schemas.openxmlformats.org/drawingml/2006/main">
              <a:ext uri="{FF2B5EF4-FFF2-40B4-BE49-F238E27FC236}">
                <a16:creationId xmlns:a16="http://schemas.microsoft.com/office/drawing/2014/main" id="{1B6450A5-5B45-4909-81DD-5E6589192425}"/>
              </a:ext>
            </a:extLst>
          </p:cNvPr>
          <p:cNvSpPr>
            <a:spLocks xmlns:a="http://schemas.openxmlformats.org/drawingml/2006/main" noGrp="1"/>
          </p:cNvSpPr>
          <p:nvPr/>
        </p:nvSpPr>
        <p:spPr>
          <a:xfrm xmlns:a="http://schemas.openxmlformats.org/drawingml/2006/main">
            <a:off x="6492240" y="2606040"/>
            <a:ext cx="5120640" cy="338328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26" name="Shape 22">
            <a:extLst xmlns:a="http://schemas.openxmlformats.org/drawingml/2006/main">
              <a:ext uri="{FF2B5EF4-FFF2-40B4-BE49-F238E27FC236}">
                <a16:creationId xmlns:a16="http://schemas.microsoft.com/office/drawing/2014/main" id="{A383669B-71DE-4837-8E12-9D639EAE9A4B}"/>
              </a:ext>
            </a:extLst>
          </p:cNvPr>
          <p:cNvSpPr>
            <a:spLocks xmlns:a="http://schemas.openxmlformats.org/drawingml/2006/main" noGrp="1"/>
          </p:cNvSpPr>
          <p:nvPr/>
        </p:nvSpPr>
        <p:spPr>
          <a:xfrm xmlns:a="http://schemas.openxmlformats.org/drawingml/2006/main">
            <a:off x="6492240" y="2606040"/>
            <a:ext cx="512064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27" name="Shape 23">
            <a:extLst xmlns:a="http://schemas.openxmlformats.org/drawingml/2006/main">
              <a:ext uri="{FF2B5EF4-FFF2-40B4-BE49-F238E27FC236}">
                <a16:creationId xmlns:a16="http://schemas.microsoft.com/office/drawing/2014/main" id="{264CB7ED-4B45-452D-B176-37EED1507514}"/>
              </a:ext>
            </a:extLst>
          </p:cNvPr>
          <p:cNvSpPr>
            <a:spLocks xmlns:a="http://schemas.openxmlformats.org/drawingml/2006/main" noGrp="1"/>
          </p:cNvSpPr>
          <p:nvPr/>
        </p:nvSpPr>
        <p:spPr>
          <a:xfrm xmlns:a="http://schemas.openxmlformats.org/drawingml/2006/main">
            <a:off x="6583680" y="268833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28" name="Shape 24">
            <a:extLst xmlns:a="http://schemas.openxmlformats.org/drawingml/2006/main">
              <a:ext uri="{FF2B5EF4-FFF2-40B4-BE49-F238E27FC236}">
                <a16:creationId xmlns:a16="http://schemas.microsoft.com/office/drawing/2014/main" id="{C1042A85-FB20-4305-AB53-B557E3F188F6}"/>
              </a:ext>
            </a:extLst>
          </p:cNvPr>
          <p:cNvSpPr>
            <a:spLocks xmlns:a="http://schemas.openxmlformats.org/drawingml/2006/main" noGrp="1"/>
          </p:cNvSpPr>
          <p:nvPr/>
        </p:nvSpPr>
        <p:spPr>
          <a:xfrm xmlns:a="http://schemas.openxmlformats.org/drawingml/2006/main">
            <a:off x="6720840" y="268833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29" name="Shape 25">
            <a:extLst xmlns:a="http://schemas.openxmlformats.org/drawingml/2006/main">
              <a:ext uri="{FF2B5EF4-FFF2-40B4-BE49-F238E27FC236}">
                <a16:creationId xmlns:a16="http://schemas.microsoft.com/office/drawing/2014/main" id="{C2F905B8-2D37-4EF9-8B27-F38414132C99}"/>
              </a:ext>
            </a:extLst>
          </p:cNvPr>
          <p:cNvSpPr>
            <a:spLocks xmlns:a="http://schemas.openxmlformats.org/drawingml/2006/main" noGrp="1"/>
          </p:cNvSpPr>
          <p:nvPr/>
        </p:nvSpPr>
        <p:spPr>
          <a:xfrm xmlns:a="http://schemas.openxmlformats.org/drawingml/2006/main">
            <a:off x="6858000" y="268833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30" name="Text 26">
            <a:extLst xmlns:a="http://schemas.openxmlformats.org/drawingml/2006/main">
              <a:ext uri="{FF2B5EF4-FFF2-40B4-BE49-F238E27FC236}">
                <a16:creationId xmlns:a16="http://schemas.microsoft.com/office/drawing/2014/main" id="{546F8AD6-05D8-42C5-85B6-3144C41A0D33}"/>
              </a:ext>
            </a:extLst>
          </p:cNvPr>
          <p:cNvSpPr>
            <a:spLocks xmlns:a="http://schemas.openxmlformats.org/drawingml/2006/main" noGrp="1"/>
          </p:cNvSpPr>
          <p:nvPr/>
        </p:nvSpPr>
        <p:spPr>
          <a:xfrm xmlns:a="http://schemas.openxmlformats.org/drawingml/2006/main">
            <a:off x="7040880" y="2606040"/>
            <a:ext cx="4389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chown examples</a:t>
            </a:r>
            <a:endParaRPr sz="900"/>
          </a:p>
        </p:txBody>
      </p:sp>
      <p:sp>
        <p:nvSpPr>
          <p:cNvPr id="31" name="Text 27">
            <a:extLst xmlns:a="http://schemas.openxmlformats.org/drawingml/2006/main">
              <a:ext uri="{FF2B5EF4-FFF2-40B4-BE49-F238E27FC236}">
                <a16:creationId xmlns:a16="http://schemas.microsoft.com/office/drawing/2014/main" id="{3C3C4369-5F71-4072-BF32-CCCFFB5CD377}"/>
              </a:ext>
            </a:extLst>
          </p:cNvPr>
          <p:cNvSpPr>
            <a:spLocks xmlns:a="http://schemas.openxmlformats.org/drawingml/2006/main" noGrp="1"/>
          </p:cNvSpPr>
          <p:nvPr/>
        </p:nvSpPr>
        <p:spPr>
          <a:xfrm xmlns:a="http://schemas.openxmlformats.org/drawingml/2006/main">
            <a:off x="6629400" y="2971800"/>
            <a:ext cx="4846320" cy="2926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a:solidFill>
                  <a:srgbClr val="94A3B8"/>
                </a:solidFill>
                <a:latin typeface="Consolas"/>
                <a:ea typeface="Consolas"/>
                <a:cs typeface="Consolas"/>
              </a:rPr>
              <a:t># Ganti owner aja:</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sudo chown alice file.txt</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Ganti owner &amp; group:</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sudo chown alice:devs file.txt</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Recursive untuk seluruh folder:</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sudo chown -R www-data:www-data /var/www/</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Hanya group:</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sudo chgrp developers project/</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Cek user &amp; group sekarang:</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id</a:t>
            </a:r>
            <a:endParaRPr sz="1100"/>
          </a:p>
          <a:p xmlns:a="http://schemas.openxmlformats.org/drawingml/2006/main">
            <a:pPr marL="0" indent="0">
              <a:spcAft>
                <a:spcPts val="200"/>
              </a:spcAft>
              <a:buNone/>
            </a:pPr>
            <a:r>
              <a:rPr sz="1100">
                <a:solidFill>
                  <a:srgbClr val="94A3B8"/>
                </a:solidFill>
                <a:latin typeface="Consolas"/>
                <a:ea typeface="Consolas"/>
                <a:cs typeface="Consolas"/>
              </a:rPr>
              <a:t>uid=1000(budi) gid=1000(budi) groups=...</a:t>
            </a:r>
            <a:endParaRPr sz="1100"/>
          </a:p>
        </p:txBody>
      </p:sp>
    </p:spTree>
    <p:extLst>
      <p:ext uri="{BB962C8B-B14F-4D97-AF65-F5344CB8AC3E}">
        <p14:creationId xmlns:p14="http://schemas.microsoft.com/office/powerpoint/2010/main" val="207623535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D1B412C-0026-42D8-BB04-0EF6D6AF8105}"/>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2</a:t>
            </a:r>
            <a:endParaRPr sz="900"/>
          </a:p>
        </p:txBody>
      </p:sp>
      <p:sp>
        <p:nvSpPr>
          <p:cNvPr id="3" name="Text 1">
            <a:extLst xmlns:a="http://schemas.openxmlformats.org/drawingml/2006/main">
              <a:ext uri="{FF2B5EF4-FFF2-40B4-BE49-F238E27FC236}">
                <a16:creationId xmlns:a16="http://schemas.microsoft.com/office/drawing/2014/main" id="{BD6ADE62-95F8-46E7-B8E8-046F423274B1}"/>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20</a:t>
            </a:r>
            <a:endParaRPr sz="900"/>
          </a:p>
        </p:txBody>
      </p:sp>
      <p:sp>
        <p:nvSpPr>
          <p:cNvPr id="4" name="Shape 2">
            <a:extLst xmlns:a="http://schemas.openxmlformats.org/drawingml/2006/main">
              <a:ext uri="{FF2B5EF4-FFF2-40B4-BE49-F238E27FC236}">
                <a16:creationId xmlns:a16="http://schemas.microsoft.com/office/drawing/2014/main" id="{EEE671CF-0EB4-436D-968B-34D088EE44D1}"/>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7" name="Image 0"/>
          <p:cNvPicPr>
            <a:picLocks xmlns:a="http://schemas.openxmlformats.org/drawingml/2006/main" noChangeAspect="1"/>
          </p:cNvPicPr>
          <p:nvPr/>
        </p:nvPicPr>
        <p:blipFill>
          <a:blip xmlns:r="http://schemas.openxmlformats.org/officeDocument/2006/relationships" xmlns:a="http://schemas.openxmlformats.org/drawingml/2006/main" r:embed="R6615c6c27c1e4a13"/>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8" name="Image 1"/>
          <p:cNvPicPr>
            <a:picLocks xmlns:a="http://schemas.openxmlformats.org/drawingml/2006/main" noChangeAspect="1"/>
          </p:cNvPicPr>
          <p:nvPr/>
        </p:nvPicPr>
        <p:blipFill>
          <a:blip xmlns:r="http://schemas.openxmlformats.org/officeDocument/2006/relationships" xmlns:a="http://schemas.openxmlformats.org/drawingml/2006/main" r:embed="R32c8681cd1c2433e"/>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BF07D507-A6A1-4318-ADC3-BFE08C46527D}"/>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4D6B96BB-F960-4650-ADEB-46F9CF6677A4}"/>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sudo - Superuser Do</a:t>
            </a:r>
            <a:endParaRPr sz="2200"/>
          </a:p>
        </p:txBody>
      </p:sp>
      <p:sp>
        <p:nvSpPr>
          <p:cNvPr id="9" name="Text 5">
            <a:extLst xmlns:a="http://schemas.openxmlformats.org/drawingml/2006/main">
              <a:ext uri="{FF2B5EF4-FFF2-40B4-BE49-F238E27FC236}">
                <a16:creationId xmlns:a16="http://schemas.microsoft.com/office/drawing/2014/main" id="{EE070D6E-85E4-4F27-9635-6186C0675FC6}"/>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Eskalasi privilege yang aman &amp; terkontrol</a:t>
            </a:r>
            <a:endParaRPr sz="1200"/>
          </a:p>
        </p:txBody>
      </p:sp>
      <p:sp>
        <p:nvSpPr>
          <p:cNvPr id="10" name="Shape 6">
            <a:extLst xmlns:a="http://schemas.openxmlformats.org/drawingml/2006/main">
              <a:ext uri="{FF2B5EF4-FFF2-40B4-BE49-F238E27FC236}">
                <a16:creationId xmlns:a16="http://schemas.microsoft.com/office/drawing/2014/main" id="{C3A50662-CDA7-4C51-89EB-C14C0A452ABC}"/>
              </a:ext>
            </a:extLst>
          </p:cNvPr>
          <p:cNvSpPr>
            <a:spLocks xmlns:a="http://schemas.openxmlformats.org/drawingml/2006/main" noGrp="1"/>
          </p:cNvSpPr>
          <p:nvPr/>
        </p:nvSpPr>
        <p:spPr>
          <a:xfrm xmlns:a="http://schemas.openxmlformats.org/drawingml/2006/main">
            <a:off x="457200" y="1417320"/>
            <a:ext cx="11247120" cy="128016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pic>
        <p:nvPicPr>
          <p:cNvPr id="53" name="Image 2"/>
          <p:cNvPicPr>
            <a:picLocks xmlns:a="http://schemas.openxmlformats.org/drawingml/2006/main" noChangeAspect="1"/>
          </p:cNvPicPr>
          <p:nvPr/>
        </p:nvPicPr>
        <p:blipFill>
          <a:blip xmlns:r="http://schemas.openxmlformats.org/officeDocument/2006/relationships" xmlns:a="http://schemas.openxmlformats.org/drawingml/2006/main" r:embed="Rb9a4dac099c94e62"/>
          <a:stretch xmlns:a="http://schemas.openxmlformats.org/drawingml/2006/main">
            <a:fillRect l="0" t="0" r="0" b="0"/>
          </a:stretch>
        </p:blipFill>
        <p:spPr>
          <a:xfrm xmlns:a="http://schemas.openxmlformats.org/drawingml/2006/main">
            <a:off x="777240" y="1691640"/>
            <a:ext cx="777240" cy="777240"/>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D1D8D833-C7CD-4046-802C-CAA8517C9326}"/>
              </a:ext>
            </a:extLst>
          </p:cNvPr>
          <p:cNvSpPr>
            <a:spLocks xmlns:a="http://schemas.openxmlformats.org/drawingml/2006/main" noGrp="1"/>
          </p:cNvSpPr>
          <p:nvPr/>
        </p:nvSpPr>
        <p:spPr>
          <a:xfrm xmlns:a="http://schemas.openxmlformats.org/drawingml/2006/main">
            <a:off x="1783080" y="1554480"/>
            <a:ext cx="96012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37021"/>
                </a:solidFill>
                <a:latin typeface="Calibri"/>
                <a:ea typeface="Calibri"/>
                <a:cs typeface="Calibri"/>
              </a:rPr>
              <a:t>Prinsip Least Privilege</a:t>
            </a:r>
            <a:endParaRPr sz="1800"/>
          </a:p>
        </p:txBody>
      </p:sp>
      <p:sp>
        <p:nvSpPr>
          <p:cNvPr id="13" name="Text 8">
            <a:extLst xmlns:a="http://schemas.openxmlformats.org/drawingml/2006/main">
              <a:ext uri="{FF2B5EF4-FFF2-40B4-BE49-F238E27FC236}">
                <a16:creationId xmlns:a16="http://schemas.microsoft.com/office/drawing/2014/main" id="{9282937E-4701-49BA-8264-2184899BA320}"/>
              </a:ext>
            </a:extLst>
          </p:cNvPr>
          <p:cNvSpPr>
            <a:spLocks xmlns:a="http://schemas.openxmlformats.org/drawingml/2006/main" noGrp="1"/>
          </p:cNvSpPr>
          <p:nvPr/>
        </p:nvSpPr>
        <p:spPr>
          <a:xfrm xmlns:a="http://schemas.openxmlformats.org/drawingml/2006/main">
            <a:off x="1783080" y="1965960"/>
            <a:ext cx="96012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FFFFFF"/>
                </a:solidFill>
                <a:latin typeface="Calibri"/>
                <a:ea typeface="Calibri"/>
                <a:cs typeface="Calibri"/>
              </a:rPr>
              <a:t>Jalankan command sebagai user biasa. Kalau butuh akses root (install, edit /etc), tambah sudo di depan. Log otomatis dicatat di /var/log/auth.log.</a:t>
            </a:r>
            <a:endParaRPr sz="1200"/>
          </a:p>
        </p:txBody>
      </p:sp>
      <p:sp>
        <p:nvSpPr>
          <p:cNvPr id="14" name="Text 9">
            <a:extLst xmlns:a="http://schemas.openxmlformats.org/drawingml/2006/main">
              <a:ext uri="{FF2B5EF4-FFF2-40B4-BE49-F238E27FC236}">
                <a16:creationId xmlns:a16="http://schemas.microsoft.com/office/drawing/2014/main" id="{75CD43C1-8768-49E8-9617-794181EC9911}"/>
              </a:ext>
            </a:extLst>
          </p:cNvPr>
          <p:cNvSpPr>
            <a:spLocks xmlns:a="http://schemas.openxmlformats.org/drawingml/2006/main" noGrp="1"/>
          </p:cNvSpPr>
          <p:nvPr/>
        </p:nvSpPr>
        <p:spPr>
          <a:xfrm xmlns:a="http://schemas.openxmlformats.org/drawingml/2006/main">
            <a:off x="457200" y="2834640"/>
            <a:ext cx="557784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300">
                <a:solidFill>
                  <a:srgbClr val="F37021"/>
                </a:solidFill>
                <a:latin typeface="Calibri"/>
                <a:ea typeface="Calibri"/>
                <a:cs typeface="Calibri"/>
              </a:rPr>
              <a:t>KAPAN BUTUH SUDO:</a:t>
            </a:r>
            <a:endParaRPr sz="1200"/>
          </a:p>
        </p:txBody>
      </p:sp>
      <p:pic>
        <p:nvPicPr>
          <p:cNvPr id="57" name="Image 3"/>
          <p:cNvPicPr>
            <a:picLocks xmlns:a="http://schemas.openxmlformats.org/drawingml/2006/main" noChangeAspect="1"/>
          </p:cNvPicPr>
          <p:nvPr/>
        </p:nvPicPr>
        <p:blipFill>
          <a:blip xmlns:r="http://schemas.openxmlformats.org/officeDocument/2006/relationships" xmlns:a="http://schemas.openxmlformats.org/drawingml/2006/main" r:embed="Rabef44764bbe438f"/>
          <a:stretch xmlns:a="http://schemas.openxmlformats.org/drawingml/2006/main">
            <a:fillRect l="0" t="0" r="0" b="0"/>
          </a:stretch>
        </p:blipFill>
        <p:spPr>
          <a:xfrm xmlns:a="http://schemas.openxmlformats.org/drawingml/2006/main">
            <a:off x="548640" y="3291840"/>
            <a:ext cx="274320" cy="274320"/>
          </a:xfrm>
          <a:prstGeom xmlns:a="http://schemas.openxmlformats.org/drawingml/2006/main" prst="rect">
            <a:avLst/>
          </a:prstGeom>
        </p:spPr>
      </p:pic>
      <p:sp>
        <p:nvSpPr>
          <p:cNvPr id="16" name="Text 10">
            <a:extLst xmlns:a="http://schemas.openxmlformats.org/drawingml/2006/main">
              <a:ext uri="{FF2B5EF4-FFF2-40B4-BE49-F238E27FC236}">
                <a16:creationId xmlns:a16="http://schemas.microsoft.com/office/drawing/2014/main" id="{CA2E663A-CB18-4F87-923E-4466DFEDC98E}"/>
              </a:ext>
            </a:extLst>
          </p:cNvPr>
          <p:cNvSpPr>
            <a:spLocks xmlns:a="http://schemas.openxmlformats.org/drawingml/2006/main" noGrp="1"/>
          </p:cNvSpPr>
          <p:nvPr/>
        </p:nvSpPr>
        <p:spPr>
          <a:xfrm xmlns:a="http://schemas.openxmlformats.org/drawingml/2006/main">
            <a:off x="960120" y="3200400"/>
            <a:ext cx="5029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Install / hapus paket (apt install, dnf remove)</a:t>
            </a:r>
            <a:endParaRPr sz="1100"/>
          </a:p>
        </p:txBody>
      </p:sp>
      <p:pic>
        <p:nvPicPr>
          <p:cNvPr id="59" name="Image 4"/>
          <p:cNvPicPr>
            <a:picLocks xmlns:a="http://schemas.openxmlformats.org/drawingml/2006/main" noChangeAspect="1"/>
          </p:cNvPicPr>
          <p:nvPr/>
        </p:nvPicPr>
        <p:blipFill>
          <a:blip xmlns:r="http://schemas.openxmlformats.org/officeDocument/2006/relationships" xmlns:a="http://schemas.openxmlformats.org/drawingml/2006/main" r:embed="Rabef44764bbe438f"/>
          <a:stretch xmlns:a="http://schemas.openxmlformats.org/drawingml/2006/main">
            <a:fillRect l="0" t="0" r="0" b="0"/>
          </a:stretch>
        </p:blipFill>
        <p:spPr>
          <a:xfrm xmlns:a="http://schemas.openxmlformats.org/drawingml/2006/main">
            <a:off x="548640" y="3794760"/>
            <a:ext cx="274320" cy="274320"/>
          </a:xfrm>
          <a:prstGeom xmlns:a="http://schemas.openxmlformats.org/drawingml/2006/main" prst="rect">
            <a:avLst/>
          </a:prstGeom>
        </p:spPr>
      </p:pic>
      <p:sp>
        <p:nvSpPr>
          <p:cNvPr id="18" name="Text 11">
            <a:extLst xmlns:a="http://schemas.openxmlformats.org/drawingml/2006/main">
              <a:ext uri="{FF2B5EF4-FFF2-40B4-BE49-F238E27FC236}">
                <a16:creationId xmlns:a16="http://schemas.microsoft.com/office/drawing/2014/main" id="{2D4185A1-F6F6-4069-BBF9-E088387C9E06}"/>
              </a:ext>
            </a:extLst>
          </p:cNvPr>
          <p:cNvSpPr>
            <a:spLocks xmlns:a="http://schemas.openxmlformats.org/drawingml/2006/main" noGrp="1"/>
          </p:cNvSpPr>
          <p:nvPr/>
        </p:nvSpPr>
        <p:spPr>
          <a:xfrm xmlns:a="http://schemas.openxmlformats.org/drawingml/2006/main">
            <a:off x="960120" y="3703320"/>
            <a:ext cx="5029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Edit file di /etc/ (config sistem)</a:t>
            </a:r>
            <a:endParaRPr sz="1100"/>
          </a:p>
        </p:txBody>
      </p:sp>
      <p:pic>
        <p:nvPicPr>
          <p:cNvPr id="61" name="Image 5"/>
          <p:cNvPicPr>
            <a:picLocks xmlns:a="http://schemas.openxmlformats.org/drawingml/2006/main" noChangeAspect="1"/>
          </p:cNvPicPr>
          <p:nvPr/>
        </p:nvPicPr>
        <p:blipFill>
          <a:blip xmlns:r="http://schemas.openxmlformats.org/officeDocument/2006/relationships" xmlns:a="http://schemas.openxmlformats.org/drawingml/2006/main" r:embed="Rabef44764bbe438f"/>
          <a:stretch xmlns:a="http://schemas.openxmlformats.org/drawingml/2006/main">
            <a:fillRect l="0" t="0" r="0" b="0"/>
          </a:stretch>
        </p:blipFill>
        <p:spPr>
          <a:xfrm xmlns:a="http://schemas.openxmlformats.org/drawingml/2006/main">
            <a:off x="548640" y="4297680"/>
            <a:ext cx="274320" cy="274320"/>
          </a:xfrm>
          <a:prstGeom xmlns:a="http://schemas.openxmlformats.org/drawingml/2006/main" prst="rect">
            <a:avLst/>
          </a:prstGeom>
        </p:spPr>
      </p:pic>
      <p:sp>
        <p:nvSpPr>
          <p:cNvPr id="20" name="Text 12">
            <a:extLst xmlns:a="http://schemas.openxmlformats.org/drawingml/2006/main">
              <a:ext uri="{FF2B5EF4-FFF2-40B4-BE49-F238E27FC236}">
                <a16:creationId xmlns:a16="http://schemas.microsoft.com/office/drawing/2014/main" id="{979BBA84-6699-482C-B876-FDF8ADCD98B1}"/>
              </a:ext>
            </a:extLst>
          </p:cNvPr>
          <p:cNvSpPr>
            <a:spLocks xmlns:a="http://schemas.openxmlformats.org/drawingml/2006/main" noGrp="1"/>
          </p:cNvSpPr>
          <p:nvPr/>
        </p:nvSpPr>
        <p:spPr>
          <a:xfrm xmlns:a="http://schemas.openxmlformats.org/drawingml/2006/main">
            <a:off x="960120" y="4206240"/>
            <a:ext cx="5029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Start / stop service (systemctl restart nginx)</a:t>
            </a:r>
            <a:endParaRPr sz="1100"/>
          </a:p>
        </p:txBody>
      </p:sp>
      <p:pic>
        <p:nvPicPr>
          <p:cNvPr id="63" name="Image 6"/>
          <p:cNvPicPr>
            <a:picLocks xmlns:a="http://schemas.openxmlformats.org/drawingml/2006/main" noChangeAspect="1"/>
          </p:cNvPicPr>
          <p:nvPr/>
        </p:nvPicPr>
        <p:blipFill>
          <a:blip xmlns:r="http://schemas.openxmlformats.org/officeDocument/2006/relationships" xmlns:a="http://schemas.openxmlformats.org/drawingml/2006/main" r:embed="Rabef44764bbe438f"/>
          <a:stretch xmlns:a="http://schemas.openxmlformats.org/drawingml/2006/main">
            <a:fillRect l="0" t="0" r="0" b="0"/>
          </a:stretch>
        </p:blipFill>
        <p:spPr>
          <a:xfrm xmlns:a="http://schemas.openxmlformats.org/drawingml/2006/main">
            <a:off x="548640" y="4800600"/>
            <a:ext cx="274320" cy="274320"/>
          </a:xfrm>
          <a:prstGeom xmlns:a="http://schemas.openxmlformats.org/drawingml/2006/main" prst="rect">
            <a:avLst/>
          </a:prstGeom>
        </p:spPr>
      </p:pic>
      <p:sp>
        <p:nvSpPr>
          <p:cNvPr id="22" name="Text 13">
            <a:extLst xmlns:a="http://schemas.openxmlformats.org/drawingml/2006/main">
              <a:ext uri="{FF2B5EF4-FFF2-40B4-BE49-F238E27FC236}">
                <a16:creationId xmlns:a16="http://schemas.microsoft.com/office/drawing/2014/main" id="{209B1FE9-252C-442A-9C6C-A194244E3255}"/>
              </a:ext>
            </a:extLst>
          </p:cNvPr>
          <p:cNvSpPr>
            <a:spLocks xmlns:a="http://schemas.openxmlformats.org/drawingml/2006/main" noGrp="1"/>
          </p:cNvSpPr>
          <p:nvPr/>
        </p:nvSpPr>
        <p:spPr>
          <a:xfrm xmlns:a="http://schemas.openxmlformats.org/drawingml/2006/main">
            <a:off x="960120" y="4709160"/>
            <a:ext cx="5029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Mount / unmount disk</a:t>
            </a:r>
            <a:endParaRPr sz="1100"/>
          </a:p>
        </p:txBody>
      </p:sp>
      <p:pic>
        <p:nvPicPr>
          <p:cNvPr id="65" name="Image 7"/>
          <p:cNvPicPr>
            <a:picLocks xmlns:a="http://schemas.openxmlformats.org/drawingml/2006/main" noChangeAspect="1"/>
          </p:cNvPicPr>
          <p:nvPr/>
        </p:nvPicPr>
        <p:blipFill>
          <a:blip xmlns:r="http://schemas.openxmlformats.org/officeDocument/2006/relationships" xmlns:a="http://schemas.openxmlformats.org/drawingml/2006/main" r:embed="Rabef44764bbe438f"/>
          <a:stretch xmlns:a="http://schemas.openxmlformats.org/drawingml/2006/main">
            <a:fillRect l="0" t="0" r="0" b="0"/>
          </a:stretch>
        </p:blipFill>
        <p:spPr>
          <a:xfrm xmlns:a="http://schemas.openxmlformats.org/drawingml/2006/main">
            <a:off x="548640" y="5303520"/>
            <a:ext cx="274320" cy="274320"/>
          </a:xfrm>
          <a:prstGeom xmlns:a="http://schemas.openxmlformats.org/drawingml/2006/main" prst="rect">
            <a:avLst/>
          </a:prstGeom>
        </p:spPr>
      </p:pic>
      <p:sp>
        <p:nvSpPr>
          <p:cNvPr id="24" name="Text 14">
            <a:extLst xmlns:a="http://schemas.openxmlformats.org/drawingml/2006/main">
              <a:ext uri="{FF2B5EF4-FFF2-40B4-BE49-F238E27FC236}">
                <a16:creationId xmlns:a16="http://schemas.microsoft.com/office/drawing/2014/main" id="{777DD1C2-73B3-4FF1-834A-C7CD71E4BC39}"/>
              </a:ext>
            </a:extLst>
          </p:cNvPr>
          <p:cNvSpPr>
            <a:spLocks xmlns:a="http://schemas.openxmlformats.org/drawingml/2006/main" noGrp="1"/>
          </p:cNvSpPr>
          <p:nvPr/>
        </p:nvSpPr>
        <p:spPr>
          <a:xfrm xmlns:a="http://schemas.openxmlformats.org/drawingml/2006/main">
            <a:off x="960120" y="5212080"/>
            <a:ext cx="5029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Akses port &lt; 1024 (80, 443) untuk web server</a:t>
            </a:r>
            <a:endParaRPr sz="1100"/>
          </a:p>
        </p:txBody>
      </p:sp>
      <p:sp>
        <p:nvSpPr>
          <p:cNvPr id="25" name="Shape 15">
            <a:extLst xmlns:a="http://schemas.openxmlformats.org/drawingml/2006/main">
              <a:ext uri="{FF2B5EF4-FFF2-40B4-BE49-F238E27FC236}">
                <a16:creationId xmlns:a16="http://schemas.microsoft.com/office/drawing/2014/main" id="{0E2B5471-534E-4953-85F0-DDAA85FF653E}"/>
              </a:ext>
            </a:extLst>
          </p:cNvPr>
          <p:cNvSpPr>
            <a:spLocks xmlns:a="http://schemas.openxmlformats.org/drawingml/2006/main" noGrp="1"/>
          </p:cNvSpPr>
          <p:nvPr/>
        </p:nvSpPr>
        <p:spPr>
          <a:xfrm xmlns:a="http://schemas.openxmlformats.org/drawingml/2006/main">
            <a:off x="6217920" y="2834640"/>
            <a:ext cx="5486400" cy="246888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26" name="Shape 16">
            <a:extLst xmlns:a="http://schemas.openxmlformats.org/drawingml/2006/main">
              <a:ext uri="{FF2B5EF4-FFF2-40B4-BE49-F238E27FC236}">
                <a16:creationId xmlns:a16="http://schemas.microsoft.com/office/drawing/2014/main" id="{1A539828-527B-4703-83E2-6F99A2E258EE}"/>
              </a:ext>
            </a:extLst>
          </p:cNvPr>
          <p:cNvSpPr>
            <a:spLocks xmlns:a="http://schemas.openxmlformats.org/drawingml/2006/main" noGrp="1"/>
          </p:cNvSpPr>
          <p:nvPr/>
        </p:nvSpPr>
        <p:spPr>
          <a:xfrm xmlns:a="http://schemas.openxmlformats.org/drawingml/2006/main">
            <a:off x="6217920" y="2834640"/>
            <a:ext cx="548640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27" name="Shape 17">
            <a:extLst xmlns:a="http://schemas.openxmlformats.org/drawingml/2006/main">
              <a:ext uri="{FF2B5EF4-FFF2-40B4-BE49-F238E27FC236}">
                <a16:creationId xmlns:a16="http://schemas.microsoft.com/office/drawing/2014/main" id="{636DC789-EF31-4314-8B1F-679259FA0870}"/>
              </a:ext>
            </a:extLst>
          </p:cNvPr>
          <p:cNvSpPr>
            <a:spLocks xmlns:a="http://schemas.openxmlformats.org/drawingml/2006/main" noGrp="1"/>
          </p:cNvSpPr>
          <p:nvPr/>
        </p:nvSpPr>
        <p:spPr>
          <a:xfrm xmlns:a="http://schemas.openxmlformats.org/drawingml/2006/main">
            <a:off x="6309360" y="291693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28" name="Shape 18">
            <a:extLst xmlns:a="http://schemas.openxmlformats.org/drawingml/2006/main">
              <a:ext uri="{FF2B5EF4-FFF2-40B4-BE49-F238E27FC236}">
                <a16:creationId xmlns:a16="http://schemas.microsoft.com/office/drawing/2014/main" id="{5064C524-81CC-4F39-AE98-16F7073B65FE}"/>
              </a:ext>
            </a:extLst>
          </p:cNvPr>
          <p:cNvSpPr>
            <a:spLocks xmlns:a="http://schemas.openxmlformats.org/drawingml/2006/main" noGrp="1"/>
          </p:cNvSpPr>
          <p:nvPr/>
        </p:nvSpPr>
        <p:spPr>
          <a:xfrm xmlns:a="http://schemas.openxmlformats.org/drawingml/2006/main">
            <a:off x="6446520" y="291693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29" name="Shape 19">
            <a:extLst xmlns:a="http://schemas.openxmlformats.org/drawingml/2006/main">
              <a:ext uri="{FF2B5EF4-FFF2-40B4-BE49-F238E27FC236}">
                <a16:creationId xmlns:a16="http://schemas.microsoft.com/office/drawing/2014/main" id="{CAFA3491-5CBD-4C62-A6A9-5044D84BF882}"/>
              </a:ext>
            </a:extLst>
          </p:cNvPr>
          <p:cNvSpPr>
            <a:spLocks xmlns:a="http://schemas.openxmlformats.org/drawingml/2006/main" noGrp="1"/>
          </p:cNvSpPr>
          <p:nvPr/>
        </p:nvSpPr>
        <p:spPr>
          <a:xfrm xmlns:a="http://schemas.openxmlformats.org/drawingml/2006/main">
            <a:off x="6583680" y="291693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30" name="Text 20">
            <a:extLst xmlns:a="http://schemas.openxmlformats.org/drawingml/2006/main">
              <a:ext uri="{FF2B5EF4-FFF2-40B4-BE49-F238E27FC236}">
                <a16:creationId xmlns:a16="http://schemas.microsoft.com/office/drawing/2014/main" id="{1FCCCA5C-4394-4C44-924B-74D6E593EA78}"/>
              </a:ext>
            </a:extLst>
          </p:cNvPr>
          <p:cNvSpPr>
            <a:spLocks xmlns:a="http://schemas.openxmlformats.org/drawingml/2006/main" noGrp="1"/>
          </p:cNvSpPr>
          <p:nvPr/>
        </p:nvSpPr>
        <p:spPr>
          <a:xfrm xmlns:a="http://schemas.openxmlformats.org/drawingml/2006/main">
            <a:off x="6766560" y="2834640"/>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sudo patterns</a:t>
            </a:r>
            <a:endParaRPr sz="900"/>
          </a:p>
        </p:txBody>
      </p:sp>
      <p:sp>
        <p:nvSpPr>
          <p:cNvPr id="31" name="Text 21">
            <a:extLst xmlns:a="http://schemas.openxmlformats.org/drawingml/2006/main">
              <a:ext uri="{FF2B5EF4-FFF2-40B4-BE49-F238E27FC236}">
                <a16:creationId xmlns:a16="http://schemas.microsoft.com/office/drawing/2014/main" id="{4FFD6387-F051-49D1-8FBA-6E6C4403E6F3}"/>
              </a:ext>
            </a:extLst>
          </p:cNvPr>
          <p:cNvSpPr>
            <a:spLocks xmlns:a="http://schemas.openxmlformats.org/drawingml/2006/main" noGrp="1"/>
          </p:cNvSpPr>
          <p:nvPr/>
        </p:nvSpPr>
        <p:spPr>
          <a:xfrm xmlns:a="http://schemas.openxmlformats.org/drawingml/2006/main">
            <a:off x="6355080" y="3200400"/>
            <a:ext cx="521208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sudo apt update</a:t>
            </a:r>
            <a:endParaRPr sz="1100"/>
          </a:p>
          <a:p xmlns:a="http://schemas.openxmlformats.org/drawingml/2006/main">
            <a:pPr marL="0" indent="0">
              <a:spcAft>
                <a:spcPts val="200"/>
              </a:spcAft>
              <a:buNone/>
            </a:pPr>
            <a:r>
              <a:rPr sz="1100">
                <a:solidFill>
                  <a:srgbClr val="F37021"/>
                </a:solidFill>
                <a:latin typeface="Consolas"/>
                <a:ea typeface="Consolas"/>
                <a:cs typeface="Consolas"/>
              </a:rPr>
              <a:t>[sudo] password for budi: </a:t>
            </a:r>
            <a:endParaRPr sz="1100"/>
          </a:p>
          <a:p xmlns:a="http://schemas.openxmlformats.org/drawingml/2006/main">
            <a:pPr marL="0" indent="0">
              <a:spcAft>
                <a:spcPts val="200"/>
              </a:spcAft>
              <a:buNone/>
            </a:pPr>
            <a:r>
              <a:rPr sz="1100">
                <a:solidFill>
                  <a:srgbClr val="94A3B8"/>
                </a:solidFill>
                <a:latin typeface="Consolas"/>
                <a:ea typeface="Consolas"/>
                <a:cs typeface="Consolas"/>
              </a:rPr>
              <a:t>...</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Edit file privileged:</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sudo nano /etc/nginx/nginx.conf</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Run as another user (-u):</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sudo -u www-data php artisan migrate</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Become root shell (hati-hati!):</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sudo -i</a:t>
            </a:r>
            <a:endParaRPr sz="1100"/>
          </a:p>
          <a:p xmlns:a="http://schemas.openxmlformats.org/drawingml/2006/main">
            <a:pPr marL="0" indent="0">
              <a:spcAft>
                <a:spcPts val="200"/>
              </a:spcAft>
              <a:buNone/>
            </a:pPr>
            <a:r>
              <a:rPr sz="1100">
                <a:solidFill>
                  <a:srgbClr val="EF4444"/>
                </a:solidFill>
                <a:latin typeface="Consolas"/>
                <a:ea typeface="Consolas"/>
                <a:cs typeface="Consolas"/>
              </a:rPr>
              <a:t>root@vm:~# </a:t>
            </a:r>
            <a:endParaRPr sz="1100"/>
          </a:p>
          <a:p xmlns:a="http://schemas.openxmlformats.org/drawingml/2006/main">
            <a:pPr marL="0" indent="0">
              <a:spcAft>
                <a:spcPts val="200"/>
              </a:spcAft>
              <a:buNone/>
            </a:pPr>
            <a:r>
              <a:rPr sz="1100">
                <a:solidFill>
                  <a:srgbClr val="E2E8F0"/>
                </a:solidFill>
                <a:latin typeface="Consolas"/>
                <a:ea typeface="Consolas"/>
                <a:cs typeface="Consolas"/>
              </a:rPr>
              <a:t>exit</a:t>
            </a:r>
            <a:endParaRPr sz="1100"/>
          </a:p>
        </p:txBody>
      </p:sp>
      <p:sp>
        <p:nvSpPr>
          <p:cNvPr id="32" name="Shape 22">
            <a:extLst xmlns:a="http://schemas.openxmlformats.org/drawingml/2006/main">
              <a:ext uri="{FF2B5EF4-FFF2-40B4-BE49-F238E27FC236}">
                <a16:creationId xmlns:a16="http://schemas.microsoft.com/office/drawing/2014/main" id="{DCB4F002-F8D3-490C-BBAB-A29BB3E3455F}"/>
              </a:ext>
            </a:extLst>
          </p:cNvPr>
          <p:cNvSpPr>
            <a:spLocks xmlns:a="http://schemas.openxmlformats.org/drawingml/2006/main" noGrp="1"/>
          </p:cNvSpPr>
          <p:nvPr/>
        </p:nvSpPr>
        <p:spPr>
          <a:xfrm xmlns:a="http://schemas.openxmlformats.org/drawingml/2006/main">
            <a:off x="6217920" y="5440680"/>
            <a:ext cx="5486400" cy="640080"/>
          </a:xfrm>
          <a:prstGeom xmlns:a="http://schemas.openxmlformats.org/drawingml/2006/main" prst="rect">
            <a:avLst/>
          </a:prstGeom>
          <a:solidFill xmlns:a="http://schemas.openxmlformats.org/drawingml/2006/main">
            <a:srgbClr val="FEE2E2"/>
          </a:solidFill>
          <a:ln xmlns:a="http://schemas.openxmlformats.org/drawingml/2006/main" w="12700">
            <a:solidFill>
              <a:srgbClr val="DC2626"/>
            </a:solidFill>
            <a:prstDash val="solid"/>
          </a:ln>
        </p:spPr>
      </p:sp>
      <p:pic>
        <p:nvPicPr>
          <p:cNvPr id="75" name="Image 8"/>
          <p:cNvPicPr>
            <a:picLocks xmlns:a="http://schemas.openxmlformats.org/drawingml/2006/main" noChangeAspect="1"/>
          </p:cNvPicPr>
          <p:nvPr/>
        </p:nvPicPr>
        <p:blipFill>
          <a:blip xmlns:r="http://schemas.openxmlformats.org/officeDocument/2006/relationships" xmlns:a="http://schemas.openxmlformats.org/drawingml/2006/main" r:embed="R3fba5e890c504df4"/>
          <a:stretch xmlns:a="http://schemas.openxmlformats.org/drawingml/2006/main">
            <a:fillRect l="0" t="0" r="0" b="0"/>
          </a:stretch>
        </p:blipFill>
        <p:spPr>
          <a:xfrm xmlns:a="http://schemas.openxmlformats.org/drawingml/2006/main">
            <a:off x="6355080" y="5577840"/>
            <a:ext cx="365760" cy="365760"/>
          </a:xfrm>
          <a:prstGeom xmlns:a="http://schemas.openxmlformats.org/drawingml/2006/main" prst="rect">
            <a:avLst/>
          </a:prstGeom>
        </p:spPr>
      </p:pic>
      <p:sp>
        <p:nvSpPr>
          <p:cNvPr id="34" name="Text 23">
            <a:extLst xmlns:a="http://schemas.openxmlformats.org/drawingml/2006/main">
              <a:ext uri="{FF2B5EF4-FFF2-40B4-BE49-F238E27FC236}">
                <a16:creationId xmlns:a16="http://schemas.microsoft.com/office/drawing/2014/main" id="{B9B7F0BF-E4C0-496E-8BD2-B71A45D1DB51}"/>
              </a:ext>
            </a:extLst>
          </p:cNvPr>
          <p:cNvSpPr>
            <a:spLocks xmlns:a="http://schemas.openxmlformats.org/drawingml/2006/main" noGrp="1"/>
          </p:cNvSpPr>
          <p:nvPr/>
        </p:nvSpPr>
        <p:spPr>
          <a:xfrm xmlns:a="http://schemas.openxmlformats.org/drawingml/2006/main">
            <a:off x="6858000" y="5440680"/>
            <a:ext cx="48463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1E293B"/>
                </a:solidFill>
                <a:latin typeface="Calibri"/>
                <a:ea typeface="Calibri"/>
                <a:cs typeface="Calibri"/>
              </a:rPr>
              <a:t>Hindari </a:t>
            </a:r>
            <a:r>
              <a:rPr sz="1000" b="1" i="1">
                <a:solidFill>
                  <a:srgbClr val="DC2626"/>
                </a:solidFill>
                <a:latin typeface="Consolas"/>
                <a:ea typeface="Consolas"/>
                <a:cs typeface="Consolas"/>
              </a:rPr>
              <a:t>sudo su</a:t>
            </a:r>
            <a:r>
              <a:rPr sz="1000" i="1">
                <a:solidFill>
                  <a:srgbClr val="1E293B"/>
                </a:solidFill>
                <a:latin typeface="Calibri"/>
                <a:ea typeface="Calibri"/>
                <a:cs typeface="Calibri"/>
              </a:rPr>
              <a:t> atau </a:t>
            </a:r>
            <a:r>
              <a:rPr sz="1000" b="1" i="1">
                <a:solidFill>
                  <a:srgbClr val="DC2626"/>
                </a:solidFill>
                <a:latin typeface="Consolas"/>
                <a:ea typeface="Consolas"/>
                <a:cs typeface="Consolas"/>
              </a:rPr>
              <a:t>sudo -i</a:t>
            </a:r>
            <a:r>
              <a:rPr sz="1000" i="1">
                <a:solidFill>
                  <a:srgbClr val="1E293B"/>
                </a:solidFill>
                <a:latin typeface="Calibri"/>
                <a:ea typeface="Calibri"/>
                <a:cs typeface="Calibri"/>
              </a:rPr>
              <a:t> kecuali harus. Lebih aman per-command.</a:t>
            </a:r>
            <a:endParaRPr sz="1000"/>
          </a:p>
        </p:txBody>
      </p:sp>
    </p:spTree>
    <p:extLst>
      <p:ext uri="{BB962C8B-B14F-4D97-AF65-F5344CB8AC3E}">
        <p14:creationId xmlns:p14="http://schemas.microsoft.com/office/powerpoint/2010/main" val="1890494442"/>
      </p:ext>
    </p:extLst>
  </p:cSld>
</p:sld>
</file>

<file path=ppt/slides/slide21.xml><?xml version="1.0" encoding="utf-8"?>
<p:sld xmlns:p="http://schemas.openxmlformats.org/presentationml/2006/main">
  <p:cSld>
    <p:bg>
      <p:bgPr>
        <a:solidFill xmlns:a="http://schemas.openxmlformats.org/drawingml/2006/main">
          <a:srgbClr val="0D47A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F0EF5F1-E81B-4DF2-A72C-40E0DD5A859F}"/>
              </a:ext>
            </a:extLst>
          </p:cNvPr>
          <p:cNvSpPr>
            <a:spLocks xmlns:a="http://schemas.openxmlformats.org/drawingml/2006/main" noGrp="1"/>
          </p:cNvSpPr>
          <p:nvPr/>
        </p:nvSpPr>
        <p:spPr>
          <a:xfrm xmlns:a="http://schemas.openxmlformats.org/drawingml/2006/main">
            <a:off x="-1828800" y="3657600"/>
            <a:ext cx="6400800" cy="6400800"/>
          </a:xfrm>
          <a:prstGeom xmlns:a="http://schemas.openxmlformats.org/drawingml/2006/main" prst="ellipse">
            <a:avLst/>
          </a:prstGeom>
          <a:solidFill xmlns:a="http://schemas.openxmlformats.org/drawingml/2006/main">
            <a:srgbClr val="1565C0">
              <a:alpha val="25000"/>
            </a:srgbClr>
          </a:solidFill>
          <a:ln xmlns:a="http://schemas.openxmlformats.org/drawingml/2006/main" w="12700">
            <a:solidFill>
              <a:srgbClr val="1565C0">
                <a:alpha val="0"/>
              </a:srgbClr>
            </a:solidFill>
            <a:prstDash val="solid"/>
          </a:ln>
        </p:spPr>
      </p:sp>
      <p:sp>
        <p:nvSpPr>
          <p:cNvPr id="3" name="Shape 1">
            <a:extLst xmlns:a="http://schemas.openxmlformats.org/drawingml/2006/main">
              <a:ext uri="{FF2B5EF4-FFF2-40B4-BE49-F238E27FC236}">
                <a16:creationId xmlns:a16="http://schemas.microsoft.com/office/drawing/2014/main" id="{A52D5D91-9D3D-41F4-8CC3-1A258464A78B}"/>
              </a:ext>
            </a:extLst>
          </p:cNvPr>
          <p:cNvSpPr>
            <a:spLocks xmlns:a="http://schemas.openxmlformats.org/drawingml/2006/main" noGrp="1"/>
          </p:cNvSpPr>
          <p:nvPr/>
        </p:nvSpPr>
        <p:spPr>
          <a:xfrm xmlns:a="http://schemas.openxmlformats.org/drawingml/2006/main">
            <a:off x="7315200" y="-914400"/>
            <a:ext cx="7315200" cy="7315200"/>
          </a:xfrm>
          <a:prstGeom xmlns:a="http://schemas.openxmlformats.org/drawingml/2006/main" prst="ellipse">
            <a:avLst/>
          </a:prstGeom>
          <a:solidFill xmlns:a="http://schemas.openxmlformats.org/drawingml/2006/main">
            <a:srgbClr val="1976D2">
              <a:alpha val="20000"/>
            </a:srgbClr>
          </a:solidFill>
          <a:ln xmlns:a="http://schemas.openxmlformats.org/drawingml/2006/main" w="12700">
            <a:solidFill>
              <a:srgbClr val="1976D2">
                <a:alpha val="0"/>
              </a:srgbClr>
            </a:solidFill>
            <a:prstDash val="solid"/>
          </a:ln>
        </p:spPr>
      </p:sp>
      <p:sp>
        <p:nvSpPr>
          <p:cNvPr id="4" name="Shape 2">
            <a:extLst xmlns:a="http://schemas.openxmlformats.org/drawingml/2006/main">
              <a:ext uri="{FF2B5EF4-FFF2-40B4-BE49-F238E27FC236}">
                <a16:creationId xmlns:a16="http://schemas.microsoft.com/office/drawing/2014/main" id="{9886478B-BE81-48F3-907D-B6F00D1DFAE6}"/>
              </a:ext>
            </a:extLst>
          </p:cNvPr>
          <p:cNvSpPr>
            <a:spLocks xmlns:a="http://schemas.openxmlformats.org/drawingml/2006/main" noGrp="1"/>
          </p:cNvSpPr>
          <p:nvPr/>
        </p:nvSpPr>
        <p:spPr>
          <a:xfrm xmlns:a="http://schemas.openxmlformats.org/drawingml/2006/main" rot="8100000">
            <a:off x="5852160" y="-182880"/>
            <a:ext cx="1188720" cy="1188720"/>
          </a:xfrm>
          <a:prstGeom xmlns:a="http://schemas.openxmlformats.org/drawingml/2006/main" prst="rtTriangle">
            <a:avLst/>
          </a:prstGeom>
          <a:solidFill xmlns:a="http://schemas.openxmlformats.org/drawingml/2006/main">
            <a:srgbClr val="F37021"/>
          </a:solidFill>
          <a:ln xmlns:a="http://schemas.openxmlformats.org/drawingml/2006/main" w="12700">
            <a:solidFill>
              <a:srgbClr val="F37021"/>
            </a:solidFill>
            <a:prstDash val="solid"/>
          </a:ln>
        </p:spPr>
      </p:sp>
      <p:sp>
        <p:nvSpPr>
          <p:cNvPr id="5" name="Shape 3">
            <a:extLst xmlns:a="http://schemas.openxmlformats.org/drawingml/2006/main">
              <a:ext uri="{FF2B5EF4-FFF2-40B4-BE49-F238E27FC236}">
                <a16:creationId xmlns:a16="http://schemas.microsoft.com/office/drawing/2014/main" id="{4B86557B-AEA0-4404-8EA9-4E3F82BB6BEC}"/>
              </a:ext>
            </a:extLst>
          </p:cNvPr>
          <p:cNvSpPr>
            <a:spLocks xmlns:a="http://schemas.openxmlformats.org/drawingml/2006/main" noGrp="1"/>
          </p:cNvSpPr>
          <p:nvPr/>
        </p:nvSpPr>
        <p:spPr>
          <a:xfrm xmlns:a="http://schemas.openxmlformats.org/drawingml/2006/main">
            <a:off x="6355080"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6" name="Shape 4">
            <a:extLst xmlns:a="http://schemas.openxmlformats.org/drawingml/2006/main">
              <a:ext uri="{FF2B5EF4-FFF2-40B4-BE49-F238E27FC236}">
                <a16:creationId xmlns:a16="http://schemas.microsoft.com/office/drawing/2014/main" id="{4DAE2F83-A1D9-4D3D-96CB-715499D0B00F}"/>
              </a:ext>
            </a:extLst>
          </p:cNvPr>
          <p:cNvSpPr>
            <a:spLocks xmlns:a="http://schemas.openxmlformats.org/drawingml/2006/main" noGrp="1"/>
          </p:cNvSpPr>
          <p:nvPr/>
        </p:nvSpPr>
        <p:spPr>
          <a:xfrm xmlns:a="http://schemas.openxmlformats.org/drawingml/2006/main">
            <a:off x="6556248"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7" name="Shape 5">
            <a:extLst xmlns:a="http://schemas.openxmlformats.org/drawingml/2006/main">
              <a:ext uri="{FF2B5EF4-FFF2-40B4-BE49-F238E27FC236}">
                <a16:creationId xmlns:a16="http://schemas.microsoft.com/office/drawing/2014/main" id="{961F5D65-24F0-4B58-9F2A-0D7D4BF2B373}"/>
              </a:ext>
            </a:extLst>
          </p:cNvPr>
          <p:cNvSpPr>
            <a:spLocks xmlns:a="http://schemas.openxmlformats.org/drawingml/2006/main" noGrp="1"/>
          </p:cNvSpPr>
          <p:nvPr/>
        </p:nvSpPr>
        <p:spPr>
          <a:xfrm xmlns:a="http://schemas.openxmlformats.org/drawingml/2006/main">
            <a:off x="6757416"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8" name="Shape 6">
            <a:extLst xmlns:a="http://schemas.openxmlformats.org/drawingml/2006/main">
              <a:ext uri="{FF2B5EF4-FFF2-40B4-BE49-F238E27FC236}">
                <a16:creationId xmlns:a16="http://schemas.microsoft.com/office/drawing/2014/main" id="{873142C1-22C2-46E4-B747-7767A017EDBC}"/>
              </a:ext>
            </a:extLst>
          </p:cNvPr>
          <p:cNvSpPr>
            <a:spLocks xmlns:a="http://schemas.openxmlformats.org/drawingml/2006/main" noGrp="1"/>
          </p:cNvSpPr>
          <p:nvPr/>
        </p:nvSpPr>
        <p:spPr>
          <a:xfrm xmlns:a="http://schemas.openxmlformats.org/drawingml/2006/main" flipV="1">
            <a:off x="457200" y="4114800"/>
            <a:ext cx="3657600" cy="1828800"/>
          </a:xfrm>
          <a:prstGeom xmlns:a="http://schemas.openxmlformats.org/drawingml/2006/main" prst="line">
            <a:avLst/>
          </a:prstGeom>
          <a:noFill xmlns:a="http://schemas.openxmlformats.org/drawingml/2006/main"/>
          <a:ln xmlns:a="http://schemas.openxmlformats.org/drawingml/2006/main" w="12700">
            <a:solidFill>
              <a:srgbClr val="FFFFFF">
                <a:alpha val="40000"/>
              </a:srgbClr>
            </a:solidFill>
            <a:prstDash val="dash"/>
          </a:ln>
        </p:spPr>
      </p:sp>
      <p:pic>
        <p:nvPicPr>
          <p:cNvPr id="24" name="Image 0"/>
          <p:cNvPicPr>
            <a:picLocks xmlns:a="http://schemas.openxmlformats.org/drawingml/2006/main" noChangeAspect="1"/>
          </p:cNvPicPr>
          <p:nvPr/>
        </p:nvPicPr>
        <p:blipFill>
          <a:blip xmlns:r="http://schemas.openxmlformats.org/officeDocument/2006/relationships" xmlns:a="http://schemas.openxmlformats.org/drawingml/2006/main" r:embed="R1770d3ef4e9c4af1"/>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25" name="Image 1"/>
          <p:cNvPicPr>
            <a:picLocks xmlns:a="http://schemas.openxmlformats.org/drawingml/2006/main" noChangeAspect="1"/>
          </p:cNvPicPr>
          <p:nvPr/>
        </p:nvPicPr>
        <p:blipFill>
          <a:blip xmlns:r="http://schemas.openxmlformats.org/officeDocument/2006/relationships" xmlns:a="http://schemas.openxmlformats.org/drawingml/2006/main" r:embed="R47fc3bf56d5a4770"/>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596A3223-FF1E-4F7F-B5D1-9956C980D9B3}"/>
              </a:ext>
            </a:extLst>
          </p:cNvPr>
          <p:cNvSpPr>
            <a:spLocks xmlns:a="http://schemas.openxmlformats.org/drawingml/2006/main" noGrp="1"/>
          </p:cNvSpPr>
          <p:nvPr/>
        </p:nvSpPr>
        <p:spPr>
          <a:xfrm xmlns:a="http://schemas.openxmlformats.org/drawingml/2006/main">
            <a:off x="457200" y="2560320"/>
            <a:ext cx="10972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spc="600">
                <a:solidFill>
                  <a:srgbClr val="F37021"/>
                </a:solidFill>
                <a:latin typeface="Calibri"/>
                <a:ea typeface="Calibri"/>
                <a:cs typeface="Calibri"/>
              </a:rPr>
              <a:t>BAGIAN 05</a:t>
            </a:r>
            <a:endParaRPr sz="1600"/>
          </a:p>
        </p:txBody>
      </p:sp>
      <p:sp>
        <p:nvSpPr>
          <p:cNvPr id="12" name="Text 8">
            <a:extLst xmlns:a="http://schemas.openxmlformats.org/drawingml/2006/main">
              <a:ext uri="{FF2B5EF4-FFF2-40B4-BE49-F238E27FC236}">
                <a16:creationId xmlns:a16="http://schemas.microsoft.com/office/drawing/2014/main" id="{0395D64D-1B40-4DAB-A889-B292B64AFD0C}"/>
              </a:ext>
            </a:extLst>
          </p:cNvPr>
          <p:cNvSpPr>
            <a:spLocks xmlns:a="http://schemas.openxmlformats.org/drawingml/2006/main" noGrp="1"/>
          </p:cNvSpPr>
          <p:nvPr/>
        </p:nvSpPr>
        <p:spPr>
          <a:xfrm xmlns:a="http://schemas.openxmlformats.org/drawingml/2006/main">
            <a:off x="457200" y="3017520"/>
            <a:ext cx="1124712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5200" b="1">
                <a:solidFill>
                  <a:srgbClr val="FFFFFF"/>
                </a:solidFill>
                <a:latin typeface="Calibri"/>
                <a:ea typeface="Calibri"/>
                <a:cs typeface="Calibri"/>
              </a:rPr>
              <a:t>Package</a:t>
            </a:r>
            <a:endParaRPr sz="5200"/>
          </a:p>
          <a:p xmlns:a="http://schemas.openxmlformats.org/drawingml/2006/main">
            <a:pPr marL="0" indent="0" algn="ctr">
              <a:buNone/>
            </a:pPr>
            <a:r>
              <a:rPr sz="5200" b="1">
                <a:solidFill>
                  <a:srgbClr val="FFFFFF"/>
                </a:solidFill>
                <a:latin typeface="Calibri"/>
                <a:ea typeface="Calibri"/>
                <a:cs typeface="Calibri"/>
              </a:rPr>
              <a:t>Management</a:t>
            </a:r>
            <a:endParaRPr sz="5200"/>
          </a:p>
        </p:txBody>
      </p:sp>
      <p:sp>
        <p:nvSpPr>
          <p:cNvPr id="13" name="Shape 9">
            <a:extLst xmlns:a="http://schemas.openxmlformats.org/drawingml/2006/main">
              <a:ext uri="{FF2B5EF4-FFF2-40B4-BE49-F238E27FC236}">
                <a16:creationId xmlns:a16="http://schemas.microsoft.com/office/drawing/2014/main" id="{A4B60D51-BAC6-4043-83E3-135EDD3A6A1A}"/>
              </a:ext>
            </a:extLst>
          </p:cNvPr>
          <p:cNvSpPr>
            <a:spLocks xmlns:a="http://schemas.openxmlformats.org/drawingml/2006/main" noGrp="1"/>
          </p:cNvSpPr>
          <p:nvPr/>
        </p:nvSpPr>
        <p:spPr>
          <a:xfrm xmlns:a="http://schemas.openxmlformats.org/drawingml/2006/main">
            <a:off x="5715000" y="50292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AE53AE21-A6A9-41A8-82BD-09ECFEE7E82C}"/>
              </a:ext>
            </a:extLst>
          </p:cNvPr>
          <p:cNvSpPr>
            <a:spLocks xmlns:a="http://schemas.openxmlformats.org/drawingml/2006/main" noGrp="1"/>
          </p:cNvSpPr>
          <p:nvPr/>
        </p:nvSpPr>
        <p:spPr>
          <a:xfrm xmlns:a="http://schemas.openxmlformats.org/drawingml/2006/main">
            <a:off x="457200" y="5212080"/>
            <a:ext cx="112471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i="1">
                <a:solidFill>
                  <a:srgbClr val="FED7AA"/>
                </a:solidFill>
                <a:latin typeface="Calibri"/>
                <a:ea typeface="Calibri"/>
                <a:cs typeface="Calibri"/>
              </a:rPr>
              <a:t>Cara install software di Linux - apt, dnf, dan teman-temannya.</a:t>
            </a:r>
            <a:endParaRPr sz="1400"/>
          </a:p>
        </p:txBody>
      </p:sp>
    </p:spTree>
    <p:extLst>
      <p:ext uri="{BB962C8B-B14F-4D97-AF65-F5344CB8AC3E}">
        <p14:creationId xmlns:p14="http://schemas.microsoft.com/office/powerpoint/2010/main" val="199625906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E9EAEF9-6B2B-4240-BC53-43862F7C1C94}"/>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2</a:t>
            </a:r>
            <a:endParaRPr sz="900"/>
          </a:p>
        </p:txBody>
      </p:sp>
      <p:sp>
        <p:nvSpPr>
          <p:cNvPr id="3" name="Text 1">
            <a:extLst xmlns:a="http://schemas.openxmlformats.org/drawingml/2006/main">
              <a:ext uri="{FF2B5EF4-FFF2-40B4-BE49-F238E27FC236}">
                <a16:creationId xmlns:a16="http://schemas.microsoft.com/office/drawing/2014/main" id="{0C0764CE-1396-462F-82E3-F82EED379963}"/>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22</a:t>
            </a:r>
            <a:endParaRPr sz="900"/>
          </a:p>
        </p:txBody>
      </p:sp>
      <p:sp>
        <p:nvSpPr>
          <p:cNvPr id="4" name="Shape 2">
            <a:extLst xmlns:a="http://schemas.openxmlformats.org/drawingml/2006/main">
              <a:ext uri="{FF2B5EF4-FFF2-40B4-BE49-F238E27FC236}">
                <a16:creationId xmlns:a16="http://schemas.microsoft.com/office/drawing/2014/main" id="{BE0D972D-6E35-4F7E-85DE-731B07ECF556}"/>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224208c9b6f64fb2"/>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3" name="Image 1"/>
          <p:cNvPicPr>
            <a:picLocks xmlns:a="http://schemas.openxmlformats.org/drawingml/2006/main" noChangeAspect="1"/>
          </p:cNvPicPr>
          <p:nvPr/>
        </p:nvPicPr>
        <p:blipFill>
          <a:blip xmlns:r="http://schemas.openxmlformats.org/officeDocument/2006/relationships" xmlns:a="http://schemas.openxmlformats.org/drawingml/2006/main" r:embed="R4884f236f0bd44d4"/>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1627E882-722E-41C4-8E2D-D452A3594269}"/>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F0147955-1FEE-4137-B142-D9CA707361EB}"/>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apt vs dnf - Dua Package Manager Utama</a:t>
            </a:r>
            <a:endParaRPr sz="2200"/>
          </a:p>
        </p:txBody>
      </p:sp>
      <p:sp>
        <p:nvSpPr>
          <p:cNvPr id="9" name="Text 5">
            <a:extLst xmlns:a="http://schemas.openxmlformats.org/drawingml/2006/main">
              <a:ext uri="{FF2B5EF4-FFF2-40B4-BE49-F238E27FC236}">
                <a16:creationId xmlns:a16="http://schemas.microsoft.com/office/drawing/2014/main" id="{71E3BD50-EFE5-4C34-9A76-EBAE024D8822}"/>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Pola perintahnya sangat mirip</a:t>
            </a:r>
            <a:endParaRPr sz="1200"/>
          </a:p>
        </p:txBody>
      </p:sp>
      <p:sp>
        <p:nvSpPr>
          <p:cNvPr id="10" name="Shape 6">
            <a:extLst xmlns:a="http://schemas.openxmlformats.org/drawingml/2006/main">
              <a:ext uri="{FF2B5EF4-FFF2-40B4-BE49-F238E27FC236}">
                <a16:creationId xmlns:a16="http://schemas.microsoft.com/office/drawing/2014/main" id="{9A6F5AE2-B4C3-4C6F-A4A1-9B8CE04F3604}"/>
              </a:ext>
            </a:extLst>
          </p:cNvPr>
          <p:cNvSpPr>
            <a:spLocks xmlns:a="http://schemas.openxmlformats.org/drawingml/2006/main" noGrp="1"/>
          </p:cNvSpPr>
          <p:nvPr/>
        </p:nvSpPr>
        <p:spPr>
          <a:xfrm xmlns:a="http://schemas.openxmlformats.org/drawingml/2006/main">
            <a:off x="457200" y="1417320"/>
            <a:ext cx="557784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B88D84F5-5E70-49AE-90F7-F6348331E07E}"/>
              </a:ext>
            </a:extLst>
          </p:cNvPr>
          <p:cNvSpPr>
            <a:spLocks xmlns:a="http://schemas.openxmlformats.org/drawingml/2006/main" noGrp="1"/>
          </p:cNvSpPr>
          <p:nvPr/>
        </p:nvSpPr>
        <p:spPr>
          <a:xfrm xmlns:a="http://schemas.openxmlformats.org/drawingml/2006/main">
            <a:off x="457200" y="1417320"/>
            <a:ext cx="5577840" cy="777240"/>
          </a:xfrm>
          <a:prstGeom xmlns:a="http://schemas.openxmlformats.org/drawingml/2006/main" prst="rect">
            <a:avLst/>
          </a:prstGeom>
          <a:solidFill xmlns:a="http://schemas.openxmlformats.org/drawingml/2006/main">
            <a:srgbClr val="E95420"/>
          </a:solidFill>
          <a:ln xmlns:a="http://schemas.openxmlformats.org/drawingml/2006/main" w="12700">
            <a:solidFill>
              <a:srgbClr val="E95420"/>
            </a:solidFill>
            <a:prstDash val="solid"/>
          </a:ln>
        </p:spPr>
      </p:sp>
      <p:pic>
        <p:nvPicPr>
          <p:cNvPr id="49" name="Image 2"/>
          <p:cNvPicPr>
            <a:picLocks xmlns:a="http://schemas.openxmlformats.org/drawingml/2006/main" noChangeAspect="1"/>
          </p:cNvPicPr>
          <p:nvPr/>
        </p:nvPicPr>
        <p:blipFill>
          <a:blip xmlns:r="http://schemas.openxmlformats.org/officeDocument/2006/relationships" xmlns:a="http://schemas.openxmlformats.org/drawingml/2006/main" r:embed="Rb698667d98a248cb"/>
          <a:stretch xmlns:a="http://schemas.openxmlformats.org/drawingml/2006/main">
            <a:fillRect l="0" t="0" r="0" b="0"/>
          </a:stretch>
        </p:blipFill>
        <p:spPr>
          <a:xfrm xmlns:a="http://schemas.openxmlformats.org/drawingml/2006/main">
            <a:off x="640080" y="1554480"/>
            <a:ext cx="502920" cy="502920"/>
          </a:xfrm>
          <a:prstGeom xmlns:a="http://schemas.openxmlformats.org/drawingml/2006/main" prst="rect">
            <a:avLst/>
          </a:prstGeom>
        </p:spPr>
      </p:pic>
      <p:sp>
        <p:nvSpPr>
          <p:cNvPr id="13" name="Text 8">
            <a:extLst xmlns:a="http://schemas.openxmlformats.org/drawingml/2006/main">
              <a:ext uri="{FF2B5EF4-FFF2-40B4-BE49-F238E27FC236}">
                <a16:creationId xmlns:a16="http://schemas.microsoft.com/office/drawing/2014/main" id="{F0F37162-76AB-4525-8B75-72285354A7DD}"/>
              </a:ext>
            </a:extLst>
          </p:cNvPr>
          <p:cNvSpPr>
            <a:spLocks xmlns:a="http://schemas.openxmlformats.org/drawingml/2006/main" noGrp="1"/>
          </p:cNvSpPr>
          <p:nvPr/>
        </p:nvSpPr>
        <p:spPr>
          <a:xfrm xmlns:a="http://schemas.openxmlformats.org/drawingml/2006/main">
            <a:off x="1280160" y="1417320"/>
            <a:ext cx="46634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FFFFFF"/>
                </a:solidFill>
                <a:latin typeface="Calibri"/>
                <a:ea typeface="Calibri"/>
                <a:cs typeface="Calibri"/>
              </a:rPr>
              <a:t>apt</a:t>
            </a:r>
            <a:endParaRPr sz="2400"/>
          </a:p>
        </p:txBody>
      </p:sp>
      <p:sp>
        <p:nvSpPr>
          <p:cNvPr id="14" name="Text 9">
            <a:extLst xmlns:a="http://schemas.openxmlformats.org/drawingml/2006/main">
              <a:ext uri="{FF2B5EF4-FFF2-40B4-BE49-F238E27FC236}">
                <a16:creationId xmlns:a16="http://schemas.microsoft.com/office/drawing/2014/main" id="{D8F8BC59-F163-4D73-9340-8374A55F8CF2}"/>
              </a:ext>
            </a:extLst>
          </p:cNvPr>
          <p:cNvSpPr>
            <a:spLocks xmlns:a="http://schemas.openxmlformats.org/drawingml/2006/main" noGrp="1"/>
          </p:cNvSpPr>
          <p:nvPr/>
        </p:nvSpPr>
        <p:spPr>
          <a:xfrm xmlns:a="http://schemas.openxmlformats.org/drawingml/2006/main">
            <a:off x="1280160" y="1417320"/>
            <a:ext cx="46634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i="1">
                <a:solidFill>
                  <a:srgbClr val="FFE0B2"/>
                </a:solidFill>
                <a:latin typeface="Calibri"/>
                <a:ea typeface="Calibri"/>
                <a:cs typeface="Calibri"/>
              </a:rPr>
              <a:t>Ubuntu, Debian, Mint</a:t>
            </a:r>
            <a:endParaRPr sz="1100"/>
          </a:p>
        </p:txBody>
      </p:sp>
      <p:sp>
        <p:nvSpPr>
          <p:cNvPr id="15" name="Shape 10">
            <a:extLst xmlns:a="http://schemas.openxmlformats.org/drawingml/2006/main">
              <a:ext uri="{FF2B5EF4-FFF2-40B4-BE49-F238E27FC236}">
                <a16:creationId xmlns:a16="http://schemas.microsoft.com/office/drawing/2014/main" id="{A2A81C74-EC84-4201-BAA4-0DFD0A3F234D}"/>
              </a:ext>
            </a:extLst>
          </p:cNvPr>
          <p:cNvSpPr>
            <a:spLocks xmlns:a="http://schemas.openxmlformats.org/drawingml/2006/main" noGrp="1"/>
          </p:cNvSpPr>
          <p:nvPr/>
        </p:nvSpPr>
        <p:spPr>
          <a:xfrm xmlns:a="http://schemas.openxmlformats.org/drawingml/2006/main">
            <a:off x="640080" y="2331720"/>
            <a:ext cx="5212080" cy="365760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16" name="Shape 11">
            <a:extLst xmlns:a="http://schemas.openxmlformats.org/drawingml/2006/main">
              <a:ext uri="{FF2B5EF4-FFF2-40B4-BE49-F238E27FC236}">
                <a16:creationId xmlns:a16="http://schemas.microsoft.com/office/drawing/2014/main" id="{6DD69B31-E3F1-454D-90CE-99128CB30B8F}"/>
              </a:ext>
            </a:extLst>
          </p:cNvPr>
          <p:cNvSpPr>
            <a:spLocks xmlns:a="http://schemas.openxmlformats.org/drawingml/2006/main" noGrp="1"/>
          </p:cNvSpPr>
          <p:nvPr/>
        </p:nvSpPr>
        <p:spPr>
          <a:xfrm xmlns:a="http://schemas.openxmlformats.org/drawingml/2006/main">
            <a:off x="640080" y="2331720"/>
            <a:ext cx="521208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17" name="Shape 12">
            <a:extLst xmlns:a="http://schemas.openxmlformats.org/drawingml/2006/main">
              <a:ext uri="{FF2B5EF4-FFF2-40B4-BE49-F238E27FC236}">
                <a16:creationId xmlns:a16="http://schemas.microsoft.com/office/drawing/2014/main" id="{E3A81E28-5D92-4B2F-8101-C87810E2D52C}"/>
              </a:ext>
            </a:extLst>
          </p:cNvPr>
          <p:cNvSpPr>
            <a:spLocks xmlns:a="http://schemas.openxmlformats.org/drawingml/2006/main" noGrp="1"/>
          </p:cNvSpPr>
          <p:nvPr/>
        </p:nvSpPr>
        <p:spPr>
          <a:xfrm xmlns:a="http://schemas.openxmlformats.org/drawingml/2006/main">
            <a:off x="731520" y="241401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18" name="Shape 13">
            <a:extLst xmlns:a="http://schemas.openxmlformats.org/drawingml/2006/main">
              <a:ext uri="{FF2B5EF4-FFF2-40B4-BE49-F238E27FC236}">
                <a16:creationId xmlns:a16="http://schemas.microsoft.com/office/drawing/2014/main" id="{C6E09759-8CC0-43B2-9643-77E92E384336}"/>
              </a:ext>
            </a:extLst>
          </p:cNvPr>
          <p:cNvSpPr>
            <a:spLocks xmlns:a="http://schemas.openxmlformats.org/drawingml/2006/main" noGrp="1"/>
          </p:cNvSpPr>
          <p:nvPr/>
        </p:nvSpPr>
        <p:spPr>
          <a:xfrm xmlns:a="http://schemas.openxmlformats.org/drawingml/2006/main">
            <a:off x="868680" y="241401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19" name="Shape 14">
            <a:extLst xmlns:a="http://schemas.openxmlformats.org/drawingml/2006/main">
              <a:ext uri="{FF2B5EF4-FFF2-40B4-BE49-F238E27FC236}">
                <a16:creationId xmlns:a16="http://schemas.microsoft.com/office/drawing/2014/main" id="{230C0613-3249-454D-8622-60AED70966DA}"/>
              </a:ext>
            </a:extLst>
          </p:cNvPr>
          <p:cNvSpPr>
            <a:spLocks xmlns:a="http://schemas.openxmlformats.org/drawingml/2006/main" noGrp="1"/>
          </p:cNvSpPr>
          <p:nvPr/>
        </p:nvSpPr>
        <p:spPr>
          <a:xfrm xmlns:a="http://schemas.openxmlformats.org/drawingml/2006/main">
            <a:off x="1005840" y="241401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20" name="Text 15">
            <a:extLst xmlns:a="http://schemas.openxmlformats.org/drawingml/2006/main">
              <a:ext uri="{FF2B5EF4-FFF2-40B4-BE49-F238E27FC236}">
                <a16:creationId xmlns:a16="http://schemas.microsoft.com/office/drawing/2014/main" id="{2CB339A0-085A-46B1-8AE8-4CB9C82060F7}"/>
              </a:ext>
            </a:extLst>
          </p:cNvPr>
          <p:cNvSpPr>
            <a:spLocks xmlns:a="http://schemas.openxmlformats.org/drawingml/2006/main" noGrp="1"/>
          </p:cNvSpPr>
          <p:nvPr/>
        </p:nvSpPr>
        <p:spPr>
          <a:xfrm xmlns:a="http://schemas.openxmlformats.org/drawingml/2006/main">
            <a:off x="1188720" y="2331720"/>
            <a:ext cx="4480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apt commands</a:t>
            </a:r>
            <a:endParaRPr sz="900"/>
          </a:p>
        </p:txBody>
      </p:sp>
      <p:sp>
        <p:nvSpPr>
          <p:cNvPr id="21" name="Text 16">
            <a:extLst xmlns:a="http://schemas.openxmlformats.org/drawingml/2006/main">
              <a:ext uri="{FF2B5EF4-FFF2-40B4-BE49-F238E27FC236}">
                <a16:creationId xmlns:a16="http://schemas.microsoft.com/office/drawing/2014/main" id="{DA0018C8-B47E-46B7-BE0D-9A93478F7BD7}"/>
              </a:ext>
            </a:extLst>
          </p:cNvPr>
          <p:cNvSpPr>
            <a:spLocks xmlns:a="http://schemas.openxmlformats.org/drawingml/2006/main" noGrp="1"/>
          </p:cNvSpPr>
          <p:nvPr/>
        </p:nvSpPr>
        <p:spPr>
          <a:xfrm xmlns:a="http://schemas.openxmlformats.org/drawingml/2006/main">
            <a:off x="777240" y="2697480"/>
            <a:ext cx="4937760" cy="3200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a:solidFill>
                  <a:srgbClr val="94A3B8"/>
                </a:solidFill>
                <a:latin typeface="Consolas"/>
                <a:ea typeface="Consolas"/>
                <a:cs typeface="Consolas"/>
              </a:rPr>
              <a:t># Update database paket</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sudo apt update</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Upgrade semua paket terpasang</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sudo apt upgrade -y</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Install paket</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sudo apt install nginx git curl</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Cari paket</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apt search docker</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Hapus paket</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sudo apt remove nginx</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Info detail</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apt show nodejs</a:t>
            </a:r>
            <a:endParaRPr sz="1100"/>
          </a:p>
        </p:txBody>
      </p:sp>
      <p:sp>
        <p:nvSpPr>
          <p:cNvPr id="22" name="Shape 17">
            <a:extLst xmlns:a="http://schemas.openxmlformats.org/drawingml/2006/main">
              <a:ext uri="{FF2B5EF4-FFF2-40B4-BE49-F238E27FC236}">
                <a16:creationId xmlns:a16="http://schemas.microsoft.com/office/drawing/2014/main" id="{320D4BB9-7913-4B17-9E27-10CB5DE76AB8}"/>
              </a:ext>
            </a:extLst>
          </p:cNvPr>
          <p:cNvSpPr>
            <a:spLocks xmlns:a="http://schemas.openxmlformats.org/drawingml/2006/main" noGrp="1"/>
          </p:cNvSpPr>
          <p:nvPr/>
        </p:nvSpPr>
        <p:spPr>
          <a:xfrm xmlns:a="http://schemas.openxmlformats.org/drawingml/2006/main">
            <a:off x="6309360" y="1417320"/>
            <a:ext cx="548640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3" name="Shape 18">
            <a:extLst xmlns:a="http://schemas.openxmlformats.org/drawingml/2006/main">
              <a:ext uri="{FF2B5EF4-FFF2-40B4-BE49-F238E27FC236}">
                <a16:creationId xmlns:a16="http://schemas.microsoft.com/office/drawing/2014/main" id="{ECC5AD7D-185B-4B57-8046-D2000ED95144}"/>
              </a:ext>
            </a:extLst>
          </p:cNvPr>
          <p:cNvSpPr>
            <a:spLocks xmlns:a="http://schemas.openxmlformats.org/drawingml/2006/main" noGrp="1"/>
          </p:cNvSpPr>
          <p:nvPr/>
        </p:nvSpPr>
        <p:spPr>
          <a:xfrm xmlns:a="http://schemas.openxmlformats.org/drawingml/2006/main">
            <a:off x="6309360" y="1417320"/>
            <a:ext cx="5486400" cy="777240"/>
          </a:xfrm>
          <a:prstGeom xmlns:a="http://schemas.openxmlformats.org/drawingml/2006/main" prst="rect">
            <a:avLst/>
          </a:prstGeom>
          <a:solidFill xmlns:a="http://schemas.openxmlformats.org/drawingml/2006/main">
            <a:srgbClr val="EE0000"/>
          </a:solidFill>
          <a:ln xmlns:a="http://schemas.openxmlformats.org/drawingml/2006/main" w="12700">
            <a:solidFill>
              <a:srgbClr val="EE0000"/>
            </a:solidFill>
            <a:prstDash val="solid"/>
          </a:ln>
        </p:spPr>
      </p:sp>
      <p:pic>
        <p:nvPicPr>
          <p:cNvPr id="61" name="Image 3"/>
          <p:cNvPicPr>
            <a:picLocks xmlns:a="http://schemas.openxmlformats.org/drawingml/2006/main" noChangeAspect="1"/>
          </p:cNvPicPr>
          <p:nvPr/>
        </p:nvPicPr>
        <p:blipFill>
          <a:blip xmlns:r="http://schemas.openxmlformats.org/officeDocument/2006/relationships" xmlns:a="http://schemas.openxmlformats.org/drawingml/2006/main" r:embed="Rcf5c93099e3d48bf"/>
          <a:stretch xmlns:a="http://schemas.openxmlformats.org/drawingml/2006/main">
            <a:fillRect l="0" t="0" r="0" b="0"/>
          </a:stretch>
        </p:blipFill>
        <p:spPr>
          <a:xfrm xmlns:a="http://schemas.openxmlformats.org/drawingml/2006/main">
            <a:off x="6492240" y="1554480"/>
            <a:ext cx="502920" cy="502920"/>
          </a:xfrm>
          <a:prstGeom xmlns:a="http://schemas.openxmlformats.org/drawingml/2006/main" prst="rect">
            <a:avLst/>
          </a:prstGeom>
        </p:spPr>
      </p:pic>
      <p:sp>
        <p:nvSpPr>
          <p:cNvPr id="25" name="Text 19">
            <a:extLst xmlns:a="http://schemas.openxmlformats.org/drawingml/2006/main">
              <a:ext uri="{FF2B5EF4-FFF2-40B4-BE49-F238E27FC236}">
                <a16:creationId xmlns:a16="http://schemas.microsoft.com/office/drawing/2014/main" id="{0451B5AB-DB70-4CC9-9E41-44D1E23677D9}"/>
              </a:ext>
            </a:extLst>
          </p:cNvPr>
          <p:cNvSpPr>
            <a:spLocks xmlns:a="http://schemas.openxmlformats.org/drawingml/2006/main" noGrp="1"/>
          </p:cNvSpPr>
          <p:nvPr/>
        </p:nvSpPr>
        <p:spPr>
          <a:xfrm xmlns:a="http://schemas.openxmlformats.org/drawingml/2006/main">
            <a:off x="7132320" y="1417320"/>
            <a:ext cx="45720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FFFFFF"/>
                </a:solidFill>
                <a:latin typeface="Calibri"/>
                <a:ea typeface="Calibri"/>
                <a:cs typeface="Calibri"/>
              </a:rPr>
              <a:t>dnf / yum</a:t>
            </a:r>
            <a:endParaRPr sz="2400"/>
          </a:p>
        </p:txBody>
      </p:sp>
      <p:sp>
        <p:nvSpPr>
          <p:cNvPr id="26" name="Text 20">
            <a:extLst xmlns:a="http://schemas.openxmlformats.org/drawingml/2006/main">
              <a:ext uri="{FF2B5EF4-FFF2-40B4-BE49-F238E27FC236}">
                <a16:creationId xmlns:a16="http://schemas.microsoft.com/office/drawing/2014/main" id="{B49F2A24-A2C1-4C0A-A61A-CACDADF85B76}"/>
              </a:ext>
            </a:extLst>
          </p:cNvPr>
          <p:cNvSpPr>
            <a:spLocks xmlns:a="http://schemas.openxmlformats.org/drawingml/2006/main" noGrp="1"/>
          </p:cNvSpPr>
          <p:nvPr/>
        </p:nvSpPr>
        <p:spPr>
          <a:xfrm xmlns:a="http://schemas.openxmlformats.org/drawingml/2006/main">
            <a:off x="7132320" y="1417320"/>
            <a:ext cx="45720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i="1">
                <a:solidFill>
                  <a:srgbClr val="FFE0B2"/>
                </a:solidFill>
                <a:latin typeface="Calibri"/>
                <a:ea typeface="Calibri"/>
                <a:cs typeface="Calibri"/>
              </a:rPr>
              <a:t>RHEL, Rocky, Fedora, Amazon Linux</a:t>
            </a:r>
            <a:endParaRPr sz="1100"/>
          </a:p>
        </p:txBody>
      </p:sp>
      <p:sp>
        <p:nvSpPr>
          <p:cNvPr id="27" name="Shape 21">
            <a:extLst xmlns:a="http://schemas.openxmlformats.org/drawingml/2006/main">
              <a:ext uri="{FF2B5EF4-FFF2-40B4-BE49-F238E27FC236}">
                <a16:creationId xmlns:a16="http://schemas.microsoft.com/office/drawing/2014/main" id="{B7BD70BE-F6F9-42C7-846A-D424F0AE85C2}"/>
              </a:ext>
            </a:extLst>
          </p:cNvPr>
          <p:cNvSpPr>
            <a:spLocks xmlns:a="http://schemas.openxmlformats.org/drawingml/2006/main" noGrp="1"/>
          </p:cNvSpPr>
          <p:nvPr/>
        </p:nvSpPr>
        <p:spPr>
          <a:xfrm xmlns:a="http://schemas.openxmlformats.org/drawingml/2006/main">
            <a:off x="6492240" y="2331720"/>
            <a:ext cx="5120640" cy="365760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28" name="Shape 22">
            <a:extLst xmlns:a="http://schemas.openxmlformats.org/drawingml/2006/main">
              <a:ext uri="{FF2B5EF4-FFF2-40B4-BE49-F238E27FC236}">
                <a16:creationId xmlns:a16="http://schemas.microsoft.com/office/drawing/2014/main" id="{EAF71948-695B-4C5F-BB94-0528BB6E7B3A}"/>
              </a:ext>
            </a:extLst>
          </p:cNvPr>
          <p:cNvSpPr>
            <a:spLocks xmlns:a="http://schemas.openxmlformats.org/drawingml/2006/main" noGrp="1"/>
          </p:cNvSpPr>
          <p:nvPr/>
        </p:nvSpPr>
        <p:spPr>
          <a:xfrm xmlns:a="http://schemas.openxmlformats.org/drawingml/2006/main">
            <a:off x="6492240" y="2331720"/>
            <a:ext cx="512064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29" name="Shape 23">
            <a:extLst xmlns:a="http://schemas.openxmlformats.org/drawingml/2006/main">
              <a:ext uri="{FF2B5EF4-FFF2-40B4-BE49-F238E27FC236}">
                <a16:creationId xmlns:a16="http://schemas.microsoft.com/office/drawing/2014/main" id="{988C972E-CDE9-43A1-9CB6-237355C619F8}"/>
              </a:ext>
            </a:extLst>
          </p:cNvPr>
          <p:cNvSpPr>
            <a:spLocks xmlns:a="http://schemas.openxmlformats.org/drawingml/2006/main" noGrp="1"/>
          </p:cNvSpPr>
          <p:nvPr/>
        </p:nvSpPr>
        <p:spPr>
          <a:xfrm xmlns:a="http://schemas.openxmlformats.org/drawingml/2006/main">
            <a:off x="6583680" y="241401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30" name="Shape 24">
            <a:extLst xmlns:a="http://schemas.openxmlformats.org/drawingml/2006/main">
              <a:ext uri="{FF2B5EF4-FFF2-40B4-BE49-F238E27FC236}">
                <a16:creationId xmlns:a16="http://schemas.microsoft.com/office/drawing/2014/main" id="{F01A7FDB-44D9-4C23-98F4-7C717BF68BBB}"/>
              </a:ext>
            </a:extLst>
          </p:cNvPr>
          <p:cNvSpPr>
            <a:spLocks xmlns:a="http://schemas.openxmlformats.org/drawingml/2006/main" noGrp="1"/>
          </p:cNvSpPr>
          <p:nvPr/>
        </p:nvSpPr>
        <p:spPr>
          <a:xfrm xmlns:a="http://schemas.openxmlformats.org/drawingml/2006/main">
            <a:off x="6720840" y="241401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31" name="Shape 25">
            <a:extLst xmlns:a="http://schemas.openxmlformats.org/drawingml/2006/main">
              <a:ext uri="{FF2B5EF4-FFF2-40B4-BE49-F238E27FC236}">
                <a16:creationId xmlns:a16="http://schemas.microsoft.com/office/drawing/2014/main" id="{30BD816D-BAD7-4001-93CB-EA322D522803}"/>
              </a:ext>
            </a:extLst>
          </p:cNvPr>
          <p:cNvSpPr>
            <a:spLocks xmlns:a="http://schemas.openxmlformats.org/drawingml/2006/main" noGrp="1"/>
          </p:cNvSpPr>
          <p:nvPr/>
        </p:nvSpPr>
        <p:spPr>
          <a:xfrm xmlns:a="http://schemas.openxmlformats.org/drawingml/2006/main">
            <a:off x="6858000" y="241401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32" name="Text 26">
            <a:extLst xmlns:a="http://schemas.openxmlformats.org/drawingml/2006/main">
              <a:ext uri="{FF2B5EF4-FFF2-40B4-BE49-F238E27FC236}">
                <a16:creationId xmlns:a16="http://schemas.microsoft.com/office/drawing/2014/main" id="{14F05273-94EC-4AB7-83E4-A6442D3DC598}"/>
              </a:ext>
            </a:extLst>
          </p:cNvPr>
          <p:cNvSpPr>
            <a:spLocks xmlns:a="http://schemas.openxmlformats.org/drawingml/2006/main" noGrp="1"/>
          </p:cNvSpPr>
          <p:nvPr/>
        </p:nvSpPr>
        <p:spPr>
          <a:xfrm xmlns:a="http://schemas.openxmlformats.org/drawingml/2006/main">
            <a:off x="7040880" y="2331720"/>
            <a:ext cx="4389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dnf commands</a:t>
            </a:r>
            <a:endParaRPr sz="900"/>
          </a:p>
        </p:txBody>
      </p:sp>
      <p:sp>
        <p:nvSpPr>
          <p:cNvPr id="33" name="Text 27">
            <a:extLst xmlns:a="http://schemas.openxmlformats.org/drawingml/2006/main">
              <a:ext uri="{FF2B5EF4-FFF2-40B4-BE49-F238E27FC236}">
                <a16:creationId xmlns:a16="http://schemas.microsoft.com/office/drawing/2014/main" id="{DCA387AB-7DEA-42CE-9345-76E16B49D520}"/>
              </a:ext>
            </a:extLst>
          </p:cNvPr>
          <p:cNvSpPr>
            <a:spLocks xmlns:a="http://schemas.openxmlformats.org/drawingml/2006/main" noGrp="1"/>
          </p:cNvSpPr>
          <p:nvPr/>
        </p:nvSpPr>
        <p:spPr>
          <a:xfrm xmlns:a="http://schemas.openxmlformats.org/drawingml/2006/main">
            <a:off x="6629400" y="2697480"/>
            <a:ext cx="4846320" cy="3200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a:solidFill>
                  <a:srgbClr val="94A3B8"/>
                </a:solidFill>
                <a:latin typeface="Consolas"/>
                <a:ea typeface="Consolas"/>
                <a:cs typeface="Consolas"/>
              </a:rPr>
              <a:t># Update metadata (otomatis di dnf)</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sudo dnf check-update</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Upgrade semua paket</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sudo dnf upgrade -y</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Install paket</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sudo dnf install nginx git curl</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Cari paket</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dnf search docker</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Hapus paket</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sudo dnf remove nginx</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Info detail</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dnf info nodejs</a:t>
            </a:r>
            <a:endParaRPr sz="1100"/>
          </a:p>
        </p:txBody>
      </p:sp>
      <p:sp>
        <p:nvSpPr>
          <p:cNvPr id="34" name="Text 28">
            <a:extLst xmlns:a="http://schemas.openxmlformats.org/drawingml/2006/main">
              <a:ext uri="{FF2B5EF4-FFF2-40B4-BE49-F238E27FC236}">
                <a16:creationId xmlns:a16="http://schemas.microsoft.com/office/drawing/2014/main" id="{A5A03378-E0FE-4F5A-B26D-EE0034EE2C35}"/>
              </a:ext>
            </a:extLst>
          </p:cNvPr>
          <p:cNvSpPr>
            <a:spLocks xmlns:a="http://schemas.openxmlformats.org/drawingml/2006/main" noGrp="1"/>
          </p:cNvSpPr>
          <p:nvPr/>
        </p:nvSpPr>
        <p:spPr>
          <a:xfrm xmlns:a="http://schemas.openxmlformats.org/drawingml/2006/main">
            <a:off x="457200" y="626364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i="1">
                <a:solidFill>
                  <a:srgbClr val="F37021"/>
                </a:solidFill>
                <a:latin typeface="Calibri"/>
                <a:ea typeface="Calibri"/>
                <a:cs typeface="Calibri"/>
              </a:rPr>
              <a:t>Catatan: </a:t>
            </a:r>
            <a:r>
              <a:rPr sz="1100" i="1">
                <a:solidFill>
                  <a:srgbClr val="1E293B"/>
                </a:solidFill>
                <a:latin typeface="Calibri"/>
                <a:ea typeface="Calibri"/>
                <a:cs typeface="Calibri"/>
              </a:rPr>
              <a:t>Alpine pakai </a:t>
            </a:r>
            <a:r>
              <a:rPr sz="1100" b="1" i="1">
                <a:solidFill>
                  <a:srgbClr val="002677"/>
                </a:solidFill>
                <a:latin typeface="Consolas"/>
                <a:ea typeface="Consolas"/>
                <a:cs typeface="Consolas"/>
              </a:rPr>
              <a:t>apk</a:t>
            </a:r>
            <a:r>
              <a:rPr sz="1100" i="1">
                <a:solidFill>
                  <a:srgbClr val="1E293B"/>
                </a:solidFill>
                <a:latin typeface="Calibri"/>
                <a:ea typeface="Calibri"/>
                <a:cs typeface="Calibri"/>
              </a:rPr>
              <a:t> (apk add / apk del), Arch pakai </a:t>
            </a:r>
            <a:r>
              <a:rPr sz="1100" b="1" i="1">
                <a:solidFill>
                  <a:srgbClr val="002677"/>
                </a:solidFill>
                <a:latin typeface="Consolas"/>
                <a:ea typeface="Consolas"/>
                <a:cs typeface="Consolas"/>
              </a:rPr>
              <a:t>pacman</a:t>
            </a:r>
            <a:r>
              <a:rPr sz="1100" i="1">
                <a:solidFill>
                  <a:srgbClr val="1E293B"/>
                </a:solidFill>
                <a:latin typeface="Calibri"/>
                <a:ea typeface="Calibri"/>
                <a:cs typeface="Calibri"/>
              </a:rPr>
              <a:t>. Konsep sama - hanya nama berbeda.</a:t>
            </a:r>
            <a:endParaRPr sz="1100"/>
          </a:p>
        </p:txBody>
      </p:sp>
    </p:spTree>
    <p:extLst>
      <p:ext uri="{BB962C8B-B14F-4D97-AF65-F5344CB8AC3E}">
        <p14:creationId xmlns:p14="http://schemas.microsoft.com/office/powerpoint/2010/main" val="103219647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48C7B11-F37B-4275-841A-73A0A41D1960}"/>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2</a:t>
            </a:r>
            <a:endParaRPr sz="900"/>
          </a:p>
        </p:txBody>
      </p:sp>
      <p:sp>
        <p:nvSpPr>
          <p:cNvPr id="3" name="Text 1">
            <a:extLst xmlns:a="http://schemas.openxmlformats.org/drawingml/2006/main">
              <a:ext uri="{FF2B5EF4-FFF2-40B4-BE49-F238E27FC236}">
                <a16:creationId xmlns:a16="http://schemas.microsoft.com/office/drawing/2014/main" id="{5334FC8A-9F2C-45D9-976A-480D7BFFB325}"/>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23</a:t>
            </a:r>
            <a:endParaRPr sz="900"/>
          </a:p>
        </p:txBody>
      </p:sp>
      <p:sp>
        <p:nvSpPr>
          <p:cNvPr id="4" name="Shape 2">
            <a:extLst xmlns:a="http://schemas.openxmlformats.org/drawingml/2006/main">
              <a:ext uri="{FF2B5EF4-FFF2-40B4-BE49-F238E27FC236}">
                <a16:creationId xmlns:a16="http://schemas.microsoft.com/office/drawing/2014/main" id="{C18B482D-0F0D-42F2-8A1D-52502CE80DE4}"/>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78" name="Image 0"/>
          <p:cNvPicPr>
            <a:picLocks xmlns:a="http://schemas.openxmlformats.org/drawingml/2006/main" noChangeAspect="1"/>
          </p:cNvPicPr>
          <p:nvPr/>
        </p:nvPicPr>
        <p:blipFill>
          <a:blip xmlns:r="http://schemas.openxmlformats.org/officeDocument/2006/relationships" xmlns:a="http://schemas.openxmlformats.org/drawingml/2006/main" r:embed="Re0b41367f14145dc"/>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79" name="Image 1"/>
          <p:cNvPicPr>
            <a:picLocks xmlns:a="http://schemas.openxmlformats.org/drawingml/2006/main" noChangeAspect="1"/>
          </p:cNvPicPr>
          <p:nvPr/>
        </p:nvPicPr>
        <p:blipFill>
          <a:blip xmlns:r="http://schemas.openxmlformats.org/officeDocument/2006/relationships" xmlns:a="http://schemas.openxmlformats.org/drawingml/2006/main" r:embed="Rf1293f7b2bd244ff"/>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74A4C9B8-FEF4-4275-9EEF-524B5E3A4D3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2D143C92-6006-4DDA-B188-56B34CE99FAF}"/>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Paket Wajib di Setiap Server Cloud</a:t>
            </a:r>
            <a:endParaRPr sz="2200"/>
          </a:p>
        </p:txBody>
      </p:sp>
      <p:sp>
        <p:nvSpPr>
          <p:cNvPr id="9" name="Text 5">
            <a:extLst xmlns:a="http://schemas.openxmlformats.org/drawingml/2006/main">
              <a:ext uri="{FF2B5EF4-FFF2-40B4-BE49-F238E27FC236}">
                <a16:creationId xmlns:a16="http://schemas.microsoft.com/office/drawing/2014/main" id="{6EA35306-D289-4946-9E0D-86C04C0662E2}"/>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Pasang ini begitu Anda dapat VM baru</a:t>
            </a:r>
            <a:endParaRPr sz="1200"/>
          </a:p>
        </p:txBody>
      </p:sp>
      <p:sp>
        <p:nvSpPr>
          <p:cNvPr id="10" name="Shape 6">
            <a:extLst xmlns:a="http://schemas.openxmlformats.org/drawingml/2006/main">
              <a:ext uri="{FF2B5EF4-FFF2-40B4-BE49-F238E27FC236}">
                <a16:creationId xmlns:a16="http://schemas.microsoft.com/office/drawing/2014/main" id="{14768233-0FAD-4A39-9FE5-4DB30BB885C4}"/>
              </a:ext>
            </a:extLst>
          </p:cNvPr>
          <p:cNvSpPr>
            <a:spLocks xmlns:a="http://schemas.openxmlformats.org/drawingml/2006/main" noGrp="1"/>
          </p:cNvSpPr>
          <p:nvPr/>
        </p:nvSpPr>
        <p:spPr>
          <a:xfrm xmlns:a="http://schemas.openxmlformats.org/drawingml/2006/main">
            <a:off x="457200" y="1417320"/>
            <a:ext cx="2240280" cy="19659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1366851C-7C71-4F86-91E8-CACBB6E339B7}"/>
              </a:ext>
            </a:extLst>
          </p:cNvPr>
          <p:cNvSpPr>
            <a:spLocks xmlns:a="http://schemas.openxmlformats.org/drawingml/2006/main" noGrp="1"/>
          </p:cNvSpPr>
          <p:nvPr/>
        </p:nvSpPr>
        <p:spPr>
          <a:xfrm xmlns:a="http://schemas.openxmlformats.org/drawingml/2006/main">
            <a:off x="457200" y="1417320"/>
            <a:ext cx="2240280" cy="73152"/>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2" name="Text 8">
            <a:extLst xmlns:a="http://schemas.openxmlformats.org/drawingml/2006/main">
              <a:ext uri="{FF2B5EF4-FFF2-40B4-BE49-F238E27FC236}">
                <a16:creationId xmlns:a16="http://schemas.microsoft.com/office/drawing/2014/main" id="{FC1AB395-CA2E-4F7F-BD00-D67441E576CC}"/>
              </a:ext>
            </a:extLst>
          </p:cNvPr>
          <p:cNvSpPr>
            <a:spLocks xmlns:a="http://schemas.openxmlformats.org/drawingml/2006/main" noGrp="1"/>
          </p:cNvSpPr>
          <p:nvPr/>
        </p:nvSpPr>
        <p:spPr>
          <a:xfrm xmlns:a="http://schemas.openxmlformats.org/drawingml/2006/main">
            <a:off x="594360" y="1600200"/>
            <a:ext cx="1965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677"/>
                </a:solidFill>
                <a:latin typeface="Consolas"/>
                <a:ea typeface="Consolas"/>
                <a:cs typeface="Consolas"/>
              </a:rPr>
              <a:t>curl</a:t>
            </a:r>
            <a:endParaRPr sz="1800"/>
          </a:p>
        </p:txBody>
      </p:sp>
      <p:sp>
        <p:nvSpPr>
          <p:cNvPr id="13" name="Shape 9">
            <a:extLst xmlns:a="http://schemas.openxmlformats.org/drawingml/2006/main">
              <a:ext uri="{FF2B5EF4-FFF2-40B4-BE49-F238E27FC236}">
                <a16:creationId xmlns:a16="http://schemas.microsoft.com/office/drawing/2014/main" id="{3794D201-E491-401A-A107-8AFC74D6E10F}"/>
              </a:ext>
            </a:extLst>
          </p:cNvPr>
          <p:cNvSpPr>
            <a:spLocks xmlns:a="http://schemas.openxmlformats.org/drawingml/2006/main" noGrp="1"/>
          </p:cNvSpPr>
          <p:nvPr/>
        </p:nvSpPr>
        <p:spPr>
          <a:xfrm xmlns:a="http://schemas.openxmlformats.org/drawingml/2006/main">
            <a:off x="594360" y="2148840"/>
            <a:ext cx="1965960" cy="274320"/>
          </a:xfrm>
          <a:prstGeom xmlns:a="http://schemas.openxmlformats.org/drawingml/2006/main" prst="roundRect">
            <a:avLst>
              <a:gd name="adj" fmla="val 13333"/>
            </a:avLst>
          </a:prstGeom>
          <a:solidFill xmlns:a="http://schemas.openxmlformats.org/drawingml/2006/main">
            <a:srgbClr val="1E40AF"/>
          </a:solidFill>
          <a:ln xmlns:a="http://schemas.openxmlformats.org/drawingml/2006/main" w="12700">
            <a:solidFill>
              <a:srgbClr val="1E40AF"/>
            </a:solidFill>
            <a:prstDash val="solid"/>
          </a:ln>
        </p:spPr>
      </p:sp>
      <p:sp>
        <p:nvSpPr>
          <p:cNvPr id="14" name="Text 10">
            <a:extLst xmlns:a="http://schemas.openxmlformats.org/drawingml/2006/main">
              <a:ext uri="{FF2B5EF4-FFF2-40B4-BE49-F238E27FC236}">
                <a16:creationId xmlns:a16="http://schemas.microsoft.com/office/drawing/2014/main" id="{AA280B51-5967-481A-9D49-575078AC6511}"/>
              </a:ext>
            </a:extLst>
          </p:cNvPr>
          <p:cNvSpPr>
            <a:spLocks xmlns:a="http://schemas.openxmlformats.org/drawingml/2006/main" noGrp="1"/>
          </p:cNvSpPr>
          <p:nvPr/>
        </p:nvSpPr>
        <p:spPr>
          <a:xfrm xmlns:a="http://schemas.openxmlformats.org/drawingml/2006/main">
            <a:off x="594360" y="2148840"/>
            <a:ext cx="1965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200">
                <a:solidFill>
                  <a:srgbClr val="FFFFFF"/>
                </a:solidFill>
                <a:latin typeface="Calibri"/>
                <a:ea typeface="Calibri"/>
                <a:cs typeface="Calibri"/>
              </a:rPr>
              <a:t>Networking</a:t>
            </a:r>
            <a:endParaRPr sz="900"/>
          </a:p>
        </p:txBody>
      </p:sp>
      <p:sp>
        <p:nvSpPr>
          <p:cNvPr id="15" name="Text 11">
            <a:extLst xmlns:a="http://schemas.openxmlformats.org/drawingml/2006/main">
              <a:ext uri="{FF2B5EF4-FFF2-40B4-BE49-F238E27FC236}">
                <a16:creationId xmlns:a16="http://schemas.microsoft.com/office/drawing/2014/main" id="{56D17C76-AE18-4A27-A885-8B72611958F8}"/>
              </a:ext>
            </a:extLst>
          </p:cNvPr>
          <p:cNvSpPr>
            <a:spLocks xmlns:a="http://schemas.openxmlformats.org/drawingml/2006/main" noGrp="1"/>
          </p:cNvSpPr>
          <p:nvPr/>
        </p:nvSpPr>
        <p:spPr>
          <a:xfrm xmlns:a="http://schemas.openxmlformats.org/drawingml/2006/main">
            <a:off x="594360" y="2514600"/>
            <a:ext cx="196596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Download / test HTTP API dari CLI</a:t>
            </a:r>
            <a:endParaRPr sz="1000"/>
          </a:p>
        </p:txBody>
      </p:sp>
      <p:sp>
        <p:nvSpPr>
          <p:cNvPr id="16" name="Shape 12">
            <a:extLst xmlns:a="http://schemas.openxmlformats.org/drawingml/2006/main">
              <a:ext uri="{FF2B5EF4-FFF2-40B4-BE49-F238E27FC236}">
                <a16:creationId xmlns:a16="http://schemas.microsoft.com/office/drawing/2014/main" id="{2951C27A-0FCA-4326-A1DB-623E0F4CEC62}"/>
              </a:ext>
            </a:extLst>
          </p:cNvPr>
          <p:cNvSpPr>
            <a:spLocks xmlns:a="http://schemas.openxmlformats.org/drawingml/2006/main" noGrp="1"/>
          </p:cNvSpPr>
          <p:nvPr/>
        </p:nvSpPr>
        <p:spPr>
          <a:xfrm xmlns:a="http://schemas.openxmlformats.org/drawingml/2006/main">
            <a:off x="2807208" y="1417320"/>
            <a:ext cx="2240280" cy="19659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7" name="Shape 13">
            <a:extLst xmlns:a="http://schemas.openxmlformats.org/drawingml/2006/main">
              <a:ext uri="{FF2B5EF4-FFF2-40B4-BE49-F238E27FC236}">
                <a16:creationId xmlns:a16="http://schemas.microsoft.com/office/drawing/2014/main" id="{661BA779-4939-4987-A2AE-D2C9203880C7}"/>
              </a:ext>
            </a:extLst>
          </p:cNvPr>
          <p:cNvSpPr>
            <a:spLocks xmlns:a="http://schemas.openxmlformats.org/drawingml/2006/main" noGrp="1"/>
          </p:cNvSpPr>
          <p:nvPr/>
        </p:nvSpPr>
        <p:spPr>
          <a:xfrm xmlns:a="http://schemas.openxmlformats.org/drawingml/2006/main">
            <a:off x="2807208" y="1417320"/>
            <a:ext cx="2240280" cy="73152"/>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8" name="Text 14">
            <a:extLst xmlns:a="http://schemas.openxmlformats.org/drawingml/2006/main">
              <a:ext uri="{FF2B5EF4-FFF2-40B4-BE49-F238E27FC236}">
                <a16:creationId xmlns:a16="http://schemas.microsoft.com/office/drawing/2014/main" id="{EED37B4C-7C6B-466E-AB9E-28BD994E3CB2}"/>
              </a:ext>
            </a:extLst>
          </p:cNvPr>
          <p:cNvSpPr>
            <a:spLocks xmlns:a="http://schemas.openxmlformats.org/drawingml/2006/main" noGrp="1"/>
          </p:cNvSpPr>
          <p:nvPr/>
        </p:nvSpPr>
        <p:spPr>
          <a:xfrm xmlns:a="http://schemas.openxmlformats.org/drawingml/2006/main">
            <a:off x="2944368" y="1600200"/>
            <a:ext cx="1965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677"/>
                </a:solidFill>
                <a:latin typeface="Consolas"/>
                <a:ea typeface="Consolas"/>
                <a:cs typeface="Consolas"/>
              </a:rPr>
              <a:t>wget</a:t>
            </a:r>
            <a:endParaRPr sz="1800"/>
          </a:p>
        </p:txBody>
      </p:sp>
      <p:sp>
        <p:nvSpPr>
          <p:cNvPr id="19" name="Shape 15">
            <a:extLst xmlns:a="http://schemas.openxmlformats.org/drawingml/2006/main">
              <a:ext uri="{FF2B5EF4-FFF2-40B4-BE49-F238E27FC236}">
                <a16:creationId xmlns:a16="http://schemas.microsoft.com/office/drawing/2014/main" id="{8B5052FF-6588-42F6-8D89-43FDE91F4D82}"/>
              </a:ext>
            </a:extLst>
          </p:cNvPr>
          <p:cNvSpPr>
            <a:spLocks xmlns:a="http://schemas.openxmlformats.org/drawingml/2006/main" noGrp="1"/>
          </p:cNvSpPr>
          <p:nvPr/>
        </p:nvSpPr>
        <p:spPr>
          <a:xfrm xmlns:a="http://schemas.openxmlformats.org/drawingml/2006/main">
            <a:off x="2944368" y="2148840"/>
            <a:ext cx="1965960" cy="274320"/>
          </a:xfrm>
          <a:prstGeom xmlns:a="http://schemas.openxmlformats.org/drawingml/2006/main" prst="roundRect">
            <a:avLst>
              <a:gd name="adj" fmla="val 13333"/>
            </a:avLst>
          </a:prstGeom>
          <a:solidFill xmlns:a="http://schemas.openxmlformats.org/drawingml/2006/main">
            <a:srgbClr val="1E40AF"/>
          </a:solidFill>
          <a:ln xmlns:a="http://schemas.openxmlformats.org/drawingml/2006/main" w="12700">
            <a:solidFill>
              <a:srgbClr val="1E40AF"/>
            </a:solidFill>
            <a:prstDash val="solid"/>
          </a:ln>
        </p:spPr>
      </p:sp>
      <p:sp>
        <p:nvSpPr>
          <p:cNvPr id="20" name="Text 16">
            <a:extLst xmlns:a="http://schemas.openxmlformats.org/drawingml/2006/main">
              <a:ext uri="{FF2B5EF4-FFF2-40B4-BE49-F238E27FC236}">
                <a16:creationId xmlns:a16="http://schemas.microsoft.com/office/drawing/2014/main" id="{9500489F-EE9F-4B89-B085-825F1B009C12}"/>
              </a:ext>
            </a:extLst>
          </p:cNvPr>
          <p:cNvSpPr>
            <a:spLocks xmlns:a="http://schemas.openxmlformats.org/drawingml/2006/main" noGrp="1"/>
          </p:cNvSpPr>
          <p:nvPr/>
        </p:nvSpPr>
        <p:spPr>
          <a:xfrm xmlns:a="http://schemas.openxmlformats.org/drawingml/2006/main">
            <a:off x="2944368" y="2148840"/>
            <a:ext cx="1965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200">
                <a:solidFill>
                  <a:srgbClr val="FFFFFF"/>
                </a:solidFill>
                <a:latin typeface="Calibri"/>
                <a:ea typeface="Calibri"/>
                <a:cs typeface="Calibri"/>
              </a:rPr>
              <a:t>Networking</a:t>
            </a:r>
            <a:endParaRPr sz="900"/>
          </a:p>
        </p:txBody>
      </p:sp>
      <p:sp>
        <p:nvSpPr>
          <p:cNvPr id="21" name="Text 17">
            <a:extLst xmlns:a="http://schemas.openxmlformats.org/drawingml/2006/main">
              <a:ext uri="{FF2B5EF4-FFF2-40B4-BE49-F238E27FC236}">
                <a16:creationId xmlns:a16="http://schemas.microsoft.com/office/drawing/2014/main" id="{F7EF406B-A027-4F28-9D54-57104D445331}"/>
              </a:ext>
            </a:extLst>
          </p:cNvPr>
          <p:cNvSpPr>
            <a:spLocks xmlns:a="http://schemas.openxmlformats.org/drawingml/2006/main" noGrp="1"/>
          </p:cNvSpPr>
          <p:nvPr/>
        </p:nvSpPr>
        <p:spPr>
          <a:xfrm xmlns:a="http://schemas.openxmlformats.org/drawingml/2006/main">
            <a:off x="2944368" y="2514600"/>
            <a:ext cx="196596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Download file dari URL</a:t>
            </a:r>
            <a:endParaRPr sz="1000"/>
          </a:p>
        </p:txBody>
      </p:sp>
      <p:sp>
        <p:nvSpPr>
          <p:cNvPr id="22" name="Shape 18">
            <a:extLst xmlns:a="http://schemas.openxmlformats.org/drawingml/2006/main">
              <a:ext uri="{FF2B5EF4-FFF2-40B4-BE49-F238E27FC236}">
                <a16:creationId xmlns:a16="http://schemas.microsoft.com/office/drawing/2014/main" id="{C539B972-8FB1-47B8-AC2C-248FAC561A23}"/>
              </a:ext>
            </a:extLst>
          </p:cNvPr>
          <p:cNvSpPr>
            <a:spLocks xmlns:a="http://schemas.openxmlformats.org/drawingml/2006/main" noGrp="1"/>
          </p:cNvSpPr>
          <p:nvPr/>
        </p:nvSpPr>
        <p:spPr>
          <a:xfrm xmlns:a="http://schemas.openxmlformats.org/drawingml/2006/main">
            <a:off x="5157216" y="1417320"/>
            <a:ext cx="2240280" cy="19659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3" name="Shape 19">
            <a:extLst xmlns:a="http://schemas.openxmlformats.org/drawingml/2006/main">
              <a:ext uri="{FF2B5EF4-FFF2-40B4-BE49-F238E27FC236}">
                <a16:creationId xmlns:a16="http://schemas.microsoft.com/office/drawing/2014/main" id="{387E6097-9419-4D99-B0CC-2AB903834C4C}"/>
              </a:ext>
            </a:extLst>
          </p:cNvPr>
          <p:cNvSpPr>
            <a:spLocks xmlns:a="http://schemas.openxmlformats.org/drawingml/2006/main" noGrp="1"/>
          </p:cNvSpPr>
          <p:nvPr/>
        </p:nvSpPr>
        <p:spPr>
          <a:xfrm xmlns:a="http://schemas.openxmlformats.org/drawingml/2006/main">
            <a:off x="5157216" y="1417320"/>
            <a:ext cx="2240280" cy="73152"/>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24" name="Text 20">
            <a:extLst xmlns:a="http://schemas.openxmlformats.org/drawingml/2006/main">
              <a:ext uri="{FF2B5EF4-FFF2-40B4-BE49-F238E27FC236}">
                <a16:creationId xmlns:a16="http://schemas.microsoft.com/office/drawing/2014/main" id="{4157E71F-C534-4ACF-858F-EA879F34828E}"/>
              </a:ext>
            </a:extLst>
          </p:cNvPr>
          <p:cNvSpPr>
            <a:spLocks xmlns:a="http://schemas.openxmlformats.org/drawingml/2006/main" noGrp="1"/>
          </p:cNvSpPr>
          <p:nvPr/>
        </p:nvSpPr>
        <p:spPr>
          <a:xfrm xmlns:a="http://schemas.openxmlformats.org/drawingml/2006/main">
            <a:off x="5294376" y="1600200"/>
            <a:ext cx="1965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677"/>
                </a:solidFill>
                <a:latin typeface="Consolas"/>
                <a:ea typeface="Consolas"/>
                <a:cs typeface="Consolas"/>
              </a:rPr>
              <a:t>git</a:t>
            </a:r>
            <a:endParaRPr sz="1800"/>
          </a:p>
        </p:txBody>
      </p:sp>
      <p:sp>
        <p:nvSpPr>
          <p:cNvPr id="25" name="Shape 21">
            <a:extLst xmlns:a="http://schemas.openxmlformats.org/drawingml/2006/main">
              <a:ext uri="{FF2B5EF4-FFF2-40B4-BE49-F238E27FC236}">
                <a16:creationId xmlns:a16="http://schemas.microsoft.com/office/drawing/2014/main" id="{02E5BDFC-8F62-49F6-9C05-50636E2F23B5}"/>
              </a:ext>
            </a:extLst>
          </p:cNvPr>
          <p:cNvSpPr>
            <a:spLocks xmlns:a="http://schemas.openxmlformats.org/drawingml/2006/main" noGrp="1"/>
          </p:cNvSpPr>
          <p:nvPr/>
        </p:nvSpPr>
        <p:spPr>
          <a:xfrm xmlns:a="http://schemas.openxmlformats.org/drawingml/2006/main">
            <a:off x="5294376" y="2148840"/>
            <a:ext cx="1965960" cy="274320"/>
          </a:xfrm>
          <a:prstGeom xmlns:a="http://schemas.openxmlformats.org/drawingml/2006/main" prst="roundRect">
            <a:avLst>
              <a:gd name="adj" fmla="val 13333"/>
            </a:avLst>
          </a:prstGeom>
          <a:solidFill xmlns:a="http://schemas.openxmlformats.org/drawingml/2006/main">
            <a:srgbClr val="1E40AF"/>
          </a:solidFill>
          <a:ln xmlns:a="http://schemas.openxmlformats.org/drawingml/2006/main" w="12700">
            <a:solidFill>
              <a:srgbClr val="1E40AF"/>
            </a:solidFill>
            <a:prstDash val="solid"/>
          </a:ln>
        </p:spPr>
      </p:sp>
      <p:sp>
        <p:nvSpPr>
          <p:cNvPr id="26" name="Text 22">
            <a:extLst xmlns:a="http://schemas.openxmlformats.org/drawingml/2006/main">
              <a:ext uri="{FF2B5EF4-FFF2-40B4-BE49-F238E27FC236}">
                <a16:creationId xmlns:a16="http://schemas.microsoft.com/office/drawing/2014/main" id="{1C1B43A0-D147-4D58-B659-9324683CFC0F}"/>
              </a:ext>
            </a:extLst>
          </p:cNvPr>
          <p:cNvSpPr>
            <a:spLocks xmlns:a="http://schemas.openxmlformats.org/drawingml/2006/main" noGrp="1"/>
          </p:cNvSpPr>
          <p:nvPr/>
        </p:nvSpPr>
        <p:spPr>
          <a:xfrm xmlns:a="http://schemas.openxmlformats.org/drawingml/2006/main">
            <a:off x="5294376" y="2148840"/>
            <a:ext cx="1965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200">
                <a:solidFill>
                  <a:srgbClr val="FFFFFF"/>
                </a:solidFill>
                <a:latin typeface="Calibri"/>
                <a:ea typeface="Calibri"/>
                <a:cs typeface="Calibri"/>
              </a:rPr>
              <a:t>Dev</a:t>
            </a:r>
            <a:endParaRPr sz="900"/>
          </a:p>
        </p:txBody>
      </p:sp>
      <p:sp>
        <p:nvSpPr>
          <p:cNvPr id="27" name="Text 23">
            <a:extLst xmlns:a="http://schemas.openxmlformats.org/drawingml/2006/main">
              <a:ext uri="{FF2B5EF4-FFF2-40B4-BE49-F238E27FC236}">
                <a16:creationId xmlns:a16="http://schemas.microsoft.com/office/drawing/2014/main" id="{DAD42D2C-C3D4-430F-9806-B8F2BD311491}"/>
              </a:ext>
            </a:extLst>
          </p:cNvPr>
          <p:cNvSpPr>
            <a:spLocks xmlns:a="http://schemas.openxmlformats.org/drawingml/2006/main" noGrp="1"/>
          </p:cNvSpPr>
          <p:nvPr/>
        </p:nvSpPr>
        <p:spPr>
          <a:xfrm xmlns:a="http://schemas.openxmlformats.org/drawingml/2006/main">
            <a:off x="5294376" y="2514600"/>
            <a:ext cx="196596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Version control - pull repo Anda</a:t>
            </a:r>
            <a:endParaRPr sz="1000"/>
          </a:p>
        </p:txBody>
      </p:sp>
      <p:sp>
        <p:nvSpPr>
          <p:cNvPr id="28" name="Shape 24">
            <a:extLst xmlns:a="http://schemas.openxmlformats.org/drawingml/2006/main">
              <a:ext uri="{FF2B5EF4-FFF2-40B4-BE49-F238E27FC236}">
                <a16:creationId xmlns:a16="http://schemas.microsoft.com/office/drawing/2014/main" id="{755A909F-D849-4CAB-9F9F-80AED9E376E1}"/>
              </a:ext>
            </a:extLst>
          </p:cNvPr>
          <p:cNvSpPr>
            <a:spLocks xmlns:a="http://schemas.openxmlformats.org/drawingml/2006/main" noGrp="1"/>
          </p:cNvSpPr>
          <p:nvPr/>
        </p:nvSpPr>
        <p:spPr>
          <a:xfrm xmlns:a="http://schemas.openxmlformats.org/drawingml/2006/main">
            <a:off x="7507224" y="1417320"/>
            <a:ext cx="2240280" cy="19659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9" name="Shape 25">
            <a:extLst xmlns:a="http://schemas.openxmlformats.org/drawingml/2006/main">
              <a:ext uri="{FF2B5EF4-FFF2-40B4-BE49-F238E27FC236}">
                <a16:creationId xmlns:a16="http://schemas.microsoft.com/office/drawing/2014/main" id="{5B27D64E-8BB7-43BA-A018-68BE709CBB96}"/>
              </a:ext>
            </a:extLst>
          </p:cNvPr>
          <p:cNvSpPr>
            <a:spLocks xmlns:a="http://schemas.openxmlformats.org/drawingml/2006/main" noGrp="1"/>
          </p:cNvSpPr>
          <p:nvPr/>
        </p:nvSpPr>
        <p:spPr>
          <a:xfrm xmlns:a="http://schemas.openxmlformats.org/drawingml/2006/main">
            <a:off x="7507224" y="1417320"/>
            <a:ext cx="2240280" cy="73152"/>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30" name="Text 26">
            <a:extLst xmlns:a="http://schemas.openxmlformats.org/drawingml/2006/main">
              <a:ext uri="{FF2B5EF4-FFF2-40B4-BE49-F238E27FC236}">
                <a16:creationId xmlns:a16="http://schemas.microsoft.com/office/drawing/2014/main" id="{F9EA8D16-792F-4BCB-84DB-EBC5BDB56855}"/>
              </a:ext>
            </a:extLst>
          </p:cNvPr>
          <p:cNvSpPr>
            <a:spLocks xmlns:a="http://schemas.openxmlformats.org/drawingml/2006/main" noGrp="1"/>
          </p:cNvSpPr>
          <p:nvPr/>
        </p:nvSpPr>
        <p:spPr>
          <a:xfrm xmlns:a="http://schemas.openxmlformats.org/drawingml/2006/main">
            <a:off x="7644384" y="1600200"/>
            <a:ext cx="1965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677"/>
                </a:solidFill>
                <a:latin typeface="Consolas"/>
                <a:ea typeface="Consolas"/>
                <a:cs typeface="Consolas"/>
              </a:rPr>
              <a:t>htop</a:t>
            </a:r>
            <a:endParaRPr sz="1800"/>
          </a:p>
        </p:txBody>
      </p:sp>
      <p:sp>
        <p:nvSpPr>
          <p:cNvPr id="31" name="Shape 27">
            <a:extLst xmlns:a="http://schemas.openxmlformats.org/drawingml/2006/main">
              <a:ext uri="{FF2B5EF4-FFF2-40B4-BE49-F238E27FC236}">
                <a16:creationId xmlns:a16="http://schemas.microsoft.com/office/drawing/2014/main" id="{8DE5FE7D-4532-444B-A508-EEBB8505565E}"/>
              </a:ext>
            </a:extLst>
          </p:cNvPr>
          <p:cNvSpPr>
            <a:spLocks xmlns:a="http://schemas.openxmlformats.org/drawingml/2006/main" noGrp="1"/>
          </p:cNvSpPr>
          <p:nvPr/>
        </p:nvSpPr>
        <p:spPr>
          <a:xfrm xmlns:a="http://schemas.openxmlformats.org/drawingml/2006/main">
            <a:off x="7644384" y="2148840"/>
            <a:ext cx="1965960" cy="274320"/>
          </a:xfrm>
          <a:prstGeom xmlns:a="http://schemas.openxmlformats.org/drawingml/2006/main" prst="roundRect">
            <a:avLst>
              <a:gd name="adj" fmla="val 13333"/>
            </a:avLst>
          </a:prstGeom>
          <a:solidFill xmlns:a="http://schemas.openxmlformats.org/drawingml/2006/main">
            <a:srgbClr val="1E40AF"/>
          </a:solidFill>
          <a:ln xmlns:a="http://schemas.openxmlformats.org/drawingml/2006/main" w="12700">
            <a:solidFill>
              <a:srgbClr val="1E40AF"/>
            </a:solidFill>
            <a:prstDash val="solid"/>
          </a:ln>
        </p:spPr>
      </p:sp>
      <p:sp>
        <p:nvSpPr>
          <p:cNvPr id="32" name="Text 28">
            <a:extLst xmlns:a="http://schemas.openxmlformats.org/drawingml/2006/main">
              <a:ext uri="{FF2B5EF4-FFF2-40B4-BE49-F238E27FC236}">
                <a16:creationId xmlns:a16="http://schemas.microsoft.com/office/drawing/2014/main" id="{0AE4973F-8BAC-40AA-8ECD-C1ACD130EE49}"/>
              </a:ext>
            </a:extLst>
          </p:cNvPr>
          <p:cNvSpPr>
            <a:spLocks xmlns:a="http://schemas.openxmlformats.org/drawingml/2006/main" noGrp="1"/>
          </p:cNvSpPr>
          <p:nvPr/>
        </p:nvSpPr>
        <p:spPr>
          <a:xfrm xmlns:a="http://schemas.openxmlformats.org/drawingml/2006/main">
            <a:off x="7644384" y="2148840"/>
            <a:ext cx="1965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200">
                <a:solidFill>
                  <a:srgbClr val="FFFFFF"/>
                </a:solidFill>
                <a:latin typeface="Calibri"/>
                <a:ea typeface="Calibri"/>
                <a:cs typeface="Calibri"/>
              </a:rPr>
              <a:t>Monitor</a:t>
            </a:r>
            <a:endParaRPr sz="900"/>
          </a:p>
        </p:txBody>
      </p:sp>
      <p:sp>
        <p:nvSpPr>
          <p:cNvPr id="33" name="Text 29">
            <a:extLst xmlns:a="http://schemas.openxmlformats.org/drawingml/2006/main">
              <a:ext uri="{FF2B5EF4-FFF2-40B4-BE49-F238E27FC236}">
                <a16:creationId xmlns:a16="http://schemas.microsoft.com/office/drawing/2014/main" id="{474C44C8-40FF-4955-8A30-11EDFB72F693}"/>
              </a:ext>
            </a:extLst>
          </p:cNvPr>
          <p:cNvSpPr>
            <a:spLocks xmlns:a="http://schemas.openxmlformats.org/drawingml/2006/main" noGrp="1"/>
          </p:cNvSpPr>
          <p:nvPr/>
        </p:nvSpPr>
        <p:spPr>
          <a:xfrm xmlns:a="http://schemas.openxmlformats.org/drawingml/2006/main">
            <a:off x="7644384" y="2514600"/>
            <a:ext cx="196596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Interactive process monitor (lebih cantik dari top)</a:t>
            </a:r>
            <a:endParaRPr sz="1000"/>
          </a:p>
        </p:txBody>
      </p:sp>
      <p:sp>
        <p:nvSpPr>
          <p:cNvPr id="34" name="Shape 30">
            <a:extLst xmlns:a="http://schemas.openxmlformats.org/drawingml/2006/main">
              <a:ext uri="{FF2B5EF4-FFF2-40B4-BE49-F238E27FC236}">
                <a16:creationId xmlns:a16="http://schemas.microsoft.com/office/drawing/2014/main" id="{D1FB2AB2-7920-46CF-A1C5-C0A64DE72DBA}"/>
              </a:ext>
            </a:extLst>
          </p:cNvPr>
          <p:cNvSpPr>
            <a:spLocks xmlns:a="http://schemas.openxmlformats.org/drawingml/2006/main" noGrp="1"/>
          </p:cNvSpPr>
          <p:nvPr/>
        </p:nvSpPr>
        <p:spPr>
          <a:xfrm xmlns:a="http://schemas.openxmlformats.org/drawingml/2006/main">
            <a:off x="9857232" y="1417320"/>
            <a:ext cx="2240280" cy="19659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5" name="Shape 31">
            <a:extLst xmlns:a="http://schemas.openxmlformats.org/drawingml/2006/main">
              <a:ext uri="{FF2B5EF4-FFF2-40B4-BE49-F238E27FC236}">
                <a16:creationId xmlns:a16="http://schemas.microsoft.com/office/drawing/2014/main" id="{68FC253A-45EC-4F7A-916C-EDE56D6A2583}"/>
              </a:ext>
            </a:extLst>
          </p:cNvPr>
          <p:cNvSpPr>
            <a:spLocks xmlns:a="http://schemas.openxmlformats.org/drawingml/2006/main" noGrp="1"/>
          </p:cNvSpPr>
          <p:nvPr/>
        </p:nvSpPr>
        <p:spPr>
          <a:xfrm xmlns:a="http://schemas.openxmlformats.org/drawingml/2006/main">
            <a:off x="9857232" y="1417320"/>
            <a:ext cx="2240280" cy="73152"/>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36" name="Text 32">
            <a:extLst xmlns:a="http://schemas.openxmlformats.org/drawingml/2006/main">
              <a:ext uri="{FF2B5EF4-FFF2-40B4-BE49-F238E27FC236}">
                <a16:creationId xmlns:a16="http://schemas.microsoft.com/office/drawing/2014/main" id="{9C2A41B3-D86E-4505-9C42-12D96ECC8114}"/>
              </a:ext>
            </a:extLst>
          </p:cNvPr>
          <p:cNvSpPr>
            <a:spLocks xmlns:a="http://schemas.openxmlformats.org/drawingml/2006/main" noGrp="1"/>
          </p:cNvSpPr>
          <p:nvPr/>
        </p:nvSpPr>
        <p:spPr>
          <a:xfrm xmlns:a="http://schemas.openxmlformats.org/drawingml/2006/main">
            <a:off x="9994392" y="1600200"/>
            <a:ext cx="1965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677"/>
                </a:solidFill>
                <a:latin typeface="Consolas"/>
                <a:ea typeface="Consolas"/>
                <a:cs typeface="Consolas"/>
              </a:rPr>
              <a:t>tmux</a:t>
            </a:r>
            <a:endParaRPr sz="1800"/>
          </a:p>
        </p:txBody>
      </p:sp>
      <p:sp>
        <p:nvSpPr>
          <p:cNvPr id="37" name="Shape 33">
            <a:extLst xmlns:a="http://schemas.openxmlformats.org/drawingml/2006/main">
              <a:ext uri="{FF2B5EF4-FFF2-40B4-BE49-F238E27FC236}">
                <a16:creationId xmlns:a16="http://schemas.microsoft.com/office/drawing/2014/main" id="{5090467B-96BD-480C-9E1F-0DD6F2087D8A}"/>
              </a:ext>
            </a:extLst>
          </p:cNvPr>
          <p:cNvSpPr>
            <a:spLocks xmlns:a="http://schemas.openxmlformats.org/drawingml/2006/main" noGrp="1"/>
          </p:cNvSpPr>
          <p:nvPr/>
        </p:nvSpPr>
        <p:spPr>
          <a:xfrm xmlns:a="http://schemas.openxmlformats.org/drawingml/2006/main">
            <a:off x="9994392" y="2148840"/>
            <a:ext cx="1965960" cy="274320"/>
          </a:xfrm>
          <a:prstGeom xmlns:a="http://schemas.openxmlformats.org/drawingml/2006/main" prst="roundRect">
            <a:avLst>
              <a:gd name="adj" fmla="val 13333"/>
            </a:avLst>
          </a:prstGeom>
          <a:solidFill xmlns:a="http://schemas.openxmlformats.org/drawingml/2006/main">
            <a:srgbClr val="1E40AF"/>
          </a:solidFill>
          <a:ln xmlns:a="http://schemas.openxmlformats.org/drawingml/2006/main" w="12700">
            <a:solidFill>
              <a:srgbClr val="1E40AF"/>
            </a:solidFill>
            <a:prstDash val="solid"/>
          </a:ln>
        </p:spPr>
      </p:sp>
      <p:sp>
        <p:nvSpPr>
          <p:cNvPr id="38" name="Text 34">
            <a:extLst xmlns:a="http://schemas.openxmlformats.org/drawingml/2006/main">
              <a:ext uri="{FF2B5EF4-FFF2-40B4-BE49-F238E27FC236}">
                <a16:creationId xmlns:a16="http://schemas.microsoft.com/office/drawing/2014/main" id="{D85F9C14-C0E5-4EBC-996D-25B9BCE812F4}"/>
              </a:ext>
            </a:extLst>
          </p:cNvPr>
          <p:cNvSpPr>
            <a:spLocks xmlns:a="http://schemas.openxmlformats.org/drawingml/2006/main" noGrp="1"/>
          </p:cNvSpPr>
          <p:nvPr/>
        </p:nvSpPr>
        <p:spPr>
          <a:xfrm xmlns:a="http://schemas.openxmlformats.org/drawingml/2006/main">
            <a:off x="9994392" y="2148840"/>
            <a:ext cx="1965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200">
                <a:solidFill>
                  <a:srgbClr val="FFFFFF"/>
                </a:solidFill>
                <a:latin typeface="Calibri"/>
                <a:ea typeface="Calibri"/>
                <a:cs typeface="Calibri"/>
              </a:rPr>
              <a:t>Productivity</a:t>
            </a:r>
            <a:endParaRPr sz="900"/>
          </a:p>
        </p:txBody>
      </p:sp>
      <p:sp>
        <p:nvSpPr>
          <p:cNvPr id="39" name="Text 35">
            <a:extLst xmlns:a="http://schemas.openxmlformats.org/drawingml/2006/main">
              <a:ext uri="{FF2B5EF4-FFF2-40B4-BE49-F238E27FC236}">
                <a16:creationId xmlns:a16="http://schemas.microsoft.com/office/drawing/2014/main" id="{7629086C-6679-4CE7-BED4-9DD4C00EB32C}"/>
              </a:ext>
            </a:extLst>
          </p:cNvPr>
          <p:cNvSpPr>
            <a:spLocks xmlns:a="http://schemas.openxmlformats.org/drawingml/2006/main" noGrp="1"/>
          </p:cNvSpPr>
          <p:nvPr/>
        </p:nvSpPr>
        <p:spPr>
          <a:xfrm xmlns:a="http://schemas.openxmlformats.org/drawingml/2006/main">
            <a:off x="9994392" y="2514600"/>
            <a:ext cx="196596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Terminal multiplexer - session persist setelah disconnect</a:t>
            </a:r>
            <a:endParaRPr sz="1000"/>
          </a:p>
        </p:txBody>
      </p:sp>
      <p:sp>
        <p:nvSpPr>
          <p:cNvPr id="40" name="Shape 36">
            <a:extLst xmlns:a="http://schemas.openxmlformats.org/drawingml/2006/main">
              <a:ext uri="{FF2B5EF4-FFF2-40B4-BE49-F238E27FC236}">
                <a16:creationId xmlns:a16="http://schemas.microsoft.com/office/drawing/2014/main" id="{2261ADE0-9E9C-4500-9928-023013379C66}"/>
              </a:ext>
            </a:extLst>
          </p:cNvPr>
          <p:cNvSpPr>
            <a:spLocks xmlns:a="http://schemas.openxmlformats.org/drawingml/2006/main" noGrp="1"/>
          </p:cNvSpPr>
          <p:nvPr/>
        </p:nvSpPr>
        <p:spPr>
          <a:xfrm xmlns:a="http://schemas.openxmlformats.org/drawingml/2006/main">
            <a:off x="457200" y="3520440"/>
            <a:ext cx="2240280" cy="19659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41" name="Shape 37">
            <a:extLst xmlns:a="http://schemas.openxmlformats.org/drawingml/2006/main">
              <a:ext uri="{FF2B5EF4-FFF2-40B4-BE49-F238E27FC236}">
                <a16:creationId xmlns:a16="http://schemas.microsoft.com/office/drawing/2014/main" id="{DA252BBF-9F9B-425C-8676-0A7AC5C43114}"/>
              </a:ext>
            </a:extLst>
          </p:cNvPr>
          <p:cNvSpPr>
            <a:spLocks xmlns:a="http://schemas.openxmlformats.org/drawingml/2006/main" noGrp="1"/>
          </p:cNvSpPr>
          <p:nvPr/>
        </p:nvSpPr>
        <p:spPr>
          <a:xfrm xmlns:a="http://schemas.openxmlformats.org/drawingml/2006/main">
            <a:off x="457200" y="3520440"/>
            <a:ext cx="2240280" cy="73152"/>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42" name="Text 38">
            <a:extLst xmlns:a="http://schemas.openxmlformats.org/drawingml/2006/main">
              <a:ext uri="{FF2B5EF4-FFF2-40B4-BE49-F238E27FC236}">
                <a16:creationId xmlns:a16="http://schemas.microsoft.com/office/drawing/2014/main" id="{DE2D8FF5-08EA-498A-B803-3115CBBBF147}"/>
              </a:ext>
            </a:extLst>
          </p:cNvPr>
          <p:cNvSpPr>
            <a:spLocks xmlns:a="http://schemas.openxmlformats.org/drawingml/2006/main" noGrp="1"/>
          </p:cNvSpPr>
          <p:nvPr/>
        </p:nvSpPr>
        <p:spPr>
          <a:xfrm xmlns:a="http://schemas.openxmlformats.org/drawingml/2006/main">
            <a:off x="594360" y="3703320"/>
            <a:ext cx="1965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677"/>
                </a:solidFill>
                <a:latin typeface="Consolas"/>
                <a:ea typeface="Consolas"/>
                <a:cs typeface="Consolas"/>
              </a:rPr>
              <a:t>vim</a:t>
            </a:r>
            <a:endParaRPr sz="1800"/>
          </a:p>
        </p:txBody>
      </p:sp>
      <p:sp>
        <p:nvSpPr>
          <p:cNvPr id="43" name="Shape 39">
            <a:extLst xmlns:a="http://schemas.openxmlformats.org/drawingml/2006/main">
              <a:ext uri="{FF2B5EF4-FFF2-40B4-BE49-F238E27FC236}">
                <a16:creationId xmlns:a16="http://schemas.microsoft.com/office/drawing/2014/main" id="{30724948-FF28-49B8-97E5-20DFDE0BFE43}"/>
              </a:ext>
            </a:extLst>
          </p:cNvPr>
          <p:cNvSpPr>
            <a:spLocks xmlns:a="http://schemas.openxmlformats.org/drawingml/2006/main" noGrp="1"/>
          </p:cNvSpPr>
          <p:nvPr/>
        </p:nvSpPr>
        <p:spPr>
          <a:xfrm xmlns:a="http://schemas.openxmlformats.org/drawingml/2006/main">
            <a:off x="594360" y="4251960"/>
            <a:ext cx="1965960" cy="274320"/>
          </a:xfrm>
          <a:prstGeom xmlns:a="http://schemas.openxmlformats.org/drawingml/2006/main" prst="roundRect">
            <a:avLst>
              <a:gd name="adj" fmla="val 13333"/>
            </a:avLst>
          </a:prstGeom>
          <a:solidFill xmlns:a="http://schemas.openxmlformats.org/drawingml/2006/main">
            <a:srgbClr val="1E40AF"/>
          </a:solidFill>
          <a:ln xmlns:a="http://schemas.openxmlformats.org/drawingml/2006/main" w="12700">
            <a:solidFill>
              <a:srgbClr val="1E40AF"/>
            </a:solidFill>
            <a:prstDash val="solid"/>
          </a:ln>
        </p:spPr>
      </p:sp>
      <p:sp>
        <p:nvSpPr>
          <p:cNvPr id="44" name="Text 40">
            <a:extLst xmlns:a="http://schemas.openxmlformats.org/drawingml/2006/main">
              <a:ext uri="{FF2B5EF4-FFF2-40B4-BE49-F238E27FC236}">
                <a16:creationId xmlns:a16="http://schemas.microsoft.com/office/drawing/2014/main" id="{23441BB8-656C-40A9-BC14-6FC3CB131987}"/>
              </a:ext>
            </a:extLst>
          </p:cNvPr>
          <p:cNvSpPr>
            <a:spLocks xmlns:a="http://schemas.openxmlformats.org/drawingml/2006/main" noGrp="1"/>
          </p:cNvSpPr>
          <p:nvPr/>
        </p:nvSpPr>
        <p:spPr>
          <a:xfrm xmlns:a="http://schemas.openxmlformats.org/drawingml/2006/main">
            <a:off x="594360" y="4251960"/>
            <a:ext cx="1965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200">
                <a:solidFill>
                  <a:srgbClr val="FFFFFF"/>
                </a:solidFill>
                <a:latin typeface="Calibri"/>
                <a:ea typeface="Calibri"/>
                <a:cs typeface="Calibri"/>
              </a:rPr>
              <a:t>Editor</a:t>
            </a:r>
            <a:endParaRPr sz="900"/>
          </a:p>
        </p:txBody>
      </p:sp>
      <p:sp>
        <p:nvSpPr>
          <p:cNvPr id="45" name="Text 41">
            <a:extLst xmlns:a="http://schemas.openxmlformats.org/drawingml/2006/main">
              <a:ext uri="{FF2B5EF4-FFF2-40B4-BE49-F238E27FC236}">
                <a16:creationId xmlns:a16="http://schemas.microsoft.com/office/drawing/2014/main" id="{5D4DC58A-6D56-45DE-B9DF-908F45DFED3F}"/>
              </a:ext>
            </a:extLst>
          </p:cNvPr>
          <p:cNvSpPr>
            <a:spLocks xmlns:a="http://schemas.openxmlformats.org/drawingml/2006/main" noGrp="1"/>
          </p:cNvSpPr>
          <p:nvPr/>
        </p:nvSpPr>
        <p:spPr>
          <a:xfrm xmlns:a="http://schemas.openxmlformats.org/drawingml/2006/main">
            <a:off x="594360" y="4617720"/>
            <a:ext cx="196596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Editor universal (atau nano kalau preferensi)</a:t>
            </a:r>
            <a:endParaRPr sz="1000"/>
          </a:p>
        </p:txBody>
      </p:sp>
      <p:sp>
        <p:nvSpPr>
          <p:cNvPr id="46" name="Shape 42">
            <a:extLst xmlns:a="http://schemas.openxmlformats.org/drawingml/2006/main">
              <a:ext uri="{FF2B5EF4-FFF2-40B4-BE49-F238E27FC236}">
                <a16:creationId xmlns:a16="http://schemas.microsoft.com/office/drawing/2014/main" id="{7D5F0081-0B00-40B2-9D07-6123CE7777AB}"/>
              </a:ext>
            </a:extLst>
          </p:cNvPr>
          <p:cNvSpPr>
            <a:spLocks xmlns:a="http://schemas.openxmlformats.org/drawingml/2006/main" noGrp="1"/>
          </p:cNvSpPr>
          <p:nvPr/>
        </p:nvSpPr>
        <p:spPr>
          <a:xfrm xmlns:a="http://schemas.openxmlformats.org/drawingml/2006/main">
            <a:off x="2807208" y="3520440"/>
            <a:ext cx="2240280" cy="19659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47" name="Shape 43">
            <a:extLst xmlns:a="http://schemas.openxmlformats.org/drawingml/2006/main">
              <a:ext uri="{FF2B5EF4-FFF2-40B4-BE49-F238E27FC236}">
                <a16:creationId xmlns:a16="http://schemas.microsoft.com/office/drawing/2014/main" id="{040B88D5-947E-4870-8D9E-90D64A7F8CF7}"/>
              </a:ext>
            </a:extLst>
          </p:cNvPr>
          <p:cNvSpPr>
            <a:spLocks xmlns:a="http://schemas.openxmlformats.org/drawingml/2006/main" noGrp="1"/>
          </p:cNvSpPr>
          <p:nvPr/>
        </p:nvSpPr>
        <p:spPr>
          <a:xfrm xmlns:a="http://schemas.openxmlformats.org/drawingml/2006/main">
            <a:off x="2807208" y="3520440"/>
            <a:ext cx="2240280" cy="73152"/>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48" name="Text 44">
            <a:extLst xmlns:a="http://schemas.openxmlformats.org/drawingml/2006/main">
              <a:ext uri="{FF2B5EF4-FFF2-40B4-BE49-F238E27FC236}">
                <a16:creationId xmlns:a16="http://schemas.microsoft.com/office/drawing/2014/main" id="{6C3FED6B-4544-4A02-B642-9A96A61062C5}"/>
              </a:ext>
            </a:extLst>
          </p:cNvPr>
          <p:cNvSpPr>
            <a:spLocks xmlns:a="http://schemas.openxmlformats.org/drawingml/2006/main" noGrp="1"/>
          </p:cNvSpPr>
          <p:nvPr/>
        </p:nvSpPr>
        <p:spPr>
          <a:xfrm xmlns:a="http://schemas.openxmlformats.org/drawingml/2006/main">
            <a:off x="2944368" y="3703320"/>
            <a:ext cx="1965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677"/>
                </a:solidFill>
                <a:latin typeface="Consolas"/>
                <a:ea typeface="Consolas"/>
                <a:cs typeface="Consolas"/>
              </a:rPr>
              <a:t>build-essential</a:t>
            </a:r>
            <a:endParaRPr sz="1800"/>
          </a:p>
        </p:txBody>
      </p:sp>
      <p:sp>
        <p:nvSpPr>
          <p:cNvPr id="49" name="Shape 45">
            <a:extLst xmlns:a="http://schemas.openxmlformats.org/drawingml/2006/main">
              <a:ext uri="{FF2B5EF4-FFF2-40B4-BE49-F238E27FC236}">
                <a16:creationId xmlns:a16="http://schemas.microsoft.com/office/drawing/2014/main" id="{7601A1C8-28C8-49F8-B2F9-A0C8DD73503D}"/>
              </a:ext>
            </a:extLst>
          </p:cNvPr>
          <p:cNvSpPr>
            <a:spLocks xmlns:a="http://schemas.openxmlformats.org/drawingml/2006/main" noGrp="1"/>
          </p:cNvSpPr>
          <p:nvPr/>
        </p:nvSpPr>
        <p:spPr>
          <a:xfrm xmlns:a="http://schemas.openxmlformats.org/drawingml/2006/main">
            <a:off x="2944368" y="4251960"/>
            <a:ext cx="1965960" cy="274320"/>
          </a:xfrm>
          <a:prstGeom xmlns:a="http://schemas.openxmlformats.org/drawingml/2006/main" prst="roundRect">
            <a:avLst>
              <a:gd name="adj" fmla="val 13333"/>
            </a:avLst>
          </a:prstGeom>
          <a:solidFill xmlns:a="http://schemas.openxmlformats.org/drawingml/2006/main">
            <a:srgbClr val="1E40AF"/>
          </a:solidFill>
          <a:ln xmlns:a="http://schemas.openxmlformats.org/drawingml/2006/main" w="12700">
            <a:solidFill>
              <a:srgbClr val="1E40AF"/>
            </a:solidFill>
            <a:prstDash val="solid"/>
          </a:ln>
        </p:spPr>
      </p:sp>
      <p:sp>
        <p:nvSpPr>
          <p:cNvPr id="50" name="Text 46">
            <a:extLst xmlns:a="http://schemas.openxmlformats.org/drawingml/2006/main">
              <a:ext uri="{FF2B5EF4-FFF2-40B4-BE49-F238E27FC236}">
                <a16:creationId xmlns:a16="http://schemas.microsoft.com/office/drawing/2014/main" id="{92440F5B-CB52-4882-8A07-BC61DCEA4E41}"/>
              </a:ext>
            </a:extLst>
          </p:cNvPr>
          <p:cNvSpPr>
            <a:spLocks xmlns:a="http://schemas.openxmlformats.org/drawingml/2006/main" noGrp="1"/>
          </p:cNvSpPr>
          <p:nvPr/>
        </p:nvSpPr>
        <p:spPr>
          <a:xfrm xmlns:a="http://schemas.openxmlformats.org/drawingml/2006/main">
            <a:off x="2944368" y="4251960"/>
            <a:ext cx="1965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200">
                <a:solidFill>
                  <a:srgbClr val="FFFFFF"/>
                </a:solidFill>
                <a:latin typeface="Calibri"/>
                <a:ea typeface="Calibri"/>
                <a:cs typeface="Calibri"/>
              </a:rPr>
              <a:t>Dev</a:t>
            </a:r>
            <a:endParaRPr sz="900"/>
          </a:p>
        </p:txBody>
      </p:sp>
      <p:sp>
        <p:nvSpPr>
          <p:cNvPr id="51" name="Text 47">
            <a:extLst xmlns:a="http://schemas.openxmlformats.org/drawingml/2006/main">
              <a:ext uri="{FF2B5EF4-FFF2-40B4-BE49-F238E27FC236}">
                <a16:creationId xmlns:a16="http://schemas.microsoft.com/office/drawing/2014/main" id="{B6189C80-BAE8-4FF7-ADBD-EBB46EF258C7}"/>
              </a:ext>
            </a:extLst>
          </p:cNvPr>
          <p:cNvSpPr>
            <a:spLocks xmlns:a="http://schemas.openxmlformats.org/drawingml/2006/main" noGrp="1"/>
          </p:cNvSpPr>
          <p:nvPr/>
        </p:nvSpPr>
        <p:spPr>
          <a:xfrm xmlns:a="http://schemas.openxmlformats.org/drawingml/2006/main">
            <a:off x="2944368" y="4617720"/>
            <a:ext cx="196596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gcc, make, header files untuk compile package</a:t>
            </a:r>
            <a:endParaRPr sz="1000"/>
          </a:p>
        </p:txBody>
      </p:sp>
      <p:sp>
        <p:nvSpPr>
          <p:cNvPr id="52" name="Shape 48">
            <a:extLst xmlns:a="http://schemas.openxmlformats.org/drawingml/2006/main">
              <a:ext uri="{FF2B5EF4-FFF2-40B4-BE49-F238E27FC236}">
                <a16:creationId xmlns:a16="http://schemas.microsoft.com/office/drawing/2014/main" id="{1598D522-F12D-41B5-9C59-72969407C5FA}"/>
              </a:ext>
            </a:extLst>
          </p:cNvPr>
          <p:cNvSpPr>
            <a:spLocks xmlns:a="http://schemas.openxmlformats.org/drawingml/2006/main" noGrp="1"/>
          </p:cNvSpPr>
          <p:nvPr/>
        </p:nvSpPr>
        <p:spPr>
          <a:xfrm xmlns:a="http://schemas.openxmlformats.org/drawingml/2006/main">
            <a:off x="5157216" y="3520440"/>
            <a:ext cx="2240280" cy="19659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53" name="Shape 49">
            <a:extLst xmlns:a="http://schemas.openxmlformats.org/drawingml/2006/main">
              <a:ext uri="{FF2B5EF4-FFF2-40B4-BE49-F238E27FC236}">
                <a16:creationId xmlns:a16="http://schemas.microsoft.com/office/drawing/2014/main" id="{2DB5A318-AE3D-4C31-BD96-6072A4970AE3}"/>
              </a:ext>
            </a:extLst>
          </p:cNvPr>
          <p:cNvSpPr>
            <a:spLocks xmlns:a="http://schemas.openxmlformats.org/drawingml/2006/main" noGrp="1"/>
          </p:cNvSpPr>
          <p:nvPr/>
        </p:nvSpPr>
        <p:spPr>
          <a:xfrm xmlns:a="http://schemas.openxmlformats.org/drawingml/2006/main">
            <a:off x="5157216" y="3520440"/>
            <a:ext cx="2240280" cy="73152"/>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54" name="Text 50">
            <a:extLst xmlns:a="http://schemas.openxmlformats.org/drawingml/2006/main">
              <a:ext uri="{FF2B5EF4-FFF2-40B4-BE49-F238E27FC236}">
                <a16:creationId xmlns:a16="http://schemas.microsoft.com/office/drawing/2014/main" id="{02781D10-9F1F-4AAC-929F-15CBFA5C73CD}"/>
              </a:ext>
            </a:extLst>
          </p:cNvPr>
          <p:cNvSpPr>
            <a:spLocks xmlns:a="http://schemas.openxmlformats.org/drawingml/2006/main" noGrp="1"/>
          </p:cNvSpPr>
          <p:nvPr/>
        </p:nvSpPr>
        <p:spPr>
          <a:xfrm xmlns:a="http://schemas.openxmlformats.org/drawingml/2006/main">
            <a:off x="5294376" y="3703320"/>
            <a:ext cx="1965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677"/>
                </a:solidFill>
                <a:latin typeface="Consolas"/>
                <a:ea typeface="Consolas"/>
                <a:cs typeface="Consolas"/>
              </a:rPr>
              <a:t>jq</a:t>
            </a:r>
            <a:endParaRPr sz="1800"/>
          </a:p>
        </p:txBody>
      </p:sp>
      <p:sp>
        <p:nvSpPr>
          <p:cNvPr id="55" name="Shape 51">
            <a:extLst xmlns:a="http://schemas.openxmlformats.org/drawingml/2006/main">
              <a:ext uri="{FF2B5EF4-FFF2-40B4-BE49-F238E27FC236}">
                <a16:creationId xmlns:a16="http://schemas.microsoft.com/office/drawing/2014/main" id="{BABF5B49-7005-4FEE-88B5-F0540BF25097}"/>
              </a:ext>
            </a:extLst>
          </p:cNvPr>
          <p:cNvSpPr>
            <a:spLocks xmlns:a="http://schemas.openxmlformats.org/drawingml/2006/main" noGrp="1"/>
          </p:cNvSpPr>
          <p:nvPr/>
        </p:nvSpPr>
        <p:spPr>
          <a:xfrm xmlns:a="http://schemas.openxmlformats.org/drawingml/2006/main">
            <a:off x="5294376" y="4251960"/>
            <a:ext cx="1965960" cy="274320"/>
          </a:xfrm>
          <a:prstGeom xmlns:a="http://schemas.openxmlformats.org/drawingml/2006/main" prst="roundRect">
            <a:avLst>
              <a:gd name="adj" fmla="val 13333"/>
            </a:avLst>
          </a:prstGeom>
          <a:solidFill xmlns:a="http://schemas.openxmlformats.org/drawingml/2006/main">
            <a:srgbClr val="1E40AF"/>
          </a:solidFill>
          <a:ln xmlns:a="http://schemas.openxmlformats.org/drawingml/2006/main" w="12700">
            <a:solidFill>
              <a:srgbClr val="1E40AF"/>
            </a:solidFill>
            <a:prstDash val="solid"/>
          </a:ln>
        </p:spPr>
      </p:sp>
      <p:sp>
        <p:nvSpPr>
          <p:cNvPr id="56" name="Text 52">
            <a:extLst xmlns:a="http://schemas.openxmlformats.org/drawingml/2006/main">
              <a:ext uri="{FF2B5EF4-FFF2-40B4-BE49-F238E27FC236}">
                <a16:creationId xmlns:a16="http://schemas.microsoft.com/office/drawing/2014/main" id="{E225E5F8-79F1-4720-803E-8950566A7433}"/>
              </a:ext>
            </a:extLst>
          </p:cNvPr>
          <p:cNvSpPr>
            <a:spLocks xmlns:a="http://schemas.openxmlformats.org/drawingml/2006/main" noGrp="1"/>
          </p:cNvSpPr>
          <p:nvPr/>
        </p:nvSpPr>
        <p:spPr>
          <a:xfrm xmlns:a="http://schemas.openxmlformats.org/drawingml/2006/main">
            <a:off x="5294376" y="4251960"/>
            <a:ext cx="1965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200">
                <a:solidFill>
                  <a:srgbClr val="FFFFFF"/>
                </a:solidFill>
                <a:latin typeface="Calibri"/>
                <a:ea typeface="Calibri"/>
                <a:cs typeface="Calibri"/>
              </a:rPr>
              <a:t>Data</a:t>
            </a:r>
            <a:endParaRPr sz="900"/>
          </a:p>
        </p:txBody>
      </p:sp>
      <p:sp>
        <p:nvSpPr>
          <p:cNvPr id="57" name="Text 53">
            <a:extLst xmlns:a="http://schemas.openxmlformats.org/drawingml/2006/main">
              <a:ext uri="{FF2B5EF4-FFF2-40B4-BE49-F238E27FC236}">
                <a16:creationId xmlns:a16="http://schemas.microsoft.com/office/drawing/2014/main" id="{923F9B61-9D3D-41BE-986C-175A1C2C684F}"/>
              </a:ext>
            </a:extLst>
          </p:cNvPr>
          <p:cNvSpPr>
            <a:spLocks xmlns:a="http://schemas.openxmlformats.org/drawingml/2006/main" noGrp="1"/>
          </p:cNvSpPr>
          <p:nvPr/>
        </p:nvSpPr>
        <p:spPr>
          <a:xfrm xmlns:a="http://schemas.openxmlformats.org/drawingml/2006/main">
            <a:off x="5294376" y="4617720"/>
            <a:ext cx="196596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JSON processor - parse output API di CLI</a:t>
            </a:r>
            <a:endParaRPr sz="1000"/>
          </a:p>
        </p:txBody>
      </p:sp>
      <p:sp>
        <p:nvSpPr>
          <p:cNvPr id="58" name="Shape 54">
            <a:extLst xmlns:a="http://schemas.openxmlformats.org/drawingml/2006/main">
              <a:ext uri="{FF2B5EF4-FFF2-40B4-BE49-F238E27FC236}">
                <a16:creationId xmlns:a16="http://schemas.microsoft.com/office/drawing/2014/main" id="{8EEB3A8D-059F-465C-A7D7-24A6C47EBADD}"/>
              </a:ext>
            </a:extLst>
          </p:cNvPr>
          <p:cNvSpPr>
            <a:spLocks xmlns:a="http://schemas.openxmlformats.org/drawingml/2006/main" noGrp="1"/>
          </p:cNvSpPr>
          <p:nvPr/>
        </p:nvSpPr>
        <p:spPr>
          <a:xfrm xmlns:a="http://schemas.openxmlformats.org/drawingml/2006/main">
            <a:off x="7507224" y="3520440"/>
            <a:ext cx="2240280" cy="19659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59" name="Shape 55">
            <a:extLst xmlns:a="http://schemas.openxmlformats.org/drawingml/2006/main">
              <a:ext uri="{FF2B5EF4-FFF2-40B4-BE49-F238E27FC236}">
                <a16:creationId xmlns:a16="http://schemas.microsoft.com/office/drawing/2014/main" id="{7B6A47BB-1F39-4265-A8BC-01B090FAB8E6}"/>
              </a:ext>
            </a:extLst>
          </p:cNvPr>
          <p:cNvSpPr>
            <a:spLocks xmlns:a="http://schemas.openxmlformats.org/drawingml/2006/main" noGrp="1"/>
          </p:cNvSpPr>
          <p:nvPr/>
        </p:nvSpPr>
        <p:spPr>
          <a:xfrm xmlns:a="http://schemas.openxmlformats.org/drawingml/2006/main">
            <a:off x="7507224" y="3520440"/>
            <a:ext cx="2240280" cy="73152"/>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60" name="Text 56">
            <a:extLst xmlns:a="http://schemas.openxmlformats.org/drawingml/2006/main">
              <a:ext uri="{FF2B5EF4-FFF2-40B4-BE49-F238E27FC236}">
                <a16:creationId xmlns:a16="http://schemas.microsoft.com/office/drawing/2014/main" id="{69B7561C-B5C9-4379-A228-E712F917BDE4}"/>
              </a:ext>
            </a:extLst>
          </p:cNvPr>
          <p:cNvSpPr>
            <a:spLocks xmlns:a="http://schemas.openxmlformats.org/drawingml/2006/main" noGrp="1"/>
          </p:cNvSpPr>
          <p:nvPr/>
        </p:nvSpPr>
        <p:spPr>
          <a:xfrm xmlns:a="http://schemas.openxmlformats.org/drawingml/2006/main">
            <a:off x="7644384" y="3703320"/>
            <a:ext cx="1965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677"/>
                </a:solidFill>
                <a:latin typeface="Consolas"/>
                <a:ea typeface="Consolas"/>
                <a:cs typeface="Consolas"/>
              </a:rPr>
              <a:t>tree</a:t>
            </a:r>
            <a:endParaRPr sz="1800"/>
          </a:p>
        </p:txBody>
      </p:sp>
      <p:sp>
        <p:nvSpPr>
          <p:cNvPr id="61" name="Shape 57">
            <a:extLst xmlns:a="http://schemas.openxmlformats.org/drawingml/2006/main">
              <a:ext uri="{FF2B5EF4-FFF2-40B4-BE49-F238E27FC236}">
                <a16:creationId xmlns:a16="http://schemas.microsoft.com/office/drawing/2014/main" id="{28C82FFC-F75E-4051-97D6-CDA6930DF736}"/>
              </a:ext>
            </a:extLst>
          </p:cNvPr>
          <p:cNvSpPr>
            <a:spLocks xmlns:a="http://schemas.openxmlformats.org/drawingml/2006/main" noGrp="1"/>
          </p:cNvSpPr>
          <p:nvPr/>
        </p:nvSpPr>
        <p:spPr>
          <a:xfrm xmlns:a="http://schemas.openxmlformats.org/drawingml/2006/main">
            <a:off x="7644384" y="4251960"/>
            <a:ext cx="1965960" cy="274320"/>
          </a:xfrm>
          <a:prstGeom xmlns:a="http://schemas.openxmlformats.org/drawingml/2006/main" prst="roundRect">
            <a:avLst>
              <a:gd name="adj" fmla="val 13333"/>
            </a:avLst>
          </a:prstGeom>
          <a:solidFill xmlns:a="http://schemas.openxmlformats.org/drawingml/2006/main">
            <a:srgbClr val="1E40AF"/>
          </a:solidFill>
          <a:ln xmlns:a="http://schemas.openxmlformats.org/drawingml/2006/main" w="12700">
            <a:solidFill>
              <a:srgbClr val="1E40AF"/>
            </a:solidFill>
            <a:prstDash val="solid"/>
          </a:ln>
        </p:spPr>
      </p:sp>
      <p:sp>
        <p:nvSpPr>
          <p:cNvPr id="62" name="Text 58">
            <a:extLst xmlns:a="http://schemas.openxmlformats.org/drawingml/2006/main">
              <a:ext uri="{FF2B5EF4-FFF2-40B4-BE49-F238E27FC236}">
                <a16:creationId xmlns:a16="http://schemas.microsoft.com/office/drawing/2014/main" id="{3D1C4F57-2218-49B4-BE1F-C4087216781D}"/>
              </a:ext>
            </a:extLst>
          </p:cNvPr>
          <p:cNvSpPr>
            <a:spLocks xmlns:a="http://schemas.openxmlformats.org/drawingml/2006/main" noGrp="1"/>
          </p:cNvSpPr>
          <p:nvPr/>
        </p:nvSpPr>
        <p:spPr>
          <a:xfrm xmlns:a="http://schemas.openxmlformats.org/drawingml/2006/main">
            <a:off x="7644384" y="4251960"/>
            <a:ext cx="1965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200">
                <a:solidFill>
                  <a:srgbClr val="FFFFFF"/>
                </a:solidFill>
                <a:latin typeface="Calibri"/>
                <a:ea typeface="Calibri"/>
                <a:cs typeface="Calibri"/>
              </a:rPr>
              <a:t>Navigation</a:t>
            </a:r>
            <a:endParaRPr sz="900"/>
          </a:p>
        </p:txBody>
      </p:sp>
      <p:sp>
        <p:nvSpPr>
          <p:cNvPr id="63" name="Text 59">
            <a:extLst xmlns:a="http://schemas.openxmlformats.org/drawingml/2006/main">
              <a:ext uri="{FF2B5EF4-FFF2-40B4-BE49-F238E27FC236}">
                <a16:creationId xmlns:a16="http://schemas.microsoft.com/office/drawing/2014/main" id="{96C4CD7F-8C9D-4094-A137-902C3A6AC256}"/>
              </a:ext>
            </a:extLst>
          </p:cNvPr>
          <p:cNvSpPr>
            <a:spLocks xmlns:a="http://schemas.openxmlformats.org/drawingml/2006/main" noGrp="1"/>
          </p:cNvSpPr>
          <p:nvPr/>
        </p:nvSpPr>
        <p:spPr>
          <a:xfrm xmlns:a="http://schemas.openxmlformats.org/drawingml/2006/main">
            <a:off x="7644384" y="4617720"/>
            <a:ext cx="196596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Tampilkan struktur direktori sebagai tree</a:t>
            </a:r>
            <a:endParaRPr sz="1000"/>
          </a:p>
        </p:txBody>
      </p:sp>
      <p:sp>
        <p:nvSpPr>
          <p:cNvPr id="64" name="Shape 60">
            <a:extLst xmlns:a="http://schemas.openxmlformats.org/drawingml/2006/main">
              <a:ext uri="{FF2B5EF4-FFF2-40B4-BE49-F238E27FC236}">
                <a16:creationId xmlns:a16="http://schemas.microsoft.com/office/drawing/2014/main" id="{6AD8F330-D962-4BDE-A802-E3140879A9AA}"/>
              </a:ext>
            </a:extLst>
          </p:cNvPr>
          <p:cNvSpPr>
            <a:spLocks xmlns:a="http://schemas.openxmlformats.org/drawingml/2006/main" noGrp="1"/>
          </p:cNvSpPr>
          <p:nvPr/>
        </p:nvSpPr>
        <p:spPr>
          <a:xfrm xmlns:a="http://schemas.openxmlformats.org/drawingml/2006/main">
            <a:off x="9857232" y="3520440"/>
            <a:ext cx="2240280" cy="19659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65" name="Shape 61">
            <a:extLst xmlns:a="http://schemas.openxmlformats.org/drawingml/2006/main">
              <a:ext uri="{FF2B5EF4-FFF2-40B4-BE49-F238E27FC236}">
                <a16:creationId xmlns:a16="http://schemas.microsoft.com/office/drawing/2014/main" id="{91C2C88E-8A14-4A7B-800D-E15A6A4B8835}"/>
              </a:ext>
            </a:extLst>
          </p:cNvPr>
          <p:cNvSpPr>
            <a:spLocks xmlns:a="http://schemas.openxmlformats.org/drawingml/2006/main" noGrp="1"/>
          </p:cNvSpPr>
          <p:nvPr/>
        </p:nvSpPr>
        <p:spPr>
          <a:xfrm xmlns:a="http://schemas.openxmlformats.org/drawingml/2006/main">
            <a:off x="9857232" y="3520440"/>
            <a:ext cx="2240280" cy="73152"/>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66" name="Text 62">
            <a:extLst xmlns:a="http://schemas.openxmlformats.org/drawingml/2006/main">
              <a:ext uri="{FF2B5EF4-FFF2-40B4-BE49-F238E27FC236}">
                <a16:creationId xmlns:a16="http://schemas.microsoft.com/office/drawing/2014/main" id="{352B2409-25C7-4D52-9DCA-229302299486}"/>
              </a:ext>
            </a:extLst>
          </p:cNvPr>
          <p:cNvSpPr>
            <a:spLocks xmlns:a="http://schemas.openxmlformats.org/drawingml/2006/main" noGrp="1"/>
          </p:cNvSpPr>
          <p:nvPr/>
        </p:nvSpPr>
        <p:spPr>
          <a:xfrm xmlns:a="http://schemas.openxmlformats.org/drawingml/2006/main">
            <a:off x="9994392" y="3703320"/>
            <a:ext cx="1965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677"/>
                </a:solidFill>
                <a:latin typeface="Consolas"/>
                <a:ea typeface="Consolas"/>
                <a:cs typeface="Consolas"/>
              </a:rPr>
              <a:t>net-tools</a:t>
            </a:r>
            <a:endParaRPr sz="1800"/>
          </a:p>
        </p:txBody>
      </p:sp>
      <p:sp>
        <p:nvSpPr>
          <p:cNvPr id="67" name="Shape 63">
            <a:extLst xmlns:a="http://schemas.openxmlformats.org/drawingml/2006/main">
              <a:ext uri="{FF2B5EF4-FFF2-40B4-BE49-F238E27FC236}">
                <a16:creationId xmlns:a16="http://schemas.microsoft.com/office/drawing/2014/main" id="{95B1403F-3DB7-4C12-8E3A-0FDE6C688B19}"/>
              </a:ext>
            </a:extLst>
          </p:cNvPr>
          <p:cNvSpPr>
            <a:spLocks xmlns:a="http://schemas.openxmlformats.org/drawingml/2006/main" noGrp="1"/>
          </p:cNvSpPr>
          <p:nvPr/>
        </p:nvSpPr>
        <p:spPr>
          <a:xfrm xmlns:a="http://schemas.openxmlformats.org/drawingml/2006/main">
            <a:off x="9994392" y="4251960"/>
            <a:ext cx="1965960" cy="274320"/>
          </a:xfrm>
          <a:prstGeom xmlns:a="http://schemas.openxmlformats.org/drawingml/2006/main" prst="roundRect">
            <a:avLst>
              <a:gd name="adj" fmla="val 13333"/>
            </a:avLst>
          </a:prstGeom>
          <a:solidFill xmlns:a="http://schemas.openxmlformats.org/drawingml/2006/main">
            <a:srgbClr val="1E40AF"/>
          </a:solidFill>
          <a:ln xmlns:a="http://schemas.openxmlformats.org/drawingml/2006/main" w="12700">
            <a:solidFill>
              <a:srgbClr val="1E40AF"/>
            </a:solidFill>
            <a:prstDash val="solid"/>
          </a:ln>
        </p:spPr>
      </p:sp>
      <p:sp>
        <p:nvSpPr>
          <p:cNvPr id="68" name="Text 64">
            <a:extLst xmlns:a="http://schemas.openxmlformats.org/drawingml/2006/main">
              <a:ext uri="{FF2B5EF4-FFF2-40B4-BE49-F238E27FC236}">
                <a16:creationId xmlns:a16="http://schemas.microsoft.com/office/drawing/2014/main" id="{7A79FA8F-F5C6-4CB8-897C-CA26F8CC7D34}"/>
              </a:ext>
            </a:extLst>
          </p:cNvPr>
          <p:cNvSpPr>
            <a:spLocks xmlns:a="http://schemas.openxmlformats.org/drawingml/2006/main" noGrp="1"/>
          </p:cNvSpPr>
          <p:nvPr/>
        </p:nvSpPr>
        <p:spPr>
          <a:xfrm xmlns:a="http://schemas.openxmlformats.org/drawingml/2006/main">
            <a:off x="9994392" y="4251960"/>
            <a:ext cx="1965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200">
                <a:solidFill>
                  <a:srgbClr val="FFFFFF"/>
                </a:solidFill>
                <a:latin typeface="Calibri"/>
                <a:ea typeface="Calibri"/>
                <a:cs typeface="Calibri"/>
              </a:rPr>
              <a:t>Networking</a:t>
            </a:r>
            <a:endParaRPr sz="900"/>
          </a:p>
        </p:txBody>
      </p:sp>
      <p:sp>
        <p:nvSpPr>
          <p:cNvPr id="69" name="Text 65">
            <a:extLst xmlns:a="http://schemas.openxmlformats.org/drawingml/2006/main">
              <a:ext uri="{FF2B5EF4-FFF2-40B4-BE49-F238E27FC236}">
                <a16:creationId xmlns:a16="http://schemas.microsoft.com/office/drawing/2014/main" id="{DD82B87E-DDD5-431B-BD19-AC1C751C2E9D}"/>
              </a:ext>
            </a:extLst>
          </p:cNvPr>
          <p:cNvSpPr>
            <a:spLocks xmlns:a="http://schemas.openxmlformats.org/drawingml/2006/main" noGrp="1"/>
          </p:cNvSpPr>
          <p:nvPr/>
        </p:nvSpPr>
        <p:spPr>
          <a:xfrm xmlns:a="http://schemas.openxmlformats.org/drawingml/2006/main">
            <a:off x="9994392" y="4617720"/>
            <a:ext cx="196596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ifconfig, netstat (legacy tapi sering dipakai)</a:t>
            </a:r>
            <a:endParaRPr sz="1000"/>
          </a:p>
        </p:txBody>
      </p:sp>
      <p:sp>
        <p:nvSpPr>
          <p:cNvPr id="70" name="Shape 66">
            <a:extLst xmlns:a="http://schemas.openxmlformats.org/drawingml/2006/main">
              <a:ext uri="{FF2B5EF4-FFF2-40B4-BE49-F238E27FC236}">
                <a16:creationId xmlns:a16="http://schemas.microsoft.com/office/drawing/2014/main" id="{E9354A4B-A347-4651-AFCA-7B3CC6E2BEA4}"/>
              </a:ext>
            </a:extLst>
          </p:cNvPr>
          <p:cNvSpPr>
            <a:spLocks xmlns:a="http://schemas.openxmlformats.org/drawingml/2006/main" noGrp="1"/>
          </p:cNvSpPr>
          <p:nvPr/>
        </p:nvSpPr>
        <p:spPr>
          <a:xfrm xmlns:a="http://schemas.openxmlformats.org/drawingml/2006/main">
            <a:off x="457200" y="5669280"/>
            <a:ext cx="11247120" cy="77724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71" name="Text 67">
            <a:extLst xmlns:a="http://schemas.openxmlformats.org/drawingml/2006/main">
              <a:ext uri="{FF2B5EF4-FFF2-40B4-BE49-F238E27FC236}">
                <a16:creationId xmlns:a16="http://schemas.microsoft.com/office/drawing/2014/main" id="{0D9E066F-CFE5-4F3A-B95B-4D0418057F0E}"/>
              </a:ext>
            </a:extLst>
          </p:cNvPr>
          <p:cNvSpPr>
            <a:spLocks xmlns:a="http://schemas.openxmlformats.org/drawingml/2006/main" noGrp="1"/>
          </p:cNvSpPr>
          <p:nvPr/>
        </p:nvSpPr>
        <p:spPr>
          <a:xfrm xmlns:a="http://schemas.openxmlformats.org/drawingml/2006/main">
            <a:off x="640080" y="5715000"/>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F37021"/>
                </a:solidFill>
                <a:latin typeface="Calibri"/>
                <a:ea typeface="Calibri"/>
                <a:cs typeface="Calibri"/>
              </a:rPr>
              <a:t>One-liner setup VM baru:</a:t>
            </a:r>
            <a:endParaRPr sz="1000"/>
          </a:p>
        </p:txBody>
      </p:sp>
      <p:sp>
        <p:nvSpPr>
          <p:cNvPr id="72" name="Text 68">
            <a:extLst xmlns:a="http://schemas.openxmlformats.org/drawingml/2006/main">
              <a:ext uri="{FF2B5EF4-FFF2-40B4-BE49-F238E27FC236}">
                <a16:creationId xmlns:a16="http://schemas.microsoft.com/office/drawing/2014/main" id="{DD1AA97A-22E0-4EFA-89E5-F4690C01AA28}"/>
              </a:ext>
            </a:extLst>
          </p:cNvPr>
          <p:cNvSpPr>
            <a:spLocks xmlns:a="http://schemas.openxmlformats.org/drawingml/2006/main" noGrp="1"/>
          </p:cNvSpPr>
          <p:nvPr/>
        </p:nvSpPr>
        <p:spPr>
          <a:xfrm xmlns:a="http://schemas.openxmlformats.org/drawingml/2006/main">
            <a:off x="640080" y="5989320"/>
            <a:ext cx="10881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 </a:t>
            </a:r>
            <a:r>
              <a:rPr sz="1100">
                <a:solidFill>
                  <a:srgbClr val="E2E8F0"/>
                </a:solidFill>
                <a:latin typeface="Consolas"/>
                <a:ea typeface="Consolas"/>
                <a:cs typeface="Consolas"/>
              </a:rPr>
              <a:t>sudo apt update &amp;&amp; sudo apt install -y curl wget git htop tmux vim build-essential jq tree net-tools</a:t>
            </a:r>
            <a:endParaRPr sz="1100"/>
          </a:p>
        </p:txBody>
      </p:sp>
    </p:spTree>
    <p:extLst>
      <p:ext uri="{BB962C8B-B14F-4D97-AF65-F5344CB8AC3E}">
        <p14:creationId xmlns:p14="http://schemas.microsoft.com/office/powerpoint/2010/main" val="1077257750"/>
      </p:ext>
    </p:extLst>
  </p:cSld>
</p:sld>
</file>

<file path=ppt/slides/slide24.xml><?xml version="1.0" encoding="utf-8"?>
<p:sld xmlns:p="http://schemas.openxmlformats.org/presentationml/2006/main">
  <p:cSld>
    <p:bg>
      <p:bgPr>
        <a:solidFill xmlns:a="http://schemas.openxmlformats.org/drawingml/2006/main">
          <a:srgbClr val="0D47A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9A67DE8-5133-44BC-9B60-1256CAE83BDD}"/>
              </a:ext>
            </a:extLst>
          </p:cNvPr>
          <p:cNvSpPr>
            <a:spLocks xmlns:a="http://schemas.openxmlformats.org/drawingml/2006/main" noGrp="1"/>
          </p:cNvSpPr>
          <p:nvPr/>
        </p:nvSpPr>
        <p:spPr>
          <a:xfrm xmlns:a="http://schemas.openxmlformats.org/drawingml/2006/main">
            <a:off x="-1828800" y="3657600"/>
            <a:ext cx="6400800" cy="6400800"/>
          </a:xfrm>
          <a:prstGeom xmlns:a="http://schemas.openxmlformats.org/drawingml/2006/main" prst="ellipse">
            <a:avLst/>
          </a:prstGeom>
          <a:solidFill xmlns:a="http://schemas.openxmlformats.org/drawingml/2006/main">
            <a:srgbClr val="1565C0">
              <a:alpha val="25000"/>
            </a:srgbClr>
          </a:solidFill>
          <a:ln xmlns:a="http://schemas.openxmlformats.org/drawingml/2006/main" w="12700">
            <a:solidFill>
              <a:srgbClr val="1565C0">
                <a:alpha val="0"/>
              </a:srgbClr>
            </a:solidFill>
            <a:prstDash val="solid"/>
          </a:ln>
        </p:spPr>
      </p:sp>
      <p:sp>
        <p:nvSpPr>
          <p:cNvPr id="3" name="Shape 1">
            <a:extLst xmlns:a="http://schemas.openxmlformats.org/drawingml/2006/main">
              <a:ext uri="{FF2B5EF4-FFF2-40B4-BE49-F238E27FC236}">
                <a16:creationId xmlns:a16="http://schemas.microsoft.com/office/drawing/2014/main" id="{D629A700-B7F4-4BE0-90DA-F31A5F5CAD9E}"/>
              </a:ext>
            </a:extLst>
          </p:cNvPr>
          <p:cNvSpPr>
            <a:spLocks xmlns:a="http://schemas.openxmlformats.org/drawingml/2006/main" noGrp="1"/>
          </p:cNvSpPr>
          <p:nvPr/>
        </p:nvSpPr>
        <p:spPr>
          <a:xfrm xmlns:a="http://schemas.openxmlformats.org/drawingml/2006/main">
            <a:off x="7315200" y="-914400"/>
            <a:ext cx="7315200" cy="7315200"/>
          </a:xfrm>
          <a:prstGeom xmlns:a="http://schemas.openxmlformats.org/drawingml/2006/main" prst="ellipse">
            <a:avLst/>
          </a:prstGeom>
          <a:solidFill xmlns:a="http://schemas.openxmlformats.org/drawingml/2006/main">
            <a:srgbClr val="1976D2">
              <a:alpha val="20000"/>
            </a:srgbClr>
          </a:solidFill>
          <a:ln xmlns:a="http://schemas.openxmlformats.org/drawingml/2006/main" w="12700">
            <a:solidFill>
              <a:srgbClr val="1976D2">
                <a:alpha val="0"/>
              </a:srgbClr>
            </a:solidFill>
            <a:prstDash val="solid"/>
          </a:ln>
        </p:spPr>
      </p:sp>
      <p:sp>
        <p:nvSpPr>
          <p:cNvPr id="4" name="Shape 2">
            <a:extLst xmlns:a="http://schemas.openxmlformats.org/drawingml/2006/main">
              <a:ext uri="{FF2B5EF4-FFF2-40B4-BE49-F238E27FC236}">
                <a16:creationId xmlns:a16="http://schemas.microsoft.com/office/drawing/2014/main" id="{001852EE-1B3A-4824-BDBB-3529BAF25586}"/>
              </a:ext>
            </a:extLst>
          </p:cNvPr>
          <p:cNvSpPr>
            <a:spLocks xmlns:a="http://schemas.openxmlformats.org/drawingml/2006/main" noGrp="1"/>
          </p:cNvSpPr>
          <p:nvPr/>
        </p:nvSpPr>
        <p:spPr>
          <a:xfrm xmlns:a="http://schemas.openxmlformats.org/drawingml/2006/main" rot="8100000">
            <a:off x="5852160" y="-182880"/>
            <a:ext cx="1188720" cy="1188720"/>
          </a:xfrm>
          <a:prstGeom xmlns:a="http://schemas.openxmlformats.org/drawingml/2006/main" prst="rtTriangle">
            <a:avLst/>
          </a:prstGeom>
          <a:solidFill xmlns:a="http://schemas.openxmlformats.org/drawingml/2006/main">
            <a:srgbClr val="F37021"/>
          </a:solidFill>
          <a:ln xmlns:a="http://schemas.openxmlformats.org/drawingml/2006/main" w="12700">
            <a:solidFill>
              <a:srgbClr val="F37021"/>
            </a:solidFill>
            <a:prstDash val="solid"/>
          </a:ln>
        </p:spPr>
      </p:sp>
      <p:sp>
        <p:nvSpPr>
          <p:cNvPr id="5" name="Shape 3">
            <a:extLst xmlns:a="http://schemas.openxmlformats.org/drawingml/2006/main">
              <a:ext uri="{FF2B5EF4-FFF2-40B4-BE49-F238E27FC236}">
                <a16:creationId xmlns:a16="http://schemas.microsoft.com/office/drawing/2014/main" id="{749BF17C-1A05-40CD-A461-AEDC6EEAD541}"/>
              </a:ext>
            </a:extLst>
          </p:cNvPr>
          <p:cNvSpPr>
            <a:spLocks xmlns:a="http://schemas.openxmlformats.org/drawingml/2006/main" noGrp="1"/>
          </p:cNvSpPr>
          <p:nvPr/>
        </p:nvSpPr>
        <p:spPr>
          <a:xfrm xmlns:a="http://schemas.openxmlformats.org/drawingml/2006/main">
            <a:off x="6355080"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6" name="Shape 4">
            <a:extLst xmlns:a="http://schemas.openxmlformats.org/drawingml/2006/main">
              <a:ext uri="{FF2B5EF4-FFF2-40B4-BE49-F238E27FC236}">
                <a16:creationId xmlns:a16="http://schemas.microsoft.com/office/drawing/2014/main" id="{25557726-3A76-40F9-92F7-CB1FD610234C}"/>
              </a:ext>
            </a:extLst>
          </p:cNvPr>
          <p:cNvSpPr>
            <a:spLocks xmlns:a="http://schemas.openxmlformats.org/drawingml/2006/main" noGrp="1"/>
          </p:cNvSpPr>
          <p:nvPr/>
        </p:nvSpPr>
        <p:spPr>
          <a:xfrm xmlns:a="http://schemas.openxmlformats.org/drawingml/2006/main">
            <a:off x="6556248"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7" name="Shape 5">
            <a:extLst xmlns:a="http://schemas.openxmlformats.org/drawingml/2006/main">
              <a:ext uri="{FF2B5EF4-FFF2-40B4-BE49-F238E27FC236}">
                <a16:creationId xmlns:a16="http://schemas.microsoft.com/office/drawing/2014/main" id="{2BB7B1F4-5300-4619-B9A6-54F60F6F3F35}"/>
              </a:ext>
            </a:extLst>
          </p:cNvPr>
          <p:cNvSpPr>
            <a:spLocks xmlns:a="http://schemas.openxmlformats.org/drawingml/2006/main" noGrp="1"/>
          </p:cNvSpPr>
          <p:nvPr/>
        </p:nvSpPr>
        <p:spPr>
          <a:xfrm xmlns:a="http://schemas.openxmlformats.org/drawingml/2006/main">
            <a:off x="6757416"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8" name="Shape 6">
            <a:extLst xmlns:a="http://schemas.openxmlformats.org/drawingml/2006/main">
              <a:ext uri="{FF2B5EF4-FFF2-40B4-BE49-F238E27FC236}">
                <a16:creationId xmlns:a16="http://schemas.microsoft.com/office/drawing/2014/main" id="{C9841A6E-F1A1-4C4B-A75F-EF1DD9296A35}"/>
              </a:ext>
            </a:extLst>
          </p:cNvPr>
          <p:cNvSpPr>
            <a:spLocks xmlns:a="http://schemas.openxmlformats.org/drawingml/2006/main" noGrp="1"/>
          </p:cNvSpPr>
          <p:nvPr/>
        </p:nvSpPr>
        <p:spPr>
          <a:xfrm xmlns:a="http://schemas.openxmlformats.org/drawingml/2006/main" flipV="1">
            <a:off x="457200" y="4114800"/>
            <a:ext cx="3657600" cy="1828800"/>
          </a:xfrm>
          <a:prstGeom xmlns:a="http://schemas.openxmlformats.org/drawingml/2006/main" prst="line">
            <a:avLst/>
          </a:prstGeom>
          <a:noFill xmlns:a="http://schemas.openxmlformats.org/drawingml/2006/main"/>
          <a:ln xmlns:a="http://schemas.openxmlformats.org/drawingml/2006/main" w="12700">
            <a:solidFill>
              <a:srgbClr val="FFFFFF">
                <a:alpha val="40000"/>
              </a:srgbClr>
            </a:solidFill>
            <a:prstDash val="dash"/>
          </a:ln>
        </p:spPr>
      </p:sp>
      <p:pic>
        <p:nvPicPr>
          <p:cNvPr id="24" name="Image 0"/>
          <p:cNvPicPr>
            <a:picLocks xmlns:a="http://schemas.openxmlformats.org/drawingml/2006/main" noChangeAspect="1"/>
          </p:cNvPicPr>
          <p:nvPr/>
        </p:nvPicPr>
        <p:blipFill>
          <a:blip xmlns:r="http://schemas.openxmlformats.org/officeDocument/2006/relationships" xmlns:a="http://schemas.openxmlformats.org/drawingml/2006/main" r:embed="Rc56bed98680048ff"/>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25" name="Image 1"/>
          <p:cNvPicPr>
            <a:picLocks xmlns:a="http://schemas.openxmlformats.org/drawingml/2006/main" noChangeAspect="1"/>
          </p:cNvPicPr>
          <p:nvPr/>
        </p:nvPicPr>
        <p:blipFill>
          <a:blip xmlns:r="http://schemas.openxmlformats.org/officeDocument/2006/relationships" xmlns:a="http://schemas.openxmlformats.org/drawingml/2006/main" r:embed="R3e1f18e3f5224351"/>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7E5EDBC8-FCBF-4BD3-AB5F-9EA00B2B1331}"/>
              </a:ext>
            </a:extLst>
          </p:cNvPr>
          <p:cNvSpPr>
            <a:spLocks xmlns:a="http://schemas.openxmlformats.org/drawingml/2006/main" noGrp="1"/>
          </p:cNvSpPr>
          <p:nvPr/>
        </p:nvSpPr>
        <p:spPr>
          <a:xfrm xmlns:a="http://schemas.openxmlformats.org/drawingml/2006/main">
            <a:off x="457200" y="2560320"/>
            <a:ext cx="10972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spc="600">
                <a:solidFill>
                  <a:srgbClr val="F37021"/>
                </a:solidFill>
                <a:latin typeface="Calibri"/>
                <a:ea typeface="Calibri"/>
                <a:cs typeface="Calibri"/>
              </a:rPr>
              <a:t>BAGIAN 06</a:t>
            </a:r>
            <a:endParaRPr sz="1600"/>
          </a:p>
        </p:txBody>
      </p:sp>
      <p:sp>
        <p:nvSpPr>
          <p:cNvPr id="12" name="Text 8">
            <a:extLst xmlns:a="http://schemas.openxmlformats.org/drawingml/2006/main">
              <a:ext uri="{FF2B5EF4-FFF2-40B4-BE49-F238E27FC236}">
                <a16:creationId xmlns:a16="http://schemas.microsoft.com/office/drawing/2014/main" id="{6A8639BD-EBF2-44C3-988E-FF8E6B0A5054}"/>
              </a:ext>
            </a:extLst>
          </p:cNvPr>
          <p:cNvSpPr>
            <a:spLocks xmlns:a="http://schemas.openxmlformats.org/drawingml/2006/main" noGrp="1"/>
          </p:cNvSpPr>
          <p:nvPr/>
        </p:nvSpPr>
        <p:spPr>
          <a:xfrm xmlns:a="http://schemas.openxmlformats.org/drawingml/2006/main">
            <a:off x="457200" y="3017520"/>
            <a:ext cx="1124712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5200" b="1">
                <a:solidFill>
                  <a:srgbClr val="FFFFFF"/>
                </a:solidFill>
                <a:latin typeface="Calibri"/>
                <a:ea typeface="Calibri"/>
                <a:cs typeface="Calibri"/>
              </a:rPr>
              <a:t>Processes</a:t>
            </a:r>
            <a:endParaRPr sz="5200"/>
          </a:p>
          <a:p xmlns:a="http://schemas.openxmlformats.org/drawingml/2006/main">
            <a:pPr marL="0" indent="0" algn="ctr">
              <a:buNone/>
            </a:pPr>
            <a:r>
              <a:rPr sz="5200" b="1">
                <a:solidFill>
                  <a:srgbClr val="FFFFFF"/>
                </a:solidFill>
                <a:latin typeface="Calibri"/>
                <a:ea typeface="Calibri"/>
                <a:cs typeface="Calibri"/>
              </a:rPr>
              <a:t>&amp; systemd</a:t>
            </a:r>
            <a:endParaRPr sz="5200"/>
          </a:p>
        </p:txBody>
      </p:sp>
      <p:sp>
        <p:nvSpPr>
          <p:cNvPr id="13" name="Shape 9">
            <a:extLst xmlns:a="http://schemas.openxmlformats.org/drawingml/2006/main">
              <a:ext uri="{FF2B5EF4-FFF2-40B4-BE49-F238E27FC236}">
                <a16:creationId xmlns:a16="http://schemas.microsoft.com/office/drawing/2014/main" id="{DC922D82-BFE0-441E-81E9-DA33CE18740A}"/>
              </a:ext>
            </a:extLst>
          </p:cNvPr>
          <p:cNvSpPr>
            <a:spLocks xmlns:a="http://schemas.openxmlformats.org/drawingml/2006/main" noGrp="1"/>
          </p:cNvSpPr>
          <p:nvPr/>
        </p:nvSpPr>
        <p:spPr>
          <a:xfrm xmlns:a="http://schemas.openxmlformats.org/drawingml/2006/main">
            <a:off x="5715000" y="50292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2061B445-5918-429D-A91D-FBC87705579D}"/>
              </a:ext>
            </a:extLst>
          </p:cNvPr>
          <p:cNvSpPr>
            <a:spLocks xmlns:a="http://schemas.openxmlformats.org/drawingml/2006/main" noGrp="1"/>
          </p:cNvSpPr>
          <p:nvPr/>
        </p:nvSpPr>
        <p:spPr>
          <a:xfrm xmlns:a="http://schemas.openxmlformats.org/drawingml/2006/main">
            <a:off x="457200" y="5212080"/>
            <a:ext cx="112471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i="1">
                <a:solidFill>
                  <a:srgbClr val="FED7AA"/>
                </a:solidFill>
                <a:latin typeface="Calibri"/>
                <a:ea typeface="Calibri"/>
                <a:cs typeface="Calibri"/>
              </a:rPr>
              <a:t>Mengelola program yang sedang berjalan dan service di server.</a:t>
            </a:r>
            <a:endParaRPr sz="1400"/>
          </a:p>
        </p:txBody>
      </p:sp>
    </p:spTree>
    <p:extLst>
      <p:ext uri="{BB962C8B-B14F-4D97-AF65-F5344CB8AC3E}">
        <p14:creationId xmlns:p14="http://schemas.microsoft.com/office/powerpoint/2010/main" val="179034116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1C2A6FF-F456-4C3A-AB75-D470BA267AEC}"/>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2</a:t>
            </a:r>
            <a:endParaRPr sz="900"/>
          </a:p>
        </p:txBody>
      </p:sp>
      <p:sp>
        <p:nvSpPr>
          <p:cNvPr id="3" name="Text 1">
            <a:extLst xmlns:a="http://schemas.openxmlformats.org/drawingml/2006/main">
              <a:ext uri="{FF2B5EF4-FFF2-40B4-BE49-F238E27FC236}">
                <a16:creationId xmlns:a16="http://schemas.microsoft.com/office/drawing/2014/main" id="{C155C39D-8C0D-4D7D-905B-07BA462D3C84}"/>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25</a:t>
            </a:r>
            <a:endParaRPr sz="900"/>
          </a:p>
        </p:txBody>
      </p:sp>
      <p:sp>
        <p:nvSpPr>
          <p:cNvPr id="4" name="Shape 2">
            <a:extLst xmlns:a="http://schemas.openxmlformats.org/drawingml/2006/main">
              <a:ext uri="{FF2B5EF4-FFF2-40B4-BE49-F238E27FC236}">
                <a16:creationId xmlns:a16="http://schemas.microsoft.com/office/drawing/2014/main" id="{EA6C5E0E-B219-4AF9-ABC6-666BAF1977DA}"/>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f59147d990614def"/>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7" name="Image 1"/>
          <p:cNvPicPr>
            <a:picLocks xmlns:a="http://schemas.openxmlformats.org/drawingml/2006/main" noChangeAspect="1"/>
          </p:cNvPicPr>
          <p:nvPr/>
        </p:nvPicPr>
        <p:blipFill>
          <a:blip xmlns:r="http://schemas.openxmlformats.org/officeDocument/2006/relationships" xmlns:a="http://schemas.openxmlformats.org/drawingml/2006/main" r:embed="R1d7ce330352c469e"/>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A7FA6DF-006B-452F-B186-043BF563FBDC}"/>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8557426B-0532-4A25-9DE6-3BD9B0FD6446}"/>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Inspecting Processes</a:t>
            </a:r>
            <a:endParaRPr sz="2200"/>
          </a:p>
        </p:txBody>
      </p:sp>
      <p:sp>
        <p:nvSpPr>
          <p:cNvPr id="9" name="Text 5">
            <a:extLst xmlns:a="http://schemas.openxmlformats.org/drawingml/2006/main">
              <a:ext uri="{FF2B5EF4-FFF2-40B4-BE49-F238E27FC236}">
                <a16:creationId xmlns:a16="http://schemas.microsoft.com/office/drawing/2014/main" id="{8A8F8649-6525-440E-8B99-A704B559772F}"/>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Apa yang lagi jalan? Berapa CPU/RAM-nya?</a:t>
            </a:r>
            <a:endParaRPr sz="1200"/>
          </a:p>
        </p:txBody>
      </p:sp>
      <p:sp>
        <p:nvSpPr>
          <p:cNvPr id="10" name="Shape 6">
            <a:extLst xmlns:a="http://schemas.openxmlformats.org/drawingml/2006/main">
              <a:ext uri="{FF2B5EF4-FFF2-40B4-BE49-F238E27FC236}">
                <a16:creationId xmlns:a16="http://schemas.microsoft.com/office/drawing/2014/main" id="{15AA798B-BB19-4574-A5D8-D0BE2089423B}"/>
              </a:ext>
            </a:extLst>
          </p:cNvPr>
          <p:cNvSpPr>
            <a:spLocks xmlns:a="http://schemas.openxmlformats.org/drawingml/2006/main" noGrp="1"/>
          </p:cNvSpPr>
          <p:nvPr/>
        </p:nvSpPr>
        <p:spPr>
          <a:xfrm xmlns:a="http://schemas.openxmlformats.org/drawingml/2006/main">
            <a:off x="457200" y="1417320"/>
            <a:ext cx="2743200" cy="18288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B632E713-403A-490E-B04D-69D9C1500421}"/>
              </a:ext>
            </a:extLst>
          </p:cNvPr>
          <p:cNvSpPr>
            <a:spLocks xmlns:a="http://schemas.openxmlformats.org/drawingml/2006/main" noGrp="1"/>
          </p:cNvSpPr>
          <p:nvPr/>
        </p:nvSpPr>
        <p:spPr>
          <a:xfrm xmlns:a="http://schemas.openxmlformats.org/drawingml/2006/main">
            <a:off x="457200" y="1417320"/>
            <a:ext cx="2743200" cy="54864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pic>
        <p:nvPicPr>
          <p:cNvPr id="53" name="Image 2"/>
          <p:cNvPicPr>
            <a:picLocks xmlns:a="http://schemas.openxmlformats.org/drawingml/2006/main" noChangeAspect="1"/>
          </p:cNvPicPr>
          <p:nvPr/>
        </p:nvPicPr>
        <p:blipFill>
          <a:blip xmlns:r="http://schemas.openxmlformats.org/officeDocument/2006/relationships" xmlns:a="http://schemas.openxmlformats.org/drawingml/2006/main" r:embed="R4c9533dfa0014f28"/>
          <a:stretch xmlns:a="http://schemas.openxmlformats.org/drawingml/2006/main">
            <a:fillRect l="0" t="0" r="0" b="0"/>
          </a:stretch>
        </p:blipFill>
        <p:spPr>
          <a:xfrm xmlns:a="http://schemas.openxmlformats.org/drawingml/2006/main">
            <a:off x="594360" y="1554480"/>
            <a:ext cx="274320" cy="274320"/>
          </a:xfrm>
          <a:prstGeom xmlns:a="http://schemas.openxmlformats.org/drawingml/2006/main" prst="rect">
            <a:avLst/>
          </a:prstGeom>
        </p:spPr>
      </p:pic>
      <p:sp>
        <p:nvSpPr>
          <p:cNvPr id="13" name="Text 8">
            <a:extLst xmlns:a="http://schemas.openxmlformats.org/drawingml/2006/main">
              <a:ext uri="{FF2B5EF4-FFF2-40B4-BE49-F238E27FC236}">
                <a16:creationId xmlns:a16="http://schemas.microsoft.com/office/drawing/2014/main" id="{7F9B7F5B-DA8B-4742-943E-933C5B100EB0}"/>
              </a:ext>
            </a:extLst>
          </p:cNvPr>
          <p:cNvSpPr>
            <a:spLocks xmlns:a="http://schemas.openxmlformats.org/drawingml/2006/main" noGrp="1"/>
          </p:cNvSpPr>
          <p:nvPr/>
        </p:nvSpPr>
        <p:spPr>
          <a:xfrm xmlns:a="http://schemas.openxmlformats.org/drawingml/2006/main">
            <a:off x="960120" y="1508760"/>
            <a:ext cx="21945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37021"/>
                </a:solidFill>
                <a:latin typeface="Consolas"/>
                <a:ea typeface="Consolas"/>
                <a:cs typeface="Consolas"/>
              </a:rPr>
              <a:t>ps aux</a:t>
            </a:r>
            <a:endParaRPr sz="1600"/>
          </a:p>
        </p:txBody>
      </p:sp>
      <p:sp>
        <p:nvSpPr>
          <p:cNvPr id="14" name="Text 9">
            <a:extLst xmlns:a="http://schemas.openxmlformats.org/drawingml/2006/main">
              <a:ext uri="{FF2B5EF4-FFF2-40B4-BE49-F238E27FC236}">
                <a16:creationId xmlns:a16="http://schemas.microsoft.com/office/drawing/2014/main" id="{3E0A81E0-6160-4B72-A629-069DD0D0A132}"/>
              </a:ext>
            </a:extLst>
          </p:cNvPr>
          <p:cNvSpPr>
            <a:spLocks xmlns:a="http://schemas.openxmlformats.org/drawingml/2006/main" noGrp="1"/>
          </p:cNvSpPr>
          <p:nvPr/>
        </p:nvSpPr>
        <p:spPr>
          <a:xfrm xmlns:a="http://schemas.openxmlformats.org/drawingml/2006/main">
            <a:off x="594360" y="2103120"/>
            <a:ext cx="2468880" cy="10515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Snapshot semua proses (a=all, u=user-friendly, x=tanpa terminal)</a:t>
            </a:r>
            <a:endParaRPr sz="1100"/>
          </a:p>
        </p:txBody>
      </p:sp>
      <p:sp>
        <p:nvSpPr>
          <p:cNvPr id="15" name="Shape 10">
            <a:extLst xmlns:a="http://schemas.openxmlformats.org/drawingml/2006/main">
              <a:ext uri="{FF2B5EF4-FFF2-40B4-BE49-F238E27FC236}">
                <a16:creationId xmlns:a16="http://schemas.microsoft.com/office/drawing/2014/main" id="{CE8BFA50-FCDB-4BE3-99E5-74D0EBE0405C}"/>
              </a:ext>
            </a:extLst>
          </p:cNvPr>
          <p:cNvSpPr>
            <a:spLocks xmlns:a="http://schemas.openxmlformats.org/drawingml/2006/main" noGrp="1"/>
          </p:cNvSpPr>
          <p:nvPr/>
        </p:nvSpPr>
        <p:spPr>
          <a:xfrm xmlns:a="http://schemas.openxmlformats.org/drawingml/2006/main">
            <a:off x="3337560" y="1417320"/>
            <a:ext cx="2743200" cy="18288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6" name="Shape 11">
            <a:extLst xmlns:a="http://schemas.openxmlformats.org/drawingml/2006/main">
              <a:ext uri="{FF2B5EF4-FFF2-40B4-BE49-F238E27FC236}">
                <a16:creationId xmlns:a16="http://schemas.microsoft.com/office/drawing/2014/main" id="{6ABE6D4F-D1F7-4423-9339-54977568597D}"/>
              </a:ext>
            </a:extLst>
          </p:cNvPr>
          <p:cNvSpPr>
            <a:spLocks xmlns:a="http://schemas.openxmlformats.org/drawingml/2006/main" noGrp="1"/>
          </p:cNvSpPr>
          <p:nvPr/>
        </p:nvSpPr>
        <p:spPr>
          <a:xfrm xmlns:a="http://schemas.openxmlformats.org/drawingml/2006/main">
            <a:off x="3337560" y="1417320"/>
            <a:ext cx="2743200" cy="54864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pic>
        <p:nvPicPr>
          <p:cNvPr id="58" name="Image 3"/>
          <p:cNvPicPr>
            <a:picLocks xmlns:a="http://schemas.openxmlformats.org/drawingml/2006/main" noChangeAspect="1"/>
          </p:cNvPicPr>
          <p:nvPr/>
        </p:nvPicPr>
        <p:blipFill>
          <a:blip xmlns:r="http://schemas.openxmlformats.org/officeDocument/2006/relationships" xmlns:a="http://schemas.openxmlformats.org/drawingml/2006/main" r:embed="R85f777ad3f0d4771"/>
          <a:stretch xmlns:a="http://schemas.openxmlformats.org/drawingml/2006/main">
            <a:fillRect l="0" t="0" r="0" b="0"/>
          </a:stretch>
        </p:blipFill>
        <p:spPr>
          <a:xfrm xmlns:a="http://schemas.openxmlformats.org/drawingml/2006/main">
            <a:off x="3474720" y="1554480"/>
            <a:ext cx="274320" cy="274320"/>
          </a:xfrm>
          <a:prstGeom xmlns:a="http://schemas.openxmlformats.org/drawingml/2006/main" prst="rect">
            <a:avLst/>
          </a:prstGeom>
        </p:spPr>
      </p:pic>
      <p:sp>
        <p:nvSpPr>
          <p:cNvPr id="18" name="Text 12">
            <a:extLst xmlns:a="http://schemas.openxmlformats.org/drawingml/2006/main">
              <a:ext uri="{FF2B5EF4-FFF2-40B4-BE49-F238E27FC236}">
                <a16:creationId xmlns:a16="http://schemas.microsoft.com/office/drawing/2014/main" id="{FF1BB71B-D064-43D1-AD56-6FA91D046B60}"/>
              </a:ext>
            </a:extLst>
          </p:cNvPr>
          <p:cNvSpPr>
            <a:spLocks xmlns:a="http://schemas.openxmlformats.org/drawingml/2006/main" noGrp="1"/>
          </p:cNvSpPr>
          <p:nvPr/>
        </p:nvSpPr>
        <p:spPr>
          <a:xfrm xmlns:a="http://schemas.openxmlformats.org/drawingml/2006/main">
            <a:off x="3840480" y="1508760"/>
            <a:ext cx="21945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37021"/>
                </a:solidFill>
                <a:latin typeface="Consolas"/>
                <a:ea typeface="Consolas"/>
                <a:cs typeface="Consolas"/>
              </a:rPr>
              <a:t>top</a:t>
            </a:r>
            <a:endParaRPr sz="1600"/>
          </a:p>
        </p:txBody>
      </p:sp>
      <p:sp>
        <p:nvSpPr>
          <p:cNvPr id="19" name="Text 13">
            <a:extLst xmlns:a="http://schemas.openxmlformats.org/drawingml/2006/main">
              <a:ext uri="{FF2B5EF4-FFF2-40B4-BE49-F238E27FC236}">
                <a16:creationId xmlns:a16="http://schemas.microsoft.com/office/drawing/2014/main" id="{151E9217-2170-4C3C-A2F7-68948F3E3AB0}"/>
              </a:ext>
            </a:extLst>
          </p:cNvPr>
          <p:cNvSpPr>
            <a:spLocks xmlns:a="http://schemas.openxmlformats.org/drawingml/2006/main" noGrp="1"/>
          </p:cNvSpPr>
          <p:nvPr/>
        </p:nvSpPr>
        <p:spPr>
          <a:xfrm xmlns:a="http://schemas.openxmlformats.org/drawingml/2006/main">
            <a:off x="3474720" y="2103120"/>
            <a:ext cx="2468880" cy="10515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Real-time monitor proses (q untuk keluar)</a:t>
            </a:r>
            <a:endParaRPr sz="1100"/>
          </a:p>
        </p:txBody>
      </p:sp>
      <p:sp>
        <p:nvSpPr>
          <p:cNvPr id="20" name="Shape 14">
            <a:extLst xmlns:a="http://schemas.openxmlformats.org/drawingml/2006/main">
              <a:ext uri="{FF2B5EF4-FFF2-40B4-BE49-F238E27FC236}">
                <a16:creationId xmlns:a16="http://schemas.microsoft.com/office/drawing/2014/main" id="{D1A36C50-0897-4B1C-8F02-85AC39D672C0}"/>
              </a:ext>
            </a:extLst>
          </p:cNvPr>
          <p:cNvSpPr>
            <a:spLocks xmlns:a="http://schemas.openxmlformats.org/drawingml/2006/main" noGrp="1"/>
          </p:cNvSpPr>
          <p:nvPr/>
        </p:nvSpPr>
        <p:spPr>
          <a:xfrm xmlns:a="http://schemas.openxmlformats.org/drawingml/2006/main">
            <a:off x="6217920" y="1417320"/>
            <a:ext cx="2743200" cy="18288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1" name="Shape 15">
            <a:extLst xmlns:a="http://schemas.openxmlformats.org/drawingml/2006/main">
              <a:ext uri="{FF2B5EF4-FFF2-40B4-BE49-F238E27FC236}">
                <a16:creationId xmlns:a16="http://schemas.microsoft.com/office/drawing/2014/main" id="{952B2E27-CB3E-4E8F-8C23-757AD639902D}"/>
              </a:ext>
            </a:extLst>
          </p:cNvPr>
          <p:cNvSpPr>
            <a:spLocks xmlns:a="http://schemas.openxmlformats.org/drawingml/2006/main" noGrp="1"/>
          </p:cNvSpPr>
          <p:nvPr/>
        </p:nvSpPr>
        <p:spPr>
          <a:xfrm xmlns:a="http://schemas.openxmlformats.org/drawingml/2006/main">
            <a:off x="6217920" y="1417320"/>
            <a:ext cx="2743200" cy="54864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pic>
        <p:nvPicPr>
          <p:cNvPr id="63" name="Image 4"/>
          <p:cNvPicPr>
            <a:picLocks xmlns:a="http://schemas.openxmlformats.org/drawingml/2006/main" noChangeAspect="1"/>
          </p:cNvPicPr>
          <p:nvPr/>
        </p:nvPicPr>
        <p:blipFill>
          <a:blip xmlns:r="http://schemas.openxmlformats.org/officeDocument/2006/relationships" xmlns:a="http://schemas.openxmlformats.org/drawingml/2006/main" r:embed="R4c9533dfa0014f28"/>
          <a:stretch xmlns:a="http://schemas.openxmlformats.org/drawingml/2006/main">
            <a:fillRect l="0" t="0" r="0" b="0"/>
          </a:stretch>
        </p:blipFill>
        <p:spPr>
          <a:xfrm xmlns:a="http://schemas.openxmlformats.org/drawingml/2006/main">
            <a:off x="6355080" y="1554480"/>
            <a:ext cx="274320" cy="274320"/>
          </a:xfrm>
          <a:prstGeom xmlns:a="http://schemas.openxmlformats.org/drawingml/2006/main" prst="rect">
            <a:avLst/>
          </a:prstGeom>
        </p:spPr>
      </p:pic>
      <p:sp>
        <p:nvSpPr>
          <p:cNvPr id="23" name="Text 16">
            <a:extLst xmlns:a="http://schemas.openxmlformats.org/drawingml/2006/main">
              <a:ext uri="{FF2B5EF4-FFF2-40B4-BE49-F238E27FC236}">
                <a16:creationId xmlns:a16="http://schemas.microsoft.com/office/drawing/2014/main" id="{CFADAABC-A1B8-4AAB-B1F3-8E62910F395A}"/>
              </a:ext>
            </a:extLst>
          </p:cNvPr>
          <p:cNvSpPr>
            <a:spLocks xmlns:a="http://schemas.openxmlformats.org/drawingml/2006/main" noGrp="1"/>
          </p:cNvSpPr>
          <p:nvPr/>
        </p:nvSpPr>
        <p:spPr>
          <a:xfrm xmlns:a="http://schemas.openxmlformats.org/drawingml/2006/main">
            <a:off x="6720840" y="1508760"/>
            <a:ext cx="21945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37021"/>
                </a:solidFill>
                <a:latin typeface="Consolas"/>
                <a:ea typeface="Consolas"/>
                <a:cs typeface="Consolas"/>
              </a:rPr>
              <a:t>htop</a:t>
            </a:r>
            <a:endParaRPr sz="1600"/>
          </a:p>
        </p:txBody>
      </p:sp>
      <p:sp>
        <p:nvSpPr>
          <p:cNvPr id="24" name="Text 17">
            <a:extLst xmlns:a="http://schemas.openxmlformats.org/drawingml/2006/main">
              <a:ext uri="{FF2B5EF4-FFF2-40B4-BE49-F238E27FC236}">
                <a16:creationId xmlns:a16="http://schemas.microsoft.com/office/drawing/2014/main" id="{5B6671D4-5D6D-4FAF-B360-E6DD76B3AC5B}"/>
              </a:ext>
            </a:extLst>
          </p:cNvPr>
          <p:cNvSpPr>
            <a:spLocks xmlns:a="http://schemas.openxmlformats.org/drawingml/2006/main" noGrp="1"/>
          </p:cNvSpPr>
          <p:nvPr/>
        </p:nvSpPr>
        <p:spPr>
          <a:xfrm xmlns:a="http://schemas.openxmlformats.org/drawingml/2006/main">
            <a:off x="6355080" y="2103120"/>
            <a:ext cx="2468880" cy="10515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Versi interaktif - bisa scroll &amp; sort dengan keyboard</a:t>
            </a:r>
            <a:endParaRPr sz="1100"/>
          </a:p>
        </p:txBody>
      </p:sp>
      <p:sp>
        <p:nvSpPr>
          <p:cNvPr id="25" name="Shape 18">
            <a:extLst xmlns:a="http://schemas.openxmlformats.org/drawingml/2006/main">
              <a:ext uri="{FF2B5EF4-FFF2-40B4-BE49-F238E27FC236}">
                <a16:creationId xmlns:a16="http://schemas.microsoft.com/office/drawing/2014/main" id="{4C3D308C-3327-4868-9F35-BFFBBC589B81}"/>
              </a:ext>
            </a:extLst>
          </p:cNvPr>
          <p:cNvSpPr>
            <a:spLocks xmlns:a="http://schemas.openxmlformats.org/drawingml/2006/main" noGrp="1"/>
          </p:cNvSpPr>
          <p:nvPr/>
        </p:nvSpPr>
        <p:spPr>
          <a:xfrm xmlns:a="http://schemas.openxmlformats.org/drawingml/2006/main">
            <a:off x="9098280" y="1417320"/>
            <a:ext cx="2743200" cy="18288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6" name="Shape 19">
            <a:extLst xmlns:a="http://schemas.openxmlformats.org/drawingml/2006/main">
              <a:ext uri="{FF2B5EF4-FFF2-40B4-BE49-F238E27FC236}">
                <a16:creationId xmlns:a16="http://schemas.microsoft.com/office/drawing/2014/main" id="{13815F14-6807-49C1-BB2E-2F23F859CE6D}"/>
              </a:ext>
            </a:extLst>
          </p:cNvPr>
          <p:cNvSpPr>
            <a:spLocks xmlns:a="http://schemas.openxmlformats.org/drawingml/2006/main" noGrp="1"/>
          </p:cNvSpPr>
          <p:nvPr/>
        </p:nvSpPr>
        <p:spPr>
          <a:xfrm xmlns:a="http://schemas.openxmlformats.org/drawingml/2006/main">
            <a:off x="9098280" y="1417320"/>
            <a:ext cx="2743200" cy="54864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pic>
        <p:nvPicPr>
          <p:cNvPr id="68" name="Image 5"/>
          <p:cNvPicPr>
            <a:picLocks xmlns:a="http://schemas.openxmlformats.org/drawingml/2006/main" noChangeAspect="1"/>
          </p:cNvPicPr>
          <p:nvPr/>
        </p:nvPicPr>
        <p:blipFill>
          <a:blip xmlns:r="http://schemas.openxmlformats.org/officeDocument/2006/relationships" xmlns:a="http://schemas.openxmlformats.org/drawingml/2006/main" r:embed="R3d8003ac81574635"/>
          <a:stretch xmlns:a="http://schemas.openxmlformats.org/drawingml/2006/main">
            <a:fillRect l="0" t="0" r="0" b="0"/>
          </a:stretch>
        </p:blipFill>
        <p:spPr>
          <a:xfrm xmlns:a="http://schemas.openxmlformats.org/drawingml/2006/main">
            <a:off x="9235440" y="1554480"/>
            <a:ext cx="274320" cy="274320"/>
          </a:xfrm>
          <a:prstGeom xmlns:a="http://schemas.openxmlformats.org/drawingml/2006/main" prst="rect">
            <a:avLst/>
          </a:prstGeom>
        </p:spPr>
      </p:pic>
      <p:sp>
        <p:nvSpPr>
          <p:cNvPr id="28" name="Text 20">
            <a:extLst xmlns:a="http://schemas.openxmlformats.org/drawingml/2006/main">
              <a:ext uri="{FF2B5EF4-FFF2-40B4-BE49-F238E27FC236}">
                <a16:creationId xmlns:a16="http://schemas.microsoft.com/office/drawing/2014/main" id="{14FE8541-A787-4B25-9E28-4B3BE731C038}"/>
              </a:ext>
            </a:extLst>
          </p:cNvPr>
          <p:cNvSpPr>
            <a:spLocks xmlns:a="http://schemas.openxmlformats.org/drawingml/2006/main" noGrp="1"/>
          </p:cNvSpPr>
          <p:nvPr/>
        </p:nvSpPr>
        <p:spPr>
          <a:xfrm xmlns:a="http://schemas.openxmlformats.org/drawingml/2006/main">
            <a:off x="9601200" y="1508760"/>
            <a:ext cx="21945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37021"/>
                </a:solidFill>
                <a:latin typeface="Consolas"/>
                <a:ea typeface="Consolas"/>
                <a:cs typeface="Consolas"/>
              </a:rPr>
              <a:t>kill</a:t>
            </a:r>
            <a:endParaRPr sz="1600"/>
          </a:p>
        </p:txBody>
      </p:sp>
      <p:sp>
        <p:nvSpPr>
          <p:cNvPr id="29" name="Text 21">
            <a:extLst xmlns:a="http://schemas.openxmlformats.org/drawingml/2006/main">
              <a:ext uri="{FF2B5EF4-FFF2-40B4-BE49-F238E27FC236}">
                <a16:creationId xmlns:a16="http://schemas.microsoft.com/office/drawing/2014/main" id="{651AA7BA-9DB8-4F0B-927B-67567446DB9C}"/>
              </a:ext>
            </a:extLst>
          </p:cNvPr>
          <p:cNvSpPr>
            <a:spLocks xmlns:a="http://schemas.openxmlformats.org/drawingml/2006/main" noGrp="1"/>
          </p:cNvSpPr>
          <p:nvPr/>
        </p:nvSpPr>
        <p:spPr>
          <a:xfrm xmlns:a="http://schemas.openxmlformats.org/drawingml/2006/main">
            <a:off x="9235440" y="2103120"/>
            <a:ext cx="2468880" cy="10515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Hentikan proses by PID. kill -9 untuk paksa</a:t>
            </a:r>
            <a:endParaRPr sz="1100"/>
          </a:p>
        </p:txBody>
      </p:sp>
      <p:sp>
        <p:nvSpPr>
          <p:cNvPr id="30" name="Shape 22">
            <a:extLst xmlns:a="http://schemas.openxmlformats.org/drawingml/2006/main">
              <a:ext uri="{FF2B5EF4-FFF2-40B4-BE49-F238E27FC236}">
                <a16:creationId xmlns:a16="http://schemas.microsoft.com/office/drawing/2014/main" id="{EDFF0606-EFFB-4F6A-ABF2-802B56663638}"/>
              </a:ext>
            </a:extLst>
          </p:cNvPr>
          <p:cNvSpPr>
            <a:spLocks xmlns:a="http://schemas.openxmlformats.org/drawingml/2006/main" noGrp="1"/>
          </p:cNvSpPr>
          <p:nvPr/>
        </p:nvSpPr>
        <p:spPr>
          <a:xfrm xmlns:a="http://schemas.openxmlformats.org/drawingml/2006/main">
            <a:off x="457200" y="3337560"/>
            <a:ext cx="11247120" cy="306324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31" name="Shape 23">
            <a:extLst xmlns:a="http://schemas.openxmlformats.org/drawingml/2006/main">
              <a:ext uri="{FF2B5EF4-FFF2-40B4-BE49-F238E27FC236}">
                <a16:creationId xmlns:a16="http://schemas.microsoft.com/office/drawing/2014/main" id="{3BEE5534-8059-4403-8A5E-3C5D3FC11737}"/>
              </a:ext>
            </a:extLst>
          </p:cNvPr>
          <p:cNvSpPr>
            <a:spLocks xmlns:a="http://schemas.openxmlformats.org/drawingml/2006/main" noGrp="1"/>
          </p:cNvSpPr>
          <p:nvPr/>
        </p:nvSpPr>
        <p:spPr>
          <a:xfrm xmlns:a="http://schemas.openxmlformats.org/drawingml/2006/main">
            <a:off x="457200" y="3337560"/>
            <a:ext cx="1124712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32" name="Shape 24">
            <a:extLst xmlns:a="http://schemas.openxmlformats.org/drawingml/2006/main">
              <a:ext uri="{FF2B5EF4-FFF2-40B4-BE49-F238E27FC236}">
                <a16:creationId xmlns:a16="http://schemas.microsoft.com/office/drawing/2014/main" id="{347042DE-4BC6-4053-9F37-CCEC4803058D}"/>
              </a:ext>
            </a:extLst>
          </p:cNvPr>
          <p:cNvSpPr>
            <a:spLocks xmlns:a="http://schemas.openxmlformats.org/drawingml/2006/main" noGrp="1"/>
          </p:cNvSpPr>
          <p:nvPr/>
        </p:nvSpPr>
        <p:spPr>
          <a:xfrm xmlns:a="http://schemas.openxmlformats.org/drawingml/2006/main">
            <a:off x="548640" y="341985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33" name="Shape 25">
            <a:extLst xmlns:a="http://schemas.openxmlformats.org/drawingml/2006/main">
              <a:ext uri="{FF2B5EF4-FFF2-40B4-BE49-F238E27FC236}">
                <a16:creationId xmlns:a16="http://schemas.microsoft.com/office/drawing/2014/main" id="{3527ED96-8E48-4722-B161-2CE3609C0E04}"/>
              </a:ext>
            </a:extLst>
          </p:cNvPr>
          <p:cNvSpPr>
            <a:spLocks xmlns:a="http://schemas.openxmlformats.org/drawingml/2006/main" noGrp="1"/>
          </p:cNvSpPr>
          <p:nvPr/>
        </p:nvSpPr>
        <p:spPr>
          <a:xfrm xmlns:a="http://schemas.openxmlformats.org/drawingml/2006/main">
            <a:off x="685800" y="341985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34" name="Shape 26">
            <a:extLst xmlns:a="http://schemas.openxmlformats.org/drawingml/2006/main">
              <a:ext uri="{FF2B5EF4-FFF2-40B4-BE49-F238E27FC236}">
                <a16:creationId xmlns:a16="http://schemas.microsoft.com/office/drawing/2014/main" id="{AD560F56-8CC0-495D-B247-21A9BF60DB32}"/>
              </a:ext>
            </a:extLst>
          </p:cNvPr>
          <p:cNvSpPr>
            <a:spLocks xmlns:a="http://schemas.openxmlformats.org/drawingml/2006/main" noGrp="1"/>
          </p:cNvSpPr>
          <p:nvPr/>
        </p:nvSpPr>
        <p:spPr>
          <a:xfrm xmlns:a="http://schemas.openxmlformats.org/drawingml/2006/main">
            <a:off x="822960" y="341985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35" name="Text 27">
            <a:extLst xmlns:a="http://schemas.openxmlformats.org/drawingml/2006/main">
              <a:ext uri="{FF2B5EF4-FFF2-40B4-BE49-F238E27FC236}">
                <a16:creationId xmlns:a16="http://schemas.microsoft.com/office/drawing/2014/main" id="{E5164B58-7F2A-47BD-8977-FAA082F9A5DA}"/>
              </a:ext>
            </a:extLst>
          </p:cNvPr>
          <p:cNvSpPr>
            <a:spLocks xmlns:a="http://schemas.openxmlformats.org/drawingml/2006/main" noGrp="1"/>
          </p:cNvSpPr>
          <p:nvPr/>
        </p:nvSpPr>
        <p:spPr>
          <a:xfrm xmlns:a="http://schemas.openxmlformats.org/drawingml/2006/main">
            <a:off x="1005840" y="3337560"/>
            <a:ext cx="10515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process management workflow</a:t>
            </a:r>
            <a:endParaRPr sz="900"/>
          </a:p>
        </p:txBody>
      </p:sp>
      <p:sp>
        <p:nvSpPr>
          <p:cNvPr id="36" name="Text 28">
            <a:extLst xmlns:a="http://schemas.openxmlformats.org/drawingml/2006/main">
              <a:ext uri="{FF2B5EF4-FFF2-40B4-BE49-F238E27FC236}">
                <a16:creationId xmlns:a16="http://schemas.microsoft.com/office/drawing/2014/main" id="{2D8ACA8B-1315-4289-9219-EF6E234B4611}"/>
              </a:ext>
            </a:extLst>
          </p:cNvPr>
          <p:cNvSpPr>
            <a:spLocks xmlns:a="http://schemas.openxmlformats.org/drawingml/2006/main" noGrp="1"/>
          </p:cNvSpPr>
          <p:nvPr/>
        </p:nvSpPr>
        <p:spPr>
          <a:xfrm xmlns:a="http://schemas.openxmlformats.org/drawingml/2006/main">
            <a:off x="594360" y="3703320"/>
            <a:ext cx="10972800" cy="2606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000">
                <a:solidFill>
                  <a:srgbClr val="94A3B8"/>
                </a:solidFill>
                <a:latin typeface="Consolas"/>
                <a:ea typeface="Consolas"/>
                <a:cs typeface="Consolas"/>
              </a:rPr>
              <a:t># Cek proses yang makan CPU paling banyak:</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ps aux --sort=-%cpu | head -5</a:t>
            </a:r>
            <a:endParaRPr sz="1000"/>
          </a:p>
          <a:p xmlns:a="http://schemas.openxmlformats.org/drawingml/2006/main">
            <a:pPr marL="0" indent="0">
              <a:spcAft>
                <a:spcPts val="200"/>
              </a:spcAft>
              <a:buNone/>
            </a:pPr>
            <a:r>
              <a:rPr sz="1000">
                <a:solidFill>
                  <a:srgbClr val="94A3B8"/>
                </a:solidFill>
                <a:latin typeface="Consolas"/>
                <a:ea typeface="Consolas"/>
                <a:cs typeface="Consolas"/>
              </a:rPr>
              <a:t>USER       PID %CPU %MEM    VSZ   RSS COMMAND</a:t>
            </a:r>
            <a:endParaRPr sz="1000"/>
          </a:p>
          <a:p xmlns:a="http://schemas.openxmlformats.org/drawingml/2006/main">
            <a:pPr marL="0" indent="0">
              <a:spcAft>
                <a:spcPts val="200"/>
              </a:spcAft>
              <a:buNone/>
            </a:pPr>
            <a:r>
              <a:rPr sz="1000">
                <a:solidFill>
                  <a:srgbClr val="94A3B8"/>
                </a:solidFill>
                <a:latin typeface="Consolas"/>
                <a:ea typeface="Consolas"/>
                <a:cs typeface="Consolas"/>
              </a:rPr>
              <a:t>budi      1234 89.0 12.3 1.2G 245M python train.py</a:t>
            </a:r>
            <a:endParaRPr sz="1000"/>
          </a:p>
          <a:p xmlns:a="http://schemas.openxmlformats.org/drawingml/2006/main">
            <a:pPr marL="0" indent="0">
              <a:spcAft>
                <a:spcPts val="200"/>
              </a:spcAft>
              <a:buNone/>
            </a:pPr>
            <a:endParaRPr sz="1000"/>
          </a:p>
          <a:p xmlns:a="http://schemas.openxmlformats.org/drawingml/2006/main">
            <a:pPr marL="0" indent="0">
              <a:spcAft>
                <a:spcPts val="200"/>
              </a:spcAft>
              <a:buNone/>
            </a:pPr>
            <a:r>
              <a:rPr sz="1000">
                <a:solidFill>
                  <a:srgbClr val="94A3B8"/>
                </a:solidFill>
                <a:latin typeface="Consolas"/>
                <a:ea typeface="Consolas"/>
                <a:cs typeface="Consolas"/>
              </a:rPr>
              <a:t># Hentikan proses dengan PID 1234:</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kill 1234                    </a:t>
            </a:r>
            <a:r>
              <a:rPr sz="1000">
                <a:solidFill>
                  <a:srgbClr val="94A3B8"/>
                </a:solidFill>
                <a:latin typeface="Consolas"/>
                <a:ea typeface="Consolas"/>
                <a:cs typeface="Consolas"/>
              </a:rPr>
              <a:t># graceful (SIGTERM)</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kill -9 1234                 </a:t>
            </a:r>
            <a:r>
              <a:rPr sz="1000">
                <a:solidFill>
                  <a:srgbClr val="94A3B8"/>
                </a:solidFill>
                <a:latin typeface="Consolas"/>
                <a:ea typeface="Consolas"/>
                <a:cs typeface="Consolas"/>
              </a:rPr>
              <a:t># paksa (SIGKILL)</a:t>
            </a:r>
            <a:endParaRPr sz="1000"/>
          </a:p>
          <a:p xmlns:a="http://schemas.openxmlformats.org/drawingml/2006/main">
            <a:pPr marL="0" indent="0">
              <a:spcAft>
                <a:spcPts val="200"/>
              </a:spcAft>
              <a:buNone/>
            </a:pPr>
            <a:endParaRPr sz="1000"/>
          </a:p>
          <a:p xmlns:a="http://schemas.openxmlformats.org/drawingml/2006/main">
            <a:pPr marL="0" indent="0">
              <a:spcAft>
                <a:spcPts val="200"/>
              </a:spcAft>
              <a:buNone/>
            </a:pPr>
            <a:r>
              <a:rPr sz="1000">
                <a:solidFill>
                  <a:srgbClr val="94A3B8"/>
                </a:solidFill>
                <a:latin typeface="Consolas"/>
                <a:ea typeface="Consolas"/>
                <a:cs typeface="Consolas"/>
              </a:rPr>
              <a:t># Bunuh semua proses dengan nama tertentu:</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pkill -f 'python train'</a:t>
            </a:r>
            <a:endParaRPr sz="1000"/>
          </a:p>
          <a:p xmlns:a="http://schemas.openxmlformats.org/drawingml/2006/main">
            <a:pPr marL="0" indent="0">
              <a:spcAft>
                <a:spcPts val="200"/>
              </a:spcAft>
              <a:buNone/>
            </a:pPr>
            <a:endParaRPr sz="1000"/>
          </a:p>
          <a:p xmlns:a="http://schemas.openxmlformats.org/drawingml/2006/main">
            <a:pPr marL="0" indent="0">
              <a:spcAft>
                <a:spcPts val="200"/>
              </a:spcAft>
              <a:buNone/>
            </a:pPr>
            <a:r>
              <a:rPr sz="1000">
                <a:solidFill>
                  <a:srgbClr val="94A3B8"/>
                </a:solidFill>
                <a:latin typeface="Consolas"/>
                <a:ea typeface="Consolas"/>
                <a:cs typeface="Consolas"/>
              </a:rPr>
              <a:t># Cek port mana yang lagi dipakai (PID + program):</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sudo ss -tulpn | grep :8000</a:t>
            </a:r>
            <a:endParaRPr sz="1000"/>
          </a:p>
        </p:txBody>
      </p:sp>
    </p:spTree>
    <p:extLst>
      <p:ext uri="{BB962C8B-B14F-4D97-AF65-F5344CB8AC3E}">
        <p14:creationId xmlns:p14="http://schemas.microsoft.com/office/powerpoint/2010/main" val="90379065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5E4A4E7-5613-4771-A25A-FD1B1C67A773}"/>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2</a:t>
            </a:r>
            <a:endParaRPr sz="900"/>
          </a:p>
        </p:txBody>
      </p:sp>
      <p:sp>
        <p:nvSpPr>
          <p:cNvPr id="3" name="Text 1">
            <a:extLst xmlns:a="http://schemas.openxmlformats.org/drawingml/2006/main">
              <a:ext uri="{FF2B5EF4-FFF2-40B4-BE49-F238E27FC236}">
                <a16:creationId xmlns:a16="http://schemas.microsoft.com/office/drawing/2014/main" id="{B358F427-F33D-4B5A-9E0F-82687036FED6}"/>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26</a:t>
            </a:r>
            <a:endParaRPr sz="900"/>
          </a:p>
        </p:txBody>
      </p:sp>
      <p:sp>
        <p:nvSpPr>
          <p:cNvPr id="4" name="Shape 2">
            <a:extLst xmlns:a="http://schemas.openxmlformats.org/drawingml/2006/main">
              <a:ext uri="{FF2B5EF4-FFF2-40B4-BE49-F238E27FC236}">
                <a16:creationId xmlns:a16="http://schemas.microsoft.com/office/drawing/2014/main" id="{BCCCEFF5-143E-4E64-852E-4EE5462D929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53" name="Image 0"/>
          <p:cNvPicPr>
            <a:picLocks xmlns:a="http://schemas.openxmlformats.org/drawingml/2006/main" noChangeAspect="1"/>
          </p:cNvPicPr>
          <p:nvPr/>
        </p:nvPicPr>
        <p:blipFill>
          <a:blip xmlns:r="http://schemas.openxmlformats.org/officeDocument/2006/relationships" xmlns:a="http://schemas.openxmlformats.org/drawingml/2006/main" r:embed="R41afa24c957e463c"/>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54" name="Image 1"/>
          <p:cNvPicPr>
            <a:picLocks xmlns:a="http://schemas.openxmlformats.org/drawingml/2006/main" noChangeAspect="1"/>
          </p:cNvPicPr>
          <p:nvPr/>
        </p:nvPicPr>
        <p:blipFill>
          <a:blip xmlns:r="http://schemas.openxmlformats.org/officeDocument/2006/relationships" xmlns:a="http://schemas.openxmlformats.org/drawingml/2006/main" r:embed="R137846e30a634f0b"/>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EF58DA1F-1B09-4CFE-8AB8-E968FDB725CC}"/>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5FFBECD7-1CA7-4C90-AF20-DFC96A424EE7}"/>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Background Jobs &amp; Persistent Sessions</a:t>
            </a:r>
            <a:endParaRPr sz="2200"/>
          </a:p>
        </p:txBody>
      </p:sp>
      <p:sp>
        <p:nvSpPr>
          <p:cNvPr id="9" name="Text 5">
            <a:extLst xmlns:a="http://schemas.openxmlformats.org/drawingml/2006/main">
              <a:ext uri="{FF2B5EF4-FFF2-40B4-BE49-F238E27FC236}">
                <a16:creationId xmlns:a16="http://schemas.microsoft.com/office/drawing/2014/main" id="{BFDD50F9-D873-4E4D-8721-B031852CFA4F}"/>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Supaya proses tetap jalan setelah Anda tutup terminal</a:t>
            </a:r>
            <a:endParaRPr sz="1200"/>
          </a:p>
        </p:txBody>
      </p:sp>
      <p:sp>
        <p:nvSpPr>
          <p:cNvPr id="10" name="Shape 6">
            <a:extLst xmlns:a="http://schemas.openxmlformats.org/drawingml/2006/main">
              <a:ext uri="{FF2B5EF4-FFF2-40B4-BE49-F238E27FC236}">
                <a16:creationId xmlns:a16="http://schemas.microsoft.com/office/drawing/2014/main" id="{A320A856-FF64-4DD8-9209-AF836F0C2637}"/>
              </a:ext>
            </a:extLst>
          </p:cNvPr>
          <p:cNvSpPr>
            <a:spLocks xmlns:a="http://schemas.openxmlformats.org/drawingml/2006/main" noGrp="1"/>
          </p:cNvSpPr>
          <p:nvPr/>
        </p:nvSpPr>
        <p:spPr>
          <a:xfrm xmlns:a="http://schemas.openxmlformats.org/drawingml/2006/main">
            <a:off x="457200" y="1417320"/>
            <a:ext cx="557784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Text 7">
            <a:extLst xmlns:a="http://schemas.openxmlformats.org/drawingml/2006/main">
              <a:ext uri="{FF2B5EF4-FFF2-40B4-BE49-F238E27FC236}">
                <a16:creationId xmlns:a16="http://schemas.microsoft.com/office/drawing/2014/main" id="{5691FD39-16AA-4F01-87A4-F22BFBA5F86A}"/>
              </a:ext>
            </a:extLst>
          </p:cNvPr>
          <p:cNvSpPr>
            <a:spLocks xmlns:a="http://schemas.openxmlformats.org/drawingml/2006/main" noGrp="1"/>
          </p:cNvSpPr>
          <p:nvPr/>
        </p:nvSpPr>
        <p:spPr>
          <a:xfrm xmlns:a="http://schemas.openxmlformats.org/drawingml/2006/main">
            <a:off x="640080" y="1554480"/>
            <a:ext cx="52120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002677"/>
                </a:solidFill>
                <a:latin typeface="Calibri"/>
                <a:ea typeface="Calibri"/>
                <a:cs typeface="Calibri"/>
              </a:rPr>
              <a:t>Shell Job Control</a:t>
            </a:r>
            <a:endParaRPr sz="1600"/>
          </a:p>
        </p:txBody>
      </p:sp>
      <p:sp>
        <p:nvSpPr>
          <p:cNvPr id="12" name="Text 8">
            <a:extLst xmlns:a="http://schemas.openxmlformats.org/drawingml/2006/main">
              <a:ext uri="{FF2B5EF4-FFF2-40B4-BE49-F238E27FC236}">
                <a16:creationId xmlns:a16="http://schemas.microsoft.com/office/drawing/2014/main" id="{EA5CF352-E385-45D5-A8E2-A98A045E64E0}"/>
              </a:ext>
            </a:extLst>
          </p:cNvPr>
          <p:cNvSpPr>
            <a:spLocks xmlns:a="http://schemas.openxmlformats.org/drawingml/2006/main" noGrp="1"/>
          </p:cNvSpPr>
          <p:nvPr/>
        </p:nvSpPr>
        <p:spPr>
          <a:xfrm xmlns:a="http://schemas.openxmlformats.org/drawingml/2006/main">
            <a:off x="640080" y="1920240"/>
            <a:ext cx="521208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64748B"/>
                </a:solidFill>
                <a:latin typeface="Calibri"/>
                <a:ea typeface="Calibri"/>
                <a:cs typeface="Calibri"/>
              </a:rPr>
              <a:t>Untuk task pendek atau experiment cepat.</a:t>
            </a:r>
            <a:endParaRPr sz="1100"/>
          </a:p>
        </p:txBody>
      </p:sp>
      <p:sp>
        <p:nvSpPr>
          <p:cNvPr id="13" name="Shape 9">
            <a:extLst xmlns:a="http://schemas.openxmlformats.org/drawingml/2006/main">
              <a:ext uri="{FF2B5EF4-FFF2-40B4-BE49-F238E27FC236}">
                <a16:creationId xmlns:a16="http://schemas.microsoft.com/office/drawing/2014/main" id="{D2898114-E6D6-4184-B806-E6D30339930A}"/>
              </a:ext>
            </a:extLst>
          </p:cNvPr>
          <p:cNvSpPr>
            <a:spLocks xmlns:a="http://schemas.openxmlformats.org/drawingml/2006/main" noGrp="1"/>
          </p:cNvSpPr>
          <p:nvPr/>
        </p:nvSpPr>
        <p:spPr>
          <a:xfrm xmlns:a="http://schemas.openxmlformats.org/drawingml/2006/main">
            <a:off x="640080" y="2377440"/>
            <a:ext cx="5212080" cy="50292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14" name="Shape 10">
            <a:extLst xmlns:a="http://schemas.openxmlformats.org/drawingml/2006/main">
              <a:ext uri="{FF2B5EF4-FFF2-40B4-BE49-F238E27FC236}">
                <a16:creationId xmlns:a16="http://schemas.microsoft.com/office/drawing/2014/main" id="{F3F708E9-2BAC-49E7-9B9F-4E1FE9BFADB1}"/>
              </a:ext>
            </a:extLst>
          </p:cNvPr>
          <p:cNvSpPr>
            <a:spLocks xmlns:a="http://schemas.openxmlformats.org/drawingml/2006/main" noGrp="1"/>
          </p:cNvSpPr>
          <p:nvPr/>
        </p:nvSpPr>
        <p:spPr>
          <a:xfrm xmlns:a="http://schemas.openxmlformats.org/drawingml/2006/main">
            <a:off x="640080" y="2377440"/>
            <a:ext cx="1645920" cy="50292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15" name="Text 11">
            <a:extLst xmlns:a="http://schemas.openxmlformats.org/drawingml/2006/main">
              <a:ext uri="{FF2B5EF4-FFF2-40B4-BE49-F238E27FC236}">
                <a16:creationId xmlns:a16="http://schemas.microsoft.com/office/drawing/2014/main" id="{DF4EB8F5-DC00-4184-916E-A664C811EC52}"/>
              </a:ext>
            </a:extLst>
          </p:cNvPr>
          <p:cNvSpPr>
            <a:spLocks xmlns:a="http://schemas.openxmlformats.org/drawingml/2006/main" noGrp="1"/>
          </p:cNvSpPr>
          <p:nvPr/>
        </p:nvSpPr>
        <p:spPr>
          <a:xfrm xmlns:a="http://schemas.openxmlformats.org/drawingml/2006/main">
            <a:off x="685800" y="2377440"/>
            <a:ext cx="15544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command &amp;</a:t>
            </a:r>
            <a:endParaRPr sz="1100"/>
          </a:p>
        </p:txBody>
      </p:sp>
      <p:sp>
        <p:nvSpPr>
          <p:cNvPr id="16" name="Text 12">
            <a:extLst xmlns:a="http://schemas.openxmlformats.org/drawingml/2006/main">
              <a:ext uri="{FF2B5EF4-FFF2-40B4-BE49-F238E27FC236}">
                <a16:creationId xmlns:a16="http://schemas.microsoft.com/office/drawing/2014/main" id="{EB0CC57E-3B3A-454F-9406-5912814FB613}"/>
              </a:ext>
            </a:extLst>
          </p:cNvPr>
          <p:cNvSpPr>
            <a:spLocks xmlns:a="http://schemas.openxmlformats.org/drawingml/2006/main" noGrp="1"/>
          </p:cNvSpPr>
          <p:nvPr/>
        </p:nvSpPr>
        <p:spPr>
          <a:xfrm xmlns:a="http://schemas.openxmlformats.org/drawingml/2006/main">
            <a:off x="2377440" y="2377440"/>
            <a:ext cx="33832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Jalankan command di background</a:t>
            </a:r>
            <a:endParaRPr sz="1100"/>
          </a:p>
        </p:txBody>
      </p:sp>
      <p:sp>
        <p:nvSpPr>
          <p:cNvPr id="17" name="Shape 13">
            <a:extLst xmlns:a="http://schemas.openxmlformats.org/drawingml/2006/main">
              <a:ext uri="{FF2B5EF4-FFF2-40B4-BE49-F238E27FC236}">
                <a16:creationId xmlns:a16="http://schemas.microsoft.com/office/drawing/2014/main" id="{DBA36BCB-5EC5-4149-8D5D-DBEC39B68EEF}"/>
              </a:ext>
            </a:extLst>
          </p:cNvPr>
          <p:cNvSpPr>
            <a:spLocks xmlns:a="http://schemas.openxmlformats.org/drawingml/2006/main" noGrp="1"/>
          </p:cNvSpPr>
          <p:nvPr/>
        </p:nvSpPr>
        <p:spPr>
          <a:xfrm xmlns:a="http://schemas.openxmlformats.org/drawingml/2006/main">
            <a:off x="640080" y="2971800"/>
            <a:ext cx="5212080" cy="50292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18" name="Shape 14">
            <a:extLst xmlns:a="http://schemas.openxmlformats.org/drawingml/2006/main">
              <a:ext uri="{FF2B5EF4-FFF2-40B4-BE49-F238E27FC236}">
                <a16:creationId xmlns:a16="http://schemas.microsoft.com/office/drawing/2014/main" id="{880B96FC-BB86-442D-AD14-C05FDC5D400B}"/>
              </a:ext>
            </a:extLst>
          </p:cNvPr>
          <p:cNvSpPr>
            <a:spLocks xmlns:a="http://schemas.openxmlformats.org/drawingml/2006/main" noGrp="1"/>
          </p:cNvSpPr>
          <p:nvPr/>
        </p:nvSpPr>
        <p:spPr>
          <a:xfrm xmlns:a="http://schemas.openxmlformats.org/drawingml/2006/main">
            <a:off x="640080" y="2971800"/>
            <a:ext cx="1645920" cy="50292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19" name="Text 15">
            <a:extLst xmlns:a="http://schemas.openxmlformats.org/drawingml/2006/main">
              <a:ext uri="{FF2B5EF4-FFF2-40B4-BE49-F238E27FC236}">
                <a16:creationId xmlns:a16="http://schemas.microsoft.com/office/drawing/2014/main" id="{EB4DB646-AEEF-4D00-BFE6-82CA337BAB96}"/>
              </a:ext>
            </a:extLst>
          </p:cNvPr>
          <p:cNvSpPr>
            <a:spLocks xmlns:a="http://schemas.openxmlformats.org/drawingml/2006/main" noGrp="1"/>
          </p:cNvSpPr>
          <p:nvPr/>
        </p:nvSpPr>
        <p:spPr>
          <a:xfrm xmlns:a="http://schemas.openxmlformats.org/drawingml/2006/main">
            <a:off x="685800" y="2971800"/>
            <a:ext cx="15544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Ctrl + Z</a:t>
            </a:r>
            <a:endParaRPr sz="1100"/>
          </a:p>
        </p:txBody>
      </p:sp>
      <p:sp>
        <p:nvSpPr>
          <p:cNvPr id="20" name="Text 16">
            <a:extLst xmlns:a="http://schemas.openxmlformats.org/drawingml/2006/main">
              <a:ext uri="{FF2B5EF4-FFF2-40B4-BE49-F238E27FC236}">
                <a16:creationId xmlns:a16="http://schemas.microsoft.com/office/drawing/2014/main" id="{BB979413-89D0-48F4-BE9E-B4437207CFB6}"/>
              </a:ext>
            </a:extLst>
          </p:cNvPr>
          <p:cNvSpPr>
            <a:spLocks xmlns:a="http://schemas.openxmlformats.org/drawingml/2006/main" noGrp="1"/>
          </p:cNvSpPr>
          <p:nvPr/>
        </p:nvSpPr>
        <p:spPr>
          <a:xfrm xmlns:a="http://schemas.openxmlformats.org/drawingml/2006/main">
            <a:off x="2377440" y="2971800"/>
            <a:ext cx="33832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Suspend proses foreground</a:t>
            </a:r>
            <a:endParaRPr sz="1100"/>
          </a:p>
        </p:txBody>
      </p:sp>
      <p:sp>
        <p:nvSpPr>
          <p:cNvPr id="21" name="Shape 17">
            <a:extLst xmlns:a="http://schemas.openxmlformats.org/drawingml/2006/main">
              <a:ext uri="{FF2B5EF4-FFF2-40B4-BE49-F238E27FC236}">
                <a16:creationId xmlns:a16="http://schemas.microsoft.com/office/drawing/2014/main" id="{D73A7727-0A1E-4527-BF03-5CF10E983945}"/>
              </a:ext>
            </a:extLst>
          </p:cNvPr>
          <p:cNvSpPr>
            <a:spLocks xmlns:a="http://schemas.openxmlformats.org/drawingml/2006/main" noGrp="1"/>
          </p:cNvSpPr>
          <p:nvPr/>
        </p:nvSpPr>
        <p:spPr>
          <a:xfrm xmlns:a="http://schemas.openxmlformats.org/drawingml/2006/main">
            <a:off x="640080" y="3566160"/>
            <a:ext cx="5212080" cy="50292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2" name="Shape 18">
            <a:extLst xmlns:a="http://schemas.openxmlformats.org/drawingml/2006/main">
              <a:ext uri="{FF2B5EF4-FFF2-40B4-BE49-F238E27FC236}">
                <a16:creationId xmlns:a16="http://schemas.microsoft.com/office/drawing/2014/main" id="{73CFCC17-5630-4C3F-8FDC-B45A32F4561E}"/>
              </a:ext>
            </a:extLst>
          </p:cNvPr>
          <p:cNvSpPr>
            <a:spLocks xmlns:a="http://schemas.openxmlformats.org/drawingml/2006/main" noGrp="1"/>
          </p:cNvSpPr>
          <p:nvPr/>
        </p:nvSpPr>
        <p:spPr>
          <a:xfrm xmlns:a="http://schemas.openxmlformats.org/drawingml/2006/main">
            <a:off x="640080" y="3566160"/>
            <a:ext cx="1645920" cy="50292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23" name="Text 19">
            <a:extLst xmlns:a="http://schemas.openxmlformats.org/drawingml/2006/main">
              <a:ext uri="{FF2B5EF4-FFF2-40B4-BE49-F238E27FC236}">
                <a16:creationId xmlns:a16="http://schemas.microsoft.com/office/drawing/2014/main" id="{C492A9B5-104E-4F1B-ACB1-15BD391C855F}"/>
              </a:ext>
            </a:extLst>
          </p:cNvPr>
          <p:cNvSpPr>
            <a:spLocks xmlns:a="http://schemas.openxmlformats.org/drawingml/2006/main" noGrp="1"/>
          </p:cNvSpPr>
          <p:nvPr/>
        </p:nvSpPr>
        <p:spPr>
          <a:xfrm xmlns:a="http://schemas.openxmlformats.org/drawingml/2006/main">
            <a:off x="685800" y="3566160"/>
            <a:ext cx="15544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bg</a:t>
            </a:r>
            <a:endParaRPr sz="1100"/>
          </a:p>
        </p:txBody>
      </p:sp>
      <p:sp>
        <p:nvSpPr>
          <p:cNvPr id="24" name="Text 20">
            <a:extLst xmlns:a="http://schemas.openxmlformats.org/drawingml/2006/main">
              <a:ext uri="{FF2B5EF4-FFF2-40B4-BE49-F238E27FC236}">
                <a16:creationId xmlns:a16="http://schemas.microsoft.com/office/drawing/2014/main" id="{18E3E4AB-8BF6-4B41-B63F-AFD36E8E375F}"/>
              </a:ext>
            </a:extLst>
          </p:cNvPr>
          <p:cNvSpPr>
            <a:spLocks xmlns:a="http://schemas.openxmlformats.org/drawingml/2006/main" noGrp="1"/>
          </p:cNvSpPr>
          <p:nvPr/>
        </p:nvSpPr>
        <p:spPr>
          <a:xfrm xmlns:a="http://schemas.openxmlformats.org/drawingml/2006/main">
            <a:off x="2377440" y="3566160"/>
            <a:ext cx="33832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Resume proses suspended di background</a:t>
            </a:r>
            <a:endParaRPr sz="1100"/>
          </a:p>
        </p:txBody>
      </p:sp>
      <p:sp>
        <p:nvSpPr>
          <p:cNvPr id="25" name="Shape 21">
            <a:extLst xmlns:a="http://schemas.openxmlformats.org/drawingml/2006/main">
              <a:ext uri="{FF2B5EF4-FFF2-40B4-BE49-F238E27FC236}">
                <a16:creationId xmlns:a16="http://schemas.microsoft.com/office/drawing/2014/main" id="{05A91FF2-28E5-47B3-A76E-E4381E24F5B7}"/>
              </a:ext>
            </a:extLst>
          </p:cNvPr>
          <p:cNvSpPr>
            <a:spLocks xmlns:a="http://schemas.openxmlformats.org/drawingml/2006/main" noGrp="1"/>
          </p:cNvSpPr>
          <p:nvPr/>
        </p:nvSpPr>
        <p:spPr>
          <a:xfrm xmlns:a="http://schemas.openxmlformats.org/drawingml/2006/main">
            <a:off x="640080" y="4160520"/>
            <a:ext cx="5212080" cy="50292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6" name="Shape 22">
            <a:extLst xmlns:a="http://schemas.openxmlformats.org/drawingml/2006/main">
              <a:ext uri="{FF2B5EF4-FFF2-40B4-BE49-F238E27FC236}">
                <a16:creationId xmlns:a16="http://schemas.microsoft.com/office/drawing/2014/main" id="{C1C90E75-134D-453C-A315-3CA150777486}"/>
              </a:ext>
            </a:extLst>
          </p:cNvPr>
          <p:cNvSpPr>
            <a:spLocks xmlns:a="http://schemas.openxmlformats.org/drawingml/2006/main" noGrp="1"/>
          </p:cNvSpPr>
          <p:nvPr/>
        </p:nvSpPr>
        <p:spPr>
          <a:xfrm xmlns:a="http://schemas.openxmlformats.org/drawingml/2006/main">
            <a:off x="640080" y="4160520"/>
            <a:ext cx="1645920" cy="50292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27" name="Text 23">
            <a:extLst xmlns:a="http://schemas.openxmlformats.org/drawingml/2006/main">
              <a:ext uri="{FF2B5EF4-FFF2-40B4-BE49-F238E27FC236}">
                <a16:creationId xmlns:a16="http://schemas.microsoft.com/office/drawing/2014/main" id="{ACBC9DD9-B751-4D25-9A74-3B5E3A5E9910}"/>
              </a:ext>
            </a:extLst>
          </p:cNvPr>
          <p:cNvSpPr>
            <a:spLocks xmlns:a="http://schemas.openxmlformats.org/drawingml/2006/main" noGrp="1"/>
          </p:cNvSpPr>
          <p:nvPr/>
        </p:nvSpPr>
        <p:spPr>
          <a:xfrm xmlns:a="http://schemas.openxmlformats.org/drawingml/2006/main">
            <a:off x="685800" y="4160520"/>
            <a:ext cx="15544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fg</a:t>
            </a:r>
            <a:endParaRPr sz="1100"/>
          </a:p>
        </p:txBody>
      </p:sp>
      <p:sp>
        <p:nvSpPr>
          <p:cNvPr id="28" name="Text 24">
            <a:extLst xmlns:a="http://schemas.openxmlformats.org/drawingml/2006/main">
              <a:ext uri="{FF2B5EF4-FFF2-40B4-BE49-F238E27FC236}">
                <a16:creationId xmlns:a16="http://schemas.microsoft.com/office/drawing/2014/main" id="{87005239-8D74-4757-87ED-B0D049EA594A}"/>
              </a:ext>
            </a:extLst>
          </p:cNvPr>
          <p:cNvSpPr>
            <a:spLocks xmlns:a="http://schemas.openxmlformats.org/drawingml/2006/main" noGrp="1"/>
          </p:cNvSpPr>
          <p:nvPr/>
        </p:nvSpPr>
        <p:spPr>
          <a:xfrm xmlns:a="http://schemas.openxmlformats.org/drawingml/2006/main">
            <a:off x="2377440" y="4160520"/>
            <a:ext cx="33832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Bawa proses background ke foreground</a:t>
            </a:r>
            <a:endParaRPr sz="1100"/>
          </a:p>
        </p:txBody>
      </p:sp>
      <p:sp>
        <p:nvSpPr>
          <p:cNvPr id="29" name="Shape 25">
            <a:extLst xmlns:a="http://schemas.openxmlformats.org/drawingml/2006/main">
              <a:ext uri="{FF2B5EF4-FFF2-40B4-BE49-F238E27FC236}">
                <a16:creationId xmlns:a16="http://schemas.microsoft.com/office/drawing/2014/main" id="{39237079-24C4-412F-9DAA-FBB653430E43}"/>
              </a:ext>
            </a:extLst>
          </p:cNvPr>
          <p:cNvSpPr>
            <a:spLocks xmlns:a="http://schemas.openxmlformats.org/drawingml/2006/main" noGrp="1"/>
          </p:cNvSpPr>
          <p:nvPr/>
        </p:nvSpPr>
        <p:spPr>
          <a:xfrm xmlns:a="http://schemas.openxmlformats.org/drawingml/2006/main">
            <a:off x="640080" y="4754880"/>
            <a:ext cx="5212080" cy="50292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30" name="Shape 26">
            <a:extLst xmlns:a="http://schemas.openxmlformats.org/drawingml/2006/main">
              <a:ext uri="{FF2B5EF4-FFF2-40B4-BE49-F238E27FC236}">
                <a16:creationId xmlns:a16="http://schemas.microsoft.com/office/drawing/2014/main" id="{FDECD8A1-65A0-4337-90C6-0E95C6DDDF95}"/>
              </a:ext>
            </a:extLst>
          </p:cNvPr>
          <p:cNvSpPr>
            <a:spLocks xmlns:a="http://schemas.openxmlformats.org/drawingml/2006/main" noGrp="1"/>
          </p:cNvSpPr>
          <p:nvPr/>
        </p:nvSpPr>
        <p:spPr>
          <a:xfrm xmlns:a="http://schemas.openxmlformats.org/drawingml/2006/main">
            <a:off x="640080" y="4754880"/>
            <a:ext cx="1645920" cy="50292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31" name="Text 27">
            <a:extLst xmlns:a="http://schemas.openxmlformats.org/drawingml/2006/main">
              <a:ext uri="{FF2B5EF4-FFF2-40B4-BE49-F238E27FC236}">
                <a16:creationId xmlns:a16="http://schemas.microsoft.com/office/drawing/2014/main" id="{717DA4E9-DC52-40FA-8ADC-3BC5A0656D2A}"/>
              </a:ext>
            </a:extLst>
          </p:cNvPr>
          <p:cNvSpPr>
            <a:spLocks xmlns:a="http://schemas.openxmlformats.org/drawingml/2006/main" noGrp="1"/>
          </p:cNvSpPr>
          <p:nvPr/>
        </p:nvSpPr>
        <p:spPr>
          <a:xfrm xmlns:a="http://schemas.openxmlformats.org/drawingml/2006/main">
            <a:off x="685800" y="4754880"/>
            <a:ext cx="15544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jobs</a:t>
            </a:r>
            <a:endParaRPr sz="1100"/>
          </a:p>
        </p:txBody>
      </p:sp>
      <p:sp>
        <p:nvSpPr>
          <p:cNvPr id="32" name="Text 28">
            <a:extLst xmlns:a="http://schemas.openxmlformats.org/drawingml/2006/main">
              <a:ext uri="{FF2B5EF4-FFF2-40B4-BE49-F238E27FC236}">
                <a16:creationId xmlns:a16="http://schemas.microsoft.com/office/drawing/2014/main" id="{5DC86632-9EC4-4968-B800-774EFDDDDAD9}"/>
              </a:ext>
            </a:extLst>
          </p:cNvPr>
          <p:cNvSpPr>
            <a:spLocks xmlns:a="http://schemas.openxmlformats.org/drawingml/2006/main" noGrp="1"/>
          </p:cNvSpPr>
          <p:nvPr/>
        </p:nvSpPr>
        <p:spPr>
          <a:xfrm xmlns:a="http://schemas.openxmlformats.org/drawingml/2006/main">
            <a:off x="2377440" y="4754880"/>
            <a:ext cx="33832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List job yang sedang aktif</a:t>
            </a:r>
            <a:endParaRPr sz="1100"/>
          </a:p>
        </p:txBody>
      </p:sp>
      <p:sp>
        <p:nvSpPr>
          <p:cNvPr id="33" name="Shape 29">
            <a:extLst xmlns:a="http://schemas.openxmlformats.org/drawingml/2006/main">
              <a:ext uri="{FF2B5EF4-FFF2-40B4-BE49-F238E27FC236}">
                <a16:creationId xmlns:a16="http://schemas.microsoft.com/office/drawing/2014/main" id="{6175E9BB-78D5-4C8C-9447-9256BBB6C5AC}"/>
              </a:ext>
            </a:extLst>
          </p:cNvPr>
          <p:cNvSpPr>
            <a:spLocks xmlns:a="http://schemas.openxmlformats.org/drawingml/2006/main" noGrp="1"/>
          </p:cNvSpPr>
          <p:nvPr/>
        </p:nvSpPr>
        <p:spPr>
          <a:xfrm xmlns:a="http://schemas.openxmlformats.org/drawingml/2006/main">
            <a:off x="640080" y="5349240"/>
            <a:ext cx="5212080" cy="50292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34" name="Shape 30">
            <a:extLst xmlns:a="http://schemas.openxmlformats.org/drawingml/2006/main">
              <a:ext uri="{FF2B5EF4-FFF2-40B4-BE49-F238E27FC236}">
                <a16:creationId xmlns:a16="http://schemas.microsoft.com/office/drawing/2014/main" id="{8341B768-276C-4523-89A8-88E32CC9E5F8}"/>
              </a:ext>
            </a:extLst>
          </p:cNvPr>
          <p:cNvSpPr>
            <a:spLocks xmlns:a="http://schemas.openxmlformats.org/drawingml/2006/main" noGrp="1"/>
          </p:cNvSpPr>
          <p:nvPr/>
        </p:nvSpPr>
        <p:spPr>
          <a:xfrm xmlns:a="http://schemas.openxmlformats.org/drawingml/2006/main">
            <a:off x="640080" y="5349240"/>
            <a:ext cx="1645920" cy="50292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35" name="Text 31">
            <a:extLst xmlns:a="http://schemas.openxmlformats.org/drawingml/2006/main">
              <a:ext uri="{FF2B5EF4-FFF2-40B4-BE49-F238E27FC236}">
                <a16:creationId xmlns:a16="http://schemas.microsoft.com/office/drawing/2014/main" id="{A2D06DF8-A67A-4E7E-A61A-1AFCD15ECA10}"/>
              </a:ext>
            </a:extLst>
          </p:cNvPr>
          <p:cNvSpPr>
            <a:spLocks xmlns:a="http://schemas.openxmlformats.org/drawingml/2006/main" noGrp="1"/>
          </p:cNvSpPr>
          <p:nvPr/>
        </p:nvSpPr>
        <p:spPr>
          <a:xfrm xmlns:a="http://schemas.openxmlformats.org/drawingml/2006/main">
            <a:off x="685800" y="5349240"/>
            <a:ext cx="15544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nohup ... &amp;</a:t>
            </a:r>
            <a:endParaRPr sz="1100"/>
          </a:p>
        </p:txBody>
      </p:sp>
      <p:sp>
        <p:nvSpPr>
          <p:cNvPr id="36" name="Text 32">
            <a:extLst xmlns:a="http://schemas.openxmlformats.org/drawingml/2006/main">
              <a:ext uri="{FF2B5EF4-FFF2-40B4-BE49-F238E27FC236}">
                <a16:creationId xmlns:a16="http://schemas.microsoft.com/office/drawing/2014/main" id="{889B4559-09E4-4B21-A1B8-504666CD9168}"/>
              </a:ext>
            </a:extLst>
          </p:cNvPr>
          <p:cNvSpPr>
            <a:spLocks xmlns:a="http://schemas.openxmlformats.org/drawingml/2006/main" noGrp="1"/>
          </p:cNvSpPr>
          <p:nvPr/>
        </p:nvSpPr>
        <p:spPr>
          <a:xfrm xmlns:a="http://schemas.openxmlformats.org/drawingml/2006/main">
            <a:off x="2377440" y="5349240"/>
            <a:ext cx="33832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Lanjut jalan setelah terminal ditutup</a:t>
            </a:r>
            <a:endParaRPr sz="1100"/>
          </a:p>
        </p:txBody>
      </p:sp>
      <p:sp>
        <p:nvSpPr>
          <p:cNvPr id="37" name="Shape 33">
            <a:extLst xmlns:a="http://schemas.openxmlformats.org/drawingml/2006/main">
              <a:ext uri="{FF2B5EF4-FFF2-40B4-BE49-F238E27FC236}">
                <a16:creationId xmlns:a16="http://schemas.microsoft.com/office/drawing/2014/main" id="{F01C1324-6F04-41B7-A55B-8D38B032DEE7}"/>
              </a:ext>
            </a:extLst>
          </p:cNvPr>
          <p:cNvSpPr>
            <a:spLocks xmlns:a="http://schemas.openxmlformats.org/drawingml/2006/main" noGrp="1"/>
          </p:cNvSpPr>
          <p:nvPr/>
        </p:nvSpPr>
        <p:spPr>
          <a:xfrm xmlns:a="http://schemas.openxmlformats.org/drawingml/2006/main">
            <a:off x="6217920" y="1417320"/>
            <a:ext cx="5486400" cy="4754880"/>
          </a:xfrm>
          <a:prstGeom xmlns:a="http://schemas.openxmlformats.org/drawingml/2006/main" prst="rect">
            <a:avLst/>
          </a:prstGeom>
          <a:solidFill xmlns:a="http://schemas.openxmlformats.org/drawingml/2006/main">
            <a:srgbClr val="FFFFFF"/>
          </a:solidFill>
          <a:ln xmlns:a="http://schemas.openxmlformats.org/drawingml/2006/main" w="25400">
            <a:solidFill>
              <a:srgbClr val="F37021"/>
            </a:solidFill>
            <a:prstDash val="solid"/>
          </a:ln>
        </p:spPr>
      </p:sp>
      <p:sp>
        <p:nvSpPr>
          <p:cNvPr id="38" name="Shape 34">
            <a:extLst xmlns:a="http://schemas.openxmlformats.org/drawingml/2006/main">
              <a:ext uri="{FF2B5EF4-FFF2-40B4-BE49-F238E27FC236}">
                <a16:creationId xmlns:a16="http://schemas.microsoft.com/office/drawing/2014/main" id="{D83A9CF5-DBEA-40F0-A700-642B0F2E2846}"/>
              </a:ext>
            </a:extLst>
          </p:cNvPr>
          <p:cNvSpPr>
            <a:spLocks xmlns:a="http://schemas.openxmlformats.org/drawingml/2006/main" noGrp="1"/>
          </p:cNvSpPr>
          <p:nvPr/>
        </p:nvSpPr>
        <p:spPr>
          <a:xfrm xmlns:a="http://schemas.openxmlformats.org/drawingml/2006/main">
            <a:off x="6217920" y="1417320"/>
            <a:ext cx="5486400" cy="64008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39" name="Text 35">
            <a:extLst xmlns:a="http://schemas.openxmlformats.org/drawingml/2006/main">
              <a:ext uri="{FF2B5EF4-FFF2-40B4-BE49-F238E27FC236}">
                <a16:creationId xmlns:a16="http://schemas.microsoft.com/office/drawing/2014/main" id="{457B9A50-15E2-4203-A73B-FC55F1A3DE16}"/>
              </a:ext>
            </a:extLst>
          </p:cNvPr>
          <p:cNvSpPr>
            <a:spLocks xmlns:a="http://schemas.openxmlformats.org/drawingml/2006/main" noGrp="1"/>
          </p:cNvSpPr>
          <p:nvPr/>
        </p:nvSpPr>
        <p:spPr>
          <a:xfrm xmlns:a="http://schemas.openxmlformats.org/drawingml/2006/main">
            <a:off x="6217920" y="1417320"/>
            <a:ext cx="54864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libri"/>
                <a:ea typeface="Calibri"/>
                <a:cs typeface="Calibri"/>
              </a:rPr>
              <a:t>tmux  -  the right way</a:t>
            </a:r>
            <a:endParaRPr sz="1700"/>
          </a:p>
        </p:txBody>
      </p:sp>
      <p:sp>
        <p:nvSpPr>
          <p:cNvPr id="40" name="Text 36">
            <a:extLst xmlns:a="http://schemas.openxmlformats.org/drawingml/2006/main">
              <a:ext uri="{FF2B5EF4-FFF2-40B4-BE49-F238E27FC236}">
                <a16:creationId xmlns:a16="http://schemas.microsoft.com/office/drawing/2014/main" id="{F64F760F-4BD1-4FAB-9C34-23BAC9F4A3E8}"/>
              </a:ext>
            </a:extLst>
          </p:cNvPr>
          <p:cNvSpPr>
            <a:spLocks xmlns:a="http://schemas.openxmlformats.org/drawingml/2006/main" noGrp="1"/>
          </p:cNvSpPr>
          <p:nvPr/>
        </p:nvSpPr>
        <p:spPr>
          <a:xfrm xmlns:a="http://schemas.openxmlformats.org/drawingml/2006/main">
            <a:off x="6400800" y="2148840"/>
            <a:ext cx="512064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i="1">
                <a:solidFill>
                  <a:srgbClr val="1E293B"/>
                </a:solidFill>
                <a:latin typeface="Calibri"/>
                <a:ea typeface="Calibri"/>
                <a:cs typeface="Calibri"/>
              </a:rPr>
              <a:t>Session tetap hidup walau SSH disconnect / laptop tutup. Wajib untuk training ML / long-running task.</a:t>
            </a:r>
            <a:endParaRPr sz="1100"/>
          </a:p>
        </p:txBody>
      </p:sp>
      <p:sp>
        <p:nvSpPr>
          <p:cNvPr id="41" name="Shape 37">
            <a:extLst xmlns:a="http://schemas.openxmlformats.org/drawingml/2006/main">
              <a:ext uri="{FF2B5EF4-FFF2-40B4-BE49-F238E27FC236}">
                <a16:creationId xmlns:a16="http://schemas.microsoft.com/office/drawing/2014/main" id="{0BC26977-3417-4E38-8C50-34B627ADE712}"/>
              </a:ext>
            </a:extLst>
          </p:cNvPr>
          <p:cNvSpPr>
            <a:spLocks xmlns:a="http://schemas.openxmlformats.org/drawingml/2006/main" noGrp="1"/>
          </p:cNvSpPr>
          <p:nvPr/>
        </p:nvSpPr>
        <p:spPr>
          <a:xfrm xmlns:a="http://schemas.openxmlformats.org/drawingml/2006/main">
            <a:off x="6400800" y="2880360"/>
            <a:ext cx="5120640" cy="324612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42" name="Shape 38">
            <a:extLst xmlns:a="http://schemas.openxmlformats.org/drawingml/2006/main">
              <a:ext uri="{FF2B5EF4-FFF2-40B4-BE49-F238E27FC236}">
                <a16:creationId xmlns:a16="http://schemas.microsoft.com/office/drawing/2014/main" id="{FD69E7C8-C0C0-427C-9518-8DCB49E9C8F8}"/>
              </a:ext>
            </a:extLst>
          </p:cNvPr>
          <p:cNvSpPr>
            <a:spLocks xmlns:a="http://schemas.openxmlformats.org/drawingml/2006/main" noGrp="1"/>
          </p:cNvSpPr>
          <p:nvPr/>
        </p:nvSpPr>
        <p:spPr>
          <a:xfrm xmlns:a="http://schemas.openxmlformats.org/drawingml/2006/main">
            <a:off x="6400800" y="2880360"/>
            <a:ext cx="512064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43" name="Shape 39">
            <a:extLst xmlns:a="http://schemas.openxmlformats.org/drawingml/2006/main">
              <a:ext uri="{FF2B5EF4-FFF2-40B4-BE49-F238E27FC236}">
                <a16:creationId xmlns:a16="http://schemas.microsoft.com/office/drawing/2014/main" id="{70363DA1-F5B8-4773-8E02-71B469D3E7C4}"/>
              </a:ext>
            </a:extLst>
          </p:cNvPr>
          <p:cNvSpPr>
            <a:spLocks xmlns:a="http://schemas.openxmlformats.org/drawingml/2006/main" noGrp="1"/>
          </p:cNvSpPr>
          <p:nvPr/>
        </p:nvSpPr>
        <p:spPr>
          <a:xfrm xmlns:a="http://schemas.openxmlformats.org/drawingml/2006/main">
            <a:off x="6492240" y="296265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44" name="Shape 40">
            <a:extLst xmlns:a="http://schemas.openxmlformats.org/drawingml/2006/main">
              <a:ext uri="{FF2B5EF4-FFF2-40B4-BE49-F238E27FC236}">
                <a16:creationId xmlns:a16="http://schemas.microsoft.com/office/drawing/2014/main" id="{566F0894-826D-4A02-8C09-EE402C1FAACE}"/>
              </a:ext>
            </a:extLst>
          </p:cNvPr>
          <p:cNvSpPr>
            <a:spLocks xmlns:a="http://schemas.openxmlformats.org/drawingml/2006/main" noGrp="1"/>
          </p:cNvSpPr>
          <p:nvPr/>
        </p:nvSpPr>
        <p:spPr>
          <a:xfrm xmlns:a="http://schemas.openxmlformats.org/drawingml/2006/main">
            <a:off x="6629400" y="296265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45" name="Shape 41">
            <a:extLst xmlns:a="http://schemas.openxmlformats.org/drawingml/2006/main">
              <a:ext uri="{FF2B5EF4-FFF2-40B4-BE49-F238E27FC236}">
                <a16:creationId xmlns:a16="http://schemas.microsoft.com/office/drawing/2014/main" id="{D57684F0-B56E-419F-A78F-D808C5405598}"/>
              </a:ext>
            </a:extLst>
          </p:cNvPr>
          <p:cNvSpPr>
            <a:spLocks xmlns:a="http://schemas.openxmlformats.org/drawingml/2006/main" noGrp="1"/>
          </p:cNvSpPr>
          <p:nvPr/>
        </p:nvSpPr>
        <p:spPr>
          <a:xfrm xmlns:a="http://schemas.openxmlformats.org/drawingml/2006/main">
            <a:off x="6766560" y="296265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46" name="Text 42">
            <a:extLst xmlns:a="http://schemas.openxmlformats.org/drawingml/2006/main">
              <a:ext uri="{FF2B5EF4-FFF2-40B4-BE49-F238E27FC236}">
                <a16:creationId xmlns:a16="http://schemas.microsoft.com/office/drawing/2014/main" id="{91FEA459-BF6C-48F6-869B-0AC1D5B7427E}"/>
              </a:ext>
            </a:extLst>
          </p:cNvPr>
          <p:cNvSpPr>
            <a:spLocks xmlns:a="http://schemas.openxmlformats.org/drawingml/2006/main" noGrp="1"/>
          </p:cNvSpPr>
          <p:nvPr/>
        </p:nvSpPr>
        <p:spPr>
          <a:xfrm xmlns:a="http://schemas.openxmlformats.org/drawingml/2006/main">
            <a:off x="6949440" y="2880360"/>
            <a:ext cx="4389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tmux workflow</a:t>
            </a:r>
            <a:endParaRPr sz="900"/>
          </a:p>
        </p:txBody>
      </p:sp>
      <p:sp>
        <p:nvSpPr>
          <p:cNvPr id="47" name="Text 43">
            <a:extLst xmlns:a="http://schemas.openxmlformats.org/drawingml/2006/main">
              <a:ext uri="{FF2B5EF4-FFF2-40B4-BE49-F238E27FC236}">
                <a16:creationId xmlns:a16="http://schemas.microsoft.com/office/drawing/2014/main" id="{A130BCF8-18E3-4D76-BB08-C570A1283A9E}"/>
              </a:ext>
            </a:extLst>
          </p:cNvPr>
          <p:cNvSpPr>
            <a:spLocks xmlns:a="http://schemas.openxmlformats.org/drawingml/2006/main" noGrp="1"/>
          </p:cNvSpPr>
          <p:nvPr/>
        </p:nvSpPr>
        <p:spPr>
          <a:xfrm xmlns:a="http://schemas.openxmlformats.org/drawingml/2006/main">
            <a:off x="6537960" y="3246120"/>
            <a:ext cx="4846320" cy="2788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a:solidFill>
                  <a:srgbClr val="94A3B8"/>
                </a:solidFill>
                <a:latin typeface="Consolas"/>
                <a:ea typeface="Consolas"/>
                <a:cs typeface="Consolas"/>
              </a:rPr>
              <a:t># Mulai session baru bernama 'ml'</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tmux new -s ml</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Jalankan training (terus jalan)</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python train.py</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Detach session: </a:t>
            </a:r>
            <a:endParaRPr sz="1100"/>
          </a:p>
          <a:p xmlns:a="http://schemas.openxmlformats.org/drawingml/2006/main">
            <a:pPr marL="0" indent="0">
              <a:spcAft>
                <a:spcPts val="200"/>
              </a:spcAft>
              <a:buNone/>
            </a:pPr>
            <a:r>
              <a:rPr sz="1100">
                <a:solidFill>
                  <a:srgbClr val="F37021"/>
                </a:solidFill>
                <a:latin typeface="Consolas"/>
                <a:ea typeface="Consolas"/>
                <a:cs typeface="Consolas"/>
              </a:rPr>
              <a:t>Ctrl+B lalu D</a:t>
            </a:r>
            <a:endParaRPr sz="1100"/>
          </a:p>
          <a:p xmlns:a="http://schemas.openxmlformats.org/drawingml/2006/main">
            <a:pPr marL="0" indent="0">
              <a:spcAft>
                <a:spcPts val="200"/>
              </a:spcAft>
              <a:buNone/>
            </a:pPr>
            <a:r>
              <a:rPr sz="1100">
                <a:solidFill>
                  <a:srgbClr val="94A3B8"/>
                </a:solidFill>
                <a:latin typeface="Consolas"/>
                <a:ea typeface="Consolas"/>
                <a:cs typeface="Consolas"/>
              </a:rPr>
              <a:t>[detached]</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Reconnect nanti (bahkan dari laptop lain):</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ssh budi@server</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tmux ls                </a:t>
            </a:r>
            <a:r>
              <a:rPr sz="1100">
                <a:solidFill>
                  <a:srgbClr val="94A3B8"/>
                </a:solidFill>
                <a:latin typeface="Consolas"/>
                <a:ea typeface="Consolas"/>
                <a:cs typeface="Consolas"/>
              </a:rPr>
              <a:t># list session</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tmux attach -t ml      </a:t>
            </a:r>
            <a:r>
              <a:rPr sz="1100">
                <a:solidFill>
                  <a:srgbClr val="94A3B8"/>
                </a:solidFill>
                <a:latin typeface="Consolas"/>
                <a:ea typeface="Consolas"/>
                <a:cs typeface="Consolas"/>
              </a:rPr>
              <a:t># masuk lagi</a:t>
            </a:r>
            <a:endParaRPr sz="1100"/>
          </a:p>
        </p:txBody>
      </p:sp>
    </p:spTree>
    <p:extLst>
      <p:ext uri="{BB962C8B-B14F-4D97-AF65-F5344CB8AC3E}">
        <p14:creationId xmlns:p14="http://schemas.microsoft.com/office/powerpoint/2010/main" val="142179304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CB0C26C-2713-4F22-A83F-A964ED0B7B38}"/>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2</a:t>
            </a:r>
            <a:endParaRPr sz="900"/>
          </a:p>
        </p:txBody>
      </p:sp>
      <p:sp>
        <p:nvSpPr>
          <p:cNvPr id="3" name="Text 1">
            <a:extLst xmlns:a="http://schemas.openxmlformats.org/drawingml/2006/main">
              <a:ext uri="{FF2B5EF4-FFF2-40B4-BE49-F238E27FC236}">
                <a16:creationId xmlns:a16="http://schemas.microsoft.com/office/drawing/2014/main" id="{9880597D-10EC-4726-8F37-20CFBB47843B}"/>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27</a:t>
            </a:r>
            <a:endParaRPr sz="900"/>
          </a:p>
        </p:txBody>
      </p:sp>
      <p:sp>
        <p:nvSpPr>
          <p:cNvPr id="4" name="Shape 2">
            <a:extLst xmlns:a="http://schemas.openxmlformats.org/drawingml/2006/main">
              <a:ext uri="{FF2B5EF4-FFF2-40B4-BE49-F238E27FC236}">
                <a16:creationId xmlns:a16="http://schemas.microsoft.com/office/drawing/2014/main" id="{4BEB3304-E19A-48E8-BE41-89FAABD1D9A3}"/>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36" name="Image 0"/>
          <p:cNvPicPr>
            <a:picLocks xmlns:a="http://schemas.openxmlformats.org/drawingml/2006/main" noChangeAspect="1"/>
          </p:cNvPicPr>
          <p:nvPr/>
        </p:nvPicPr>
        <p:blipFill>
          <a:blip xmlns:r="http://schemas.openxmlformats.org/officeDocument/2006/relationships" xmlns:a="http://schemas.openxmlformats.org/drawingml/2006/main" r:embed="Rc71aa4586c494652"/>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7" name="Image 1"/>
          <p:cNvPicPr>
            <a:picLocks xmlns:a="http://schemas.openxmlformats.org/drawingml/2006/main" noChangeAspect="1"/>
          </p:cNvPicPr>
          <p:nvPr/>
        </p:nvPicPr>
        <p:blipFill>
          <a:blip xmlns:r="http://schemas.openxmlformats.org/officeDocument/2006/relationships" xmlns:a="http://schemas.openxmlformats.org/drawingml/2006/main" r:embed="R51a67b6348734c44"/>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BEB93A4B-7C89-4D58-9FC4-79BDFB604A8C}"/>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B2AF5646-A683-486B-BCB9-291370599D57}"/>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systemd - System Service Manager</a:t>
            </a:r>
            <a:endParaRPr sz="2200"/>
          </a:p>
        </p:txBody>
      </p:sp>
      <p:sp>
        <p:nvSpPr>
          <p:cNvPr id="9" name="Text 5">
            <a:extLst xmlns:a="http://schemas.openxmlformats.org/drawingml/2006/main">
              <a:ext uri="{FF2B5EF4-FFF2-40B4-BE49-F238E27FC236}">
                <a16:creationId xmlns:a16="http://schemas.microsoft.com/office/drawing/2014/main" id="{D6D070E0-077F-488D-848E-4A5FC144708E}"/>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Cara modern Linux menjalankan service</a:t>
            </a:r>
            <a:endParaRPr sz="1200"/>
          </a:p>
        </p:txBody>
      </p:sp>
      <p:sp>
        <p:nvSpPr>
          <p:cNvPr id="10" name="Shape 6">
            <a:extLst xmlns:a="http://schemas.openxmlformats.org/drawingml/2006/main">
              <a:ext uri="{FF2B5EF4-FFF2-40B4-BE49-F238E27FC236}">
                <a16:creationId xmlns:a16="http://schemas.microsoft.com/office/drawing/2014/main" id="{1A467DBF-7E47-4960-BF00-C06B603D84DB}"/>
              </a:ext>
            </a:extLst>
          </p:cNvPr>
          <p:cNvSpPr>
            <a:spLocks xmlns:a="http://schemas.openxmlformats.org/drawingml/2006/main" noGrp="1"/>
          </p:cNvSpPr>
          <p:nvPr/>
        </p:nvSpPr>
        <p:spPr>
          <a:xfrm xmlns:a="http://schemas.openxmlformats.org/drawingml/2006/main">
            <a:off x="457200" y="1417320"/>
            <a:ext cx="11247120" cy="82296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pic>
        <p:nvPicPr>
          <p:cNvPr id="42" name="Image 2"/>
          <p:cNvPicPr>
            <a:picLocks xmlns:a="http://schemas.openxmlformats.org/drawingml/2006/main" noChangeAspect="1"/>
          </p:cNvPicPr>
          <p:nvPr/>
        </p:nvPicPr>
        <p:blipFill>
          <a:blip xmlns:r="http://schemas.openxmlformats.org/officeDocument/2006/relationships" xmlns:a="http://schemas.openxmlformats.org/drawingml/2006/main" r:embed="Rafa352271ac2466e"/>
          <a:stretch xmlns:a="http://schemas.openxmlformats.org/drawingml/2006/main">
            <a:fillRect l="0" t="0" r="0" b="0"/>
          </a:stretch>
        </p:blipFill>
        <p:spPr>
          <a:xfrm xmlns:a="http://schemas.openxmlformats.org/drawingml/2006/main">
            <a:off x="685800" y="1554480"/>
            <a:ext cx="548640" cy="548640"/>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767B7802-A629-47FF-99AD-1500C18D2F81}"/>
              </a:ext>
            </a:extLst>
          </p:cNvPr>
          <p:cNvSpPr>
            <a:spLocks xmlns:a="http://schemas.openxmlformats.org/drawingml/2006/main" noGrp="1"/>
          </p:cNvSpPr>
          <p:nvPr/>
        </p:nvSpPr>
        <p:spPr>
          <a:xfrm xmlns:a="http://schemas.openxmlformats.org/drawingml/2006/main">
            <a:off x="1417320" y="1463040"/>
            <a:ext cx="6858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37021"/>
                </a:solidFill>
                <a:latin typeface="Calibri"/>
                <a:ea typeface="Calibri"/>
                <a:cs typeface="Calibri"/>
              </a:rPr>
              <a:t>systemd:  init system + service manager</a:t>
            </a:r>
            <a:endParaRPr sz="1600"/>
          </a:p>
        </p:txBody>
      </p:sp>
      <p:sp>
        <p:nvSpPr>
          <p:cNvPr id="13" name="Text 8">
            <a:extLst xmlns:a="http://schemas.openxmlformats.org/drawingml/2006/main">
              <a:ext uri="{FF2B5EF4-FFF2-40B4-BE49-F238E27FC236}">
                <a16:creationId xmlns:a16="http://schemas.microsoft.com/office/drawing/2014/main" id="{37F978DF-0D3D-4C01-96EB-C298A391BB3F}"/>
              </a:ext>
            </a:extLst>
          </p:cNvPr>
          <p:cNvSpPr>
            <a:spLocks xmlns:a="http://schemas.openxmlformats.org/drawingml/2006/main" noGrp="1"/>
          </p:cNvSpPr>
          <p:nvPr/>
        </p:nvSpPr>
        <p:spPr>
          <a:xfrm xmlns:a="http://schemas.openxmlformats.org/drawingml/2006/main">
            <a:off x="1417320" y="1828800"/>
            <a:ext cx="10058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FFFFFF"/>
                </a:solidFill>
                <a:latin typeface="Calibri"/>
                <a:ea typeface="Calibri"/>
                <a:cs typeface="Calibri"/>
              </a:rPr>
              <a:t>Mengelola service: start, stop, enable saat boot, restart kalau crash, logging terpusat.</a:t>
            </a:r>
            <a:endParaRPr sz="1100"/>
          </a:p>
        </p:txBody>
      </p:sp>
      <p:sp>
        <p:nvSpPr>
          <p:cNvPr id="14" name="Text 9">
            <a:extLst xmlns:a="http://schemas.openxmlformats.org/drawingml/2006/main">
              <a:ext uri="{FF2B5EF4-FFF2-40B4-BE49-F238E27FC236}">
                <a16:creationId xmlns:a16="http://schemas.microsoft.com/office/drawing/2014/main" id="{DB540AB1-880A-43EB-9568-3EE95C2B9616}"/>
              </a:ext>
            </a:extLst>
          </p:cNvPr>
          <p:cNvSpPr>
            <a:spLocks xmlns:a="http://schemas.openxmlformats.org/drawingml/2006/main" noGrp="1"/>
          </p:cNvSpPr>
          <p:nvPr/>
        </p:nvSpPr>
        <p:spPr>
          <a:xfrm xmlns:a="http://schemas.openxmlformats.org/drawingml/2006/main">
            <a:off x="457200" y="2423160"/>
            <a:ext cx="55778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systemctl  -  control service</a:t>
            </a:r>
            <a:endParaRPr sz="1400"/>
          </a:p>
        </p:txBody>
      </p:sp>
      <p:sp>
        <p:nvSpPr>
          <p:cNvPr id="15" name="Shape 10">
            <a:extLst xmlns:a="http://schemas.openxmlformats.org/drawingml/2006/main">
              <a:ext uri="{FF2B5EF4-FFF2-40B4-BE49-F238E27FC236}">
                <a16:creationId xmlns:a16="http://schemas.microsoft.com/office/drawing/2014/main" id="{E8E32D8F-C0F8-47E2-91DB-A648E9349062}"/>
              </a:ext>
            </a:extLst>
          </p:cNvPr>
          <p:cNvSpPr>
            <a:spLocks xmlns:a="http://schemas.openxmlformats.org/drawingml/2006/main" noGrp="1"/>
          </p:cNvSpPr>
          <p:nvPr/>
        </p:nvSpPr>
        <p:spPr>
          <a:xfrm xmlns:a="http://schemas.openxmlformats.org/drawingml/2006/main">
            <a:off x="457200" y="2834640"/>
            <a:ext cx="5577840" cy="356616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16" name="Shape 11">
            <a:extLst xmlns:a="http://schemas.openxmlformats.org/drawingml/2006/main">
              <a:ext uri="{FF2B5EF4-FFF2-40B4-BE49-F238E27FC236}">
                <a16:creationId xmlns:a16="http://schemas.microsoft.com/office/drawing/2014/main" id="{1003F9A5-0401-4CE8-B7C5-4C986991F8E6}"/>
              </a:ext>
            </a:extLst>
          </p:cNvPr>
          <p:cNvSpPr>
            <a:spLocks xmlns:a="http://schemas.openxmlformats.org/drawingml/2006/main" noGrp="1"/>
          </p:cNvSpPr>
          <p:nvPr/>
        </p:nvSpPr>
        <p:spPr>
          <a:xfrm xmlns:a="http://schemas.openxmlformats.org/drawingml/2006/main">
            <a:off x="457200" y="2834640"/>
            <a:ext cx="557784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17" name="Shape 12">
            <a:extLst xmlns:a="http://schemas.openxmlformats.org/drawingml/2006/main">
              <a:ext uri="{FF2B5EF4-FFF2-40B4-BE49-F238E27FC236}">
                <a16:creationId xmlns:a16="http://schemas.microsoft.com/office/drawing/2014/main" id="{2B30BCFB-8E80-4A6C-A27B-D2032442A147}"/>
              </a:ext>
            </a:extLst>
          </p:cNvPr>
          <p:cNvSpPr>
            <a:spLocks xmlns:a="http://schemas.openxmlformats.org/drawingml/2006/main" noGrp="1"/>
          </p:cNvSpPr>
          <p:nvPr/>
        </p:nvSpPr>
        <p:spPr>
          <a:xfrm xmlns:a="http://schemas.openxmlformats.org/drawingml/2006/main">
            <a:off x="548640" y="291693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18" name="Shape 13">
            <a:extLst xmlns:a="http://schemas.openxmlformats.org/drawingml/2006/main">
              <a:ext uri="{FF2B5EF4-FFF2-40B4-BE49-F238E27FC236}">
                <a16:creationId xmlns:a16="http://schemas.microsoft.com/office/drawing/2014/main" id="{9D2F8CCB-E171-4046-B4C6-3B170F9CB59E}"/>
              </a:ext>
            </a:extLst>
          </p:cNvPr>
          <p:cNvSpPr>
            <a:spLocks xmlns:a="http://schemas.openxmlformats.org/drawingml/2006/main" noGrp="1"/>
          </p:cNvSpPr>
          <p:nvPr/>
        </p:nvSpPr>
        <p:spPr>
          <a:xfrm xmlns:a="http://schemas.openxmlformats.org/drawingml/2006/main">
            <a:off x="685800" y="291693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19" name="Shape 14">
            <a:extLst xmlns:a="http://schemas.openxmlformats.org/drawingml/2006/main">
              <a:ext uri="{FF2B5EF4-FFF2-40B4-BE49-F238E27FC236}">
                <a16:creationId xmlns:a16="http://schemas.microsoft.com/office/drawing/2014/main" id="{54D59B7A-A917-409A-871B-41C5C63B0967}"/>
              </a:ext>
            </a:extLst>
          </p:cNvPr>
          <p:cNvSpPr>
            <a:spLocks xmlns:a="http://schemas.openxmlformats.org/drawingml/2006/main" noGrp="1"/>
          </p:cNvSpPr>
          <p:nvPr/>
        </p:nvSpPr>
        <p:spPr>
          <a:xfrm xmlns:a="http://schemas.openxmlformats.org/drawingml/2006/main">
            <a:off x="822960" y="291693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20" name="Text 15">
            <a:extLst xmlns:a="http://schemas.openxmlformats.org/drawingml/2006/main">
              <a:ext uri="{FF2B5EF4-FFF2-40B4-BE49-F238E27FC236}">
                <a16:creationId xmlns:a16="http://schemas.microsoft.com/office/drawing/2014/main" id="{8128D7D2-E492-4F35-9AC6-8D7587DA63F1}"/>
              </a:ext>
            </a:extLst>
          </p:cNvPr>
          <p:cNvSpPr>
            <a:spLocks xmlns:a="http://schemas.openxmlformats.org/drawingml/2006/main" noGrp="1"/>
          </p:cNvSpPr>
          <p:nvPr/>
        </p:nvSpPr>
        <p:spPr>
          <a:xfrm xmlns:a="http://schemas.openxmlformats.org/drawingml/2006/main">
            <a:off x="1005840" y="2834640"/>
            <a:ext cx="4846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service control</a:t>
            </a:r>
            <a:endParaRPr sz="900"/>
          </a:p>
        </p:txBody>
      </p:sp>
      <p:sp>
        <p:nvSpPr>
          <p:cNvPr id="21" name="Text 16">
            <a:extLst xmlns:a="http://schemas.openxmlformats.org/drawingml/2006/main">
              <a:ext uri="{FF2B5EF4-FFF2-40B4-BE49-F238E27FC236}">
                <a16:creationId xmlns:a16="http://schemas.microsoft.com/office/drawing/2014/main" id="{E1A3127E-8FDC-404A-883A-1AA6A1988807}"/>
              </a:ext>
            </a:extLst>
          </p:cNvPr>
          <p:cNvSpPr>
            <a:spLocks xmlns:a="http://schemas.openxmlformats.org/drawingml/2006/main" noGrp="1"/>
          </p:cNvSpPr>
          <p:nvPr/>
        </p:nvSpPr>
        <p:spPr>
          <a:xfrm xmlns:a="http://schemas.openxmlformats.org/drawingml/2006/main">
            <a:off x="594360" y="3200400"/>
            <a:ext cx="5303520" cy="3108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000">
                <a:solidFill>
                  <a:srgbClr val="94A3B8"/>
                </a:solidFill>
                <a:latin typeface="Consolas"/>
                <a:ea typeface="Consolas"/>
                <a:cs typeface="Consolas"/>
              </a:rPr>
              <a:t># Cek status service:</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sudo systemctl status nginx</a:t>
            </a:r>
            <a:endParaRPr sz="1000"/>
          </a:p>
          <a:p xmlns:a="http://schemas.openxmlformats.org/drawingml/2006/main">
            <a:pPr marL="0" indent="0">
              <a:spcAft>
                <a:spcPts val="200"/>
              </a:spcAft>
              <a:buNone/>
            </a:pPr>
            <a:r>
              <a:rPr sz="1000">
                <a:solidFill>
                  <a:srgbClr val="94A3B8"/>
                </a:solidFill>
                <a:latin typeface="Consolas"/>
                <a:ea typeface="Consolas"/>
                <a:cs typeface="Consolas"/>
              </a:rPr>
              <a:t> </a:t>
            </a:r>
            <a:endParaRPr sz="1000"/>
          </a:p>
          <a:p xmlns:a="http://schemas.openxmlformats.org/drawingml/2006/main">
            <a:pPr marL="0" indent="0">
              <a:spcAft>
                <a:spcPts val="200"/>
              </a:spcAft>
              <a:buNone/>
            </a:pPr>
            <a:r>
              <a:rPr sz="1000">
                <a:solidFill>
                  <a:srgbClr val="10B981"/>
                </a:solidFill>
                <a:latin typeface="Consolas"/>
                <a:ea typeface="Consolas"/>
                <a:cs typeface="Consolas"/>
              </a:rPr>
              <a:t>active (running)</a:t>
            </a:r>
            <a:endParaRPr sz="1000"/>
          </a:p>
          <a:p xmlns:a="http://schemas.openxmlformats.org/drawingml/2006/main">
            <a:pPr marL="0" indent="0">
              <a:spcAft>
                <a:spcPts val="200"/>
              </a:spcAft>
              <a:buNone/>
            </a:pPr>
            <a:r>
              <a:rPr sz="1000">
                <a:solidFill>
                  <a:srgbClr val="94A3B8"/>
                </a:solidFill>
                <a:latin typeface="Consolas"/>
                <a:ea typeface="Consolas"/>
                <a:cs typeface="Consolas"/>
              </a:rPr>
              <a:t> since Tue 09:14</a:t>
            </a:r>
            <a:endParaRPr sz="1000"/>
          </a:p>
          <a:p xmlns:a="http://schemas.openxmlformats.org/drawingml/2006/main">
            <a:pPr marL="0" indent="0">
              <a:spcAft>
                <a:spcPts val="200"/>
              </a:spcAft>
              <a:buNone/>
            </a:pPr>
            <a:endParaRPr sz="1000"/>
          </a:p>
          <a:p xmlns:a="http://schemas.openxmlformats.org/drawingml/2006/main">
            <a:pPr marL="0" indent="0">
              <a:spcAft>
                <a:spcPts val="200"/>
              </a:spcAft>
              <a:buNone/>
            </a:pPr>
            <a:r>
              <a:rPr sz="1000">
                <a:solidFill>
                  <a:srgbClr val="94A3B8"/>
                </a:solidFill>
                <a:latin typeface="Consolas"/>
                <a:ea typeface="Consolas"/>
                <a:cs typeface="Consolas"/>
              </a:rPr>
              <a:t># Start / stop / restart:</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sudo systemctl start nginx</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sudo systemctl stop nginx</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sudo systemctl restart nginx</a:t>
            </a:r>
            <a:endParaRPr sz="1000"/>
          </a:p>
          <a:p xmlns:a="http://schemas.openxmlformats.org/drawingml/2006/main">
            <a:pPr marL="0" indent="0">
              <a:spcAft>
                <a:spcPts val="200"/>
              </a:spcAft>
              <a:buNone/>
            </a:pPr>
            <a:endParaRPr sz="1000"/>
          </a:p>
          <a:p xmlns:a="http://schemas.openxmlformats.org/drawingml/2006/main">
            <a:pPr marL="0" indent="0">
              <a:spcAft>
                <a:spcPts val="200"/>
              </a:spcAft>
              <a:buNone/>
            </a:pPr>
            <a:r>
              <a:rPr sz="1000">
                <a:solidFill>
                  <a:srgbClr val="94A3B8"/>
                </a:solidFill>
                <a:latin typeface="Consolas"/>
                <a:ea typeface="Consolas"/>
                <a:cs typeface="Consolas"/>
              </a:rPr>
              <a:t># Enable / disable auto-start saat boot:</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sudo systemctl enable nginx</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sudo systemctl disable nginx</a:t>
            </a:r>
            <a:endParaRPr sz="1000"/>
          </a:p>
          <a:p xmlns:a="http://schemas.openxmlformats.org/drawingml/2006/main">
            <a:pPr marL="0" indent="0">
              <a:spcAft>
                <a:spcPts val="200"/>
              </a:spcAft>
              <a:buNone/>
            </a:pPr>
            <a:endParaRPr sz="1000"/>
          </a:p>
          <a:p xmlns:a="http://schemas.openxmlformats.org/drawingml/2006/main">
            <a:pPr marL="0" indent="0">
              <a:spcAft>
                <a:spcPts val="200"/>
              </a:spcAft>
              <a:buNone/>
            </a:pPr>
            <a:r>
              <a:rPr sz="1000">
                <a:solidFill>
                  <a:srgbClr val="94A3B8"/>
                </a:solidFill>
                <a:latin typeface="Consolas"/>
                <a:ea typeface="Consolas"/>
                <a:cs typeface="Consolas"/>
              </a:rPr>
              <a:t># Reload config tanpa restart:</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sudo systemctl reload nginx</a:t>
            </a:r>
            <a:endParaRPr sz="1000"/>
          </a:p>
        </p:txBody>
      </p:sp>
      <p:sp>
        <p:nvSpPr>
          <p:cNvPr id="22" name="Text 17">
            <a:extLst xmlns:a="http://schemas.openxmlformats.org/drawingml/2006/main">
              <a:ext uri="{FF2B5EF4-FFF2-40B4-BE49-F238E27FC236}">
                <a16:creationId xmlns:a16="http://schemas.microsoft.com/office/drawing/2014/main" id="{0C63EA8F-EF0D-40DF-999D-C8A281D7E2D8}"/>
              </a:ext>
            </a:extLst>
          </p:cNvPr>
          <p:cNvSpPr>
            <a:spLocks xmlns:a="http://schemas.openxmlformats.org/drawingml/2006/main" noGrp="1"/>
          </p:cNvSpPr>
          <p:nvPr/>
        </p:nvSpPr>
        <p:spPr>
          <a:xfrm xmlns:a="http://schemas.openxmlformats.org/drawingml/2006/main">
            <a:off x="6217920" y="2423160"/>
            <a:ext cx="5486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journalctl  -  baca log</a:t>
            </a:r>
            <a:endParaRPr sz="1400"/>
          </a:p>
        </p:txBody>
      </p:sp>
      <p:sp>
        <p:nvSpPr>
          <p:cNvPr id="23" name="Shape 18">
            <a:extLst xmlns:a="http://schemas.openxmlformats.org/drawingml/2006/main">
              <a:ext uri="{FF2B5EF4-FFF2-40B4-BE49-F238E27FC236}">
                <a16:creationId xmlns:a16="http://schemas.microsoft.com/office/drawing/2014/main" id="{4624B404-0781-4D83-A92A-06708BE18C2B}"/>
              </a:ext>
            </a:extLst>
          </p:cNvPr>
          <p:cNvSpPr>
            <a:spLocks xmlns:a="http://schemas.openxmlformats.org/drawingml/2006/main" noGrp="1"/>
          </p:cNvSpPr>
          <p:nvPr/>
        </p:nvSpPr>
        <p:spPr>
          <a:xfrm xmlns:a="http://schemas.openxmlformats.org/drawingml/2006/main">
            <a:off x="6217920" y="2834640"/>
            <a:ext cx="5486400" cy="356616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24" name="Shape 19">
            <a:extLst xmlns:a="http://schemas.openxmlformats.org/drawingml/2006/main">
              <a:ext uri="{FF2B5EF4-FFF2-40B4-BE49-F238E27FC236}">
                <a16:creationId xmlns:a16="http://schemas.microsoft.com/office/drawing/2014/main" id="{BC5E10FA-72A7-4D93-B11D-B87E514AE304}"/>
              </a:ext>
            </a:extLst>
          </p:cNvPr>
          <p:cNvSpPr>
            <a:spLocks xmlns:a="http://schemas.openxmlformats.org/drawingml/2006/main" noGrp="1"/>
          </p:cNvSpPr>
          <p:nvPr/>
        </p:nvSpPr>
        <p:spPr>
          <a:xfrm xmlns:a="http://schemas.openxmlformats.org/drawingml/2006/main">
            <a:off x="6217920" y="2834640"/>
            <a:ext cx="548640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25" name="Shape 20">
            <a:extLst xmlns:a="http://schemas.openxmlformats.org/drawingml/2006/main">
              <a:ext uri="{FF2B5EF4-FFF2-40B4-BE49-F238E27FC236}">
                <a16:creationId xmlns:a16="http://schemas.microsoft.com/office/drawing/2014/main" id="{D2C7B1F1-7FE9-4A6C-A358-BBAF2BC32057}"/>
              </a:ext>
            </a:extLst>
          </p:cNvPr>
          <p:cNvSpPr>
            <a:spLocks xmlns:a="http://schemas.openxmlformats.org/drawingml/2006/main" noGrp="1"/>
          </p:cNvSpPr>
          <p:nvPr/>
        </p:nvSpPr>
        <p:spPr>
          <a:xfrm xmlns:a="http://schemas.openxmlformats.org/drawingml/2006/main">
            <a:off x="6309360" y="291693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26" name="Shape 21">
            <a:extLst xmlns:a="http://schemas.openxmlformats.org/drawingml/2006/main">
              <a:ext uri="{FF2B5EF4-FFF2-40B4-BE49-F238E27FC236}">
                <a16:creationId xmlns:a16="http://schemas.microsoft.com/office/drawing/2014/main" id="{D6DACFAB-6BAA-4537-8699-B30FF9B51EE6}"/>
              </a:ext>
            </a:extLst>
          </p:cNvPr>
          <p:cNvSpPr>
            <a:spLocks xmlns:a="http://schemas.openxmlformats.org/drawingml/2006/main" noGrp="1"/>
          </p:cNvSpPr>
          <p:nvPr/>
        </p:nvSpPr>
        <p:spPr>
          <a:xfrm xmlns:a="http://schemas.openxmlformats.org/drawingml/2006/main">
            <a:off x="6446520" y="291693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27" name="Shape 22">
            <a:extLst xmlns:a="http://schemas.openxmlformats.org/drawingml/2006/main">
              <a:ext uri="{FF2B5EF4-FFF2-40B4-BE49-F238E27FC236}">
                <a16:creationId xmlns:a16="http://schemas.microsoft.com/office/drawing/2014/main" id="{7577151A-405C-4459-9CF2-8A2FF7D07010}"/>
              </a:ext>
            </a:extLst>
          </p:cNvPr>
          <p:cNvSpPr>
            <a:spLocks xmlns:a="http://schemas.openxmlformats.org/drawingml/2006/main" noGrp="1"/>
          </p:cNvSpPr>
          <p:nvPr/>
        </p:nvSpPr>
        <p:spPr>
          <a:xfrm xmlns:a="http://schemas.openxmlformats.org/drawingml/2006/main">
            <a:off x="6583680" y="291693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28" name="Text 23">
            <a:extLst xmlns:a="http://schemas.openxmlformats.org/drawingml/2006/main">
              <a:ext uri="{FF2B5EF4-FFF2-40B4-BE49-F238E27FC236}">
                <a16:creationId xmlns:a16="http://schemas.microsoft.com/office/drawing/2014/main" id="{18261783-0EE0-413A-B620-86BE380F78B5}"/>
              </a:ext>
            </a:extLst>
          </p:cNvPr>
          <p:cNvSpPr>
            <a:spLocks xmlns:a="http://schemas.openxmlformats.org/drawingml/2006/main" noGrp="1"/>
          </p:cNvSpPr>
          <p:nvPr/>
        </p:nvSpPr>
        <p:spPr>
          <a:xfrm xmlns:a="http://schemas.openxmlformats.org/drawingml/2006/main">
            <a:off x="6766560" y="2834640"/>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logs</a:t>
            </a:r>
            <a:endParaRPr sz="900"/>
          </a:p>
        </p:txBody>
      </p:sp>
      <p:sp>
        <p:nvSpPr>
          <p:cNvPr id="29" name="Text 24">
            <a:extLst xmlns:a="http://schemas.openxmlformats.org/drawingml/2006/main">
              <a:ext uri="{FF2B5EF4-FFF2-40B4-BE49-F238E27FC236}">
                <a16:creationId xmlns:a16="http://schemas.microsoft.com/office/drawing/2014/main" id="{75F15256-24D8-4574-B1A1-B6439315A3CD}"/>
              </a:ext>
            </a:extLst>
          </p:cNvPr>
          <p:cNvSpPr>
            <a:spLocks xmlns:a="http://schemas.openxmlformats.org/drawingml/2006/main" noGrp="1"/>
          </p:cNvSpPr>
          <p:nvPr/>
        </p:nvSpPr>
        <p:spPr>
          <a:xfrm xmlns:a="http://schemas.openxmlformats.org/drawingml/2006/main">
            <a:off x="6355080" y="3200400"/>
            <a:ext cx="5212080" cy="3108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000">
                <a:solidFill>
                  <a:srgbClr val="94A3B8"/>
                </a:solidFill>
                <a:latin typeface="Consolas"/>
                <a:ea typeface="Consolas"/>
                <a:cs typeface="Consolas"/>
              </a:rPr>
              <a:t># Log seluruh sistem (terbaru di bawah):</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journalctl -xe</a:t>
            </a:r>
            <a:endParaRPr sz="1000"/>
          </a:p>
          <a:p xmlns:a="http://schemas.openxmlformats.org/drawingml/2006/main">
            <a:pPr marL="0" indent="0">
              <a:spcAft>
                <a:spcPts val="200"/>
              </a:spcAft>
              <a:buNone/>
            </a:pPr>
            <a:endParaRPr sz="1000"/>
          </a:p>
          <a:p xmlns:a="http://schemas.openxmlformats.org/drawingml/2006/main">
            <a:pPr marL="0" indent="0">
              <a:spcAft>
                <a:spcPts val="200"/>
              </a:spcAft>
              <a:buNone/>
            </a:pPr>
            <a:r>
              <a:rPr sz="1000">
                <a:solidFill>
                  <a:srgbClr val="94A3B8"/>
                </a:solidFill>
                <a:latin typeface="Consolas"/>
                <a:ea typeface="Consolas"/>
                <a:cs typeface="Consolas"/>
              </a:rPr>
              <a:t># Log untuk service tertentu:</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journalctl -u nginx</a:t>
            </a:r>
            <a:endParaRPr sz="1000"/>
          </a:p>
          <a:p xmlns:a="http://schemas.openxmlformats.org/drawingml/2006/main">
            <a:pPr marL="0" indent="0">
              <a:spcAft>
                <a:spcPts val="200"/>
              </a:spcAft>
              <a:buNone/>
            </a:pPr>
            <a:endParaRPr sz="1000"/>
          </a:p>
          <a:p xmlns:a="http://schemas.openxmlformats.org/drawingml/2006/main">
            <a:pPr marL="0" indent="0">
              <a:spcAft>
                <a:spcPts val="200"/>
              </a:spcAft>
              <a:buNone/>
            </a:pPr>
            <a:r>
              <a:rPr sz="1000">
                <a:solidFill>
                  <a:srgbClr val="94A3B8"/>
                </a:solidFill>
                <a:latin typeface="Consolas"/>
                <a:ea typeface="Consolas"/>
                <a:cs typeface="Consolas"/>
              </a:rPr>
              <a:t># Follow log real-time (-f):</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journalctl -u nginx -f</a:t>
            </a:r>
            <a:endParaRPr sz="1000"/>
          </a:p>
          <a:p xmlns:a="http://schemas.openxmlformats.org/drawingml/2006/main">
            <a:pPr marL="0" indent="0">
              <a:spcAft>
                <a:spcPts val="200"/>
              </a:spcAft>
              <a:buNone/>
            </a:pPr>
            <a:endParaRPr sz="1000"/>
          </a:p>
          <a:p xmlns:a="http://schemas.openxmlformats.org/drawingml/2006/main">
            <a:pPr marL="0" indent="0">
              <a:spcAft>
                <a:spcPts val="200"/>
              </a:spcAft>
              <a:buNone/>
            </a:pPr>
            <a:r>
              <a:rPr sz="1000">
                <a:solidFill>
                  <a:srgbClr val="94A3B8"/>
                </a:solidFill>
                <a:latin typeface="Consolas"/>
                <a:ea typeface="Consolas"/>
                <a:cs typeface="Consolas"/>
              </a:rPr>
              <a:t># Log dalam rentang waktu:</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journalctl --since '1 hour ago'</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journalctl --since today</a:t>
            </a:r>
            <a:endParaRPr sz="1000"/>
          </a:p>
          <a:p xmlns:a="http://schemas.openxmlformats.org/drawingml/2006/main">
            <a:pPr marL="0" indent="0">
              <a:spcAft>
                <a:spcPts val="200"/>
              </a:spcAft>
              <a:buNone/>
            </a:pPr>
            <a:endParaRPr sz="1000"/>
          </a:p>
          <a:p xmlns:a="http://schemas.openxmlformats.org/drawingml/2006/main">
            <a:pPr marL="0" indent="0">
              <a:spcAft>
                <a:spcPts val="200"/>
              </a:spcAft>
              <a:buNone/>
            </a:pPr>
            <a:r>
              <a:rPr sz="1000">
                <a:solidFill>
                  <a:srgbClr val="94A3B8"/>
                </a:solidFill>
                <a:latin typeface="Consolas"/>
                <a:ea typeface="Consolas"/>
                <a:cs typeface="Consolas"/>
              </a:rPr>
              <a:t># Filter level error:</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journalctl -p err</a:t>
            </a:r>
            <a:endParaRPr sz="1000"/>
          </a:p>
          <a:p xmlns:a="http://schemas.openxmlformats.org/drawingml/2006/main">
            <a:pPr marL="0" indent="0">
              <a:spcAft>
                <a:spcPts val="200"/>
              </a:spcAft>
              <a:buNone/>
            </a:pPr>
            <a:endParaRPr sz="1000"/>
          </a:p>
          <a:p xmlns:a="http://schemas.openxmlformats.org/drawingml/2006/main">
            <a:pPr marL="0" indent="0">
              <a:spcAft>
                <a:spcPts val="200"/>
              </a:spcAft>
              <a:buNone/>
            </a:pPr>
            <a:r>
              <a:rPr sz="1000">
                <a:solidFill>
                  <a:srgbClr val="94A3B8"/>
                </a:solidFill>
                <a:latin typeface="Consolas"/>
                <a:ea typeface="Consolas"/>
                <a:cs typeface="Consolas"/>
              </a:rPr>
              <a:t># File log tradisional:</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tail -f /var/log/syslog</a:t>
            </a:r>
            <a:endParaRPr sz="1000"/>
          </a:p>
        </p:txBody>
      </p:sp>
    </p:spTree>
    <p:extLst>
      <p:ext uri="{BB962C8B-B14F-4D97-AF65-F5344CB8AC3E}">
        <p14:creationId xmlns:p14="http://schemas.microsoft.com/office/powerpoint/2010/main" val="586192262"/>
      </p:ext>
    </p:extLst>
  </p:cSld>
</p:sld>
</file>

<file path=ppt/slides/slide28.xml><?xml version="1.0" encoding="utf-8"?>
<p:sld xmlns:p="http://schemas.openxmlformats.org/presentationml/2006/main">
  <p:cSld>
    <p:bg>
      <p:bgPr>
        <a:solidFill xmlns:a="http://schemas.openxmlformats.org/drawingml/2006/main">
          <a:srgbClr val="0D47A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0B17CEE-5E03-43B8-B80B-AE6F14A54CD4}"/>
              </a:ext>
            </a:extLst>
          </p:cNvPr>
          <p:cNvSpPr>
            <a:spLocks xmlns:a="http://schemas.openxmlformats.org/drawingml/2006/main" noGrp="1"/>
          </p:cNvSpPr>
          <p:nvPr/>
        </p:nvSpPr>
        <p:spPr>
          <a:xfrm xmlns:a="http://schemas.openxmlformats.org/drawingml/2006/main">
            <a:off x="-1828800" y="3657600"/>
            <a:ext cx="6400800" cy="6400800"/>
          </a:xfrm>
          <a:prstGeom xmlns:a="http://schemas.openxmlformats.org/drawingml/2006/main" prst="ellipse">
            <a:avLst/>
          </a:prstGeom>
          <a:solidFill xmlns:a="http://schemas.openxmlformats.org/drawingml/2006/main">
            <a:srgbClr val="1565C0">
              <a:alpha val="25000"/>
            </a:srgbClr>
          </a:solidFill>
          <a:ln xmlns:a="http://schemas.openxmlformats.org/drawingml/2006/main" w="12700">
            <a:solidFill>
              <a:srgbClr val="1565C0">
                <a:alpha val="0"/>
              </a:srgbClr>
            </a:solidFill>
            <a:prstDash val="solid"/>
          </a:ln>
        </p:spPr>
      </p:sp>
      <p:sp>
        <p:nvSpPr>
          <p:cNvPr id="3" name="Shape 1">
            <a:extLst xmlns:a="http://schemas.openxmlformats.org/drawingml/2006/main">
              <a:ext uri="{FF2B5EF4-FFF2-40B4-BE49-F238E27FC236}">
                <a16:creationId xmlns:a16="http://schemas.microsoft.com/office/drawing/2014/main" id="{2574C856-A270-4770-A81A-403C927782AA}"/>
              </a:ext>
            </a:extLst>
          </p:cNvPr>
          <p:cNvSpPr>
            <a:spLocks xmlns:a="http://schemas.openxmlformats.org/drawingml/2006/main" noGrp="1"/>
          </p:cNvSpPr>
          <p:nvPr/>
        </p:nvSpPr>
        <p:spPr>
          <a:xfrm xmlns:a="http://schemas.openxmlformats.org/drawingml/2006/main">
            <a:off x="7315200" y="-914400"/>
            <a:ext cx="7315200" cy="7315200"/>
          </a:xfrm>
          <a:prstGeom xmlns:a="http://schemas.openxmlformats.org/drawingml/2006/main" prst="ellipse">
            <a:avLst/>
          </a:prstGeom>
          <a:solidFill xmlns:a="http://schemas.openxmlformats.org/drawingml/2006/main">
            <a:srgbClr val="1976D2">
              <a:alpha val="20000"/>
            </a:srgbClr>
          </a:solidFill>
          <a:ln xmlns:a="http://schemas.openxmlformats.org/drawingml/2006/main" w="12700">
            <a:solidFill>
              <a:srgbClr val="1976D2">
                <a:alpha val="0"/>
              </a:srgbClr>
            </a:solidFill>
            <a:prstDash val="solid"/>
          </a:ln>
        </p:spPr>
      </p:sp>
      <p:sp>
        <p:nvSpPr>
          <p:cNvPr id="4" name="Shape 2">
            <a:extLst xmlns:a="http://schemas.openxmlformats.org/drawingml/2006/main">
              <a:ext uri="{FF2B5EF4-FFF2-40B4-BE49-F238E27FC236}">
                <a16:creationId xmlns:a16="http://schemas.microsoft.com/office/drawing/2014/main" id="{2D3A87EA-4C90-4166-A664-795ADB50CF7B}"/>
              </a:ext>
            </a:extLst>
          </p:cNvPr>
          <p:cNvSpPr>
            <a:spLocks xmlns:a="http://schemas.openxmlformats.org/drawingml/2006/main" noGrp="1"/>
          </p:cNvSpPr>
          <p:nvPr/>
        </p:nvSpPr>
        <p:spPr>
          <a:xfrm xmlns:a="http://schemas.openxmlformats.org/drawingml/2006/main" rot="8100000">
            <a:off x="5852160" y="-182880"/>
            <a:ext cx="1188720" cy="1188720"/>
          </a:xfrm>
          <a:prstGeom xmlns:a="http://schemas.openxmlformats.org/drawingml/2006/main" prst="rtTriangle">
            <a:avLst/>
          </a:prstGeom>
          <a:solidFill xmlns:a="http://schemas.openxmlformats.org/drawingml/2006/main">
            <a:srgbClr val="F37021"/>
          </a:solidFill>
          <a:ln xmlns:a="http://schemas.openxmlformats.org/drawingml/2006/main" w="12700">
            <a:solidFill>
              <a:srgbClr val="F37021"/>
            </a:solidFill>
            <a:prstDash val="solid"/>
          </a:ln>
        </p:spPr>
      </p:sp>
      <p:sp>
        <p:nvSpPr>
          <p:cNvPr id="5" name="Shape 3">
            <a:extLst xmlns:a="http://schemas.openxmlformats.org/drawingml/2006/main">
              <a:ext uri="{FF2B5EF4-FFF2-40B4-BE49-F238E27FC236}">
                <a16:creationId xmlns:a16="http://schemas.microsoft.com/office/drawing/2014/main" id="{6FBAF24A-9F76-45D7-9EBD-6EE5116BA054}"/>
              </a:ext>
            </a:extLst>
          </p:cNvPr>
          <p:cNvSpPr>
            <a:spLocks xmlns:a="http://schemas.openxmlformats.org/drawingml/2006/main" noGrp="1"/>
          </p:cNvSpPr>
          <p:nvPr/>
        </p:nvSpPr>
        <p:spPr>
          <a:xfrm xmlns:a="http://schemas.openxmlformats.org/drawingml/2006/main">
            <a:off x="6355080"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6" name="Shape 4">
            <a:extLst xmlns:a="http://schemas.openxmlformats.org/drawingml/2006/main">
              <a:ext uri="{FF2B5EF4-FFF2-40B4-BE49-F238E27FC236}">
                <a16:creationId xmlns:a16="http://schemas.microsoft.com/office/drawing/2014/main" id="{78BAADBF-1C78-4F70-A99B-3CBD7F070BB4}"/>
              </a:ext>
            </a:extLst>
          </p:cNvPr>
          <p:cNvSpPr>
            <a:spLocks xmlns:a="http://schemas.openxmlformats.org/drawingml/2006/main" noGrp="1"/>
          </p:cNvSpPr>
          <p:nvPr/>
        </p:nvSpPr>
        <p:spPr>
          <a:xfrm xmlns:a="http://schemas.openxmlformats.org/drawingml/2006/main">
            <a:off x="6556248"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7" name="Shape 5">
            <a:extLst xmlns:a="http://schemas.openxmlformats.org/drawingml/2006/main">
              <a:ext uri="{FF2B5EF4-FFF2-40B4-BE49-F238E27FC236}">
                <a16:creationId xmlns:a16="http://schemas.microsoft.com/office/drawing/2014/main" id="{FE5411D9-8468-4373-A8D8-DB0D2E525A7E}"/>
              </a:ext>
            </a:extLst>
          </p:cNvPr>
          <p:cNvSpPr>
            <a:spLocks xmlns:a="http://schemas.openxmlformats.org/drawingml/2006/main" noGrp="1"/>
          </p:cNvSpPr>
          <p:nvPr/>
        </p:nvSpPr>
        <p:spPr>
          <a:xfrm xmlns:a="http://schemas.openxmlformats.org/drawingml/2006/main">
            <a:off x="6757416"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8" name="Shape 6">
            <a:extLst xmlns:a="http://schemas.openxmlformats.org/drawingml/2006/main">
              <a:ext uri="{FF2B5EF4-FFF2-40B4-BE49-F238E27FC236}">
                <a16:creationId xmlns:a16="http://schemas.microsoft.com/office/drawing/2014/main" id="{D032710D-590D-467A-89C6-65371BF84A6E}"/>
              </a:ext>
            </a:extLst>
          </p:cNvPr>
          <p:cNvSpPr>
            <a:spLocks xmlns:a="http://schemas.openxmlformats.org/drawingml/2006/main" noGrp="1"/>
          </p:cNvSpPr>
          <p:nvPr/>
        </p:nvSpPr>
        <p:spPr>
          <a:xfrm xmlns:a="http://schemas.openxmlformats.org/drawingml/2006/main" flipV="1">
            <a:off x="457200" y="4114800"/>
            <a:ext cx="3657600" cy="1828800"/>
          </a:xfrm>
          <a:prstGeom xmlns:a="http://schemas.openxmlformats.org/drawingml/2006/main" prst="line">
            <a:avLst/>
          </a:prstGeom>
          <a:noFill xmlns:a="http://schemas.openxmlformats.org/drawingml/2006/main"/>
          <a:ln xmlns:a="http://schemas.openxmlformats.org/drawingml/2006/main" w="12700">
            <a:solidFill>
              <a:srgbClr val="FFFFFF">
                <a:alpha val="40000"/>
              </a:srgbClr>
            </a:solidFill>
            <a:prstDash val="dash"/>
          </a:ln>
        </p:spPr>
      </p:sp>
      <p:pic>
        <p:nvPicPr>
          <p:cNvPr id="24" name="Image 0"/>
          <p:cNvPicPr>
            <a:picLocks xmlns:a="http://schemas.openxmlformats.org/drawingml/2006/main" noChangeAspect="1"/>
          </p:cNvPicPr>
          <p:nvPr/>
        </p:nvPicPr>
        <p:blipFill>
          <a:blip xmlns:r="http://schemas.openxmlformats.org/officeDocument/2006/relationships" xmlns:a="http://schemas.openxmlformats.org/drawingml/2006/main" r:embed="Re20e61aecc3f41dd"/>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25" name="Image 1"/>
          <p:cNvPicPr>
            <a:picLocks xmlns:a="http://schemas.openxmlformats.org/drawingml/2006/main" noChangeAspect="1"/>
          </p:cNvPicPr>
          <p:nvPr/>
        </p:nvPicPr>
        <p:blipFill>
          <a:blip xmlns:r="http://schemas.openxmlformats.org/officeDocument/2006/relationships" xmlns:a="http://schemas.openxmlformats.org/drawingml/2006/main" r:embed="R2e21aba3af1240a8"/>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FBA2B1FC-7028-497A-AE70-D949943DC2F7}"/>
              </a:ext>
            </a:extLst>
          </p:cNvPr>
          <p:cNvSpPr>
            <a:spLocks xmlns:a="http://schemas.openxmlformats.org/drawingml/2006/main" noGrp="1"/>
          </p:cNvSpPr>
          <p:nvPr/>
        </p:nvSpPr>
        <p:spPr>
          <a:xfrm xmlns:a="http://schemas.openxmlformats.org/drawingml/2006/main">
            <a:off x="457200" y="2560320"/>
            <a:ext cx="10972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spc="600">
                <a:solidFill>
                  <a:srgbClr val="F37021"/>
                </a:solidFill>
                <a:latin typeface="Calibri"/>
                <a:ea typeface="Calibri"/>
                <a:cs typeface="Calibri"/>
              </a:rPr>
              <a:t>BAGIAN 07</a:t>
            </a:r>
            <a:endParaRPr sz="1600"/>
          </a:p>
        </p:txBody>
      </p:sp>
      <p:sp>
        <p:nvSpPr>
          <p:cNvPr id="12" name="Text 8">
            <a:extLst xmlns:a="http://schemas.openxmlformats.org/drawingml/2006/main">
              <a:ext uri="{FF2B5EF4-FFF2-40B4-BE49-F238E27FC236}">
                <a16:creationId xmlns:a16="http://schemas.microsoft.com/office/drawing/2014/main" id="{ABD20494-50DA-4950-960A-DA41393D50BA}"/>
              </a:ext>
            </a:extLst>
          </p:cNvPr>
          <p:cNvSpPr>
            <a:spLocks xmlns:a="http://schemas.openxmlformats.org/drawingml/2006/main" noGrp="1"/>
          </p:cNvSpPr>
          <p:nvPr/>
        </p:nvSpPr>
        <p:spPr>
          <a:xfrm xmlns:a="http://schemas.openxmlformats.org/drawingml/2006/main">
            <a:off x="457200" y="3017520"/>
            <a:ext cx="1124712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5200" b="1">
                <a:solidFill>
                  <a:srgbClr val="FFFFFF"/>
                </a:solidFill>
                <a:latin typeface="Calibri"/>
                <a:ea typeface="Calibri"/>
                <a:cs typeface="Calibri"/>
              </a:rPr>
              <a:t>Networking</a:t>
            </a:r>
            <a:endParaRPr sz="5200"/>
          </a:p>
          <a:p xmlns:a="http://schemas.openxmlformats.org/drawingml/2006/main">
            <a:pPr marL="0" indent="0" algn="ctr">
              <a:buNone/>
            </a:pPr>
            <a:r>
              <a:rPr sz="5200" b="1">
                <a:solidFill>
                  <a:srgbClr val="FFFFFF"/>
                </a:solidFill>
                <a:latin typeface="Calibri"/>
                <a:ea typeface="Calibri"/>
                <a:cs typeface="Calibri"/>
              </a:rPr>
              <a:t>&amp; SSH</a:t>
            </a:r>
            <a:endParaRPr sz="5200"/>
          </a:p>
        </p:txBody>
      </p:sp>
      <p:sp>
        <p:nvSpPr>
          <p:cNvPr id="13" name="Shape 9">
            <a:extLst xmlns:a="http://schemas.openxmlformats.org/drawingml/2006/main">
              <a:ext uri="{FF2B5EF4-FFF2-40B4-BE49-F238E27FC236}">
                <a16:creationId xmlns:a16="http://schemas.microsoft.com/office/drawing/2014/main" id="{E43645D2-62CE-42D7-8DC1-B2959D483CF2}"/>
              </a:ext>
            </a:extLst>
          </p:cNvPr>
          <p:cNvSpPr>
            <a:spLocks xmlns:a="http://schemas.openxmlformats.org/drawingml/2006/main" noGrp="1"/>
          </p:cNvSpPr>
          <p:nvPr/>
        </p:nvSpPr>
        <p:spPr>
          <a:xfrm xmlns:a="http://schemas.openxmlformats.org/drawingml/2006/main">
            <a:off x="5715000" y="50292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FB9A1B11-FC8D-48E4-8FCA-4D8E9D0C4098}"/>
              </a:ext>
            </a:extLst>
          </p:cNvPr>
          <p:cNvSpPr>
            <a:spLocks xmlns:a="http://schemas.openxmlformats.org/drawingml/2006/main" noGrp="1"/>
          </p:cNvSpPr>
          <p:nvPr/>
        </p:nvSpPr>
        <p:spPr>
          <a:xfrm xmlns:a="http://schemas.openxmlformats.org/drawingml/2006/main">
            <a:off x="457200" y="5212080"/>
            <a:ext cx="112471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i="1">
                <a:solidFill>
                  <a:srgbClr val="FED7AA"/>
                </a:solidFill>
                <a:latin typeface="Calibri"/>
                <a:ea typeface="Calibri"/>
                <a:cs typeface="Calibri"/>
              </a:rPr>
              <a:t>Menghubungkan ke server cloud dengan aman.</a:t>
            </a:r>
            <a:endParaRPr sz="1400"/>
          </a:p>
        </p:txBody>
      </p:sp>
    </p:spTree>
    <p:extLst>
      <p:ext uri="{BB962C8B-B14F-4D97-AF65-F5344CB8AC3E}">
        <p14:creationId xmlns:p14="http://schemas.microsoft.com/office/powerpoint/2010/main" val="125071320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8034BEF-27D1-440A-9AD2-177C3168C3F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2</a:t>
            </a:r>
            <a:endParaRPr sz="900"/>
          </a:p>
        </p:txBody>
      </p:sp>
      <p:sp>
        <p:nvSpPr>
          <p:cNvPr id="3" name="Text 1">
            <a:extLst xmlns:a="http://schemas.openxmlformats.org/drawingml/2006/main">
              <a:ext uri="{FF2B5EF4-FFF2-40B4-BE49-F238E27FC236}">
                <a16:creationId xmlns:a16="http://schemas.microsoft.com/office/drawing/2014/main" id="{82B761BA-BDA5-4AF2-BB71-99EE849BE20F}"/>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29</a:t>
            </a:r>
            <a:endParaRPr sz="900"/>
          </a:p>
        </p:txBody>
      </p:sp>
      <p:sp>
        <p:nvSpPr>
          <p:cNvPr id="4" name="Shape 2">
            <a:extLst xmlns:a="http://schemas.openxmlformats.org/drawingml/2006/main">
              <a:ext uri="{FF2B5EF4-FFF2-40B4-BE49-F238E27FC236}">
                <a16:creationId xmlns:a16="http://schemas.microsoft.com/office/drawing/2014/main" id="{BB78B67C-EB22-4DD9-B392-58D767179E6C}"/>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60" name="Image 0"/>
          <p:cNvPicPr>
            <a:picLocks xmlns:a="http://schemas.openxmlformats.org/drawingml/2006/main" noChangeAspect="1"/>
          </p:cNvPicPr>
          <p:nvPr/>
        </p:nvPicPr>
        <p:blipFill>
          <a:blip xmlns:r="http://schemas.openxmlformats.org/officeDocument/2006/relationships" xmlns:a="http://schemas.openxmlformats.org/drawingml/2006/main" r:embed="R50cffb36e2ff46e5"/>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61" name="Image 1"/>
          <p:cNvPicPr>
            <a:picLocks xmlns:a="http://schemas.openxmlformats.org/drawingml/2006/main" noChangeAspect="1"/>
          </p:cNvPicPr>
          <p:nvPr/>
        </p:nvPicPr>
        <p:blipFill>
          <a:blip xmlns:r="http://schemas.openxmlformats.org/officeDocument/2006/relationships" xmlns:a="http://schemas.openxmlformats.org/drawingml/2006/main" r:embed="R9f4d8f0a4f804ecf"/>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CF776464-661F-40B6-8AF0-5C6B5B02A251}"/>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1B71FFE9-33E4-46D4-AF72-BF0F0456E3B6}"/>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Networking Tools + SSH Basics</a:t>
            </a:r>
            <a:endParaRPr sz="2200"/>
          </a:p>
        </p:txBody>
      </p:sp>
      <p:sp>
        <p:nvSpPr>
          <p:cNvPr id="9" name="Text 5">
            <a:extLst xmlns:a="http://schemas.openxmlformats.org/drawingml/2006/main">
              <a:ext uri="{FF2B5EF4-FFF2-40B4-BE49-F238E27FC236}">
                <a16:creationId xmlns:a16="http://schemas.microsoft.com/office/drawing/2014/main" id="{E90701AE-6A6B-41E3-82F9-26F17FE791B2}"/>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Wajib bisa untuk semua kerja di cloud</a:t>
            </a:r>
            <a:endParaRPr sz="1200"/>
          </a:p>
        </p:txBody>
      </p:sp>
      <p:sp>
        <p:nvSpPr>
          <p:cNvPr id="10" name="Shape 6">
            <a:extLst xmlns:a="http://schemas.openxmlformats.org/drawingml/2006/main">
              <a:ext uri="{FF2B5EF4-FFF2-40B4-BE49-F238E27FC236}">
                <a16:creationId xmlns:a16="http://schemas.microsoft.com/office/drawing/2014/main" id="{D23ACA72-A4C0-48DA-B1AF-489B63B63834}"/>
              </a:ext>
            </a:extLst>
          </p:cNvPr>
          <p:cNvSpPr>
            <a:spLocks xmlns:a="http://schemas.openxmlformats.org/drawingml/2006/main" noGrp="1"/>
          </p:cNvSpPr>
          <p:nvPr/>
        </p:nvSpPr>
        <p:spPr>
          <a:xfrm xmlns:a="http://schemas.openxmlformats.org/drawingml/2006/main">
            <a:off x="457200" y="1417320"/>
            <a:ext cx="557784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66" name="Image 2"/>
          <p:cNvPicPr>
            <a:picLocks xmlns:a="http://schemas.openxmlformats.org/drawingml/2006/main" noChangeAspect="1"/>
          </p:cNvPicPr>
          <p:nvPr/>
        </p:nvPicPr>
        <p:blipFill>
          <a:blip xmlns:r="http://schemas.openxmlformats.org/officeDocument/2006/relationships" xmlns:a="http://schemas.openxmlformats.org/drawingml/2006/main" r:embed="R9d86b488316e40c1"/>
          <a:stretch xmlns:a="http://schemas.openxmlformats.org/drawingml/2006/main">
            <a:fillRect l="0" t="0" r="0" b="0"/>
          </a:stretch>
        </p:blipFill>
        <p:spPr>
          <a:xfrm xmlns:a="http://schemas.openxmlformats.org/drawingml/2006/main">
            <a:off x="640080" y="1554480"/>
            <a:ext cx="457200" cy="457200"/>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0FD6D30D-0ADF-4E14-AA54-3C25E5927081}"/>
              </a:ext>
            </a:extLst>
          </p:cNvPr>
          <p:cNvSpPr>
            <a:spLocks xmlns:a="http://schemas.openxmlformats.org/drawingml/2006/main" noGrp="1"/>
          </p:cNvSpPr>
          <p:nvPr/>
        </p:nvSpPr>
        <p:spPr>
          <a:xfrm xmlns:a="http://schemas.openxmlformats.org/drawingml/2006/main">
            <a:off x="1188720" y="1554480"/>
            <a:ext cx="4663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02677"/>
                </a:solidFill>
                <a:latin typeface="Calibri"/>
                <a:ea typeface="Calibri"/>
                <a:cs typeface="Calibri"/>
              </a:rPr>
              <a:t>Networking Essentials</a:t>
            </a:r>
            <a:endParaRPr sz="1600"/>
          </a:p>
        </p:txBody>
      </p:sp>
      <p:sp>
        <p:nvSpPr>
          <p:cNvPr id="13" name="Shape 8">
            <a:extLst xmlns:a="http://schemas.openxmlformats.org/drawingml/2006/main">
              <a:ext uri="{FF2B5EF4-FFF2-40B4-BE49-F238E27FC236}">
                <a16:creationId xmlns:a16="http://schemas.microsoft.com/office/drawing/2014/main" id="{E4202E29-DBA1-4443-BAC8-5AC21976E30A}"/>
              </a:ext>
            </a:extLst>
          </p:cNvPr>
          <p:cNvSpPr>
            <a:spLocks xmlns:a="http://schemas.openxmlformats.org/drawingml/2006/main" noGrp="1"/>
          </p:cNvSpPr>
          <p:nvPr/>
        </p:nvSpPr>
        <p:spPr>
          <a:xfrm xmlns:a="http://schemas.openxmlformats.org/drawingml/2006/main">
            <a:off x="640080" y="2148840"/>
            <a:ext cx="5212080" cy="45720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14" name="Shape 9">
            <a:extLst xmlns:a="http://schemas.openxmlformats.org/drawingml/2006/main">
              <a:ext uri="{FF2B5EF4-FFF2-40B4-BE49-F238E27FC236}">
                <a16:creationId xmlns:a16="http://schemas.microsoft.com/office/drawing/2014/main" id="{32B39D58-2BA7-4187-9AD1-625E251326EF}"/>
              </a:ext>
            </a:extLst>
          </p:cNvPr>
          <p:cNvSpPr>
            <a:spLocks xmlns:a="http://schemas.openxmlformats.org/drawingml/2006/main" noGrp="1"/>
          </p:cNvSpPr>
          <p:nvPr/>
        </p:nvSpPr>
        <p:spPr>
          <a:xfrm xmlns:a="http://schemas.openxmlformats.org/drawingml/2006/main">
            <a:off x="640080" y="2148840"/>
            <a:ext cx="1737360" cy="45720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15" name="Text 10">
            <a:extLst xmlns:a="http://schemas.openxmlformats.org/drawingml/2006/main">
              <a:ext uri="{FF2B5EF4-FFF2-40B4-BE49-F238E27FC236}">
                <a16:creationId xmlns:a16="http://schemas.microsoft.com/office/drawing/2014/main" id="{1CBDD0CB-F222-448F-B780-3E502BC7C16D}"/>
              </a:ext>
            </a:extLst>
          </p:cNvPr>
          <p:cNvSpPr>
            <a:spLocks xmlns:a="http://schemas.openxmlformats.org/drawingml/2006/main" noGrp="1"/>
          </p:cNvSpPr>
          <p:nvPr/>
        </p:nvSpPr>
        <p:spPr>
          <a:xfrm xmlns:a="http://schemas.openxmlformats.org/drawingml/2006/main">
            <a:off x="685800" y="2148840"/>
            <a:ext cx="1645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ping &lt;host&gt;</a:t>
            </a:r>
            <a:endParaRPr sz="1100"/>
          </a:p>
        </p:txBody>
      </p:sp>
      <p:sp>
        <p:nvSpPr>
          <p:cNvPr id="16" name="Text 11">
            <a:extLst xmlns:a="http://schemas.openxmlformats.org/drawingml/2006/main">
              <a:ext uri="{FF2B5EF4-FFF2-40B4-BE49-F238E27FC236}">
                <a16:creationId xmlns:a16="http://schemas.microsoft.com/office/drawing/2014/main" id="{61172402-7A98-42EB-997E-04382ECC1898}"/>
              </a:ext>
            </a:extLst>
          </p:cNvPr>
          <p:cNvSpPr>
            <a:spLocks xmlns:a="http://schemas.openxmlformats.org/drawingml/2006/main" noGrp="1"/>
          </p:cNvSpPr>
          <p:nvPr/>
        </p:nvSpPr>
        <p:spPr>
          <a:xfrm xmlns:a="http://schemas.openxmlformats.org/drawingml/2006/main">
            <a:off x="2468880" y="2148840"/>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E293B"/>
                </a:solidFill>
                <a:latin typeface="Calibri"/>
                <a:ea typeface="Calibri"/>
                <a:cs typeface="Calibri"/>
              </a:rPr>
              <a:t>Test reachability + latency</a:t>
            </a:r>
            <a:endParaRPr sz="1050"/>
          </a:p>
        </p:txBody>
      </p:sp>
      <p:sp>
        <p:nvSpPr>
          <p:cNvPr id="17" name="Shape 12">
            <a:extLst xmlns:a="http://schemas.openxmlformats.org/drawingml/2006/main">
              <a:ext uri="{FF2B5EF4-FFF2-40B4-BE49-F238E27FC236}">
                <a16:creationId xmlns:a16="http://schemas.microsoft.com/office/drawing/2014/main" id="{EB44D3BD-70FB-4FBF-BC48-28BBEA4C4BA0}"/>
              </a:ext>
            </a:extLst>
          </p:cNvPr>
          <p:cNvSpPr>
            <a:spLocks xmlns:a="http://schemas.openxmlformats.org/drawingml/2006/main" noGrp="1"/>
          </p:cNvSpPr>
          <p:nvPr/>
        </p:nvSpPr>
        <p:spPr>
          <a:xfrm xmlns:a="http://schemas.openxmlformats.org/drawingml/2006/main">
            <a:off x="640080" y="2697480"/>
            <a:ext cx="5212080" cy="45720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18" name="Shape 13">
            <a:extLst xmlns:a="http://schemas.openxmlformats.org/drawingml/2006/main">
              <a:ext uri="{FF2B5EF4-FFF2-40B4-BE49-F238E27FC236}">
                <a16:creationId xmlns:a16="http://schemas.microsoft.com/office/drawing/2014/main" id="{8C0502D8-744E-487B-897D-0416E559DBF9}"/>
              </a:ext>
            </a:extLst>
          </p:cNvPr>
          <p:cNvSpPr>
            <a:spLocks xmlns:a="http://schemas.openxmlformats.org/drawingml/2006/main" noGrp="1"/>
          </p:cNvSpPr>
          <p:nvPr/>
        </p:nvSpPr>
        <p:spPr>
          <a:xfrm xmlns:a="http://schemas.openxmlformats.org/drawingml/2006/main">
            <a:off x="640080" y="2697480"/>
            <a:ext cx="1737360" cy="45720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19" name="Text 14">
            <a:extLst xmlns:a="http://schemas.openxmlformats.org/drawingml/2006/main">
              <a:ext uri="{FF2B5EF4-FFF2-40B4-BE49-F238E27FC236}">
                <a16:creationId xmlns:a16="http://schemas.microsoft.com/office/drawing/2014/main" id="{03976C7F-B023-43AF-93A3-220F35A37C64}"/>
              </a:ext>
            </a:extLst>
          </p:cNvPr>
          <p:cNvSpPr>
            <a:spLocks xmlns:a="http://schemas.openxmlformats.org/drawingml/2006/main" noGrp="1"/>
          </p:cNvSpPr>
          <p:nvPr/>
        </p:nvSpPr>
        <p:spPr>
          <a:xfrm xmlns:a="http://schemas.openxmlformats.org/drawingml/2006/main">
            <a:off x="685800" y="2697480"/>
            <a:ext cx="1645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curl &lt;url&gt;</a:t>
            </a:r>
            <a:endParaRPr sz="1100"/>
          </a:p>
        </p:txBody>
      </p:sp>
      <p:sp>
        <p:nvSpPr>
          <p:cNvPr id="20" name="Text 15">
            <a:extLst xmlns:a="http://schemas.openxmlformats.org/drawingml/2006/main">
              <a:ext uri="{FF2B5EF4-FFF2-40B4-BE49-F238E27FC236}">
                <a16:creationId xmlns:a16="http://schemas.microsoft.com/office/drawing/2014/main" id="{F471B0F6-B29C-4231-BAEC-04B368CD27F4}"/>
              </a:ext>
            </a:extLst>
          </p:cNvPr>
          <p:cNvSpPr>
            <a:spLocks xmlns:a="http://schemas.openxmlformats.org/drawingml/2006/main" noGrp="1"/>
          </p:cNvSpPr>
          <p:nvPr/>
        </p:nvSpPr>
        <p:spPr>
          <a:xfrm xmlns:a="http://schemas.openxmlformats.org/drawingml/2006/main">
            <a:off x="2468880" y="2697480"/>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E293B"/>
                </a:solidFill>
                <a:latin typeface="Calibri"/>
                <a:ea typeface="Calibri"/>
                <a:cs typeface="Calibri"/>
              </a:rPr>
              <a:t>HTTP request - test API endpoint</a:t>
            </a:r>
            <a:endParaRPr sz="1050"/>
          </a:p>
        </p:txBody>
      </p:sp>
      <p:sp>
        <p:nvSpPr>
          <p:cNvPr id="21" name="Shape 16">
            <a:extLst xmlns:a="http://schemas.openxmlformats.org/drawingml/2006/main">
              <a:ext uri="{FF2B5EF4-FFF2-40B4-BE49-F238E27FC236}">
                <a16:creationId xmlns:a16="http://schemas.microsoft.com/office/drawing/2014/main" id="{7087E21B-0474-4963-9D29-7427CE527CDF}"/>
              </a:ext>
            </a:extLst>
          </p:cNvPr>
          <p:cNvSpPr>
            <a:spLocks xmlns:a="http://schemas.openxmlformats.org/drawingml/2006/main" noGrp="1"/>
          </p:cNvSpPr>
          <p:nvPr/>
        </p:nvSpPr>
        <p:spPr>
          <a:xfrm xmlns:a="http://schemas.openxmlformats.org/drawingml/2006/main">
            <a:off x="640080" y="3246120"/>
            <a:ext cx="5212080" cy="45720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2" name="Shape 17">
            <a:extLst xmlns:a="http://schemas.openxmlformats.org/drawingml/2006/main">
              <a:ext uri="{FF2B5EF4-FFF2-40B4-BE49-F238E27FC236}">
                <a16:creationId xmlns:a16="http://schemas.microsoft.com/office/drawing/2014/main" id="{FFA1244C-3F74-407E-8C73-5AB74C54B8AA}"/>
              </a:ext>
            </a:extLst>
          </p:cNvPr>
          <p:cNvSpPr>
            <a:spLocks xmlns:a="http://schemas.openxmlformats.org/drawingml/2006/main" noGrp="1"/>
          </p:cNvSpPr>
          <p:nvPr/>
        </p:nvSpPr>
        <p:spPr>
          <a:xfrm xmlns:a="http://schemas.openxmlformats.org/drawingml/2006/main">
            <a:off x="640080" y="3246120"/>
            <a:ext cx="1737360" cy="45720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23" name="Text 18">
            <a:extLst xmlns:a="http://schemas.openxmlformats.org/drawingml/2006/main">
              <a:ext uri="{FF2B5EF4-FFF2-40B4-BE49-F238E27FC236}">
                <a16:creationId xmlns:a16="http://schemas.microsoft.com/office/drawing/2014/main" id="{B041CC2E-8066-47C1-B5D2-625C91D8C099}"/>
              </a:ext>
            </a:extLst>
          </p:cNvPr>
          <p:cNvSpPr>
            <a:spLocks xmlns:a="http://schemas.openxmlformats.org/drawingml/2006/main" noGrp="1"/>
          </p:cNvSpPr>
          <p:nvPr/>
        </p:nvSpPr>
        <p:spPr>
          <a:xfrm xmlns:a="http://schemas.openxmlformats.org/drawingml/2006/main">
            <a:off x="685800" y="3246120"/>
            <a:ext cx="1645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wget &lt;url&gt;</a:t>
            </a:r>
            <a:endParaRPr sz="1100"/>
          </a:p>
        </p:txBody>
      </p:sp>
      <p:sp>
        <p:nvSpPr>
          <p:cNvPr id="24" name="Text 19">
            <a:extLst xmlns:a="http://schemas.openxmlformats.org/drawingml/2006/main">
              <a:ext uri="{FF2B5EF4-FFF2-40B4-BE49-F238E27FC236}">
                <a16:creationId xmlns:a16="http://schemas.microsoft.com/office/drawing/2014/main" id="{1EAAC1C9-CFD1-4944-9D37-9347D197B51E}"/>
              </a:ext>
            </a:extLst>
          </p:cNvPr>
          <p:cNvSpPr>
            <a:spLocks xmlns:a="http://schemas.openxmlformats.org/drawingml/2006/main" noGrp="1"/>
          </p:cNvSpPr>
          <p:nvPr/>
        </p:nvSpPr>
        <p:spPr>
          <a:xfrm xmlns:a="http://schemas.openxmlformats.org/drawingml/2006/main">
            <a:off x="2468880" y="3246120"/>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E293B"/>
                </a:solidFill>
                <a:latin typeface="Calibri"/>
                <a:ea typeface="Calibri"/>
                <a:cs typeface="Calibri"/>
              </a:rPr>
              <a:t>Download file</a:t>
            </a:r>
            <a:endParaRPr sz="1050"/>
          </a:p>
        </p:txBody>
      </p:sp>
      <p:sp>
        <p:nvSpPr>
          <p:cNvPr id="25" name="Shape 20">
            <a:extLst xmlns:a="http://schemas.openxmlformats.org/drawingml/2006/main">
              <a:ext uri="{FF2B5EF4-FFF2-40B4-BE49-F238E27FC236}">
                <a16:creationId xmlns:a16="http://schemas.microsoft.com/office/drawing/2014/main" id="{9D714461-B246-4CDE-993C-0A629B95698E}"/>
              </a:ext>
            </a:extLst>
          </p:cNvPr>
          <p:cNvSpPr>
            <a:spLocks xmlns:a="http://schemas.openxmlformats.org/drawingml/2006/main" noGrp="1"/>
          </p:cNvSpPr>
          <p:nvPr/>
        </p:nvSpPr>
        <p:spPr>
          <a:xfrm xmlns:a="http://schemas.openxmlformats.org/drawingml/2006/main">
            <a:off x="640080" y="3794760"/>
            <a:ext cx="5212080" cy="45720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6" name="Shape 21">
            <a:extLst xmlns:a="http://schemas.openxmlformats.org/drawingml/2006/main">
              <a:ext uri="{FF2B5EF4-FFF2-40B4-BE49-F238E27FC236}">
                <a16:creationId xmlns:a16="http://schemas.microsoft.com/office/drawing/2014/main" id="{A29A87E8-A62E-4C1C-9388-3115125D4C57}"/>
              </a:ext>
            </a:extLst>
          </p:cNvPr>
          <p:cNvSpPr>
            <a:spLocks xmlns:a="http://schemas.openxmlformats.org/drawingml/2006/main" noGrp="1"/>
          </p:cNvSpPr>
          <p:nvPr/>
        </p:nvSpPr>
        <p:spPr>
          <a:xfrm xmlns:a="http://schemas.openxmlformats.org/drawingml/2006/main">
            <a:off x="640080" y="3794760"/>
            <a:ext cx="1737360" cy="45720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27" name="Text 22">
            <a:extLst xmlns:a="http://schemas.openxmlformats.org/drawingml/2006/main">
              <a:ext uri="{FF2B5EF4-FFF2-40B4-BE49-F238E27FC236}">
                <a16:creationId xmlns:a16="http://schemas.microsoft.com/office/drawing/2014/main" id="{9A6EC280-805A-40D6-97E2-45C42806A779}"/>
              </a:ext>
            </a:extLst>
          </p:cNvPr>
          <p:cNvSpPr>
            <a:spLocks xmlns:a="http://schemas.openxmlformats.org/drawingml/2006/main" noGrp="1"/>
          </p:cNvSpPr>
          <p:nvPr/>
        </p:nvSpPr>
        <p:spPr>
          <a:xfrm xmlns:a="http://schemas.openxmlformats.org/drawingml/2006/main">
            <a:off x="685800" y="3794760"/>
            <a:ext cx="1645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ip addr</a:t>
            </a:r>
            <a:endParaRPr sz="1100"/>
          </a:p>
        </p:txBody>
      </p:sp>
      <p:sp>
        <p:nvSpPr>
          <p:cNvPr id="28" name="Text 23">
            <a:extLst xmlns:a="http://schemas.openxmlformats.org/drawingml/2006/main">
              <a:ext uri="{FF2B5EF4-FFF2-40B4-BE49-F238E27FC236}">
                <a16:creationId xmlns:a16="http://schemas.microsoft.com/office/drawing/2014/main" id="{6E8A6144-3726-4BCD-8B48-83DD27EC0A32}"/>
              </a:ext>
            </a:extLst>
          </p:cNvPr>
          <p:cNvSpPr>
            <a:spLocks xmlns:a="http://schemas.openxmlformats.org/drawingml/2006/main" noGrp="1"/>
          </p:cNvSpPr>
          <p:nvPr/>
        </p:nvSpPr>
        <p:spPr>
          <a:xfrm xmlns:a="http://schemas.openxmlformats.org/drawingml/2006/main">
            <a:off x="2468880" y="3794760"/>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E293B"/>
                </a:solidFill>
                <a:latin typeface="Calibri"/>
                <a:ea typeface="Calibri"/>
                <a:cs typeface="Calibri"/>
              </a:rPr>
              <a:t>Lihat IP address &amp; network interfaces</a:t>
            </a:r>
            <a:endParaRPr sz="1050"/>
          </a:p>
        </p:txBody>
      </p:sp>
      <p:sp>
        <p:nvSpPr>
          <p:cNvPr id="29" name="Shape 24">
            <a:extLst xmlns:a="http://schemas.openxmlformats.org/drawingml/2006/main">
              <a:ext uri="{FF2B5EF4-FFF2-40B4-BE49-F238E27FC236}">
                <a16:creationId xmlns:a16="http://schemas.microsoft.com/office/drawing/2014/main" id="{3617E701-0965-419E-BA60-E830143DD7A5}"/>
              </a:ext>
            </a:extLst>
          </p:cNvPr>
          <p:cNvSpPr>
            <a:spLocks xmlns:a="http://schemas.openxmlformats.org/drawingml/2006/main" noGrp="1"/>
          </p:cNvSpPr>
          <p:nvPr/>
        </p:nvSpPr>
        <p:spPr>
          <a:xfrm xmlns:a="http://schemas.openxmlformats.org/drawingml/2006/main">
            <a:off x="640080" y="4343400"/>
            <a:ext cx="5212080" cy="45720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30" name="Shape 25">
            <a:extLst xmlns:a="http://schemas.openxmlformats.org/drawingml/2006/main">
              <a:ext uri="{FF2B5EF4-FFF2-40B4-BE49-F238E27FC236}">
                <a16:creationId xmlns:a16="http://schemas.microsoft.com/office/drawing/2014/main" id="{594B2AF7-F8EC-4935-A0F7-8D87625FE703}"/>
              </a:ext>
            </a:extLst>
          </p:cNvPr>
          <p:cNvSpPr>
            <a:spLocks xmlns:a="http://schemas.openxmlformats.org/drawingml/2006/main" noGrp="1"/>
          </p:cNvSpPr>
          <p:nvPr/>
        </p:nvSpPr>
        <p:spPr>
          <a:xfrm xmlns:a="http://schemas.openxmlformats.org/drawingml/2006/main">
            <a:off x="640080" y="4343400"/>
            <a:ext cx="1737360" cy="45720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31" name="Text 26">
            <a:extLst xmlns:a="http://schemas.openxmlformats.org/drawingml/2006/main">
              <a:ext uri="{FF2B5EF4-FFF2-40B4-BE49-F238E27FC236}">
                <a16:creationId xmlns:a16="http://schemas.microsoft.com/office/drawing/2014/main" id="{D5B38FBF-EA02-4E5E-A739-9026FBBD1384}"/>
              </a:ext>
            </a:extLst>
          </p:cNvPr>
          <p:cNvSpPr>
            <a:spLocks xmlns:a="http://schemas.openxmlformats.org/drawingml/2006/main" noGrp="1"/>
          </p:cNvSpPr>
          <p:nvPr/>
        </p:nvSpPr>
        <p:spPr>
          <a:xfrm xmlns:a="http://schemas.openxmlformats.org/drawingml/2006/main">
            <a:off x="685800" y="4343400"/>
            <a:ext cx="1645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ss -tulpn</a:t>
            </a:r>
            <a:endParaRPr sz="1100"/>
          </a:p>
        </p:txBody>
      </p:sp>
      <p:sp>
        <p:nvSpPr>
          <p:cNvPr id="32" name="Text 27">
            <a:extLst xmlns:a="http://schemas.openxmlformats.org/drawingml/2006/main">
              <a:ext uri="{FF2B5EF4-FFF2-40B4-BE49-F238E27FC236}">
                <a16:creationId xmlns:a16="http://schemas.microsoft.com/office/drawing/2014/main" id="{E6743164-1741-48F9-807A-C320BD11160F}"/>
              </a:ext>
            </a:extLst>
          </p:cNvPr>
          <p:cNvSpPr>
            <a:spLocks xmlns:a="http://schemas.openxmlformats.org/drawingml/2006/main" noGrp="1"/>
          </p:cNvSpPr>
          <p:nvPr/>
        </p:nvSpPr>
        <p:spPr>
          <a:xfrm xmlns:a="http://schemas.openxmlformats.org/drawingml/2006/main">
            <a:off x="2468880" y="4343400"/>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E293B"/>
                </a:solidFill>
                <a:latin typeface="Calibri"/>
                <a:ea typeface="Calibri"/>
                <a:cs typeface="Calibri"/>
              </a:rPr>
              <a:t>Port yang lagi listening + PID-nya</a:t>
            </a:r>
            <a:endParaRPr sz="1050"/>
          </a:p>
        </p:txBody>
      </p:sp>
      <p:sp>
        <p:nvSpPr>
          <p:cNvPr id="33" name="Shape 28">
            <a:extLst xmlns:a="http://schemas.openxmlformats.org/drawingml/2006/main">
              <a:ext uri="{FF2B5EF4-FFF2-40B4-BE49-F238E27FC236}">
                <a16:creationId xmlns:a16="http://schemas.microsoft.com/office/drawing/2014/main" id="{C6AF6B85-39DC-4BDD-820C-0A11F4766B3B}"/>
              </a:ext>
            </a:extLst>
          </p:cNvPr>
          <p:cNvSpPr>
            <a:spLocks xmlns:a="http://schemas.openxmlformats.org/drawingml/2006/main" noGrp="1"/>
          </p:cNvSpPr>
          <p:nvPr/>
        </p:nvSpPr>
        <p:spPr>
          <a:xfrm xmlns:a="http://schemas.openxmlformats.org/drawingml/2006/main">
            <a:off x="640080" y="4892040"/>
            <a:ext cx="5212080" cy="45720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34" name="Shape 29">
            <a:extLst xmlns:a="http://schemas.openxmlformats.org/drawingml/2006/main">
              <a:ext uri="{FF2B5EF4-FFF2-40B4-BE49-F238E27FC236}">
                <a16:creationId xmlns:a16="http://schemas.microsoft.com/office/drawing/2014/main" id="{12C3826B-204A-4823-B09E-7F2D894C2B47}"/>
              </a:ext>
            </a:extLst>
          </p:cNvPr>
          <p:cNvSpPr>
            <a:spLocks xmlns:a="http://schemas.openxmlformats.org/drawingml/2006/main" noGrp="1"/>
          </p:cNvSpPr>
          <p:nvPr/>
        </p:nvSpPr>
        <p:spPr>
          <a:xfrm xmlns:a="http://schemas.openxmlformats.org/drawingml/2006/main">
            <a:off x="640080" y="4892040"/>
            <a:ext cx="1737360" cy="45720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35" name="Text 30">
            <a:extLst xmlns:a="http://schemas.openxmlformats.org/drawingml/2006/main">
              <a:ext uri="{FF2B5EF4-FFF2-40B4-BE49-F238E27FC236}">
                <a16:creationId xmlns:a16="http://schemas.microsoft.com/office/drawing/2014/main" id="{E93A5EB0-AEF4-45FB-95DB-84EE0B8C8EC5}"/>
              </a:ext>
            </a:extLst>
          </p:cNvPr>
          <p:cNvSpPr>
            <a:spLocks xmlns:a="http://schemas.openxmlformats.org/drawingml/2006/main" noGrp="1"/>
          </p:cNvSpPr>
          <p:nvPr/>
        </p:nvSpPr>
        <p:spPr>
          <a:xfrm xmlns:a="http://schemas.openxmlformats.org/drawingml/2006/main">
            <a:off x="685800" y="4892040"/>
            <a:ext cx="1645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dig &lt;domain&gt;</a:t>
            </a:r>
            <a:endParaRPr sz="1100"/>
          </a:p>
        </p:txBody>
      </p:sp>
      <p:sp>
        <p:nvSpPr>
          <p:cNvPr id="36" name="Text 31">
            <a:extLst xmlns:a="http://schemas.openxmlformats.org/drawingml/2006/main">
              <a:ext uri="{FF2B5EF4-FFF2-40B4-BE49-F238E27FC236}">
                <a16:creationId xmlns:a16="http://schemas.microsoft.com/office/drawing/2014/main" id="{20E6AB03-498E-44FD-9515-56C8B16015BE}"/>
              </a:ext>
            </a:extLst>
          </p:cNvPr>
          <p:cNvSpPr>
            <a:spLocks xmlns:a="http://schemas.openxmlformats.org/drawingml/2006/main" noGrp="1"/>
          </p:cNvSpPr>
          <p:nvPr/>
        </p:nvSpPr>
        <p:spPr>
          <a:xfrm xmlns:a="http://schemas.openxmlformats.org/drawingml/2006/main">
            <a:off x="2468880" y="4892040"/>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E293B"/>
                </a:solidFill>
                <a:latin typeface="Calibri"/>
                <a:ea typeface="Calibri"/>
                <a:cs typeface="Calibri"/>
              </a:rPr>
              <a:t>DNS lookup (A, MX, CNAME, dll)</a:t>
            </a:r>
            <a:endParaRPr sz="1050"/>
          </a:p>
        </p:txBody>
      </p:sp>
      <p:sp>
        <p:nvSpPr>
          <p:cNvPr id="37" name="Shape 32">
            <a:extLst xmlns:a="http://schemas.openxmlformats.org/drawingml/2006/main">
              <a:ext uri="{FF2B5EF4-FFF2-40B4-BE49-F238E27FC236}">
                <a16:creationId xmlns:a16="http://schemas.microsoft.com/office/drawing/2014/main" id="{184CDED6-4A56-4E91-B1D7-58FE96660BEB}"/>
              </a:ext>
            </a:extLst>
          </p:cNvPr>
          <p:cNvSpPr>
            <a:spLocks xmlns:a="http://schemas.openxmlformats.org/drawingml/2006/main" noGrp="1"/>
          </p:cNvSpPr>
          <p:nvPr/>
        </p:nvSpPr>
        <p:spPr>
          <a:xfrm xmlns:a="http://schemas.openxmlformats.org/drawingml/2006/main">
            <a:off x="640080" y="5440680"/>
            <a:ext cx="5212080" cy="45720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38" name="Shape 33">
            <a:extLst xmlns:a="http://schemas.openxmlformats.org/drawingml/2006/main">
              <a:ext uri="{FF2B5EF4-FFF2-40B4-BE49-F238E27FC236}">
                <a16:creationId xmlns:a16="http://schemas.microsoft.com/office/drawing/2014/main" id="{A6751A53-2959-45BD-BC5E-07B98A13D5BA}"/>
              </a:ext>
            </a:extLst>
          </p:cNvPr>
          <p:cNvSpPr>
            <a:spLocks xmlns:a="http://schemas.openxmlformats.org/drawingml/2006/main" noGrp="1"/>
          </p:cNvSpPr>
          <p:nvPr/>
        </p:nvSpPr>
        <p:spPr>
          <a:xfrm xmlns:a="http://schemas.openxmlformats.org/drawingml/2006/main">
            <a:off x="640080" y="5440680"/>
            <a:ext cx="1737360" cy="45720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39" name="Text 34">
            <a:extLst xmlns:a="http://schemas.openxmlformats.org/drawingml/2006/main">
              <a:ext uri="{FF2B5EF4-FFF2-40B4-BE49-F238E27FC236}">
                <a16:creationId xmlns:a16="http://schemas.microsoft.com/office/drawing/2014/main" id="{E512FB2E-E70A-466B-8578-77751B228B15}"/>
              </a:ext>
            </a:extLst>
          </p:cNvPr>
          <p:cNvSpPr>
            <a:spLocks xmlns:a="http://schemas.openxmlformats.org/drawingml/2006/main" noGrp="1"/>
          </p:cNvSpPr>
          <p:nvPr/>
        </p:nvSpPr>
        <p:spPr>
          <a:xfrm xmlns:a="http://schemas.openxmlformats.org/drawingml/2006/main">
            <a:off x="685800" y="5440680"/>
            <a:ext cx="1645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traceroute</a:t>
            </a:r>
            <a:endParaRPr sz="1100"/>
          </a:p>
        </p:txBody>
      </p:sp>
      <p:sp>
        <p:nvSpPr>
          <p:cNvPr id="40" name="Text 35">
            <a:extLst xmlns:a="http://schemas.openxmlformats.org/drawingml/2006/main">
              <a:ext uri="{FF2B5EF4-FFF2-40B4-BE49-F238E27FC236}">
                <a16:creationId xmlns:a16="http://schemas.microsoft.com/office/drawing/2014/main" id="{8FD463B7-7BE2-4A0E-A688-7F6E3DC43BBC}"/>
              </a:ext>
            </a:extLst>
          </p:cNvPr>
          <p:cNvSpPr>
            <a:spLocks xmlns:a="http://schemas.openxmlformats.org/drawingml/2006/main" noGrp="1"/>
          </p:cNvSpPr>
          <p:nvPr/>
        </p:nvSpPr>
        <p:spPr>
          <a:xfrm xmlns:a="http://schemas.openxmlformats.org/drawingml/2006/main">
            <a:off x="2468880" y="5440680"/>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E293B"/>
                </a:solidFill>
                <a:latin typeface="Calibri"/>
                <a:ea typeface="Calibri"/>
                <a:cs typeface="Calibri"/>
              </a:rPr>
              <a:t>Trace path packet ke destination</a:t>
            </a:r>
            <a:endParaRPr sz="1050"/>
          </a:p>
        </p:txBody>
      </p:sp>
      <p:sp>
        <p:nvSpPr>
          <p:cNvPr id="41" name="Shape 36">
            <a:extLst xmlns:a="http://schemas.openxmlformats.org/drawingml/2006/main">
              <a:ext uri="{FF2B5EF4-FFF2-40B4-BE49-F238E27FC236}">
                <a16:creationId xmlns:a16="http://schemas.microsoft.com/office/drawing/2014/main" id="{CE1BD128-C455-44AC-88EC-AB99CFB4AB7F}"/>
              </a:ext>
            </a:extLst>
          </p:cNvPr>
          <p:cNvSpPr>
            <a:spLocks xmlns:a="http://schemas.openxmlformats.org/drawingml/2006/main" noGrp="1"/>
          </p:cNvSpPr>
          <p:nvPr/>
        </p:nvSpPr>
        <p:spPr>
          <a:xfrm xmlns:a="http://schemas.openxmlformats.org/drawingml/2006/main">
            <a:off x="6217920" y="1417320"/>
            <a:ext cx="5486400" cy="4754880"/>
          </a:xfrm>
          <a:prstGeom xmlns:a="http://schemas.openxmlformats.org/drawingml/2006/main" prst="rect">
            <a:avLst/>
          </a:prstGeom>
          <a:solidFill xmlns:a="http://schemas.openxmlformats.org/drawingml/2006/main">
            <a:srgbClr val="FFFFFF"/>
          </a:solidFill>
          <a:ln xmlns:a="http://schemas.openxmlformats.org/drawingml/2006/main" w="25400">
            <a:solidFill>
              <a:srgbClr val="F37021"/>
            </a:solidFill>
            <a:prstDash val="solid"/>
          </a:ln>
        </p:spPr>
      </p:sp>
      <p:sp>
        <p:nvSpPr>
          <p:cNvPr id="42" name="Shape 37">
            <a:extLst xmlns:a="http://schemas.openxmlformats.org/drawingml/2006/main">
              <a:ext uri="{FF2B5EF4-FFF2-40B4-BE49-F238E27FC236}">
                <a16:creationId xmlns:a16="http://schemas.microsoft.com/office/drawing/2014/main" id="{F8950F70-81CC-4A0B-9782-2B8FA5CC9D54}"/>
              </a:ext>
            </a:extLst>
          </p:cNvPr>
          <p:cNvSpPr>
            <a:spLocks xmlns:a="http://schemas.openxmlformats.org/drawingml/2006/main" noGrp="1"/>
          </p:cNvSpPr>
          <p:nvPr/>
        </p:nvSpPr>
        <p:spPr>
          <a:xfrm xmlns:a="http://schemas.openxmlformats.org/drawingml/2006/main">
            <a:off x="6217920" y="1417320"/>
            <a:ext cx="5486400" cy="64008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98" name="Image 3"/>
          <p:cNvPicPr>
            <a:picLocks xmlns:a="http://schemas.openxmlformats.org/drawingml/2006/main" noChangeAspect="1"/>
          </p:cNvPicPr>
          <p:nvPr/>
        </p:nvPicPr>
        <p:blipFill>
          <a:blip xmlns:r="http://schemas.openxmlformats.org/officeDocument/2006/relationships" xmlns:a="http://schemas.openxmlformats.org/drawingml/2006/main" r:embed="R450769f90c7540c3"/>
          <a:stretch xmlns:a="http://schemas.openxmlformats.org/drawingml/2006/main">
            <a:fillRect l="0" t="0" r="0" b="0"/>
          </a:stretch>
        </p:blipFill>
        <p:spPr>
          <a:xfrm xmlns:a="http://schemas.openxmlformats.org/drawingml/2006/main">
            <a:off x="6355080" y="1554480"/>
            <a:ext cx="365760" cy="365760"/>
          </a:xfrm>
          <a:prstGeom xmlns:a="http://schemas.openxmlformats.org/drawingml/2006/main" prst="rect">
            <a:avLst/>
          </a:prstGeom>
        </p:spPr>
      </p:pic>
      <p:sp>
        <p:nvSpPr>
          <p:cNvPr id="44" name="Text 38">
            <a:extLst xmlns:a="http://schemas.openxmlformats.org/drawingml/2006/main">
              <a:ext uri="{FF2B5EF4-FFF2-40B4-BE49-F238E27FC236}">
                <a16:creationId xmlns:a16="http://schemas.microsoft.com/office/drawing/2014/main" id="{95D89D5F-C332-4F97-894A-CA93CF419521}"/>
              </a:ext>
            </a:extLst>
          </p:cNvPr>
          <p:cNvSpPr>
            <a:spLocks xmlns:a="http://schemas.openxmlformats.org/drawingml/2006/main" noGrp="1"/>
          </p:cNvSpPr>
          <p:nvPr/>
        </p:nvSpPr>
        <p:spPr>
          <a:xfrm xmlns:a="http://schemas.openxmlformats.org/drawingml/2006/main">
            <a:off x="6766560" y="1417320"/>
            <a:ext cx="49377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SSH - Secure Shell</a:t>
            </a:r>
            <a:endParaRPr sz="1800"/>
          </a:p>
        </p:txBody>
      </p:sp>
      <p:sp>
        <p:nvSpPr>
          <p:cNvPr id="45" name="Text 39">
            <a:extLst xmlns:a="http://schemas.openxmlformats.org/drawingml/2006/main">
              <a:ext uri="{FF2B5EF4-FFF2-40B4-BE49-F238E27FC236}">
                <a16:creationId xmlns:a16="http://schemas.microsoft.com/office/drawing/2014/main" id="{CA1558E1-8E34-44B5-B307-166DD2C27303}"/>
              </a:ext>
            </a:extLst>
          </p:cNvPr>
          <p:cNvSpPr>
            <a:spLocks xmlns:a="http://schemas.openxmlformats.org/drawingml/2006/main" noGrp="1"/>
          </p:cNvSpPr>
          <p:nvPr/>
        </p:nvSpPr>
        <p:spPr>
          <a:xfrm xmlns:a="http://schemas.openxmlformats.org/drawingml/2006/main">
            <a:off x="6400800" y="2148840"/>
            <a:ext cx="51206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1E293B"/>
                </a:solidFill>
                <a:latin typeface="Calibri"/>
                <a:ea typeface="Calibri"/>
                <a:cs typeface="Calibri"/>
              </a:rPr>
              <a:t>Cara remote ke server cloud. Pakai key, bukan password!</a:t>
            </a:r>
            <a:endParaRPr sz="1100"/>
          </a:p>
        </p:txBody>
      </p:sp>
      <p:sp>
        <p:nvSpPr>
          <p:cNvPr id="46" name="Shape 40">
            <a:extLst xmlns:a="http://schemas.openxmlformats.org/drawingml/2006/main">
              <a:ext uri="{FF2B5EF4-FFF2-40B4-BE49-F238E27FC236}">
                <a16:creationId xmlns:a16="http://schemas.microsoft.com/office/drawing/2014/main" id="{7F15EFF4-0D88-4A12-A06A-6C1250148E94}"/>
              </a:ext>
            </a:extLst>
          </p:cNvPr>
          <p:cNvSpPr>
            <a:spLocks xmlns:a="http://schemas.openxmlformats.org/drawingml/2006/main" noGrp="1"/>
          </p:cNvSpPr>
          <p:nvPr/>
        </p:nvSpPr>
        <p:spPr>
          <a:xfrm xmlns:a="http://schemas.openxmlformats.org/drawingml/2006/main">
            <a:off x="6400800" y="2606040"/>
            <a:ext cx="5120640" cy="352044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47" name="Shape 41">
            <a:extLst xmlns:a="http://schemas.openxmlformats.org/drawingml/2006/main">
              <a:ext uri="{FF2B5EF4-FFF2-40B4-BE49-F238E27FC236}">
                <a16:creationId xmlns:a16="http://schemas.microsoft.com/office/drawing/2014/main" id="{3C9169CC-F6A6-437F-ABE3-B6A0589EE149}"/>
              </a:ext>
            </a:extLst>
          </p:cNvPr>
          <p:cNvSpPr>
            <a:spLocks xmlns:a="http://schemas.openxmlformats.org/drawingml/2006/main" noGrp="1"/>
          </p:cNvSpPr>
          <p:nvPr/>
        </p:nvSpPr>
        <p:spPr>
          <a:xfrm xmlns:a="http://schemas.openxmlformats.org/drawingml/2006/main">
            <a:off x="6400800" y="2606040"/>
            <a:ext cx="512064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48" name="Shape 42">
            <a:extLst xmlns:a="http://schemas.openxmlformats.org/drawingml/2006/main">
              <a:ext uri="{FF2B5EF4-FFF2-40B4-BE49-F238E27FC236}">
                <a16:creationId xmlns:a16="http://schemas.microsoft.com/office/drawing/2014/main" id="{ED92C4F1-E4BE-4F3F-A802-C6643370E89F}"/>
              </a:ext>
            </a:extLst>
          </p:cNvPr>
          <p:cNvSpPr>
            <a:spLocks xmlns:a="http://schemas.openxmlformats.org/drawingml/2006/main" noGrp="1"/>
          </p:cNvSpPr>
          <p:nvPr/>
        </p:nvSpPr>
        <p:spPr>
          <a:xfrm xmlns:a="http://schemas.openxmlformats.org/drawingml/2006/main">
            <a:off x="6492240" y="268833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49" name="Shape 43">
            <a:extLst xmlns:a="http://schemas.openxmlformats.org/drawingml/2006/main">
              <a:ext uri="{FF2B5EF4-FFF2-40B4-BE49-F238E27FC236}">
                <a16:creationId xmlns:a16="http://schemas.microsoft.com/office/drawing/2014/main" id="{F2C88DE5-8F57-4453-8E49-03DD48B6535D}"/>
              </a:ext>
            </a:extLst>
          </p:cNvPr>
          <p:cNvSpPr>
            <a:spLocks xmlns:a="http://schemas.openxmlformats.org/drawingml/2006/main" noGrp="1"/>
          </p:cNvSpPr>
          <p:nvPr/>
        </p:nvSpPr>
        <p:spPr>
          <a:xfrm xmlns:a="http://schemas.openxmlformats.org/drawingml/2006/main">
            <a:off x="6629400" y="268833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50" name="Shape 44">
            <a:extLst xmlns:a="http://schemas.openxmlformats.org/drawingml/2006/main">
              <a:ext uri="{FF2B5EF4-FFF2-40B4-BE49-F238E27FC236}">
                <a16:creationId xmlns:a16="http://schemas.microsoft.com/office/drawing/2014/main" id="{66ED8383-FF6F-41D1-99DF-880FC4057F20}"/>
              </a:ext>
            </a:extLst>
          </p:cNvPr>
          <p:cNvSpPr>
            <a:spLocks xmlns:a="http://schemas.openxmlformats.org/drawingml/2006/main" noGrp="1"/>
          </p:cNvSpPr>
          <p:nvPr/>
        </p:nvSpPr>
        <p:spPr>
          <a:xfrm xmlns:a="http://schemas.openxmlformats.org/drawingml/2006/main">
            <a:off x="6766560" y="268833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51" name="Text 45">
            <a:extLst xmlns:a="http://schemas.openxmlformats.org/drawingml/2006/main">
              <a:ext uri="{FF2B5EF4-FFF2-40B4-BE49-F238E27FC236}">
                <a16:creationId xmlns:a16="http://schemas.microsoft.com/office/drawing/2014/main" id="{40F5DFC6-2FA6-4748-932E-1AC59AA8A9D6}"/>
              </a:ext>
            </a:extLst>
          </p:cNvPr>
          <p:cNvSpPr>
            <a:spLocks xmlns:a="http://schemas.openxmlformats.org/drawingml/2006/main" noGrp="1"/>
          </p:cNvSpPr>
          <p:nvPr/>
        </p:nvSpPr>
        <p:spPr>
          <a:xfrm xmlns:a="http://schemas.openxmlformats.org/drawingml/2006/main">
            <a:off x="6949440" y="2606040"/>
            <a:ext cx="4389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ssh workflow</a:t>
            </a:r>
            <a:endParaRPr sz="900"/>
          </a:p>
        </p:txBody>
      </p:sp>
      <p:sp>
        <p:nvSpPr>
          <p:cNvPr id="52" name="Text 46">
            <a:extLst xmlns:a="http://schemas.openxmlformats.org/drawingml/2006/main">
              <a:ext uri="{FF2B5EF4-FFF2-40B4-BE49-F238E27FC236}">
                <a16:creationId xmlns:a16="http://schemas.microsoft.com/office/drawing/2014/main" id="{7B1936A9-ADD0-4A7A-A42A-79432E05F841}"/>
              </a:ext>
            </a:extLst>
          </p:cNvPr>
          <p:cNvSpPr>
            <a:spLocks xmlns:a="http://schemas.openxmlformats.org/drawingml/2006/main" noGrp="1"/>
          </p:cNvSpPr>
          <p:nvPr/>
        </p:nvSpPr>
        <p:spPr>
          <a:xfrm xmlns:a="http://schemas.openxmlformats.org/drawingml/2006/main">
            <a:off x="6537960" y="2971800"/>
            <a:ext cx="4846320" cy="3063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000">
                <a:solidFill>
                  <a:srgbClr val="94A3B8"/>
                </a:solidFill>
                <a:latin typeface="Consolas"/>
                <a:ea typeface="Consolas"/>
                <a:cs typeface="Consolas"/>
              </a:rPr>
              <a:t># 1. Generate key pair (sekali aja):</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ssh-keygen -t ed25519 -C 'budi@bdg'</a:t>
            </a:r>
            <a:endParaRPr sz="1000"/>
          </a:p>
          <a:p xmlns:a="http://schemas.openxmlformats.org/drawingml/2006/main">
            <a:pPr marL="0" indent="0">
              <a:spcAft>
                <a:spcPts val="200"/>
              </a:spcAft>
              <a:buNone/>
            </a:pPr>
            <a:endParaRPr sz="1000"/>
          </a:p>
          <a:p xmlns:a="http://schemas.openxmlformats.org/drawingml/2006/main">
            <a:pPr marL="0" indent="0">
              <a:spcAft>
                <a:spcPts val="200"/>
              </a:spcAft>
              <a:buNone/>
            </a:pPr>
            <a:r>
              <a:rPr sz="1000">
                <a:solidFill>
                  <a:srgbClr val="94A3B8"/>
                </a:solidFill>
                <a:latin typeface="Consolas"/>
                <a:ea typeface="Consolas"/>
                <a:cs typeface="Consolas"/>
              </a:rPr>
              <a:t># 2. Copy public key ke server:</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ssh-copy-id budi@cloud-vm</a:t>
            </a:r>
            <a:endParaRPr sz="1000"/>
          </a:p>
          <a:p xmlns:a="http://schemas.openxmlformats.org/drawingml/2006/main">
            <a:pPr marL="0" indent="0">
              <a:spcAft>
                <a:spcPts val="200"/>
              </a:spcAft>
              <a:buNone/>
            </a:pPr>
            <a:endParaRPr sz="1000"/>
          </a:p>
          <a:p xmlns:a="http://schemas.openxmlformats.org/drawingml/2006/main">
            <a:pPr marL="0" indent="0">
              <a:spcAft>
                <a:spcPts val="200"/>
              </a:spcAft>
              <a:buNone/>
            </a:pPr>
            <a:r>
              <a:rPr sz="1000">
                <a:solidFill>
                  <a:srgbClr val="94A3B8"/>
                </a:solidFill>
                <a:latin typeface="Consolas"/>
                <a:ea typeface="Consolas"/>
                <a:cs typeface="Consolas"/>
              </a:rPr>
              <a:t># 3. Connect (passwordless setelah ini):</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ssh budi@cloud-vm</a:t>
            </a:r>
            <a:endParaRPr sz="1000"/>
          </a:p>
          <a:p xmlns:a="http://schemas.openxmlformats.org/drawingml/2006/main">
            <a:pPr marL="0" indent="0">
              <a:spcAft>
                <a:spcPts val="200"/>
              </a:spcAft>
              <a:buNone/>
            </a:pPr>
            <a:endParaRPr sz="1000"/>
          </a:p>
          <a:p xmlns:a="http://schemas.openxmlformats.org/drawingml/2006/main">
            <a:pPr marL="0" indent="0">
              <a:spcAft>
                <a:spcPts val="200"/>
              </a:spcAft>
              <a:buNone/>
            </a:pPr>
            <a:r>
              <a:rPr sz="1000">
                <a:solidFill>
                  <a:srgbClr val="94A3B8"/>
                </a:solidFill>
                <a:latin typeface="Consolas"/>
                <a:ea typeface="Consolas"/>
                <a:cs typeface="Consolas"/>
              </a:rPr>
              <a:t># Copy file dengan scp:</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scp file.txt budi@vm:~/uploads/</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scp -r folder/ budi@vm:~/</a:t>
            </a:r>
            <a:endParaRPr sz="1000"/>
          </a:p>
          <a:p xmlns:a="http://schemas.openxmlformats.org/drawingml/2006/main">
            <a:pPr marL="0" indent="0">
              <a:spcAft>
                <a:spcPts val="200"/>
              </a:spcAft>
              <a:buNone/>
            </a:pPr>
            <a:endParaRPr sz="1000"/>
          </a:p>
          <a:p xmlns:a="http://schemas.openxmlformats.org/drawingml/2006/main">
            <a:pPr marL="0" indent="0">
              <a:spcAft>
                <a:spcPts val="200"/>
              </a:spcAft>
              <a:buNone/>
            </a:pPr>
            <a:r>
              <a:rPr sz="1000">
                <a:solidFill>
                  <a:srgbClr val="94A3B8"/>
                </a:solidFill>
                <a:latin typeface="Consolas"/>
                <a:ea typeface="Consolas"/>
                <a:cs typeface="Consolas"/>
              </a:rPr>
              <a:t># Shortcut di ~/.ssh/config:</a:t>
            </a:r>
            <a:endParaRPr sz="1000"/>
          </a:p>
          <a:p xmlns:a="http://schemas.openxmlformats.org/drawingml/2006/main">
            <a:pPr marL="0" indent="0">
              <a:spcAft>
                <a:spcPts val="200"/>
              </a:spcAft>
              <a:buNone/>
            </a:pPr>
            <a:r>
              <a:rPr sz="1000">
                <a:solidFill>
                  <a:srgbClr val="F37021"/>
                </a:solidFill>
                <a:latin typeface="Consolas"/>
                <a:ea typeface="Consolas"/>
                <a:cs typeface="Consolas"/>
              </a:rPr>
              <a:t>Host cloud</a:t>
            </a:r>
            <a:endParaRPr sz="1000"/>
          </a:p>
          <a:p xmlns:a="http://schemas.openxmlformats.org/drawingml/2006/main">
            <a:pPr marL="0" indent="0">
              <a:spcAft>
                <a:spcPts val="200"/>
              </a:spcAft>
              <a:buNone/>
            </a:pPr>
            <a:r>
              <a:rPr sz="1000">
                <a:solidFill>
                  <a:srgbClr val="94A3B8"/>
                </a:solidFill>
                <a:latin typeface="Consolas"/>
                <a:ea typeface="Consolas"/>
                <a:cs typeface="Consolas"/>
              </a:rPr>
              <a:t>  HostName 13.250.1.2</a:t>
            </a:r>
            <a:endParaRPr sz="1000"/>
          </a:p>
          <a:p xmlns:a="http://schemas.openxmlformats.org/drawingml/2006/main">
            <a:pPr marL="0" indent="0">
              <a:spcAft>
                <a:spcPts val="200"/>
              </a:spcAft>
              <a:buNone/>
            </a:pPr>
            <a:r>
              <a:rPr sz="1000">
                <a:solidFill>
                  <a:srgbClr val="94A3B8"/>
                </a:solidFill>
                <a:latin typeface="Consolas"/>
                <a:ea typeface="Consolas"/>
                <a:cs typeface="Consolas"/>
              </a:rPr>
              <a:t>  User budi</a:t>
            </a:r>
            <a:endParaRPr sz="1000"/>
          </a:p>
          <a:p xmlns:a="http://schemas.openxmlformats.org/drawingml/2006/main">
            <a:pPr marL="0" indent="0">
              <a:spcAft>
                <a:spcPts val="200"/>
              </a:spcAft>
              <a:buNone/>
            </a:pPr>
            <a:r>
              <a:rPr sz="1000">
                <a:solidFill>
                  <a:srgbClr val="94A3B8"/>
                </a:solidFill>
                <a:latin typeface="Consolas"/>
                <a:ea typeface="Consolas"/>
                <a:cs typeface="Consolas"/>
              </a:rPr>
              <a:t>  IdentityFile ~/.ssh/id_ed25519</a:t>
            </a:r>
            <a:endParaRPr sz="1000"/>
          </a:p>
        </p:txBody>
      </p:sp>
    </p:spTree>
    <p:extLst>
      <p:ext uri="{BB962C8B-B14F-4D97-AF65-F5344CB8AC3E}">
        <p14:creationId xmlns:p14="http://schemas.microsoft.com/office/powerpoint/2010/main" val="132773204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07FB56-EAD4-4DBE-AAC6-3228EB2DD528}"/>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2</a:t>
            </a:r>
            <a:endParaRPr sz="900"/>
          </a:p>
        </p:txBody>
      </p:sp>
      <p:sp>
        <p:nvSpPr>
          <p:cNvPr id="3" name="Text 1">
            <a:extLst xmlns:a="http://schemas.openxmlformats.org/drawingml/2006/main">
              <a:ext uri="{FF2B5EF4-FFF2-40B4-BE49-F238E27FC236}">
                <a16:creationId xmlns:a16="http://schemas.microsoft.com/office/drawing/2014/main" id="{700D3B5F-8D43-41A9-8012-583C51782F00}"/>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30</a:t>
            </a:r>
            <a:endParaRPr sz="900"/>
          </a:p>
        </p:txBody>
      </p:sp>
      <p:sp>
        <p:nvSpPr>
          <p:cNvPr id="4" name="Shape 2">
            <a:extLst xmlns:a="http://schemas.openxmlformats.org/drawingml/2006/main">
              <a:ext uri="{FF2B5EF4-FFF2-40B4-BE49-F238E27FC236}">
                <a16:creationId xmlns:a16="http://schemas.microsoft.com/office/drawing/2014/main" id="{BFB70118-8621-434D-BB1A-8560615DFBBC}"/>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7" name="Image 0"/>
          <p:cNvPicPr>
            <a:picLocks xmlns:a="http://schemas.openxmlformats.org/drawingml/2006/main" noChangeAspect="1"/>
          </p:cNvPicPr>
          <p:nvPr/>
        </p:nvPicPr>
        <p:blipFill>
          <a:blip xmlns:r="http://schemas.openxmlformats.org/officeDocument/2006/relationships" xmlns:a="http://schemas.openxmlformats.org/drawingml/2006/main" r:embed="Rd4db23545034425b"/>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8" name="Image 1"/>
          <p:cNvPicPr>
            <a:picLocks xmlns:a="http://schemas.openxmlformats.org/drawingml/2006/main" noChangeAspect="1"/>
          </p:cNvPicPr>
          <p:nvPr/>
        </p:nvPicPr>
        <p:blipFill>
          <a:blip xmlns:r="http://schemas.openxmlformats.org/officeDocument/2006/relationships" xmlns:a="http://schemas.openxmlformats.org/drawingml/2006/main" r:embed="R472b8b9ad6c249e5"/>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D6FBFBBB-EEE7-4988-AD0A-9E73881DF31A}"/>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8D8200BD-5F1E-4668-90BE-CF68693A302F}"/>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Cheat Sheet - Linux Commands</a:t>
            </a:r>
            <a:endParaRPr sz="2200"/>
          </a:p>
        </p:txBody>
      </p:sp>
      <p:sp>
        <p:nvSpPr>
          <p:cNvPr id="9" name="Text 5">
            <a:extLst xmlns:a="http://schemas.openxmlformats.org/drawingml/2006/main">
              <a:ext uri="{FF2B5EF4-FFF2-40B4-BE49-F238E27FC236}">
                <a16:creationId xmlns:a16="http://schemas.microsoft.com/office/drawing/2014/main" id="{4C538013-CFA2-423F-BCE2-8CF6A9A01062}"/>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Print, tempel di samping laptop</a:t>
            </a:r>
            <a:endParaRPr sz="1200"/>
          </a:p>
        </p:txBody>
      </p:sp>
      <p:sp>
        <p:nvSpPr>
          <p:cNvPr id="10" name="Shape 6">
            <a:extLst xmlns:a="http://schemas.openxmlformats.org/drawingml/2006/main">
              <a:ext uri="{FF2B5EF4-FFF2-40B4-BE49-F238E27FC236}">
                <a16:creationId xmlns:a16="http://schemas.microsoft.com/office/drawing/2014/main" id="{E35655A9-DCD2-49A1-8DAA-65398B5DA1F5}"/>
              </a:ext>
            </a:extLst>
          </p:cNvPr>
          <p:cNvSpPr>
            <a:spLocks xmlns:a="http://schemas.openxmlformats.org/drawingml/2006/main" noGrp="1"/>
          </p:cNvSpPr>
          <p:nvPr/>
        </p:nvSpPr>
        <p:spPr>
          <a:xfrm xmlns:a="http://schemas.openxmlformats.org/drawingml/2006/main">
            <a:off x="457200" y="1417320"/>
            <a:ext cx="2788920" cy="2286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FD5E3D4C-1C99-4C92-9991-0BECBA19955C}"/>
              </a:ext>
            </a:extLst>
          </p:cNvPr>
          <p:cNvSpPr>
            <a:spLocks xmlns:a="http://schemas.openxmlformats.org/drawingml/2006/main" noGrp="1"/>
          </p:cNvSpPr>
          <p:nvPr/>
        </p:nvSpPr>
        <p:spPr>
          <a:xfrm xmlns:a="http://schemas.openxmlformats.org/drawingml/2006/main">
            <a:off x="457200" y="1417320"/>
            <a:ext cx="2788920" cy="36576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2" name="Text 8">
            <a:extLst xmlns:a="http://schemas.openxmlformats.org/drawingml/2006/main">
              <a:ext uri="{FF2B5EF4-FFF2-40B4-BE49-F238E27FC236}">
                <a16:creationId xmlns:a16="http://schemas.microsoft.com/office/drawing/2014/main" id="{2B6AB1D4-B6ED-4E1B-86BB-1B3C3CDADEED}"/>
              </a:ext>
            </a:extLst>
          </p:cNvPr>
          <p:cNvSpPr>
            <a:spLocks xmlns:a="http://schemas.openxmlformats.org/drawingml/2006/main" noGrp="1"/>
          </p:cNvSpPr>
          <p:nvPr/>
        </p:nvSpPr>
        <p:spPr>
          <a:xfrm xmlns:a="http://schemas.openxmlformats.org/drawingml/2006/main">
            <a:off x="457200" y="1417320"/>
            <a:ext cx="2788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spc="200">
                <a:solidFill>
                  <a:srgbClr val="FFFFFF"/>
                </a:solidFill>
                <a:latin typeface="Calibri"/>
                <a:ea typeface="Calibri"/>
                <a:cs typeface="Calibri"/>
              </a:rPr>
              <a:t>Navigation</a:t>
            </a:r>
            <a:endParaRPr sz="1300"/>
          </a:p>
        </p:txBody>
      </p:sp>
      <p:sp>
        <p:nvSpPr>
          <p:cNvPr id="13" name="Text 9">
            <a:extLst xmlns:a="http://schemas.openxmlformats.org/drawingml/2006/main">
              <a:ext uri="{FF2B5EF4-FFF2-40B4-BE49-F238E27FC236}">
                <a16:creationId xmlns:a16="http://schemas.microsoft.com/office/drawing/2014/main" id="{79E62792-4CD6-4116-BB49-E32346DF76EA}"/>
              </a:ext>
            </a:extLst>
          </p:cNvPr>
          <p:cNvSpPr>
            <a:spLocks xmlns:a="http://schemas.openxmlformats.org/drawingml/2006/main" noGrp="1"/>
          </p:cNvSpPr>
          <p:nvPr/>
        </p:nvSpPr>
        <p:spPr>
          <a:xfrm xmlns:a="http://schemas.openxmlformats.org/drawingml/2006/main">
            <a:off x="640080" y="1874520"/>
            <a:ext cx="2423160" cy="1737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300"/>
              </a:spcAft>
              <a:buNone/>
            </a:pPr>
            <a:r>
              <a:rPr sz="1100">
                <a:solidFill>
                  <a:srgbClr val="1E293B"/>
                </a:solidFill>
                <a:latin typeface="Consolas"/>
                <a:ea typeface="Consolas"/>
                <a:cs typeface="Consolas"/>
              </a:rPr>
              <a:t>pwd</a:t>
            </a:r>
            <a:endParaRPr sz="1100"/>
          </a:p>
          <a:p xmlns:a="http://schemas.openxmlformats.org/drawingml/2006/main">
            <a:pPr marL="0" indent="0">
              <a:spcAft>
                <a:spcPts val="300"/>
              </a:spcAft>
              <a:buNone/>
            </a:pPr>
            <a:r>
              <a:rPr sz="1100">
                <a:solidFill>
                  <a:srgbClr val="1E293B"/>
                </a:solidFill>
                <a:latin typeface="Consolas"/>
                <a:ea typeface="Consolas"/>
                <a:cs typeface="Consolas"/>
              </a:rPr>
              <a:t>ls -lh</a:t>
            </a:r>
            <a:endParaRPr sz="1100"/>
          </a:p>
          <a:p xmlns:a="http://schemas.openxmlformats.org/drawingml/2006/main">
            <a:pPr marL="0" indent="0">
              <a:spcAft>
                <a:spcPts val="300"/>
              </a:spcAft>
              <a:buNone/>
            </a:pPr>
            <a:r>
              <a:rPr sz="1100">
                <a:solidFill>
                  <a:srgbClr val="1E293B"/>
                </a:solidFill>
                <a:latin typeface="Consolas"/>
                <a:ea typeface="Consolas"/>
                <a:cs typeface="Consolas"/>
              </a:rPr>
              <a:t>cd &lt;path&gt;</a:t>
            </a:r>
            <a:endParaRPr sz="1100"/>
          </a:p>
          <a:p xmlns:a="http://schemas.openxmlformats.org/drawingml/2006/main">
            <a:pPr marL="0" indent="0">
              <a:spcAft>
                <a:spcPts val="300"/>
              </a:spcAft>
              <a:buNone/>
            </a:pPr>
            <a:r>
              <a:rPr sz="1100">
                <a:solidFill>
                  <a:srgbClr val="1E293B"/>
                </a:solidFill>
                <a:latin typeface="Consolas"/>
                <a:ea typeface="Consolas"/>
                <a:cs typeface="Consolas"/>
              </a:rPr>
              <a:t>cd ~</a:t>
            </a:r>
            <a:endParaRPr sz="1100"/>
          </a:p>
          <a:p xmlns:a="http://schemas.openxmlformats.org/drawingml/2006/main">
            <a:pPr marL="0" indent="0">
              <a:spcAft>
                <a:spcPts val="300"/>
              </a:spcAft>
              <a:buNone/>
            </a:pPr>
            <a:r>
              <a:rPr sz="1100">
                <a:solidFill>
                  <a:srgbClr val="1E293B"/>
                </a:solidFill>
                <a:latin typeface="Consolas"/>
                <a:ea typeface="Consolas"/>
                <a:cs typeface="Consolas"/>
              </a:rPr>
              <a:t>cd -</a:t>
            </a:r>
            <a:endParaRPr sz="1100"/>
          </a:p>
          <a:p xmlns:a="http://schemas.openxmlformats.org/drawingml/2006/main">
            <a:pPr marL="0" indent="0">
              <a:spcAft>
                <a:spcPts val="300"/>
              </a:spcAft>
              <a:buNone/>
            </a:pPr>
            <a:r>
              <a:rPr sz="1100">
                <a:solidFill>
                  <a:srgbClr val="1E293B"/>
                </a:solidFill>
                <a:latin typeface="Consolas"/>
                <a:ea typeface="Consolas"/>
                <a:cs typeface="Consolas"/>
              </a:rPr>
              <a:t>tree</a:t>
            </a:r>
            <a:endParaRPr sz="1100"/>
          </a:p>
        </p:txBody>
      </p:sp>
      <p:sp>
        <p:nvSpPr>
          <p:cNvPr id="14" name="Shape 10">
            <a:extLst xmlns:a="http://schemas.openxmlformats.org/drawingml/2006/main">
              <a:ext uri="{FF2B5EF4-FFF2-40B4-BE49-F238E27FC236}">
                <a16:creationId xmlns:a16="http://schemas.microsoft.com/office/drawing/2014/main" id="{76495365-A89A-4509-9F9C-B7547AE3D102}"/>
              </a:ext>
            </a:extLst>
          </p:cNvPr>
          <p:cNvSpPr>
            <a:spLocks xmlns:a="http://schemas.openxmlformats.org/drawingml/2006/main" noGrp="1"/>
          </p:cNvSpPr>
          <p:nvPr/>
        </p:nvSpPr>
        <p:spPr>
          <a:xfrm xmlns:a="http://schemas.openxmlformats.org/drawingml/2006/main">
            <a:off x="3364992" y="1417320"/>
            <a:ext cx="2788920" cy="2286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5" name="Shape 11">
            <a:extLst xmlns:a="http://schemas.openxmlformats.org/drawingml/2006/main">
              <a:ext uri="{FF2B5EF4-FFF2-40B4-BE49-F238E27FC236}">
                <a16:creationId xmlns:a16="http://schemas.microsoft.com/office/drawing/2014/main" id="{F7343A25-1174-4DB7-9C0D-409090B55D09}"/>
              </a:ext>
            </a:extLst>
          </p:cNvPr>
          <p:cNvSpPr>
            <a:spLocks xmlns:a="http://schemas.openxmlformats.org/drawingml/2006/main" noGrp="1"/>
          </p:cNvSpPr>
          <p:nvPr/>
        </p:nvSpPr>
        <p:spPr>
          <a:xfrm xmlns:a="http://schemas.openxmlformats.org/drawingml/2006/main">
            <a:off x="3364992" y="1417320"/>
            <a:ext cx="2788920" cy="36576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6" name="Text 12">
            <a:extLst xmlns:a="http://schemas.openxmlformats.org/drawingml/2006/main">
              <a:ext uri="{FF2B5EF4-FFF2-40B4-BE49-F238E27FC236}">
                <a16:creationId xmlns:a16="http://schemas.microsoft.com/office/drawing/2014/main" id="{E134F19F-789E-4295-8A9E-4E9BC13E6014}"/>
              </a:ext>
            </a:extLst>
          </p:cNvPr>
          <p:cNvSpPr>
            <a:spLocks xmlns:a="http://schemas.openxmlformats.org/drawingml/2006/main" noGrp="1"/>
          </p:cNvSpPr>
          <p:nvPr/>
        </p:nvSpPr>
        <p:spPr>
          <a:xfrm xmlns:a="http://schemas.openxmlformats.org/drawingml/2006/main">
            <a:off x="3364992" y="1417320"/>
            <a:ext cx="2788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spc="200">
                <a:solidFill>
                  <a:srgbClr val="FFFFFF"/>
                </a:solidFill>
                <a:latin typeface="Calibri"/>
                <a:ea typeface="Calibri"/>
                <a:cs typeface="Calibri"/>
              </a:rPr>
              <a:t>File Ops</a:t>
            </a:r>
            <a:endParaRPr sz="1300"/>
          </a:p>
        </p:txBody>
      </p:sp>
      <p:sp>
        <p:nvSpPr>
          <p:cNvPr id="17" name="Text 13">
            <a:extLst xmlns:a="http://schemas.openxmlformats.org/drawingml/2006/main">
              <a:ext uri="{FF2B5EF4-FFF2-40B4-BE49-F238E27FC236}">
                <a16:creationId xmlns:a16="http://schemas.microsoft.com/office/drawing/2014/main" id="{D5664B02-1A67-4FD9-90AB-0863B625AA2F}"/>
              </a:ext>
            </a:extLst>
          </p:cNvPr>
          <p:cNvSpPr>
            <a:spLocks xmlns:a="http://schemas.openxmlformats.org/drawingml/2006/main" noGrp="1"/>
          </p:cNvSpPr>
          <p:nvPr/>
        </p:nvSpPr>
        <p:spPr>
          <a:xfrm xmlns:a="http://schemas.openxmlformats.org/drawingml/2006/main">
            <a:off x="3547872" y="1874520"/>
            <a:ext cx="2423160" cy="1737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300"/>
              </a:spcAft>
              <a:buNone/>
            </a:pPr>
            <a:r>
              <a:rPr sz="1100">
                <a:solidFill>
                  <a:srgbClr val="1E293B"/>
                </a:solidFill>
                <a:latin typeface="Consolas"/>
                <a:ea typeface="Consolas"/>
                <a:cs typeface="Consolas"/>
              </a:rPr>
              <a:t>touch &lt;f&gt;</a:t>
            </a:r>
            <a:endParaRPr sz="1100"/>
          </a:p>
          <a:p xmlns:a="http://schemas.openxmlformats.org/drawingml/2006/main">
            <a:pPr marL="0" indent="0">
              <a:spcAft>
                <a:spcPts val="300"/>
              </a:spcAft>
              <a:buNone/>
            </a:pPr>
            <a:r>
              <a:rPr sz="1100">
                <a:solidFill>
                  <a:srgbClr val="1E293B"/>
                </a:solidFill>
                <a:latin typeface="Consolas"/>
                <a:ea typeface="Consolas"/>
                <a:cs typeface="Consolas"/>
              </a:rPr>
              <a:t>mkdir -p</a:t>
            </a:r>
            <a:endParaRPr sz="1100"/>
          </a:p>
          <a:p xmlns:a="http://schemas.openxmlformats.org/drawingml/2006/main">
            <a:pPr marL="0" indent="0">
              <a:spcAft>
                <a:spcPts val="300"/>
              </a:spcAft>
              <a:buNone/>
            </a:pPr>
            <a:r>
              <a:rPr sz="1100">
                <a:solidFill>
                  <a:srgbClr val="1E293B"/>
                </a:solidFill>
                <a:latin typeface="Consolas"/>
                <a:ea typeface="Consolas"/>
                <a:cs typeface="Consolas"/>
              </a:rPr>
              <a:t>cp -r</a:t>
            </a:r>
            <a:endParaRPr sz="1100"/>
          </a:p>
          <a:p xmlns:a="http://schemas.openxmlformats.org/drawingml/2006/main">
            <a:pPr marL="0" indent="0">
              <a:spcAft>
                <a:spcPts val="300"/>
              </a:spcAft>
              <a:buNone/>
            </a:pPr>
            <a:r>
              <a:rPr sz="1100">
                <a:solidFill>
                  <a:srgbClr val="1E293B"/>
                </a:solidFill>
                <a:latin typeface="Consolas"/>
                <a:ea typeface="Consolas"/>
                <a:cs typeface="Consolas"/>
              </a:rPr>
              <a:t>mv</a:t>
            </a:r>
            <a:endParaRPr sz="1100"/>
          </a:p>
          <a:p xmlns:a="http://schemas.openxmlformats.org/drawingml/2006/main">
            <a:pPr marL="0" indent="0">
              <a:spcAft>
                <a:spcPts val="300"/>
              </a:spcAft>
              <a:buNone/>
            </a:pPr>
            <a:r>
              <a:rPr sz="1100">
                <a:solidFill>
                  <a:srgbClr val="1E293B"/>
                </a:solidFill>
                <a:latin typeface="Consolas"/>
                <a:ea typeface="Consolas"/>
                <a:cs typeface="Consolas"/>
              </a:rPr>
              <a:t>rm -i</a:t>
            </a:r>
            <a:endParaRPr sz="1100"/>
          </a:p>
          <a:p xmlns:a="http://schemas.openxmlformats.org/drawingml/2006/main">
            <a:pPr marL="0" indent="0">
              <a:spcAft>
                <a:spcPts val="300"/>
              </a:spcAft>
              <a:buNone/>
            </a:pPr>
            <a:r>
              <a:rPr sz="1100">
                <a:solidFill>
                  <a:srgbClr val="1E293B"/>
                </a:solidFill>
                <a:latin typeface="Consolas"/>
                <a:ea typeface="Consolas"/>
                <a:cs typeface="Consolas"/>
              </a:rPr>
              <a:t>cat / less</a:t>
            </a:r>
            <a:endParaRPr sz="1100"/>
          </a:p>
        </p:txBody>
      </p:sp>
      <p:sp>
        <p:nvSpPr>
          <p:cNvPr id="18" name="Shape 14">
            <a:extLst xmlns:a="http://schemas.openxmlformats.org/drawingml/2006/main">
              <a:ext uri="{FF2B5EF4-FFF2-40B4-BE49-F238E27FC236}">
                <a16:creationId xmlns:a16="http://schemas.microsoft.com/office/drawing/2014/main" id="{484A2875-9CDE-452F-B727-74BC3CE9EFBF}"/>
              </a:ext>
            </a:extLst>
          </p:cNvPr>
          <p:cNvSpPr>
            <a:spLocks xmlns:a="http://schemas.openxmlformats.org/drawingml/2006/main" noGrp="1"/>
          </p:cNvSpPr>
          <p:nvPr/>
        </p:nvSpPr>
        <p:spPr>
          <a:xfrm xmlns:a="http://schemas.openxmlformats.org/drawingml/2006/main">
            <a:off x="6272784" y="1417320"/>
            <a:ext cx="2788920" cy="2286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9" name="Shape 15">
            <a:extLst xmlns:a="http://schemas.openxmlformats.org/drawingml/2006/main">
              <a:ext uri="{FF2B5EF4-FFF2-40B4-BE49-F238E27FC236}">
                <a16:creationId xmlns:a16="http://schemas.microsoft.com/office/drawing/2014/main" id="{65233104-F48C-41ED-A532-8933ABAF4598}"/>
              </a:ext>
            </a:extLst>
          </p:cNvPr>
          <p:cNvSpPr>
            <a:spLocks xmlns:a="http://schemas.openxmlformats.org/drawingml/2006/main" noGrp="1"/>
          </p:cNvSpPr>
          <p:nvPr/>
        </p:nvSpPr>
        <p:spPr>
          <a:xfrm xmlns:a="http://schemas.openxmlformats.org/drawingml/2006/main">
            <a:off x="6272784" y="1417320"/>
            <a:ext cx="2788920" cy="365760"/>
          </a:xfrm>
          <a:prstGeom xmlns:a="http://schemas.openxmlformats.org/drawingml/2006/main" prst="rect">
            <a:avLst/>
          </a:prstGeom>
          <a:solidFill xmlns:a="http://schemas.openxmlformats.org/drawingml/2006/main">
            <a:srgbClr val="1E40AF"/>
          </a:solidFill>
          <a:ln xmlns:a="http://schemas.openxmlformats.org/drawingml/2006/main" w="12700">
            <a:solidFill>
              <a:srgbClr val="1E40AF"/>
            </a:solidFill>
            <a:prstDash val="solid"/>
          </a:ln>
        </p:spPr>
      </p:sp>
      <p:sp>
        <p:nvSpPr>
          <p:cNvPr id="20" name="Text 16">
            <a:extLst xmlns:a="http://schemas.openxmlformats.org/drawingml/2006/main">
              <a:ext uri="{FF2B5EF4-FFF2-40B4-BE49-F238E27FC236}">
                <a16:creationId xmlns:a16="http://schemas.microsoft.com/office/drawing/2014/main" id="{C9807272-F587-4DC8-94A6-79E3D0510FD7}"/>
              </a:ext>
            </a:extLst>
          </p:cNvPr>
          <p:cNvSpPr>
            <a:spLocks xmlns:a="http://schemas.openxmlformats.org/drawingml/2006/main" noGrp="1"/>
          </p:cNvSpPr>
          <p:nvPr/>
        </p:nvSpPr>
        <p:spPr>
          <a:xfrm xmlns:a="http://schemas.openxmlformats.org/drawingml/2006/main">
            <a:off x="6272784" y="1417320"/>
            <a:ext cx="2788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spc="200">
                <a:solidFill>
                  <a:srgbClr val="FFFFFF"/>
                </a:solidFill>
                <a:latin typeface="Calibri"/>
                <a:ea typeface="Calibri"/>
                <a:cs typeface="Calibri"/>
              </a:rPr>
              <a:t>Search</a:t>
            </a:r>
            <a:endParaRPr sz="1300"/>
          </a:p>
        </p:txBody>
      </p:sp>
      <p:sp>
        <p:nvSpPr>
          <p:cNvPr id="21" name="Text 17">
            <a:extLst xmlns:a="http://schemas.openxmlformats.org/drawingml/2006/main">
              <a:ext uri="{FF2B5EF4-FFF2-40B4-BE49-F238E27FC236}">
                <a16:creationId xmlns:a16="http://schemas.microsoft.com/office/drawing/2014/main" id="{D8F19802-9940-488C-9B13-3EEB0A5DE499}"/>
              </a:ext>
            </a:extLst>
          </p:cNvPr>
          <p:cNvSpPr>
            <a:spLocks xmlns:a="http://schemas.openxmlformats.org/drawingml/2006/main" noGrp="1"/>
          </p:cNvSpPr>
          <p:nvPr/>
        </p:nvSpPr>
        <p:spPr>
          <a:xfrm xmlns:a="http://schemas.openxmlformats.org/drawingml/2006/main">
            <a:off x="6455664" y="1874520"/>
            <a:ext cx="2423160" cy="1737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300"/>
              </a:spcAft>
              <a:buNone/>
            </a:pPr>
            <a:r>
              <a:rPr sz="1100">
                <a:solidFill>
                  <a:srgbClr val="1E293B"/>
                </a:solidFill>
                <a:latin typeface="Consolas"/>
                <a:ea typeface="Consolas"/>
                <a:cs typeface="Consolas"/>
              </a:rPr>
              <a:t>grep -r 'x'</a:t>
            </a:r>
            <a:endParaRPr sz="1100"/>
          </a:p>
          <a:p xmlns:a="http://schemas.openxmlformats.org/drawingml/2006/main">
            <a:pPr marL="0" indent="0">
              <a:spcAft>
                <a:spcPts val="300"/>
              </a:spcAft>
              <a:buNone/>
            </a:pPr>
            <a:r>
              <a:rPr sz="1100">
                <a:solidFill>
                  <a:srgbClr val="1E293B"/>
                </a:solidFill>
                <a:latin typeface="Consolas"/>
                <a:ea typeface="Consolas"/>
                <a:cs typeface="Consolas"/>
              </a:rPr>
              <a:t>find . -name</a:t>
            </a:r>
            <a:endParaRPr sz="1100"/>
          </a:p>
          <a:p xmlns:a="http://schemas.openxmlformats.org/drawingml/2006/main">
            <a:pPr marL="0" indent="0">
              <a:spcAft>
                <a:spcPts val="300"/>
              </a:spcAft>
              <a:buNone/>
            </a:pPr>
            <a:r>
              <a:rPr sz="1100">
                <a:solidFill>
                  <a:srgbClr val="1E293B"/>
                </a:solidFill>
                <a:latin typeface="Consolas"/>
                <a:ea typeface="Consolas"/>
                <a:cs typeface="Consolas"/>
              </a:rPr>
              <a:t>wc -l</a:t>
            </a:r>
            <a:endParaRPr sz="1100"/>
          </a:p>
          <a:p xmlns:a="http://schemas.openxmlformats.org/drawingml/2006/main">
            <a:pPr marL="0" indent="0">
              <a:spcAft>
                <a:spcPts val="300"/>
              </a:spcAft>
              <a:buNone/>
            </a:pPr>
            <a:r>
              <a:rPr sz="1100">
                <a:solidFill>
                  <a:srgbClr val="1E293B"/>
                </a:solidFill>
                <a:latin typeface="Consolas"/>
                <a:ea typeface="Consolas"/>
                <a:cs typeface="Consolas"/>
              </a:rPr>
              <a:t>sort -u</a:t>
            </a:r>
            <a:endParaRPr sz="1100"/>
          </a:p>
          <a:p xmlns:a="http://schemas.openxmlformats.org/drawingml/2006/main">
            <a:pPr marL="0" indent="0">
              <a:spcAft>
                <a:spcPts val="300"/>
              </a:spcAft>
              <a:buNone/>
            </a:pPr>
            <a:r>
              <a:rPr sz="1100">
                <a:solidFill>
                  <a:srgbClr val="1E293B"/>
                </a:solidFill>
                <a:latin typeface="Consolas"/>
                <a:ea typeface="Consolas"/>
                <a:cs typeface="Consolas"/>
              </a:rPr>
              <a:t>uniq -c</a:t>
            </a:r>
            <a:endParaRPr sz="1100"/>
          </a:p>
          <a:p xmlns:a="http://schemas.openxmlformats.org/drawingml/2006/main">
            <a:pPr marL="0" indent="0">
              <a:spcAft>
                <a:spcPts val="300"/>
              </a:spcAft>
              <a:buNone/>
            </a:pPr>
            <a:r>
              <a:rPr sz="1100">
                <a:solidFill>
                  <a:srgbClr val="1E293B"/>
                </a:solidFill>
                <a:latin typeface="Consolas"/>
                <a:ea typeface="Consolas"/>
                <a:cs typeface="Consolas"/>
              </a:rPr>
              <a:t>xargs</a:t>
            </a:r>
            <a:endParaRPr sz="1100"/>
          </a:p>
        </p:txBody>
      </p:sp>
      <p:sp>
        <p:nvSpPr>
          <p:cNvPr id="22" name="Shape 18">
            <a:extLst xmlns:a="http://schemas.openxmlformats.org/drawingml/2006/main">
              <a:ext uri="{FF2B5EF4-FFF2-40B4-BE49-F238E27FC236}">
                <a16:creationId xmlns:a16="http://schemas.microsoft.com/office/drawing/2014/main" id="{3A2B6C15-1177-45D5-B44E-FEA7C1512C2B}"/>
              </a:ext>
            </a:extLst>
          </p:cNvPr>
          <p:cNvSpPr>
            <a:spLocks xmlns:a="http://schemas.openxmlformats.org/drawingml/2006/main" noGrp="1"/>
          </p:cNvSpPr>
          <p:nvPr/>
        </p:nvSpPr>
        <p:spPr>
          <a:xfrm xmlns:a="http://schemas.openxmlformats.org/drawingml/2006/main">
            <a:off x="9180576" y="1417320"/>
            <a:ext cx="2788920" cy="2286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3" name="Shape 19">
            <a:extLst xmlns:a="http://schemas.openxmlformats.org/drawingml/2006/main">
              <a:ext uri="{FF2B5EF4-FFF2-40B4-BE49-F238E27FC236}">
                <a16:creationId xmlns:a16="http://schemas.microsoft.com/office/drawing/2014/main" id="{405E9130-6B61-4844-BA77-9FC17EBB6C83}"/>
              </a:ext>
            </a:extLst>
          </p:cNvPr>
          <p:cNvSpPr>
            <a:spLocks xmlns:a="http://schemas.openxmlformats.org/drawingml/2006/main" noGrp="1"/>
          </p:cNvSpPr>
          <p:nvPr/>
        </p:nvSpPr>
        <p:spPr>
          <a:xfrm xmlns:a="http://schemas.openxmlformats.org/drawingml/2006/main">
            <a:off x="9180576" y="1417320"/>
            <a:ext cx="2788920" cy="36576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24" name="Text 20">
            <a:extLst xmlns:a="http://schemas.openxmlformats.org/drawingml/2006/main">
              <a:ext uri="{FF2B5EF4-FFF2-40B4-BE49-F238E27FC236}">
                <a16:creationId xmlns:a16="http://schemas.microsoft.com/office/drawing/2014/main" id="{3AC29394-5D3D-465B-A6CD-7D31FD03052D}"/>
              </a:ext>
            </a:extLst>
          </p:cNvPr>
          <p:cNvSpPr>
            <a:spLocks xmlns:a="http://schemas.openxmlformats.org/drawingml/2006/main" noGrp="1"/>
          </p:cNvSpPr>
          <p:nvPr/>
        </p:nvSpPr>
        <p:spPr>
          <a:xfrm xmlns:a="http://schemas.openxmlformats.org/drawingml/2006/main">
            <a:off x="9180576" y="1417320"/>
            <a:ext cx="2788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spc="200">
                <a:solidFill>
                  <a:srgbClr val="FFFFFF"/>
                </a:solidFill>
                <a:latin typeface="Calibri"/>
                <a:ea typeface="Calibri"/>
                <a:cs typeface="Calibri"/>
              </a:rPr>
              <a:t>Permissions</a:t>
            </a:r>
            <a:endParaRPr sz="1300"/>
          </a:p>
        </p:txBody>
      </p:sp>
      <p:sp>
        <p:nvSpPr>
          <p:cNvPr id="25" name="Text 21">
            <a:extLst xmlns:a="http://schemas.openxmlformats.org/drawingml/2006/main">
              <a:ext uri="{FF2B5EF4-FFF2-40B4-BE49-F238E27FC236}">
                <a16:creationId xmlns:a16="http://schemas.microsoft.com/office/drawing/2014/main" id="{285CA78C-1D0D-422F-971E-7DAF28229F0C}"/>
              </a:ext>
            </a:extLst>
          </p:cNvPr>
          <p:cNvSpPr>
            <a:spLocks xmlns:a="http://schemas.openxmlformats.org/drawingml/2006/main" noGrp="1"/>
          </p:cNvSpPr>
          <p:nvPr/>
        </p:nvSpPr>
        <p:spPr>
          <a:xfrm xmlns:a="http://schemas.openxmlformats.org/drawingml/2006/main">
            <a:off x="9363456" y="1874520"/>
            <a:ext cx="2423160" cy="1737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300"/>
              </a:spcAft>
              <a:buNone/>
            </a:pPr>
            <a:r>
              <a:rPr sz="1100">
                <a:solidFill>
                  <a:srgbClr val="1E293B"/>
                </a:solidFill>
                <a:latin typeface="Consolas"/>
                <a:ea typeface="Consolas"/>
                <a:cs typeface="Consolas"/>
              </a:rPr>
              <a:t>chmod 755</a:t>
            </a:r>
            <a:endParaRPr sz="1100"/>
          </a:p>
          <a:p xmlns:a="http://schemas.openxmlformats.org/drawingml/2006/main">
            <a:pPr marL="0" indent="0">
              <a:spcAft>
                <a:spcPts val="300"/>
              </a:spcAft>
              <a:buNone/>
            </a:pPr>
            <a:r>
              <a:rPr sz="1100">
                <a:solidFill>
                  <a:srgbClr val="1E293B"/>
                </a:solidFill>
                <a:latin typeface="Consolas"/>
                <a:ea typeface="Consolas"/>
                <a:cs typeface="Consolas"/>
              </a:rPr>
              <a:t>chmod 600</a:t>
            </a:r>
            <a:endParaRPr sz="1100"/>
          </a:p>
          <a:p xmlns:a="http://schemas.openxmlformats.org/drawingml/2006/main">
            <a:pPr marL="0" indent="0">
              <a:spcAft>
                <a:spcPts val="300"/>
              </a:spcAft>
              <a:buNone/>
            </a:pPr>
            <a:r>
              <a:rPr sz="1100">
                <a:solidFill>
                  <a:srgbClr val="1E293B"/>
                </a:solidFill>
                <a:latin typeface="Consolas"/>
                <a:ea typeface="Consolas"/>
                <a:cs typeface="Consolas"/>
              </a:rPr>
              <a:t>chown user:grp</a:t>
            </a:r>
            <a:endParaRPr sz="1100"/>
          </a:p>
          <a:p xmlns:a="http://schemas.openxmlformats.org/drawingml/2006/main">
            <a:pPr marL="0" indent="0">
              <a:spcAft>
                <a:spcPts val="300"/>
              </a:spcAft>
              <a:buNone/>
            </a:pPr>
            <a:r>
              <a:rPr sz="1100">
                <a:solidFill>
                  <a:srgbClr val="1E293B"/>
                </a:solidFill>
                <a:latin typeface="Consolas"/>
                <a:ea typeface="Consolas"/>
                <a:cs typeface="Consolas"/>
              </a:rPr>
              <a:t>id</a:t>
            </a:r>
            <a:endParaRPr sz="1100"/>
          </a:p>
          <a:p xmlns:a="http://schemas.openxmlformats.org/drawingml/2006/main">
            <a:pPr marL="0" indent="0">
              <a:spcAft>
                <a:spcPts val="300"/>
              </a:spcAft>
              <a:buNone/>
            </a:pPr>
            <a:r>
              <a:rPr sz="1100">
                <a:solidFill>
                  <a:srgbClr val="1E293B"/>
                </a:solidFill>
                <a:latin typeface="Consolas"/>
                <a:ea typeface="Consolas"/>
                <a:cs typeface="Consolas"/>
              </a:rPr>
              <a:t>sudo &lt;cmd&gt;</a:t>
            </a:r>
            <a:endParaRPr sz="1100"/>
          </a:p>
          <a:p xmlns:a="http://schemas.openxmlformats.org/drawingml/2006/main">
            <a:pPr marL="0" indent="0">
              <a:spcAft>
                <a:spcPts val="300"/>
              </a:spcAft>
              <a:buNone/>
            </a:pPr>
            <a:r>
              <a:rPr sz="1100">
                <a:solidFill>
                  <a:srgbClr val="1E293B"/>
                </a:solidFill>
                <a:latin typeface="Consolas"/>
                <a:ea typeface="Consolas"/>
                <a:cs typeface="Consolas"/>
              </a:rPr>
              <a:t>groups</a:t>
            </a:r>
            <a:endParaRPr sz="1100"/>
          </a:p>
        </p:txBody>
      </p:sp>
      <p:sp>
        <p:nvSpPr>
          <p:cNvPr id="26" name="Shape 22">
            <a:extLst xmlns:a="http://schemas.openxmlformats.org/drawingml/2006/main">
              <a:ext uri="{FF2B5EF4-FFF2-40B4-BE49-F238E27FC236}">
                <a16:creationId xmlns:a16="http://schemas.microsoft.com/office/drawing/2014/main" id="{AE105B8E-65E7-4F50-A623-0E8C60800CF6}"/>
              </a:ext>
            </a:extLst>
          </p:cNvPr>
          <p:cNvSpPr>
            <a:spLocks xmlns:a="http://schemas.openxmlformats.org/drawingml/2006/main" noGrp="1"/>
          </p:cNvSpPr>
          <p:nvPr/>
        </p:nvSpPr>
        <p:spPr>
          <a:xfrm xmlns:a="http://schemas.openxmlformats.org/drawingml/2006/main">
            <a:off x="457200" y="3886200"/>
            <a:ext cx="2788920" cy="2286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7" name="Shape 23">
            <a:extLst xmlns:a="http://schemas.openxmlformats.org/drawingml/2006/main">
              <a:ext uri="{FF2B5EF4-FFF2-40B4-BE49-F238E27FC236}">
                <a16:creationId xmlns:a16="http://schemas.microsoft.com/office/drawing/2014/main" id="{7339E668-7B15-4861-A6B0-9AC30CB7F4AC}"/>
              </a:ext>
            </a:extLst>
          </p:cNvPr>
          <p:cNvSpPr>
            <a:spLocks xmlns:a="http://schemas.openxmlformats.org/drawingml/2006/main" noGrp="1"/>
          </p:cNvSpPr>
          <p:nvPr/>
        </p:nvSpPr>
        <p:spPr>
          <a:xfrm xmlns:a="http://schemas.openxmlformats.org/drawingml/2006/main">
            <a:off x="457200" y="3886200"/>
            <a:ext cx="2788920" cy="36576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28" name="Text 24">
            <a:extLst xmlns:a="http://schemas.openxmlformats.org/drawingml/2006/main">
              <a:ext uri="{FF2B5EF4-FFF2-40B4-BE49-F238E27FC236}">
                <a16:creationId xmlns:a16="http://schemas.microsoft.com/office/drawing/2014/main" id="{A4EB06EE-9BA9-47D5-80E4-931EFCEB1887}"/>
              </a:ext>
            </a:extLst>
          </p:cNvPr>
          <p:cNvSpPr>
            <a:spLocks xmlns:a="http://schemas.openxmlformats.org/drawingml/2006/main" noGrp="1"/>
          </p:cNvSpPr>
          <p:nvPr/>
        </p:nvSpPr>
        <p:spPr>
          <a:xfrm xmlns:a="http://schemas.openxmlformats.org/drawingml/2006/main">
            <a:off x="457200" y="3886200"/>
            <a:ext cx="2788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spc="200">
                <a:solidFill>
                  <a:srgbClr val="FFFFFF"/>
                </a:solidFill>
                <a:latin typeface="Calibri"/>
                <a:ea typeface="Calibri"/>
                <a:cs typeface="Calibri"/>
              </a:rPr>
              <a:t>Packages</a:t>
            </a:r>
            <a:endParaRPr sz="1300"/>
          </a:p>
        </p:txBody>
      </p:sp>
      <p:sp>
        <p:nvSpPr>
          <p:cNvPr id="29" name="Text 25">
            <a:extLst xmlns:a="http://schemas.openxmlformats.org/drawingml/2006/main">
              <a:ext uri="{FF2B5EF4-FFF2-40B4-BE49-F238E27FC236}">
                <a16:creationId xmlns:a16="http://schemas.microsoft.com/office/drawing/2014/main" id="{D8B0AEDC-F9A9-48B3-8A34-D70582D8846E}"/>
              </a:ext>
            </a:extLst>
          </p:cNvPr>
          <p:cNvSpPr>
            <a:spLocks xmlns:a="http://schemas.openxmlformats.org/drawingml/2006/main" noGrp="1"/>
          </p:cNvSpPr>
          <p:nvPr/>
        </p:nvSpPr>
        <p:spPr>
          <a:xfrm xmlns:a="http://schemas.openxmlformats.org/drawingml/2006/main">
            <a:off x="640080" y="4343400"/>
            <a:ext cx="2423160" cy="1737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300"/>
              </a:spcAft>
              <a:buNone/>
            </a:pPr>
            <a:r>
              <a:rPr sz="1100">
                <a:solidFill>
                  <a:srgbClr val="1E293B"/>
                </a:solidFill>
                <a:latin typeface="Consolas"/>
                <a:ea typeface="Consolas"/>
                <a:cs typeface="Consolas"/>
              </a:rPr>
              <a:t>apt update</a:t>
            </a:r>
            <a:endParaRPr sz="1100"/>
          </a:p>
          <a:p xmlns:a="http://schemas.openxmlformats.org/drawingml/2006/main">
            <a:pPr marL="0" indent="0">
              <a:spcAft>
                <a:spcPts val="300"/>
              </a:spcAft>
              <a:buNone/>
            </a:pPr>
            <a:r>
              <a:rPr sz="1100">
                <a:solidFill>
                  <a:srgbClr val="1E293B"/>
                </a:solidFill>
                <a:latin typeface="Consolas"/>
                <a:ea typeface="Consolas"/>
                <a:cs typeface="Consolas"/>
              </a:rPr>
              <a:t>apt install -y</a:t>
            </a:r>
            <a:endParaRPr sz="1100"/>
          </a:p>
          <a:p xmlns:a="http://schemas.openxmlformats.org/drawingml/2006/main">
            <a:pPr marL="0" indent="0">
              <a:spcAft>
                <a:spcPts val="300"/>
              </a:spcAft>
              <a:buNone/>
            </a:pPr>
            <a:r>
              <a:rPr sz="1100">
                <a:solidFill>
                  <a:srgbClr val="1E293B"/>
                </a:solidFill>
                <a:latin typeface="Consolas"/>
                <a:ea typeface="Consolas"/>
                <a:cs typeface="Consolas"/>
              </a:rPr>
              <a:t>apt remove</a:t>
            </a:r>
            <a:endParaRPr sz="1100"/>
          </a:p>
          <a:p xmlns:a="http://schemas.openxmlformats.org/drawingml/2006/main">
            <a:pPr marL="0" indent="0">
              <a:spcAft>
                <a:spcPts val="300"/>
              </a:spcAft>
              <a:buNone/>
            </a:pPr>
            <a:r>
              <a:rPr sz="1100">
                <a:solidFill>
                  <a:srgbClr val="1E293B"/>
                </a:solidFill>
                <a:latin typeface="Consolas"/>
                <a:ea typeface="Consolas"/>
                <a:cs typeface="Consolas"/>
              </a:rPr>
              <a:t>apt search</a:t>
            </a:r>
            <a:endParaRPr sz="1100"/>
          </a:p>
          <a:p xmlns:a="http://schemas.openxmlformats.org/drawingml/2006/main">
            <a:pPr marL="0" indent="0">
              <a:spcAft>
                <a:spcPts val="300"/>
              </a:spcAft>
              <a:buNone/>
            </a:pPr>
            <a:r>
              <a:rPr sz="1100">
                <a:solidFill>
                  <a:srgbClr val="1E293B"/>
                </a:solidFill>
                <a:latin typeface="Consolas"/>
                <a:ea typeface="Consolas"/>
                <a:cs typeface="Consolas"/>
              </a:rPr>
              <a:t>dpkg -l</a:t>
            </a:r>
            <a:endParaRPr sz="1100"/>
          </a:p>
          <a:p xmlns:a="http://schemas.openxmlformats.org/drawingml/2006/main">
            <a:pPr marL="0" indent="0">
              <a:spcAft>
                <a:spcPts val="300"/>
              </a:spcAft>
              <a:buNone/>
            </a:pPr>
            <a:r>
              <a:rPr sz="1100">
                <a:solidFill>
                  <a:srgbClr val="1E293B"/>
                </a:solidFill>
                <a:latin typeface="Consolas"/>
                <a:ea typeface="Consolas"/>
                <a:cs typeface="Consolas"/>
              </a:rPr>
              <a:t>which &lt;cmd&gt;</a:t>
            </a:r>
            <a:endParaRPr sz="1100"/>
          </a:p>
        </p:txBody>
      </p:sp>
      <p:sp>
        <p:nvSpPr>
          <p:cNvPr id="30" name="Shape 26">
            <a:extLst xmlns:a="http://schemas.openxmlformats.org/drawingml/2006/main">
              <a:ext uri="{FF2B5EF4-FFF2-40B4-BE49-F238E27FC236}">
                <a16:creationId xmlns:a16="http://schemas.microsoft.com/office/drawing/2014/main" id="{FF06EB65-5D67-4DB1-A10F-88F9AC1FFCBC}"/>
              </a:ext>
            </a:extLst>
          </p:cNvPr>
          <p:cNvSpPr>
            <a:spLocks xmlns:a="http://schemas.openxmlformats.org/drawingml/2006/main" noGrp="1"/>
          </p:cNvSpPr>
          <p:nvPr/>
        </p:nvSpPr>
        <p:spPr>
          <a:xfrm xmlns:a="http://schemas.openxmlformats.org/drawingml/2006/main">
            <a:off x="3364992" y="3886200"/>
            <a:ext cx="2788920" cy="2286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1" name="Shape 27">
            <a:extLst xmlns:a="http://schemas.openxmlformats.org/drawingml/2006/main">
              <a:ext uri="{FF2B5EF4-FFF2-40B4-BE49-F238E27FC236}">
                <a16:creationId xmlns:a16="http://schemas.microsoft.com/office/drawing/2014/main" id="{AFFCB8C5-32F4-4812-8698-E27DA4387A90}"/>
              </a:ext>
            </a:extLst>
          </p:cNvPr>
          <p:cNvSpPr>
            <a:spLocks xmlns:a="http://schemas.openxmlformats.org/drawingml/2006/main" noGrp="1"/>
          </p:cNvSpPr>
          <p:nvPr/>
        </p:nvSpPr>
        <p:spPr>
          <a:xfrm xmlns:a="http://schemas.openxmlformats.org/drawingml/2006/main">
            <a:off x="3364992" y="3886200"/>
            <a:ext cx="2788920" cy="36576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32" name="Text 28">
            <a:extLst xmlns:a="http://schemas.openxmlformats.org/drawingml/2006/main">
              <a:ext uri="{FF2B5EF4-FFF2-40B4-BE49-F238E27FC236}">
                <a16:creationId xmlns:a16="http://schemas.microsoft.com/office/drawing/2014/main" id="{AF10EC79-35EB-448E-AB77-93B3BC277D25}"/>
              </a:ext>
            </a:extLst>
          </p:cNvPr>
          <p:cNvSpPr>
            <a:spLocks xmlns:a="http://schemas.openxmlformats.org/drawingml/2006/main" noGrp="1"/>
          </p:cNvSpPr>
          <p:nvPr/>
        </p:nvSpPr>
        <p:spPr>
          <a:xfrm xmlns:a="http://schemas.openxmlformats.org/drawingml/2006/main">
            <a:off x="3364992" y="3886200"/>
            <a:ext cx="2788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spc="200">
                <a:solidFill>
                  <a:srgbClr val="FFFFFF"/>
                </a:solidFill>
                <a:latin typeface="Calibri"/>
                <a:ea typeface="Calibri"/>
                <a:cs typeface="Calibri"/>
              </a:rPr>
              <a:t>Process</a:t>
            </a:r>
            <a:endParaRPr sz="1300"/>
          </a:p>
        </p:txBody>
      </p:sp>
      <p:sp>
        <p:nvSpPr>
          <p:cNvPr id="33" name="Text 29">
            <a:extLst xmlns:a="http://schemas.openxmlformats.org/drawingml/2006/main">
              <a:ext uri="{FF2B5EF4-FFF2-40B4-BE49-F238E27FC236}">
                <a16:creationId xmlns:a16="http://schemas.microsoft.com/office/drawing/2014/main" id="{9DC23AC1-6CCA-4DF2-AF01-B3B08C273036}"/>
              </a:ext>
            </a:extLst>
          </p:cNvPr>
          <p:cNvSpPr>
            <a:spLocks xmlns:a="http://schemas.openxmlformats.org/drawingml/2006/main" noGrp="1"/>
          </p:cNvSpPr>
          <p:nvPr/>
        </p:nvSpPr>
        <p:spPr>
          <a:xfrm xmlns:a="http://schemas.openxmlformats.org/drawingml/2006/main">
            <a:off x="3547872" y="4343400"/>
            <a:ext cx="2423160" cy="1737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300"/>
              </a:spcAft>
              <a:buNone/>
            </a:pPr>
            <a:r>
              <a:rPr sz="1100">
                <a:solidFill>
                  <a:srgbClr val="1E293B"/>
                </a:solidFill>
                <a:latin typeface="Consolas"/>
                <a:ea typeface="Consolas"/>
                <a:cs typeface="Consolas"/>
              </a:rPr>
              <a:t>ps aux</a:t>
            </a:r>
            <a:endParaRPr sz="1100"/>
          </a:p>
          <a:p xmlns:a="http://schemas.openxmlformats.org/drawingml/2006/main">
            <a:pPr marL="0" indent="0">
              <a:spcAft>
                <a:spcPts val="300"/>
              </a:spcAft>
              <a:buNone/>
            </a:pPr>
            <a:r>
              <a:rPr sz="1100">
                <a:solidFill>
                  <a:srgbClr val="1E293B"/>
                </a:solidFill>
                <a:latin typeface="Consolas"/>
                <a:ea typeface="Consolas"/>
                <a:cs typeface="Consolas"/>
              </a:rPr>
              <a:t>top / htop</a:t>
            </a:r>
            <a:endParaRPr sz="1100"/>
          </a:p>
          <a:p xmlns:a="http://schemas.openxmlformats.org/drawingml/2006/main">
            <a:pPr marL="0" indent="0">
              <a:spcAft>
                <a:spcPts val="300"/>
              </a:spcAft>
              <a:buNone/>
            </a:pPr>
            <a:r>
              <a:rPr sz="1100">
                <a:solidFill>
                  <a:srgbClr val="1E293B"/>
                </a:solidFill>
                <a:latin typeface="Consolas"/>
                <a:ea typeface="Consolas"/>
                <a:cs typeface="Consolas"/>
              </a:rPr>
              <a:t>kill -9 PID</a:t>
            </a:r>
            <a:endParaRPr sz="1100"/>
          </a:p>
          <a:p xmlns:a="http://schemas.openxmlformats.org/drawingml/2006/main">
            <a:pPr marL="0" indent="0">
              <a:spcAft>
                <a:spcPts val="300"/>
              </a:spcAft>
              <a:buNone/>
            </a:pPr>
            <a:r>
              <a:rPr sz="1100">
                <a:solidFill>
                  <a:srgbClr val="1E293B"/>
                </a:solidFill>
                <a:latin typeface="Consolas"/>
                <a:ea typeface="Consolas"/>
                <a:cs typeface="Consolas"/>
              </a:rPr>
              <a:t>jobs</a:t>
            </a:r>
            <a:endParaRPr sz="1100"/>
          </a:p>
          <a:p xmlns:a="http://schemas.openxmlformats.org/drawingml/2006/main">
            <a:pPr marL="0" indent="0">
              <a:spcAft>
                <a:spcPts val="300"/>
              </a:spcAft>
              <a:buNone/>
            </a:pPr>
            <a:r>
              <a:rPr sz="1100">
                <a:solidFill>
                  <a:srgbClr val="1E293B"/>
                </a:solidFill>
                <a:latin typeface="Consolas"/>
                <a:ea typeface="Consolas"/>
                <a:cs typeface="Consolas"/>
              </a:rPr>
              <a:t>nohup ... &amp;</a:t>
            </a:r>
            <a:endParaRPr sz="1100"/>
          </a:p>
          <a:p xmlns:a="http://schemas.openxmlformats.org/drawingml/2006/main">
            <a:pPr marL="0" indent="0">
              <a:spcAft>
                <a:spcPts val="300"/>
              </a:spcAft>
              <a:buNone/>
            </a:pPr>
            <a:r>
              <a:rPr sz="1100">
                <a:solidFill>
                  <a:srgbClr val="1E293B"/>
                </a:solidFill>
                <a:latin typeface="Consolas"/>
                <a:ea typeface="Consolas"/>
                <a:cs typeface="Consolas"/>
              </a:rPr>
              <a:t>tmux new -s</a:t>
            </a:r>
            <a:endParaRPr sz="1100"/>
          </a:p>
        </p:txBody>
      </p:sp>
      <p:sp>
        <p:nvSpPr>
          <p:cNvPr id="34" name="Shape 30">
            <a:extLst xmlns:a="http://schemas.openxmlformats.org/drawingml/2006/main">
              <a:ext uri="{FF2B5EF4-FFF2-40B4-BE49-F238E27FC236}">
                <a16:creationId xmlns:a16="http://schemas.microsoft.com/office/drawing/2014/main" id="{095BF654-EF2E-4F5D-BBBE-C4CE312137B0}"/>
              </a:ext>
            </a:extLst>
          </p:cNvPr>
          <p:cNvSpPr>
            <a:spLocks xmlns:a="http://schemas.openxmlformats.org/drawingml/2006/main" noGrp="1"/>
          </p:cNvSpPr>
          <p:nvPr/>
        </p:nvSpPr>
        <p:spPr>
          <a:xfrm xmlns:a="http://schemas.openxmlformats.org/drawingml/2006/main">
            <a:off x="6272784" y="3886200"/>
            <a:ext cx="2788920" cy="2286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5" name="Shape 31">
            <a:extLst xmlns:a="http://schemas.openxmlformats.org/drawingml/2006/main">
              <a:ext uri="{FF2B5EF4-FFF2-40B4-BE49-F238E27FC236}">
                <a16:creationId xmlns:a16="http://schemas.microsoft.com/office/drawing/2014/main" id="{498E79B4-8ADE-4AD6-B17C-FB5791B041F7}"/>
              </a:ext>
            </a:extLst>
          </p:cNvPr>
          <p:cNvSpPr>
            <a:spLocks xmlns:a="http://schemas.openxmlformats.org/drawingml/2006/main" noGrp="1"/>
          </p:cNvSpPr>
          <p:nvPr/>
        </p:nvSpPr>
        <p:spPr>
          <a:xfrm xmlns:a="http://schemas.openxmlformats.org/drawingml/2006/main">
            <a:off x="6272784" y="3886200"/>
            <a:ext cx="2788920" cy="365760"/>
          </a:xfrm>
          <a:prstGeom xmlns:a="http://schemas.openxmlformats.org/drawingml/2006/main" prst="rect">
            <a:avLst/>
          </a:prstGeom>
          <a:solidFill xmlns:a="http://schemas.openxmlformats.org/drawingml/2006/main">
            <a:srgbClr val="1E40AF"/>
          </a:solidFill>
          <a:ln xmlns:a="http://schemas.openxmlformats.org/drawingml/2006/main" w="12700">
            <a:solidFill>
              <a:srgbClr val="1E40AF"/>
            </a:solidFill>
            <a:prstDash val="solid"/>
          </a:ln>
        </p:spPr>
      </p:sp>
      <p:sp>
        <p:nvSpPr>
          <p:cNvPr id="36" name="Text 32">
            <a:extLst xmlns:a="http://schemas.openxmlformats.org/drawingml/2006/main">
              <a:ext uri="{FF2B5EF4-FFF2-40B4-BE49-F238E27FC236}">
                <a16:creationId xmlns:a16="http://schemas.microsoft.com/office/drawing/2014/main" id="{34F16FE9-82A4-41CF-816C-E9306945337F}"/>
              </a:ext>
            </a:extLst>
          </p:cNvPr>
          <p:cNvSpPr>
            <a:spLocks xmlns:a="http://schemas.openxmlformats.org/drawingml/2006/main" noGrp="1"/>
          </p:cNvSpPr>
          <p:nvPr/>
        </p:nvSpPr>
        <p:spPr>
          <a:xfrm xmlns:a="http://schemas.openxmlformats.org/drawingml/2006/main">
            <a:off x="6272784" y="3886200"/>
            <a:ext cx="2788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spc="200">
                <a:solidFill>
                  <a:srgbClr val="FFFFFF"/>
                </a:solidFill>
                <a:latin typeface="Calibri"/>
                <a:ea typeface="Calibri"/>
                <a:cs typeface="Calibri"/>
              </a:rPr>
              <a:t>Service</a:t>
            </a:r>
            <a:endParaRPr sz="1300"/>
          </a:p>
        </p:txBody>
      </p:sp>
      <p:sp>
        <p:nvSpPr>
          <p:cNvPr id="37" name="Text 33">
            <a:extLst xmlns:a="http://schemas.openxmlformats.org/drawingml/2006/main">
              <a:ext uri="{FF2B5EF4-FFF2-40B4-BE49-F238E27FC236}">
                <a16:creationId xmlns:a16="http://schemas.microsoft.com/office/drawing/2014/main" id="{6A36A4A0-CDEB-46E7-B7F2-D9959528E97F}"/>
              </a:ext>
            </a:extLst>
          </p:cNvPr>
          <p:cNvSpPr>
            <a:spLocks xmlns:a="http://schemas.openxmlformats.org/drawingml/2006/main" noGrp="1"/>
          </p:cNvSpPr>
          <p:nvPr/>
        </p:nvSpPr>
        <p:spPr>
          <a:xfrm xmlns:a="http://schemas.openxmlformats.org/drawingml/2006/main">
            <a:off x="6455664" y="4343400"/>
            <a:ext cx="2423160" cy="1737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300"/>
              </a:spcAft>
              <a:buNone/>
            </a:pPr>
            <a:r>
              <a:rPr sz="1100">
                <a:solidFill>
                  <a:srgbClr val="1E293B"/>
                </a:solidFill>
                <a:latin typeface="Consolas"/>
                <a:ea typeface="Consolas"/>
                <a:cs typeface="Consolas"/>
              </a:rPr>
              <a:t>systemctl status</a:t>
            </a:r>
            <a:endParaRPr sz="1100"/>
          </a:p>
          <a:p xmlns:a="http://schemas.openxmlformats.org/drawingml/2006/main">
            <a:pPr marL="0" indent="0">
              <a:spcAft>
                <a:spcPts val="300"/>
              </a:spcAft>
              <a:buNone/>
            </a:pPr>
            <a:r>
              <a:rPr sz="1100">
                <a:solidFill>
                  <a:srgbClr val="1E293B"/>
                </a:solidFill>
                <a:latin typeface="Consolas"/>
                <a:ea typeface="Consolas"/>
                <a:cs typeface="Consolas"/>
              </a:rPr>
              <a:t>systemctl restart</a:t>
            </a:r>
            <a:endParaRPr sz="1100"/>
          </a:p>
          <a:p xmlns:a="http://schemas.openxmlformats.org/drawingml/2006/main">
            <a:pPr marL="0" indent="0">
              <a:spcAft>
                <a:spcPts val="300"/>
              </a:spcAft>
              <a:buNone/>
            </a:pPr>
            <a:r>
              <a:rPr sz="1100">
                <a:solidFill>
                  <a:srgbClr val="1E293B"/>
                </a:solidFill>
                <a:latin typeface="Consolas"/>
                <a:ea typeface="Consolas"/>
                <a:cs typeface="Consolas"/>
              </a:rPr>
              <a:t>systemctl enable</a:t>
            </a:r>
            <a:endParaRPr sz="1100"/>
          </a:p>
          <a:p xmlns:a="http://schemas.openxmlformats.org/drawingml/2006/main">
            <a:pPr marL="0" indent="0">
              <a:spcAft>
                <a:spcPts val="300"/>
              </a:spcAft>
              <a:buNone/>
            </a:pPr>
            <a:r>
              <a:rPr sz="1100">
                <a:solidFill>
                  <a:srgbClr val="1E293B"/>
                </a:solidFill>
                <a:latin typeface="Consolas"/>
                <a:ea typeface="Consolas"/>
                <a:cs typeface="Consolas"/>
              </a:rPr>
              <a:t>journalctl -u</a:t>
            </a:r>
            <a:endParaRPr sz="1100"/>
          </a:p>
          <a:p xmlns:a="http://schemas.openxmlformats.org/drawingml/2006/main">
            <a:pPr marL="0" indent="0">
              <a:spcAft>
                <a:spcPts val="300"/>
              </a:spcAft>
              <a:buNone/>
            </a:pPr>
            <a:r>
              <a:rPr sz="1100">
                <a:solidFill>
                  <a:srgbClr val="1E293B"/>
                </a:solidFill>
                <a:latin typeface="Consolas"/>
                <a:ea typeface="Consolas"/>
                <a:cs typeface="Consolas"/>
              </a:rPr>
              <a:t>journalctl -f</a:t>
            </a:r>
            <a:endParaRPr sz="1100"/>
          </a:p>
          <a:p xmlns:a="http://schemas.openxmlformats.org/drawingml/2006/main">
            <a:pPr marL="0" indent="0">
              <a:spcAft>
                <a:spcPts val="300"/>
              </a:spcAft>
              <a:buNone/>
            </a:pPr>
            <a:r>
              <a:rPr sz="1100">
                <a:solidFill>
                  <a:srgbClr val="1E293B"/>
                </a:solidFill>
                <a:latin typeface="Consolas"/>
                <a:ea typeface="Consolas"/>
                <a:cs typeface="Consolas"/>
              </a:rPr>
              <a:t>/var/log/</a:t>
            </a:r>
            <a:endParaRPr sz="1100"/>
          </a:p>
        </p:txBody>
      </p:sp>
      <p:sp>
        <p:nvSpPr>
          <p:cNvPr id="38" name="Shape 34">
            <a:extLst xmlns:a="http://schemas.openxmlformats.org/drawingml/2006/main">
              <a:ext uri="{FF2B5EF4-FFF2-40B4-BE49-F238E27FC236}">
                <a16:creationId xmlns:a16="http://schemas.microsoft.com/office/drawing/2014/main" id="{0B38DE74-A0FB-47AF-89BC-F199112B3868}"/>
              </a:ext>
            </a:extLst>
          </p:cNvPr>
          <p:cNvSpPr>
            <a:spLocks xmlns:a="http://schemas.openxmlformats.org/drawingml/2006/main" noGrp="1"/>
          </p:cNvSpPr>
          <p:nvPr/>
        </p:nvSpPr>
        <p:spPr>
          <a:xfrm xmlns:a="http://schemas.openxmlformats.org/drawingml/2006/main">
            <a:off x="9180576" y="3886200"/>
            <a:ext cx="2788920" cy="2286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9" name="Shape 35">
            <a:extLst xmlns:a="http://schemas.openxmlformats.org/drawingml/2006/main">
              <a:ext uri="{FF2B5EF4-FFF2-40B4-BE49-F238E27FC236}">
                <a16:creationId xmlns:a16="http://schemas.microsoft.com/office/drawing/2014/main" id="{3553BBA6-2E2C-4880-9501-042FB05EDBAB}"/>
              </a:ext>
            </a:extLst>
          </p:cNvPr>
          <p:cNvSpPr>
            <a:spLocks xmlns:a="http://schemas.openxmlformats.org/drawingml/2006/main" noGrp="1"/>
          </p:cNvSpPr>
          <p:nvPr/>
        </p:nvSpPr>
        <p:spPr>
          <a:xfrm xmlns:a="http://schemas.openxmlformats.org/drawingml/2006/main">
            <a:off x="9180576" y="3886200"/>
            <a:ext cx="2788920" cy="36576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40" name="Text 36">
            <a:extLst xmlns:a="http://schemas.openxmlformats.org/drawingml/2006/main">
              <a:ext uri="{FF2B5EF4-FFF2-40B4-BE49-F238E27FC236}">
                <a16:creationId xmlns:a16="http://schemas.microsoft.com/office/drawing/2014/main" id="{BCCFC5F7-BC59-4DE7-BED6-4D42BEFBFD34}"/>
              </a:ext>
            </a:extLst>
          </p:cNvPr>
          <p:cNvSpPr>
            <a:spLocks xmlns:a="http://schemas.openxmlformats.org/drawingml/2006/main" noGrp="1"/>
          </p:cNvSpPr>
          <p:nvPr/>
        </p:nvSpPr>
        <p:spPr>
          <a:xfrm xmlns:a="http://schemas.openxmlformats.org/drawingml/2006/main">
            <a:off x="9180576" y="3886200"/>
            <a:ext cx="2788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spc="200">
                <a:solidFill>
                  <a:srgbClr val="FFFFFF"/>
                </a:solidFill>
                <a:latin typeface="Calibri"/>
                <a:ea typeface="Calibri"/>
                <a:cs typeface="Calibri"/>
              </a:rPr>
              <a:t>Network/SSH</a:t>
            </a:r>
            <a:endParaRPr sz="1300"/>
          </a:p>
        </p:txBody>
      </p:sp>
      <p:sp>
        <p:nvSpPr>
          <p:cNvPr id="41" name="Text 37">
            <a:extLst xmlns:a="http://schemas.openxmlformats.org/drawingml/2006/main">
              <a:ext uri="{FF2B5EF4-FFF2-40B4-BE49-F238E27FC236}">
                <a16:creationId xmlns:a16="http://schemas.microsoft.com/office/drawing/2014/main" id="{E6CA84DA-EDF3-4D3E-A1C3-AE3963769B40}"/>
              </a:ext>
            </a:extLst>
          </p:cNvPr>
          <p:cNvSpPr>
            <a:spLocks xmlns:a="http://schemas.openxmlformats.org/drawingml/2006/main" noGrp="1"/>
          </p:cNvSpPr>
          <p:nvPr/>
        </p:nvSpPr>
        <p:spPr>
          <a:xfrm xmlns:a="http://schemas.openxmlformats.org/drawingml/2006/main">
            <a:off x="9363456" y="4343400"/>
            <a:ext cx="2423160" cy="1737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300"/>
              </a:spcAft>
              <a:buNone/>
            </a:pPr>
            <a:r>
              <a:rPr sz="1100">
                <a:solidFill>
                  <a:srgbClr val="1E293B"/>
                </a:solidFill>
                <a:latin typeface="Consolas"/>
                <a:ea typeface="Consolas"/>
                <a:cs typeface="Consolas"/>
              </a:rPr>
              <a:t>ping -c 3</a:t>
            </a:r>
            <a:endParaRPr sz="1100"/>
          </a:p>
          <a:p xmlns:a="http://schemas.openxmlformats.org/drawingml/2006/main">
            <a:pPr marL="0" indent="0">
              <a:spcAft>
                <a:spcPts val="300"/>
              </a:spcAft>
              <a:buNone/>
            </a:pPr>
            <a:r>
              <a:rPr sz="1100">
                <a:solidFill>
                  <a:srgbClr val="1E293B"/>
                </a:solidFill>
                <a:latin typeface="Consolas"/>
                <a:ea typeface="Consolas"/>
                <a:cs typeface="Consolas"/>
              </a:rPr>
              <a:t>curl -I</a:t>
            </a:r>
            <a:endParaRPr sz="1100"/>
          </a:p>
          <a:p xmlns:a="http://schemas.openxmlformats.org/drawingml/2006/main">
            <a:pPr marL="0" indent="0">
              <a:spcAft>
                <a:spcPts val="300"/>
              </a:spcAft>
              <a:buNone/>
            </a:pPr>
            <a:r>
              <a:rPr sz="1100">
                <a:solidFill>
                  <a:srgbClr val="1E293B"/>
                </a:solidFill>
                <a:latin typeface="Consolas"/>
                <a:ea typeface="Consolas"/>
                <a:cs typeface="Consolas"/>
              </a:rPr>
              <a:t>ss -tulpn</a:t>
            </a:r>
            <a:endParaRPr sz="1100"/>
          </a:p>
          <a:p xmlns:a="http://schemas.openxmlformats.org/drawingml/2006/main">
            <a:pPr marL="0" indent="0">
              <a:spcAft>
                <a:spcPts val="300"/>
              </a:spcAft>
              <a:buNone/>
            </a:pPr>
            <a:r>
              <a:rPr sz="1100">
                <a:solidFill>
                  <a:srgbClr val="1E293B"/>
                </a:solidFill>
                <a:latin typeface="Consolas"/>
                <a:ea typeface="Consolas"/>
                <a:cs typeface="Consolas"/>
              </a:rPr>
              <a:t>ssh user@host</a:t>
            </a:r>
            <a:endParaRPr sz="1100"/>
          </a:p>
          <a:p xmlns:a="http://schemas.openxmlformats.org/drawingml/2006/main">
            <a:pPr marL="0" indent="0">
              <a:spcAft>
                <a:spcPts val="300"/>
              </a:spcAft>
              <a:buNone/>
            </a:pPr>
            <a:r>
              <a:rPr sz="1100">
                <a:solidFill>
                  <a:srgbClr val="1E293B"/>
                </a:solidFill>
                <a:latin typeface="Consolas"/>
                <a:ea typeface="Consolas"/>
                <a:cs typeface="Consolas"/>
              </a:rPr>
              <a:t>scp file host:</a:t>
            </a:r>
            <a:endParaRPr sz="1100"/>
          </a:p>
          <a:p xmlns:a="http://schemas.openxmlformats.org/drawingml/2006/main">
            <a:pPr marL="0" indent="0">
              <a:spcAft>
                <a:spcPts val="300"/>
              </a:spcAft>
              <a:buNone/>
            </a:pPr>
            <a:r>
              <a:rPr sz="1100">
                <a:solidFill>
                  <a:srgbClr val="1E293B"/>
                </a:solidFill>
                <a:latin typeface="Consolas"/>
                <a:ea typeface="Consolas"/>
                <a:cs typeface="Consolas"/>
              </a:rPr>
              <a:t>ssh-keygen</a:t>
            </a:r>
            <a:endParaRPr sz="1100"/>
          </a:p>
        </p:txBody>
      </p:sp>
    </p:spTree>
    <p:extLst>
      <p:ext uri="{BB962C8B-B14F-4D97-AF65-F5344CB8AC3E}">
        <p14:creationId xmlns:p14="http://schemas.microsoft.com/office/powerpoint/2010/main" val="173175878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60DE075-56D4-40FD-B43C-726571DA0663}"/>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2</a:t>
            </a:r>
            <a:endParaRPr sz="900"/>
          </a:p>
        </p:txBody>
      </p:sp>
      <p:sp>
        <p:nvSpPr>
          <p:cNvPr id="3" name="Text 1">
            <a:extLst xmlns:a="http://schemas.openxmlformats.org/drawingml/2006/main">
              <a:ext uri="{FF2B5EF4-FFF2-40B4-BE49-F238E27FC236}">
                <a16:creationId xmlns:a16="http://schemas.microsoft.com/office/drawing/2014/main" id="{970CEC33-798F-4142-BE3C-D3056532AAD1}"/>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31</a:t>
            </a:r>
            <a:endParaRPr sz="900"/>
          </a:p>
        </p:txBody>
      </p:sp>
      <p:sp>
        <p:nvSpPr>
          <p:cNvPr id="4" name="Shape 2">
            <a:extLst xmlns:a="http://schemas.openxmlformats.org/drawingml/2006/main">
              <a:ext uri="{FF2B5EF4-FFF2-40B4-BE49-F238E27FC236}">
                <a16:creationId xmlns:a16="http://schemas.microsoft.com/office/drawing/2014/main" id="{F6F7DDE2-CA2F-49E0-9878-999922C4A27F}"/>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53" name="Image 0"/>
          <p:cNvPicPr>
            <a:picLocks xmlns:a="http://schemas.openxmlformats.org/drawingml/2006/main" noChangeAspect="1"/>
          </p:cNvPicPr>
          <p:nvPr/>
        </p:nvPicPr>
        <p:blipFill>
          <a:blip xmlns:r="http://schemas.openxmlformats.org/officeDocument/2006/relationships" xmlns:a="http://schemas.openxmlformats.org/drawingml/2006/main" r:embed="R18b22bd60ec54dbe"/>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54" name="Image 1"/>
          <p:cNvPicPr>
            <a:picLocks xmlns:a="http://schemas.openxmlformats.org/drawingml/2006/main" noChangeAspect="1"/>
          </p:cNvPicPr>
          <p:nvPr/>
        </p:nvPicPr>
        <p:blipFill>
          <a:blip xmlns:r="http://schemas.openxmlformats.org/officeDocument/2006/relationships" xmlns:a="http://schemas.openxmlformats.org/drawingml/2006/main" r:embed="R17a7c6ae207d40e9"/>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AEC5FA50-75AD-4D12-9239-B517B731EB88}"/>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0447A8FC-834A-4665-9DA3-0910BB5B10CB}"/>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Wrap-Up &amp; Praktikum 2</a:t>
            </a:r>
            <a:endParaRPr sz="2200"/>
          </a:p>
        </p:txBody>
      </p:sp>
      <p:sp>
        <p:nvSpPr>
          <p:cNvPr id="9" name="Text 5">
            <a:extLst xmlns:a="http://schemas.openxmlformats.org/drawingml/2006/main">
              <a:ext uri="{FF2B5EF4-FFF2-40B4-BE49-F238E27FC236}">
                <a16:creationId xmlns:a16="http://schemas.microsoft.com/office/drawing/2014/main" id="{7E23B2DB-E74B-4786-85F2-EE6FAF898F94}"/>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Networking &amp; Web Services minggu depan</a:t>
            </a:r>
            <a:endParaRPr sz="1200"/>
          </a:p>
        </p:txBody>
      </p:sp>
      <p:sp>
        <p:nvSpPr>
          <p:cNvPr id="10" name="Text 6">
            <a:extLst xmlns:a="http://schemas.openxmlformats.org/drawingml/2006/main">
              <a:ext uri="{FF2B5EF4-FFF2-40B4-BE49-F238E27FC236}">
                <a16:creationId xmlns:a16="http://schemas.microsoft.com/office/drawing/2014/main" id="{F52A77E8-AC08-449D-8200-E50A153AB58A}"/>
              </a:ext>
            </a:extLst>
          </p:cNvPr>
          <p:cNvSpPr>
            <a:spLocks xmlns:a="http://schemas.openxmlformats.org/drawingml/2006/main" noGrp="1"/>
          </p:cNvSpPr>
          <p:nvPr/>
        </p:nvSpPr>
        <p:spPr>
          <a:xfrm xmlns:a="http://schemas.openxmlformats.org/drawingml/2006/main">
            <a:off x="457200" y="1417320"/>
            <a:ext cx="5486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002677"/>
                </a:solidFill>
                <a:latin typeface="Calibri"/>
                <a:ea typeface="Calibri"/>
                <a:cs typeface="Calibri"/>
              </a:rPr>
              <a:t>Key Takeaways Hari Ini</a:t>
            </a:r>
            <a:endParaRPr sz="1600"/>
          </a:p>
        </p:txBody>
      </p:sp>
      <p:sp>
        <p:nvSpPr>
          <p:cNvPr id="11" name="Shape 7">
            <a:extLst xmlns:a="http://schemas.openxmlformats.org/drawingml/2006/main">
              <a:ext uri="{FF2B5EF4-FFF2-40B4-BE49-F238E27FC236}">
                <a16:creationId xmlns:a16="http://schemas.microsoft.com/office/drawing/2014/main" id="{7BFCCA9D-31DC-4442-ADCD-AE999421C1D6}"/>
              </a:ext>
            </a:extLst>
          </p:cNvPr>
          <p:cNvSpPr>
            <a:spLocks xmlns:a="http://schemas.openxmlformats.org/drawingml/2006/main" noGrp="1"/>
          </p:cNvSpPr>
          <p:nvPr/>
        </p:nvSpPr>
        <p:spPr>
          <a:xfrm xmlns:a="http://schemas.openxmlformats.org/drawingml/2006/main">
            <a:off x="457200" y="1920240"/>
            <a:ext cx="320040" cy="32004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12" name="Text 8">
            <a:extLst xmlns:a="http://schemas.openxmlformats.org/drawingml/2006/main">
              <a:ext uri="{FF2B5EF4-FFF2-40B4-BE49-F238E27FC236}">
                <a16:creationId xmlns:a16="http://schemas.microsoft.com/office/drawing/2014/main" id="{34546391-5293-43B5-AC02-5105A92A4834}"/>
              </a:ext>
            </a:extLst>
          </p:cNvPr>
          <p:cNvSpPr>
            <a:spLocks xmlns:a="http://schemas.openxmlformats.org/drawingml/2006/main" noGrp="1"/>
          </p:cNvSpPr>
          <p:nvPr/>
        </p:nvSpPr>
        <p:spPr>
          <a:xfrm xmlns:a="http://schemas.openxmlformats.org/drawingml/2006/main">
            <a:off x="457200" y="1920240"/>
            <a:ext cx="320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1</a:t>
            </a:r>
            <a:endParaRPr sz="1200"/>
          </a:p>
        </p:txBody>
      </p:sp>
      <p:sp>
        <p:nvSpPr>
          <p:cNvPr id="13" name="Text 9">
            <a:extLst xmlns:a="http://schemas.openxmlformats.org/drawingml/2006/main">
              <a:ext uri="{FF2B5EF4-FFF2-40B4-BE49-F238E27FC236}">
                <a16:creationId xmlns:a16="http://schemas.microsoft.com/office/drawing/2014/main" id="{71373D25-05FB-493A-8DDE-CA7BD864A67F}"/>
              </a:ext>
            </a:extLst>
          </p:cNvPr>
          <p:cNvSpPr>
            <a:spLocks xmlns:a="http://schemas.openxmlformats.org/drawingml/2006/main" noGrp="1"/>
          </p:cNvSpPr>
          <p:nvPr/>
        </p:nvSpPr>
        <p:spPr>
          <a:xfrm xmlns:a="http://schemas.openxmlformats.org/drawingml/2006/main">
            <a:off x="914400" y="1874520"/>
            <a:ext cx="5120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Linux = standar industri server cloud (</a:t>
            </a:r>
            <a:r>
              <a:rPr sz="1100">
                <a:solidFill>
                  <a:srgbClr val="1E293B"/>
                </a:solidFill>
                <a:latin typeface="Calibri"/>
                <a:ea typeface="Calibri"/>
                <a:cs typeface="Calibri"/>
              </a:rPr>
              <a:t>Linux banyak dipakai pada server cloud</a:t>
            </a:r>
            <a:r>
              <a:rPr sz="1100">
                <a:solidFill>
                  <a:srgbClr val="1E293B"/>
                </a:solidFill>
                <a:latin typeface="Calibri"/>
                <a:ea typeface="Calibri"/>
                <a:cs typeface="Calibri"/>
              </a:rPr>
              <a:t>)</a:t>
            </a:r>
            <a:endParaRPr sz="1100"/>
          </a:p>
        </p:txBody>
      </p:sp>
      <p:sp>
        <p:nvSpPr>
          <p:cNvPr id="14" name="Shape 10">
            <a:extLst xmlns:a="http://schemas.openxmlformats.org/drawingml/2006/main">
              <a:ext uri="{FF2B5EF4-FFF2-40B4-BE49-F238E27FC236}">
                <a16:creationId xmlns:a16="http://schemas.microsoft.com/office/drawing/2014/main" id="{6F953D23-CFCE-4DD2-9029-BCE71A0843EB}"/>
              </a:ext>
            </a:extLst>
          </p:cNvPr>
          <p:cNvSpPr>
            <a:spLocks xmlns:a="http://schemas.openxmlformats.org/drawingml/2006/main" noGrp="1"/>
          </p:cNvSpPr>
          <p:nvPr/>
        </p:nvSpPr>
        <p:spPr>
          <a:xfrm xmlns:a="http://schemas.openxmlformats.org/drawingml/2006/main">
            <a:off x="457200" y="2423160"/>
            <a:ext cx="320040" cy="32004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15" name="Text 11">
            <a:extLst xmlns:a="http://schemas.openxmlformats.org/drawingml/2006/main">
              <a:ext uri="{FF2B5EF4-FFF2-40B4-BE49-F238E27FC236}">
                <a16:creationId xmlns:a16="http://schemas.microsoft.com/office/drawing/2014/main" id="{A1098435-194A-4A4C-BF3E-B33B479003D0}"/>
              </a:ext>
            </a:extLst>
          </p:cNvPr>
          <p:cNvSpPr>
            <a:spLocks xmlns:a="http://schemas.openxmlformats.org/drawingml/2006/main" noGrp="1"/>
          </p:cNvSpPr>
          <p:nvPr/>
        </p:nvSpPr>
        <p:spPr>
          <a:xfrm xmlns:a="http://schemas.openxmlformats.org/drawingml/2006/main">
            <a:off x="457200" y="2423160"/>
            <a:ext cx="320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2</a:t>
            </a:r>
            <a:endParaRPr sz="1200"/>
          </a:p>
        </p:txBody>
      </p:sp>
      <p:sp>
        <p:nvSpPr>
          <p:cNvPr id="16" name="Text 12">
            <a:extLst xmlns:a="http://schemas.openxmlformats.org/drawingml/2006/main">
              <a:ext uri="{FF2B5EF4-FFF2-40B4-BE49-F238E27FC236}">
                <a16:creationId xmlns:a16="http://schemas.microsoft.com/office/drawing/2014/main" id="{15DDEF6A-82D2-4565-9C5E-12FEAD88C5B9}"/>
              </a:ext>
            </a:extLst>
          </p:cNvPr>
          <p:cNvSpPr>
            <a:spLocks xmlns:a="http://schemas.openxmlformats.org/drawingml/2006/main" noGrp="1"/>
          </p:cNvSpPr>
          <p:nvPr/>
        </p:nvSpPr>
        <p:spPr>
          <a:xfrm xmlns:a="http://schemas.openxmlformats.org/drawingml/2006/main">
            <a:off x="914400" y="2377440"/>
            <a:ext cx="5120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Filesystem dimulai dari /, navigasi pakai cd/ls/pwd</a:t>
            </a:r>
            <a:endParaRPr sz="1100"/>
          </a:p>
        </p:txBody>
      </p:sp>
      <p:sp>
        <p:nvSpPr>
          <p:cNvPr id="17" name="Shape 13">
            <a:extLst xmlns:a="http://schemas.openxmlformats.org/drawingml/2006/main">
              <a:ext uri="{FF2B5EF4-FFF2-40B4-BE49-F238E27FC236}">
                <a16:creationId xmlns:a16="http://schemas.microsoft.com/office/drawing/2014/main" id="{CA4F8F33-C4B9-4A9A-A8B9-C2ECFA8AE79E}"/>
              </a:ext>
            </a:extLst>
          </p:cNvPr>
          <p:cNvSpPr>
            <a:spLocks xmlns:a="http://schemas.openxmlformats.org/drawingml/2006/main" noGrp="1"/>
          </p:cNvSpPr>
          <p:nvPr/>
        </p:nvSpPr>
        <p:spPr>
          <a:xfrm xmlns:a="http://schemas.openxmlformats.org/drawingml/2006/main">
            <a:off x="457200" y="2926080"/>
            <a:ext cx="320040" cy="32004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18" name="Text 14">
            <a:extLst xmlns:a="http://schemas.openxmlformats.org/drawingml/2006/main">
              <a:ext uri="{FF2B5EF4-FFF2-40B4-BE49-F238E27FC236}">
                <a16:creationId xmlns:a16="http://schemas.microsoft.com/office/drawing/2014/main" id="{4BC32A50-5A3E-47B8-A953-6AF433813A11}"/>
              </a:ext>
            </a:extLst>
          </p:cNvPr>
          <p:cNvSpPr>
            <a:spLocks xmlns:a="http://schemas.openxmlformats.org/drawingml/2006/main" noGrp="1"/>
          </p:cNvSpPr>
          <p:nvPr/>
        </p:nvSpPr>
        <p:spPr>
          <a:xfrm xmlns:a="http://schemas.openxmlformats.org/drawingml/2006/main">
            <a:off x="457200" y="2926080"/>
            <a:ext cx="320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3</a:t>
            </a:r>
            <a:endParaRPr sz="1200"/>
          </a:p>
        </p:txBody>
      </p:sp>
      <p:sp>
        <p:nvSpPr>
          <p:cNvPr id="19" name="Text 15">
            <a:extLst xmlns:a="http://schemas.openxmlformats.org/drawingml/2006/main">
              <a:ext uri="{FF2B5EF4-FFF2-40B4-BE49-F238E27FC236}">
                <a16:creationId xmlns:a16="http://schemas.microsoft.com/office/drawing/2014/main" id="{CBD1BA70-2181-4063-93AD-31169B732F54}"/>
              </a:ext>
            </a:extLst>
          </p:cNvPr>
          <p:cNvSpPr>
            <a:spLocks xmlns:a="http://schemas.openxmlformats.org/drawingml/2006/main" noGrp="1"/>
          </p:cNvSpPr>
          <p:nvPr/>
        </p:nvSpPr>
        <p:spPr>
          <a:xfrm xmlns:a="http://schemas.openxmlformats.org/drawingml/2006/main">
            <a:off x="914400" y="2880360"/>
            <a:ext cx="5120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Pipes &amp; redirects = senjata utama (| &gt; &gt;&gt; 2&gt;)</a:t>
            </a:r>
            <a:endParaRPr sz="1100"/>
          </a:p>
        </p:txBody>
      </p:sp>
      <p:sp>
        <p:nvSpPr>
          <p:cNvPr id="20" name="Shape 16">
            <a:extLst xmlns:a="http://schemas.openxmlformats.org/drawingml/2006/main">
              <a:ext uri="{FF2B5EF4-FFF2-40B4-BE49-F238E27FC236}">
                <a16:creationId xmlns:a16="http://schemas.microsoft.com/office/drawing/2014/main" id="{C50A05F7-52F9-4DC9-A996-FC04E9CA0796}"/>
              </a:ext>
            </a:extLst>
          </p:cNvPr>
          <p:cNvSpPr>
            <a:spLocks xmlns:a="http://schemas.openxmlformats.org/drawingml/2006/main" noGrp="1"/>
          </p:cNvSpPr>
          <p:nvPr/>
        </p:nvSpPr>
        <p:spPr>
          <a:xfrm xmlns:a="http://schemas.openxmlformats.org/drawingml/2006/main">
            <a:off x="457200" y="3429000"/>
            <a:ext cx="320040" cy="32004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21" name="Text 17">
            <a:extLst xmlns:a="http://schemas.openxmlformats.org/drawingml/2006/main">
              <a:ext uri="{FF2B5EF4-FFF2-40B4-BE49-F238E27FC236}">
                <a16:creationId xmlns:a16="http://schemas.microsoft.com/office/drawing/2014/main" id="{69C60AFE-27A6-4DBB-BD1C-1E6C4BAF0EA4}"/>
              </a:ext>
            </a:extLst>
          </p:cNvPr>
          <p:cNvSpPr>
            <a:spLocks xmlns:a="http://schemas.openxmlformats.org/drawingml/2006/main" noGrp="1"/>
          </p:cNvSpPr>
          <p:nvPr/>
        </p:nvSpPr>
        <p:spPr>
          <a:xfrm xmlns:a="http://schemas.openxmlformats.org/drawingml/2006/main">
            <a:off x="457200" y="3429000"/>
            <a:ext cx="320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4</a:t>
            </a:r>
            <a:endParaRPr sz="1200"/>
          </a:p>
        </p:txBody>
      </p:sp>
      <p:sp>
        <p:nvSpPr>
          <p:cNvPr id="22" name="Text 18">
            <a:extLst xmlns:a="http://schemas.openxmlformats.org/drawingml/2006/main">
              <a:ext uri="{FF2B5EF4-FFF2-40B4-BE49-F238E27FC236}">
                <a16:creationId xmlns:a16="http://schemas.microsoft.com/office/drawing/2014/main" id="{A0B23393-C167-47FB-B841-7D751CB873C0}"/>
              </a:ext>
            </a:extLst>
          </p:cNvPr>
          <p:cNvSpPr>
            <a:spLocks xmlns:a="http://schemas.openxmlformats.org/drawingml/2006/main" noGrp="1"/>
          </p:cNvSpPr>
          <p:nvPr/>
        </p:nvSpPr>
        <p:spPr>
          <a:xfrm xmlns:a="http://schemas.openxmlformats.org/drawingml/2006/main">
            <a:off x="914400" y="3383280"/>
            <a:ext cx="5120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Permission rwx + chmod numeric (755, 644, 600)</a:t>
            </a:r>
            <a:endParaRPr sz="1100"/>
          </a:p>
        </p:txBody>
      </p:sp>
      <p:sp>
        <p:nvSpPr>
          <p:cNvPr id="23" name="Shape 19">
            <a:extLst xmlns:a="http://schemas.openxmlformats.org/drawingml/2006/main">
              <a:ext uri="{FF2B5EF4-FFF2-40B4-BE49-F238E27FC236}">
                <a16:creationId xmlns:a16="http://schemas.microsoft.com/office/drawing/2014/main" id="{E8B01D84-65ED-4AA6-B4C3-F75C525A4A57}"/>
              </a:ext>
            </a:extLst>
          </p:cNvPr>
          <p:cNvSpPr>
            <a:spLocks xmlns:a="http://schemas.openxmlformats.org/drawingml/2006/main" noGrp="1"/>
          </p:cNvSpPr>
          <p:nvPr/>
        </p:nvSpPr>
        <p:spPr>
          <a:xfrm xmlns:a="http://schemas.openxmlformats.org/drawingml/2006/main">
            <a:off x="457200" y="3931920"/>
            <a:ext cx="320040" cy="32004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24" name="Text 20">
            <a:extLst xmlns:a="http://schemas.openxmlformats.org/drawingml/2006/main">
              <a:ext uri="{FF2B5EF4-FFF2-40B4-BE49-F238E27FC236}">
                <a16:creationId xmlns:a16="http://schemas.microsoft.com/office/drawing/2014/main" id="{E05F79F3-2D0D-4D40-A439-FC56DC9FFBAA}"/>
              </a:ext>
            </a:extLst>
          </p:cNvPr>
          <p:cNvSpPr>
            <a:spLocks xmlns:a="http://schemas.openxmlformats.org/drawingml/2006/main" noGrp="1"/>
          </p:cNvSpPr>
          <p:nvPr/>
        </p:nvSpPr>
        <p:spPr>
          <a:xfrm xmlns:a="http://schemas.openxmlformats.org/drawingml/2006/main">
            <a:off x="457200" y="3931920"/>
            <a:ext cx="320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5</a:t>
            </a:r>
            <a:endParaRPr sz="1200"/>
          </a:p>
        </p:txBody>
      </p:sp>
      <p:sp>
        <p:nvSpPr>
          <p:cNvPr id="25" name="Text 21">
            <a:extLst xmlns:a="http://schemas.openxmlformats.org/drawingml/2006/main">
              <a:ext uri="{FF2B5EF4-FFF2-40B4-BE49-F238E27FC236}">
                <a16:creationId xmlns:a16="http://schemas.microsoft.com/office/drawing/2014/main" id="{90B08F7B-E3F0-4481-B698-92542BEEB1C7}"/>
              </a:ext>
            </a:extLst>
          </p:cNvPr>
          <p:cNvSpPr>
            <a:spLocks xmlns:a="http://schemas.openxmlformats.org/drawingml/2006/main" noGrp="1"/>
          </p:cNvSpPr>
          <p:nvPr/>
        </p:nvSpPr>
        <p:spPr>
          <a:xfrm xmlns:a="http://schemas.openxmlformats.org/drawingml/2006/main">
            <a:off x="914400" y="3886200"/>
            <a:ext cx="5120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systemctl untuk service, journalctl untuk log</a:t>
            </a:r>
            <a:endParaRPr sz="1100"/>
          </a:p>
        </p:txBody>
      </p:sp>
      <p:sp>
        <p:nvSpPr>
          <p:cNvPr id="26" name="Shape 22">
            <a:extLst xmlns:a="http://schemas.openxmlformats.org/drawingml/2006/main">
              <a:ext uri="{FF2B5EF4-FFF2-40B4-BE49-F238E27FC236}">
                <a16:creationId xmlns:a16="http://schemas.microsoft.com/office/drawing/2014/main" id="{AD3536D5-7951-476E-A479-9297FA867A74}"/>
              </a:ext>
            </a:extLst>
          </p:cNvPr>
          <p:cNvSpPr>
            <a:spLocks xmlns:a="http://schemas.openxmlformats.org/drawingml/2006/main" noGrp="1"/>
          </p:cNvSpPr>
          <p:nvPr/>
        </p:nvSpPr>
        <p:spPr>
          <a:xfrm xmlns:a="http://schemas.openxmlformats.org/drawingml/2006/main">
            <a:off x="457200" y="4434840"/>
            <a:ext cx="320040" cy="32004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27" name="Text 23">
            <a:extLst xmlns:a="http://schemas.openxmlformats.org/drawingml/2006/main">
              <a:ext uri="{FF2B5EF4-FFF2-40B4-BE49-F238E27FC236}">
                <a16:creationId xmlns:a16="http://schemas.microsoft.com/office/drawing/2014/main" id="{64AD5989-C597-4E20-9DB9-466E39E621BD}"/>
              </a:ext>
            </a:extLst>
          </p:cNvPr>
          <p:cNvSpPr>
            <a:spLocks xmlns:a="http://schemas.openxmlformats.org/drawingml/2006/main" noGrp="1"/>
          </p:cNvSpPr>
          <p:nvPr/>
        </p:nvSpPr>
        <p:spPr>
          <a:xfrm xmlns:a="http://schemas.openxmlformats.org/drawingml/2006/main">
            <a:off x="457200" y="4434840"/>
            <a:ext cx="320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6</a:t>
            </a:r>
            <a:endParaRPr sz="1200"/>
          </a:p>
        </p:txBody>
      </p:sp>
      <p:sp>
        <p:nvSpPr>
          <p:cNvPr id="28" name="Text 24">
            <a:extLst xmlns:a="http://schemas.openxmlformats.org/drawingml/2006/main">
              <a:ext uri="{FF2B5EF4-FFF2-40B4-BE49-F238E27FC236}">
                <a16:creationId xmlns:a16="http://schemas.microsoft.com/office/drawing/2014/main" id="{C62C6071-B331-484B-9338-83489F8E60E1}"/>
              </a:ext>
            </a:extLst>
          </p:cNvPr>
          <p:cNvSpPr>
            <a:spLocks xmlns:a="http://schemas.openxmlformats.org/drawingml/2006/main" noGrp="1"/>
          </p:cNvSpPr>
          <p:nvPr/>
        </p:nvSpPr>
        <p:spPr>
          <a:xfrm xmlns:a="http://schemas.openxmlformats.org/drawingml/2006/main">
            <a:off x="914400" y="4389120"/>
            <a:ext cx="5120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SSH key authentication wajib - jangan pakai password</a:t>
            </a:r>
            <a:endParaRPr sz="1100"/>
          </a:p>
        </p:txBody>
      </p:sp>
      <p:sp>
        <p:nvSpPr>
          <p:cNvPr id="29" name="Shape 25">
            <a:extLst xmlns:a="http://schemas.openxmlformats.org/drawingml/2006/main">
              <a:ext uri="{FF2B5EF4-FFF2-40B4-BE49-F238E27FC236}">
                <a16:creationId xmlns:a16="http://schemas.microsoft.com/office/drawing/2014/main" id="{0A0C5CFD-9A4A-4B28-9C23-089C41CF4414}"/>
              </a:ext>
            </a:extLst>
          </p:cNvPr>
          <p:cNvSpPr>
            <a:spLocks xmlns:a="http://schemas.openxmlformats.org/drawingml/2006/main" noGrp="1"/>
          </p:cNvSpPr>
          <p:nvPr/>
        </p:nvSpPr>
        <p:spPr>
          <a:xfrm xmlns:a="http://schemas.openxmlformats.org/drawingml/2006/main">
            <a:off x="6217920" y="1417320"/>
            <a:ext cx="5486400" cy="210312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pic>
        <p:nvPicPr>
          <p:cNvPr id="78" name="Image 2"/>
          <p:cNvPicPr>
            <a:picLocks xmlns:a="http://schemas.openxmlformats.org/drawingml/2006/main" noChangeAspect="1"/>
          </p:cNvPicPr>
          <p:nvPr/>
        </p:nvPicPr>
        <p:blipFill>
          <a:blip xmlns:r="http://schemas.openxmlformats.org/officeDocument/2006/relationships" xmlns:a="http://schemas.openxmlformats.org/drawingml/2006/main" r:embed="Rc55043918ced4fcb"/>
          <a:stretch xmlns:a="http://schemas.openxmlformats.org/drawingml/2006/main">
            <a:fillRect l="0" t="0" r="0" b="0"/>
          </a:stretch>
        </p:blipFill>
        <p:spPr>
          <a:xfrm xmlns:a="http://schemas.openxmlformats.org/drawingml/2006/main">
            <a:off x="6400800" y="1554480"/>
            <a:ext cx="457200" cy="457200"/>
          </a:xfrm>
          <a:prstGeom xmlns:a="http://schemas.openxmlformats.org/drawingml/2006/main" prst="rect">
            <a:avLst/>
          </a:prstGeom>
        </p:spPr>
      </p:pic>
      <p:sp>
        <p:nvSpPr>
          <p:cNvPr id="31" name="Text 26">
            <a:extLst xmlns:a="http://schemas.openxmlformats.org/drawingml/2006/main">
              <a:ext uri="{FF2B5EF4-FFF2-40B4-BE49-F238E27FC236}">
                <a16:creationId xmlns:a16="http://schemas.microsoft.com/office/drawing/2014/main" id="{FA21C4DA-5E4E-40DA-B5DD-BF655756DA7D}"/>
              </a:ext>
            </a:extLst>
          </p:cNvPr>
          <p:cNvSpPr>
            <a:spLocks xmlns:a="http://schemas.openxmlformats.org/drawingml/2006/main" noGrp="1"/>
          </p:cNvSpPr>
          <p:nvPr/>
        </p:nvSpPr>
        <p:spPr>
          <a:xfrm xmlns:a="http://schemas.openxmlformats.org/drawingml/2006/main">
            <a:off x="6949440" y="1554480"/>
            <a:ext cx="4572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300">
                <a:solidFill>
                  <a:srgbClr val="F37021"/>
                </a:solidFill>
                <a:latin typeface="Calibri"/>
                <a:ea typeface="Calibri"/>
                <a:cs typeface="Calibri"/>
              </a:rPr>
              <a:t>PRAKTIKUM 2 - LATIHAN SESI INI</a:t>
            </a:r>
            <a:endParaRPr sz="1100"/>
          </a:p>
        </p:txBody>
      </p:sp>
      <p:sp>
        <p:nvSpPr>
          <p:cNvPr id="32" name="Text 27">
            <a:extLst xmlns:a="http://schemas.openxmlformats.org/drawingml/2006/main">
              <a:ext uri="{FF2B5EF4-FFF2-40B4-BE49-F238E27FC236}">
                <a16:creationId xmlns:a16="http://schemas.microsoft.com/office/drawing/2014/main" id="{4C6D4B3E-44C8-48CB-BA07-FBE957FC49E4}"/>
              </a:ext>
            </a:extLst>
          </p:cNvPr>
          <p:cNvSpPr>
            <a:spLocks xmlns:a="http://schemas.openxmlformats.org/drawingml/2006/main" noGrp="1"/>
          </p:cNvSpPr>
          <p:nvPr/>
        </p:nvSpPr>
        <p:spPr>
          <a:xfrm xmlns:a="http://schemas.openxmlformats.org/drawingml/2006/main">
            <a:off x="6400800" y="2011680"/>
            <a:ext cx="521208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Setup Linux env + bash basics</a:t>
            </a:r>
            <a:endParaRPr sz="1300"/>
          </a:p>
        </p:txBody>
      </p:sp>
      <p:sp>
        <p:nvSpPr>
          <p:cNvPr id="33" name="Text 28">
            <a:extLst xmlns:a="http://schemas.openxmlformats.org/drawingml/2006/main">
              <a:ext uri="{FF2B5EF4-FFF2-40B4-BE49-F238E27FC236}">
                <a16:creationId xmlns:a16="http://schemas.microsoft.com/office/drawing/2014/main" id="{99A1D868-6B0F-4B94-B063-4299702BF376}"/>
              </a:ext>
            </a:extLst>
          </p:cNvPr>
          <p:cNvSpPr>
            <a:spLocks xmlns:a="http://schemas.openxmlformats.org/drawingml/2006/main" noGrp="1"/>
          </p:cNvSpPr>
          <p:nvPr/>
        </p:nvSpPr>
        <p:spPr>
          <a:xfrm xmlns:a="http://schemas.openxmlformats.org/drawingml/2006/main">
            <a:off x="6537960" y="2377440"/>
            <a:ext cx="5120640" cy="1097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300"/>
              </a:spcAft>
              <a:buSzPct val="100000"/>
              <a:buChar char="▸"/>
            </a:pPr>
            <a:r>
              <a:rPr sz="1050">
                <a:solidFill>
                  <a:srgbClr val="FFFFFF"/>
                </a:solidFill>
                <a:latin typeface="Calibri"/>
                <a:ea typeface="Calibri"/>
                <a:cs typeface="Calibri"/>
              </a:rPr>
              <a:t>Install WSL2 (Windows) atau pastikan Linux/macOS siap</a:t>
            </a:r>
            <a:endParaRPr sz="1050"/>
          </a:p>
          <a:p xmlns:a="http://schemas.openxmlformats.org/drawingml/2006/main">
            <a:pPr marL="342900" indent="-342900">
              <a:spcAft>
                <a:spcPts val="300"/>
              </a:spcAft>
              <a:buSzPct val="100000"/>
              <a:buChar char="▸"/>
            </a:pPr>
            <a:r>
              <a:rPr sz="1050">
                <a:solidFill>
                  <a:srgbClr val="FFFFFF"/>
                </a:solidFill>
                <a:latin typeface="Calibri"/>
                <a:ea typeface="Calibri"/>
                <a:cs typeface="Calibri"/>
              </a:rPr>
              <a:t>Pakai WSL/macOS/Linux atau GitHub Codespaces</a:t>
            </a:r>
            <a:endParaRPr sz="1050"/>
          </a:p>
          <a:p xmlns:a="http://schemas.openxmlformats.org/drawingml/2006/main">
            <a:pPr marL="342900" indent="-342900">
              <a:spcAft>
                <a:spcPts val="300"/>
              </a:spcAft>
              <a:buSzPct val="100000"/>
              <a:buChar char="▸"/>
            </a:pPr>
            <a:r>
              <a:rPr sz="1050">
                <a:solidFill>
                  <a:srgbClr val="FFFFFF"/>
                </a:solidFill>
                <a:latin typeface="Calibri"/>
                <a:ea typeface="Calibri"/>
                <a:cs typeface="Calibri"/>
              </a:rPr>
              <a:t>Coba path, pipe, redirection, dan permission di repo Lab 02</a:t>
            </a:r>
            <a:endParaRPr sz="1050"/>
          </a:p>
          <a:p xmlns:a="http://schemas.openxmlformats.org/drawingml/2006/main">
            <a:pPr marL="342900" indent="-342900">
              <a:spcAft>
                <a:spcPts val="300"/>
              </a:spcAft>
              <a:buSzPct val="100000"/>
              <a:buChar char="▸"/>
            </a:pPr>
            <a:r>
              <a:rPr sz="1050">
                <a:solidFill>
                  <a:srgbClr val="FFFFFF"/>
                </a:solidFill>
                <a:latin typeface="Calibri"/>
                <a:ea typeface="Calibri"/>
                <a:cs typeface="Calibri"/>
              </a:rPr>
              <a:t>Try-out 20 command yang dibahas hari ini di terminal</a:t>
            </a:r>
            <a:endParaRPr sz="1050"/>
          </a:p>
        </p:txBody>
      </p:sp>
      <p:sp>
        <p:nvSpPr>
          <p:cNvPr id="34" name="Shape 29">
            <a:extLst xmlns:a="http://schemas.openxmlformats.org/drawingml/2006/main">
              <a:ext uri="{FF2B5EF4-FFF2-40B4-BE49-F238E27FC236}">
                <a16:creationId xmlns:a16="http://schemas.microsoft.com/office/drawing/2014/main" id="{544AF3F9-92E0-4194-9B4B-F3C606F388A8}"/>
              </a:ext>
            </a:extLst>
          </p:cNvPr>
          <p:cNvSpPr>
            <a:spLocks xmlns:a="http://schemas.openxmlformats.org/drawingml/2006/main" noGrp="1"/>
          </p:cNvSpPr>
          <p:nvPr/>
        </p:nvSpPr>
        <p:spPr>
          <a:xfrm xmlns:a="http://schemas.openxmlformats.org/drawingml/2006/main">
            <a:off x="6217920" y="3657600"/>
            <a:ext cx="5486400" cy="164592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83" name="Image 3"/>
          <p:cNvPicPr>
            <a:picLocks xmlns:a="http://schemas.openxmlformats.org/drawingml/2006/main" noChangeAspect="1"/>
          </p:cNvPicPr>
          <p:nvPr/>
        </p:nvPicPr>
        <p:blipFill>
          <a:blip xmlns:r="http://schemas.openxmlformats.org/officeDocument/2006/relationships" xmlns:a="http://schemas.openxmlformats.org/drawingml/2006/main" r:embed="Red051a0209ac4297"/>
          <a:stretch xmlns:a="http://schemas.openxmlformats.org/drawingml/2006/main">
            <a:fillRect l="0" t="0" r="0" b="0"/>
          </a:stretch>
        </p:blipFill>
        <p:spPr>
          <a:xfrm xmlns:a="http://schemas.openxmlformats.org/drawingml/2006/main">
            <a:off x="6400800" y="3794760"/>
            <a:ext cx="457200" cy="457200"/>
          </a:xfrm>
          <a:prstGeom xmlns:a="http://schemas.openxmlformats.org/drawingml/2006/main" prst="rect">
            <a:avLst/>
          </a:prstGeom>
        </p:spPr>
      </p:pic>
      <p:sp>
        <p:nvSpPr>
          <p:cNvPr id="36" name="Text 30">
            <a:extLst xmlns:a="http://schemas.openxmlformats.org/drawingml/2006/main">
              <a:ext uri="{FF2B5EF4-FFF2-40B4-BE49-F238E27FC236}">
                <a16:creationId xmlns:a16="http://schemas.microsoft.com/office/drawing/2014/main" id="{D91C4D17-3BC3-4971-8898-72CB692FCA35}"/>
              </a:ext>
            </a:extLst>
          </p:cNvPr>
          <p:cNvSpPr>
            <a:spLocks xmlns:a="http://schemas.openxmlformats.org/drawingml/2006/main" noGrp="1"/>
          </p:cNvSpPr>
          <p:nvPr/>
        </p:nvSpPr>
        <p:spPr>
          <a:xfrm xmlns:a="http://schemas.openxmlformats.org/drawingml/2006/main">
            <a:off x="6949440" y="3794760"/>
            <a:ext cx="4572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300">
                <a:solidFill>
                  <a:srgbClr val="F37021"/>
                </a:solidFill>
                <a:latin typeface="Calibri"/>
                <a:ea typeface="Calibri"/>
                <a:cs typeface="Calibri"/>
              </a:rPr>
              <a:t>PERTEMUAN 3</a:t>
            </a:r>
            <a:endParaRPr sz="1100"/>
          </a:p>
        </p:txBody>
      </p:sp>
      <p:sp>
        <p:nvSpPr>
          <p:cNvPr id="37" name="Text 31">
            <a:extLst xmlns:a="http://schemas.openxmlformats.org/drawingml/2006/main">
              <a:ext uri="{FF2B5EF4-FFF2-40B4-BE49-F238E27FC236}">
                <a16:creationId xmlns:a16="http://schemas.microsoft.com/office/drawing/2014/main" id="{D772DF2E-6EAE-466E-B0FE-EE4A96263CE1}"/>
              </a:ext>
            </a:extLst>
          </p:cNvPr>
          <p:cNvSpPr>
            <a:spLocks xmlns:a="http://schemas.openxmlformats.org/drawingml/2006/main" noGrp="1"/>
          </p:cNvSpPr>
          <p:nvPr/>
        </p:nvSpPr>
        <p:spPr>
          <a:xfrm xmlns:a="http://schemas.openxmlformats.org/drawingml/2006/main">
            <a:off x="6400800" y="4251960"/>
            <a:ext cx="52120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Networking &amp; Web Service Basics</a:t>
            </a:r>
            <a:endParaRPr sz="1400"/>
          </a:p>
        </p:txBody>
      </p:sp>
      <p:sp>
        <p:nvSpPr>
          <p:cNvPr id="38" name="Text 32">
            <a:extLst xmlns:a="http://schemas.openxmlformats.org/drawingml/2006/main">
              <a:ext uri="{FF2B5EF4-FFF2-40B4-BE49-F238E27FC236}">
                <a16:creationId xmlns:a16="http://schemas.microsoft.com/office/drawing/2014/main" id="{CACDD973-9808-4080-A3D8-0958DBBD11CC}"/>
              </a:ext>
            </a:extLst>
          </p:cNvPr>
          <p:cNvSpPr>
            <a:spLocks xmlns:a="http://schemas.openxmlformats.org/drawingml/2006/main" noGrp="1"/>
          </p:cNvSpPr>
          <p:nvPr/>
        </p:nvSpPr>
        <p:spPr>
          <a:xfrm xmlns:a="http://schemas.openxmlformats.org/drawingml/2006/main">
            <a:off x="6400800" y="4617720"/>
            <a:ext cx="5212080" cy="685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HTTP/HTTPS, DNS, reverse proxy (Nginx), TLS, port forwarding - persiapan deploy aplikasi.</a:t>
            </a:r>
            <a:endParaRPr sz="1100"/>
          </a:p>
        </p:txBody>
      </p:sp>
      <p:sp>
        <p:nvSpPr>
          <p:cNvPr id="39" name="Shape 33">
            <a:extLst xmlns:a="http://schemas.openxmlformats.org/drawingml/2006/main">
              <a:ext uri="{FF2B5EF4-FFF2-40B4-BE49-F238E27FC236}">
                <a16:creationId xmlns:a16="http://schemas.microsoft.com/office/drawing/2014/main" id="{3AEADA5E-EF81-4220-ABDD-8AE08813DA5E}"/>
              </a:ext>
            </a:extLst>
          </p:cNvPr>
          <p:cNvSpPr>
            <a:spLocks xmlns:a="http://schemas.openxmlformats.org/drawingml/2006/main" noGrp="1"/>
          </p:cNvSpPr>
          <p:nvPr/>
        </p:nvSpPr>
        <p:spPr>
          <a:xfrm xmlns:a="http://schemas.openxmlformats.org/drawingml/2006/main">
            <a:off x="457200" y="5029200"/>
            <a:ext cx="5486400" cy="118872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88" name="Image 4"/>
          <p:cNvPicPr>
            <a:picLocks xmlns:a="http://schemas.openxmlformats.org/drawingml/2006/main" noChangeAspect="1"/>
          </p:cNvPicPr>
          <p:nvPr/>
        </p:nvPicPr>
        <p:blipFill>
          <a:blip xmlns:r="http://schemas.openxmlformats.org/officeDocument/2006/relationships" xmlns:a="http://schemas.openxmlformats.org/drawingml/2006/main" r:embed="Rd53513804e7c4c63"/>
          <a:stretch xmlns:a="http://schemas.openxmlformats.org/drawingml/2006/main">
            <a:fillRect l="0" t="0" r="0" b="0"/>
          </a:stretch>
        </p:blipFill>
        <p:spPr>
          <a:xfrm xmlns:a="http://schemas.openxmlformats.org/drawingml/2006/main">
            <a:off x="640080" y="5257800"/>
            <a:ext cx="640080" cy="640080"/>
          </a:xfrm>
          <a:prstGeom xmlns:a="http://schemas.openxmlformats.org/drawingml/2006/main" prst="rect">
            <a:avLst/>
          </a:prstGeom>
        </p:spPr>
      </p:pic>
      <p:sp>
        <p:nvSpPr>
          <p:cNvPr id="41" name="Text 34">
            <a:extLst xmlns:a="http://schemas.openxmlformats.org/drawingml/2006/main">
              <a:ext uri="{FF2B5EF4-FFF2-40B4-BE49-F238E27FC236}">
                <a16:creationId xmlns:a16="http://schemas.microsoft.com/office/drawing/2014/main" id="{18A32359-5FFD-4F83-869A-7190B662BAD6}"/>
              </a:ext>
            </a:extLst>
          </p:cNvPr>
          <p:cNvSpPr>
            <a:spLocks xmlns:a="http://schemas.openxmlformats.org/drawingml/2006/main" noGrp="1"/>
          </p:cNvSpPr>
          <p:nvPr/>
        </p:nvSpPr>
        <p:spPr>
          <a:xfrm xmlns:a="http://schemas.openxmlformats.org/drawingml/2006/main">
            <a:off x="1417320" y="5074920"/>
            <a:ext cx="4023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FFFFFF"/>
                </a:solidFill>
                <a:latin typeface="Calibri"/>
                <a:ea typeface="Calibri"/>
                <a:cs typeface="Calibri"/>
              </a:rPr>
              <a:t>Pertanyaan?</a:t>
            </a:r>
            <a:endParaRPr sz="2200"/>
          </a:p>
        </p:txBody>
      </p:sp>
      <p:sp>
        <p:nvSpPr>
          <p:cNvPr id="42" name="Text 35">
            <a:extLst xmlns:a="http://schemas.openxmlformats.org/drawingml/2006/main">
              <a:ext uri="{FF2B5EF4-FFF2-40B4-BE49-F238E27FC236}">
                <a16:creationId xmlns:a16="http://schemas.microsoft.com/office/drawing/2014/main" id="{80E2D029-1D89-47C6-B585-4AC449FD0D3A}"/>
              </a:ext>
            </a:extLst>
          </p:cNvPr>
          <p:cNvSpPr>
            <a:spLocks xmlns:a="http://schemas.openxmlformats.org/drawingml/2006/main" noGrp="1"/>
          </p:cNvSpPr>
          <p:nvPr/>
        </p:nvSpPr>
        <p:spPr>
          <a:xfrm xmlns:a="http://schemas.openxmlformats.org/drawingml/2006/main">
            <a:off x="1417320" y="5577840"/>
            <a:ext cx="4023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FFFFFF"/>
                </a:solidFill>
                <a:latin typeface="Calibri"/>
                <a:ea typeface="Calibri"/>
                <a:cs typeface="Calibri"/>
              </a:rPr>
              <a:t>Diskusi sebelum lanjut ke Networking</a:t>
            </a:r>
            <a:endParaRPr sz="1200"/>
          </a:p>
        </p:txBody>
      </p:sp>
      <p:sp>
        <p:nvSpPr>
          <p:cNvPr id="43" name="Shape 36">
            <a:extLst xmlns:a="http://schemas.openxmlformats.org/drawingml/2006/main">
              <a:ext uri="{FF2B5EF4-FFF2-40B4-BE49-F238E27FC236}">
                <a16:creationId xmlns:a16="http://schemas.microsoft.com/office/drawing/2014/main" id="{9F048EF3-04DC-4DDC-A2FC-9C33E8E24197}"/>
              </a:ext>
            </a:extLst>
          </p:cNvPr>
          <p:cNvSpPr>
            <a:spLocks xmlns:a="http://schemas.openxmlformats.org/drawingml/2006/main" noGrp="1"/>
          </p:cNvSpPr>
          <p:nvPr/>
        </p:nvSpPr>
        <p:spPr>
          <a:xfrm xmlns:a="http://schemas.openxmlformats.org/drawingml/2006/main">
            <a:off x="6217920" y="5440680"/>
            <a:ext cx="5486400" cy="777240"/>
          </a:xfrm>
          <a:prstGeom xmlns:a="http://schemas.openxmlformats.org/drawingml/2006/main" prst="rect">
            <a:avLst/>
          </a:prstGeom>
          <a:solidFill xmlns:a="http://schemas.openxmlformats.org/drawingml/2006/main">
            <a:srgbClr val="1976D2"/>
          </a:solidFill>
          <a:ln xmlns:a="http://schemas.openxmlformats.org/drawingml/2006/main" w="12700">
            <a:solidFill>
              <a:srgbClr val="1976D2"/>
            </a:solidFill>
            <a:prstDash val="solid"/>
          </a:ln>
        </p:spPr>
      </p:sp>
      <p:sp>
        <p:nvSpPr>
          <p:cNvPr id="44" name="Text 37">
            <a:extLst xmlns:a="http://schemas.openxmlformats.org/drawingml/2006/main">
              <a:ext uri="{FF2B5EF4-FFF2-40B4-BE49-F238E27FC236}">
                <a16:creationId xmlns:a16="http://schemas.microsoft.com/office/drawing/2014/main" id="{18D1D4FB-C0DA-4B19-996C-292594960861}"/>
              </a:ext>
            </a:extLst>
          </p:cNvPr>
          <p:cNvSpPr>
            <a:spLocks xmlns:a="http://schemas.openxmlformats.org/drawingml/2006/main" noGrp="1"/>
          </p:cNvSpPr>
          <p:nvPr/>
        </p:nvSpPr>
        <p:spPr>
          <a:xfrm xmlns:a="http://schemas.openxmlformats.org/drawingml/2006/main">
            <a:off x="6217920" y="5440680"/>
            <a:ext cx="54864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FED7AA"/>
                </a:solidFill>
                <a:latin typeface="Calibri"/>
                <a:ea typeface="Calibri"/>
                <a:cs typeface="Calibri"/>
              </a:rPr>
              <a:t>Sesi ini mendukung:  </a:t>
            </a:r>
            <a:r>
              <a:rPr sz="1100" b="1">
                <a:solidFill>
                  <a:srgbClr val="FFFFFF"/>
                </a:solidFill>
                <a:latin typeface="Calibri"/>
                <a:ea typeface="Calibri"/>
                <a:cs typeface="Calibri"/>
              </a:rPr>
              <a:t>LO2 (Apply)</a:t>
            </a:r>
            <a:r>
              <a:rPr sz="1100">
                <a:solidFill>
                  <a:srgbClr val="FED7AA"/>
                </a:solidFill>
                <a:latin typeface="Calibri"/>
                <a:ea typeface="Calibri"/>
                <a:cs typeface="Calibri"/>
              </a:rPr>
              <a:t>  +  </a:t>
            </a:r>
            <a:r>
              <a:rPr sz="1100" b="1">
                <a:solidFill>
                  <a:srgbClr val="FFFFFF"/>
                </a:solidFill>
                <a:latin typeface="Calibri"/>
                <a:ea typeface="Calibri"/>
                <a:cs typeface="Calibri"/>
              </a:rPr>
              <a:t>LO1 (Analyze distro)</a:t>
            </a:r>
            <a:endParaRPr sz="1100"/>
          </a:p>
        </p:txBody>
      </p:sp>
    </p:spTree>
    <p:extLst>
      <p:ext uri="{BB962C8B-B14F-4D97-AF65-F5344CB8AC3E}">
        <p14:creationId xmlns:p14="http://schemas.microsoft.com/office/powerpoint/2010/main" val="1705800858"/>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23197E5-4019-2237-4721-653D6C094C33}"/>
              </a:ext>
            </a:extLst>
          </p:cNvPr>
          <p:cNvSpPr>
            <a:spLocks xmlns:a="http://schemas.openxmlformats.org/drawingml/2006/main" noGrp="1"/>
          </p:cNvSpPr>
          <p:nvPr/>
        </p:nvSpPr>
        <p:spPr>
          <a:xfrm xmlns:a="http://schemas.openxmlformats.org/drawingml/2006/main">
            <a:off x="457200" y="177800"/>
            <a:ext cx="8890000" cy="153888"/>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000">
                <a:solidFill>
                  <a:srgbClr val="696969"/>
                </a:solidFill>
                <a:latin typeface="Calibri"/>
                <a:ea typeface="Calibri"/>
                <a:cs typeface="Calibri"/>
              </a:rPr>
              <a:t>BINUS UNIVERSITY  |  Cloud Services  |  Pertemuan 2</a:t>
            </a:r>
          </a:p>
        </p:txBody>
      </p:sp>
      <p:sp>
        <p:nvSpPr>
          <p:cNvPr id="3" name="TextBox 2">
            <a:extLst xmlns:a="http://schemas.openxmlformats.org/drawingml/2006/main">
              <a:ext uri="{FF2B5EF4-FFF2-40B4-BE49-F238E27FC236}">
                <a16:creationId xmlns:a16="http://schemas.microsoft.com/office/drawing/2014/main" id="{B9857E3A-54A9-5B2B-A293-FFAEE27EFA50}"/>
              </a:ext>
            </a:extLst>
          </p:cNvPr>
          <p:cNvSpPr>
            <a:spLocks xmlns:a="http://schemas.openxmlformats.org/drawingml/2006/main" noGrp="1"/>
          </p:cNvSpPr>
          <p:nvPr/>
        </p:nvSpPr>
        <p:spPr>
          <a:xfrm xmlns:a="http://schemas.openxmlformats.org/drawingml/2006/main">
            <a:off x="457200" y="673100"/>
            <a:ext cx="11277600" cy="430887"/>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2800" b="1">
                <a:solidFill>
                  <a:srgbClr val="004690"/>
                </a:solidFill>
                <a:latin typeface="Calibri"/>
                <a:ea typeface="Calibri"/>
                <a:cs typeface="Calibri"/>
              </a:rPr>
              <a:t>Bash yang dipakai pada lab</a:t>
            </a:r>
          </a:p>
        </p:txBody>
      </p:sp>
      <p:sp>
        <p:nvSpPr>
          <p:cNvPr id="4" name="TextBox 3">
            <a:extLst xmlns:a="http://schemas.openxmlformats.org/drawingml/2006/main">
              <a:ext uri="{FF2B5EF4-FFF2-40B4-BE49-F238E27FC236}">
                <a16:creationId xmlns:a16="http://schemas.microsoft.com/office/drawing/2014/main" id="{C757E8ED-6775-7603-9744-E28FBBADA95C}"/>
              </a:ext>
            </a:extLst>
          </p:cNvPr>
          <p:cNvSpPr>
            <a:spLocks xmlns:a="http://schemas.openxmlformats.org/drawingml/2006/main" noGrp="1"/>
          </p:cNvSpPr>
          <p:nvPr/>
        </p:nvSpPr>
        <p:spPr>
          <a:xfrm xmlns:a="http://schemas.openxmlformats.org/drawingml/2006/main">
            <a:off x="457200" y="1371600"/>
            <a:ext cx="11277600" cy="230832"/>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500" i="1">
                <a:solidFill>
                  <a:srgbClr val="606060"/>
                </a:solidFill>
                <a:latin typeface="Calibri"/>
                <a:ea typeface="Calibri"/>
                <a:cs typeface="Calibri"/>
              </a:rPr>
              <a:t>Latihan lokal pada WSL, Linux, macOS, atau Codespaces</a:t>
            </a:r>
            <a:endParaRPr sz="1500" i="1">
              <a:solidFill>
                <a:srgbClr val="606060"/>
              </a:solidFill>
              <a:latin typeface="Calibri"/>
              <a:ea typeface="Calibri"/>
              <a:cs typeface="Calibri"/>
            </a:endParaRPr>
          </a:p>
        </p:txBody>
      </p:sp>
      <p:sp>
        <p:nvSpPr>
          <p:cNvPr id="5" name="TextBox 4">
            <a:extLst xmlns:a="http://schemas.openxmlformats.org/drawingml/2006/main">
              <a:ext uri="{FF2B5EF4-FFF2-40B4-BE49-F238E27FC236}">
                <a16:creationId xmlns:a16="http://schemas.microsoft.com/office/drawing/2014/main" id="{ED699FA5-2DE8-980C-DF2C-427C9B5948CE}"/>
              </a:ext>
            </a:extLst>
          </p:cNvPr>
          <p:cNvSpPr>
            <a:spLocks xmlns:a="http://schemas.openxmlformats.org/drawingml/2006/main" noGrp="1"/>
          </p:cNvSpPr>
          <p:nvPr/>
        </p:nvSpPr>
        <p:spPr>
          <a:xfrm xmlns:a="http://schemas.openxmlformats.org/drawingml/2006/main">
            <a:off x="660400" y="2044700"/>
            <a:ext cx="10845800" cy="276999"/>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a:solidFill>
                  <a:srgbClr val="101919"/>
                </a:solidFill>
                <a:latin typeface="Calibri"/>
                <a:ea typeface="Calibri"/>
                <a:cs typeface="Calibri"/>
              </a:rPr>
              <a:t>•  Buat variabel dan baca argumen skrip: NAME=${1:-mahasiswa}.</a:t>
            </a:r>
          </a:p>
        </p:txBody>
      </p:sp>
      <p:sp>
        <p:nvSpPr>
          <p:cNvPr id="6" name="TextBox 5">
            <a:extLst xmlns:a="http://schemas.openxmlformats.org/drawingml/2006/main">
              <a:ext uri="{FF2B5EF4-FFF2-40B4-BE49-F238E27FC236}">
                <a16:creationId xmlns:a16="http://schemas.microsoft.com/office/drawing/2014/main" id="{92B4BAA9-1B42-5B83-8453-B722CE6813D9}"/>
              </a:ext>
            </a:extLst>
          </p:cNvPr>
          <p:cNvSpPr>
            <a:spLocks xmlns:a="http://schemas.openxmlformats.org/drawingml/2006/main" noGrp="1"/>
          </p:cNvSpPr>
          <p:nvPr/>
        </p:nvSpPr>
        <p:spPr>
          <a:xfrm xmlns:a="http://schemas.openxmlformats.org/drawingml/2006/main">
            <a:off x="660400" y="2844800"/>
            <a:ext cx="10845800" cy="276999"/>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a:solidFill>
                  <a:srgbClr val="101919"/>
                </a:solidFill>
                <a:latin typeface="Calibri"/>
                <a:ea typeface="Calibri"/>
                <a:cs typeface="Calibri"/>
              </a:rPr>
              <a:t>•  Gunakan if/else dan kode keluar untuk memeriksa hasil perintah.</a:t>
            </a:r>
          </a:p>
        </p:txBody>
      </p:sp>
      <p:sp>
        <p:nvSpPr>
          <p:cNvPr id="7" name="TextBox 6">
            <a:extLst xmlns:a="http://schemas.openxmlformats.org/drawingml/2006/main">
              <a:ext uri="{FF2B5EF4-FFF2-40B4-BE49-F238E27FC236}">
                <a16:creationId xmlns:a16="http://schemas.microsoft.com/office/drawing/2014/main" id="{7A44386F-3CF2-0806-AAD3-FD33FBC7AC1A}"/>
              </a:ext>
            </a:extLst>
          </p:cNvPr>
          <p:cNvSpPr>
            <a:spLocks xmlns:a="http://schemas.openxmlformats.org/drawingml/2006/main" noGrp="1"/>
          </p:cNvSpPr>
          <p:nvPr/>
        </p:nvSpPr>
        <p:spPr>
          <a:xfrm xmlns:a="http://schemas.openxmlformats.org/drawingml/2006/main">
            <a:off x="660400" y="3644900"/>
            <a:ext cx="10845800" cy="276999"/>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a:solidFill>
                  <a:srgbClr val="101919"/>
                </a:solidFill>
                <a:latin typeface="Calibri"/>
                <a:ea typeface="Calibri"/>
                <a:cs typeface="Calibri"/>
              </a:rPr>
              <a:t>•  Uji path, file, permission, pipe, dan redirection pada folder latihan.</a:t>
            </a:r>
          </a:p>
        </p:txBody>
      </p:sp>
      <p:sp>
        <p:nvSpPr>
          <p:cNvPr id="8" name="TextBox 7">
            <a:extLst xmlns:a="http://schemas.openxmlformats.org/drawingml/2006/main">
              <a:ext uri="{FF2B5EF4-FFF2-40B4-BE49-F238E27FC236}">
                <a16:creationId xmlns:a16="http://schemas.microsoft.com/office/drawing/2014/main" id="{D6CE3116-C694-178E-8992-99B8DE334024}"/>
              </a:ext>
            </a:extLst>
          </p:cNvPr>
          <p:cNvSpPr>
            <a:spLocks xmlns:a="http://schemas.openxmlformats.org/drawingml/2006/main" noGrp="1"/>
          </p:cNvSpPr>
          <p:nvPr/>
        </p:nvSpPr>
        <p:spPr>
          <a:xfrm xmlns:a="http://schemas.openxmlformats.org/drawingml/2006/main">
            <a:off x="660400" y="4445000"/>
            <a:ext cx="10845800" cy="276999"/>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a:solidFill>
                  <a:srgbClr val="101919"/>
                </a:solidFill>
                <a:latin typeface="Calibri"/>
                <a:ea typeface="Calibri"/>
                <a:cs typeface="Calibri"/>
              </a:rPr>
              <a:t>•  Jalankan scripts/setup.sh lalu scripts/verify.sh di </a:t>
            </a:r>
            <a:r>
              <a:rPr>
                <a:solidFill>
                  <a:srgbClr val="101919"/>
                </a:solidFill>
                <a:latin typeface="Calibri"/>
                <a:ea typeface="Calibri"/>
                <a:cs typeface="Calibri"/>
              </a:rPr>
              <a:t>SeedFlora/meet2CloudService</a:t>
            </a:r>
            <a:r>
              <a:rPr>
                <a:solidFill>
                  <a:srgbClr val="101919"/>
                </a:solidFill>
                <a:latin typeface="Calibri"/>
                <a:ea typeface="Calibri"/>
                <a:cs typeface="Calibri"/>
              </a:rPr>
              <a:t>.</a:t>
            </a:r>
          </a:p>
        </p:txBody>
      </p:sp>
      <p:sp>
        <p:nvSpPr>
          <p:cNvPr id="9" name="TextBox 8">
            <a:extLst xmlns:a="http://schemas.openxmlformats.org/drawingml/2006/main">
              <a:ext uri="{FF2B5EF4-FFF2-40B4-BE49-F238E27FC236}">
                <a16:creationId xmlns:a16="http://schemas.microsoft.com/office/drawing/2014/main" id="{50741616-D55E-A322-6775-41663851F690}"/>
              </a:ext>
            </a:extLst>
          </p:cNvPr>
          <p:cNvSpPr>
            <a:spLocks xmlns:a="http://schemas.openxmlformats.org/drawingml/2006/main" noGrp="1"/>
          </p:cNvSpPr>
          <p:nvPr/>
        </p:nvSpPr>
        <p:spPr>
          <a:xfrm xmlns:a="http://schemas.openxmlformats.org/drawingml/2006/main">
            <a:off x="660400" y="5245100"/>
            <a:ext cx="10845800" cy="276999"/>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a:solidFill>
                  <a:srgbClr val="101919"/>
                </a:solidFill>
                <a:latin typeface="Calibri"/>
                <a:ea typeface="Calibri"/>
                <a:cs typeface="Calibri"/>
              </a:rPr>
              <a:t>•  Commit skrip setelah verifikasi berhasil; jangan masukkan file rahasia.</a:t>
            </a:r>
          </a:p>
        </p:txBody>
      </p:sp>
      <p:sp>
        <p:nvSpPr>
          <p:cNvPr id="10" name="TextBox 9">
            <a:extLst xmlns:a="http://schemas.openxmlformats.org/drawingml/2006/main">
              <a:ext uri="{FF2B5EF4-FFF2-40B4-BE49-F238E27FC236}">
                <a16:creationId xmlns:a16="http://schemas.microsoft.com/office/drawing/2014/main" id="{C4546613-4535-634A-8CC4-4C9F0006A3C2}"/>
              </a:ext>
            </a:extLst>
          </p:cNvPr>
          <p:cNvSpPr>
            <a:spLocks xmlns:a="http://schemas.openxmlformats.org/drawingml/2006/main" noGrp="1"/>
          </p:cNvSpPr>
          <p:nvPr/>
        </p:nvSpPr>
        <p:spPr>
          <a:xfrm xmlns:a="http://schemas.openxmlformats.org/drawingml/2006/main">
            <a:off x="457200" y="6413500"/>
            <a:ext cx="11277600" cy="138499"/>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900">
                <a:solidFill>
                  <a:srgbClr val="696969"/>
                </a:solidFill>
                <a:latin typeface="Calibri"/>
                <a:ea typeface="Calibri"/>
                <a:cs typeface="Calibri"/>
              </a:rPr>
              <a:t>Materi praktik: </a:t>
            </a:r>
            <a:r>
              <a:rPr sz="900">
                <a:solidFill>
                  <a:srgbClr val="696969"/>
                </a:solidFill>
                <a:latin typeface="Calibri"/>
                <a:ea typeface="Calibri"/>
                <a:cs typeface="Calibri"/>
              </a:rPr>
              <a:t>SeedFlora/meet2CloudService</a:t>
            </a:r>
            <a:r>
              <a:rPr sz="900">
                <a:solidFill>
                  <a:srgbClr val="696969"/>
                </a:solidFill>
                <a:latin typeface="Calibri"/>
                <a:ea typeface="Calibri"/>
                <a:cs typeface="Calibri"/>
              </a:rPr>
              <a:t>  |  Sumber: RPS COMP6991031</a:t>
            </a:r>
          </a:p>
        </p:txBody>
      </p:sp>
    </p:spTree>
    <p:extLst>
      <p:ext uri="{BB962C8B-B14F-4D97-AF65-F5344CB8AC3E}">
        <p14:creationId xmlns:p14="http://schemas.microsoft.com/office/powerpoint/2010/main" val="212679613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urse-label">
            <a:extLst xmlns:a="http://schemas.openxmlformats.org/drawingml/2006/main">
              <a:ext uri="{FF2B5EF4-FFF2-40B4-BE49-F238E27FC236}">
                <a16:creationId xmlns:a16="http://schemas.microsoft.com/office/drawing/2014/main" id="{DBBCF4C0-CB9E-4C8F-9A79-F0AA71624524}"/>
              </a:ext>
            </a:extLst>
          </p:cNvPr>
          <p:cNvSpPr>
            <a:spLocks xmlns:a="http://schemas.openxmlformats.org/drawingml/2006/main" noGrp="1"/>
          </p:cNvSpPr>
          <p:nvPr/>
        </p:nvSpPr>
        <p:spPr>
          <a:xfrm xmlns:a="http://schemas.openxmlformats.org/drawingml/2006/main">
            <a:off x="514350" y="257175"/>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0">
                <a:solidFill>
                  <a:srgbClr val="62728A"/>
                </a:solidFill>
                <a:latin typeface="Calibri"/>
                <a:ea typeface="Calibri"/>
                <a:cs typeface="Calibri"/>
              </a:defRPr>
            </a:pPr>
            <a:r>
              <a:rPr sz="1275" b="0">
                <a:solidFill>
                  <a:srgbClr val="62728A"/>
                </a:solidFill>
                <a:latin typeface="Calibri"/>
                <a:ea typeface="Calibri"/>
                <a:cs typeface="Calibri"/>
              </a:rPr>
              <a:t>BINUS UNIVERSITY  |  Cloud Services  |  Pertemuan 2</a:t>
            </a:r>
          </a:p>
        </p:txBody>
      </p:sp>
      <p:sp>
        <p:nvSpPr>
          <p:cNvPr id="2" name="main-title">
            <a:extLst xmlns:a="http://schemas.openxmlformats.org/drawingml/2006/main">
              <a:ext uri="{FF2B5EF4-FFF2-40B4-BE49-F238E27FC236}">
                <a16:creationId xmlns:a16="http://schemas.microsoft.com/office/drawing/2014/main" id="{CD40A07C-6751-4996-A83F-EB39D62D437C}"/>
              </a:ext>
            </a:extLst>
          </p:cNvPr>
          <p:cNvSpPr>
            <a:spLocks xmlns:a="http://schemas.openxmlformats.org/drawingml/2006/main" noGrp="1"/>
          </p:cNvSpPr>
          <p:nvPr/>
        </p:nvSpPr>
        <p:spPr>
          <a:xfrm xmlns:a="http://schemas.openxmlformats.org/drawingml/2006/main">
            <a:off x="514350" y="58102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850" b="1">
                <a:solidFill>
                  <a:srgbClr val="072A79"/>
                </a:solidFill>
                <a:latin typeface="Calibri"/>
                <a:ea typeface="Calibri"/>
                <a:cs typeface="Calibri"/>
              </a:defRPr>
            </a:pPr>
            <a:r>
              <a:rPr sz="2850" b="1">
                <a:solidFill>
                  <a:srgbClr val="072A79"/>
                </a:solidFill>
                <a:latin typeface="Calibri"/>
                <a:ea typeface="Calibri"/>
                <a:cs typeface="Calibri"/>
              </a:rPr>
              <a:t>Terminal mempercepat diagnosis insiden</a:t>
            </a:r>
          </a:p>
        </p:txBody>
      </p:sp>
      <p:sp>
        <p:nvSpPr>
          <p:cNvPr id="3" name="subtitle">
            <a:extLst xmlns:a="http://schemas.openxmlformats.org/drawingml/2006/main">
              <a:ext uri="{FF2B5EF4-FFF2-40B4-BE49-F238E27FC236}">
                <a16:creationId xmlns:a16="http://schemas.microsoft.com/office/drawing/2014/main" id="{D65F6A4C-F0CB-4A1F-89C9-85943267D2F2}"/>
              </a:ext>
            </a:extLst>
          </p:cNvPr>
          <p:cNvSpPr>
            <a:spLocks xmlns:a="http://schemas.openxmlformats.org/drawingml/2006/main" noGrp="1"/>
          </p:cNvSpPr>
          <p:nvPr/>
        </p:nvSpPr>
        <p:spPr>
          <a:xfrm xmlns:a="http://schemas.openxmlformats.org/drawingml/2006/main">
            <a:off x="514350" y="120015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75" b="0">
                <a:solidFill>
                  <a:srgbClr val="62728A"/>
                </a:solidFill>
                <a:latin typeface="Calibri"/>
                <a:ea typeface="Calibri"/>
                <a:cs typeface="Calibri"/>
              </a:defRPr>
            </a:pPr>
            <a:r>
              <a:rPr sz="1575" b="0">
                <a:solidFill>
                  <a:srgbClr val="62728A"/>
                </a:solidFill>
                <a:latin typeface="Calibri"/>
                <a:ea typeface="Calibri"/>
                <a:cs typeface="Calibri"/>
              </a:rPr>
              <a:t>Kasus kerja: aplikasi gagal, tim perlu mencari ERROR tanpa mengubah log asli.</a:t>
            </a:r>
          </a:p>
        </p:txBody>
      </p:sp>
      <p:sp>
        <p:nvSpPr>
          <p:cNvPr id="4" name="orange-rule">
            <a:extLst xmlns:a="http://schemas.openxmlformats.org/drawingml/2006/main">
              <a:ext uri="{FF2B5EF4-FFF2-40B4-BE49-F238E27FC236}">
                <a16:creationId xmlns:a16="http://schemas.microsoft.com/office/drawing/2014/main" id="{B3173381-5DE2-4CC4-9D45-2F1F9E5BEAF4}"/>
              </a:ext>
            </a:extLst>
          </p:cNvPr>
          <p:cNvSpPr>
            <a:spLocks xmlns:a="http://schemas.openxmlformats.org/drawingml/2006/main" noGrp="1"/>
          </p:cNvSpPr>
          <p:nvPr/>
        </p:nvSpPr>
        <p:spPr>
          <a:xfrm xmlns:a="http://schemas.openxmlformats.org/drawingml/2006/main">
            <a:off x="514350" y="1657350"/>
            <a:ext cx="876300" cy="47625"/>
          </a:xfrm>
          <a:prstGeom xmlns:a="http://schemas.openxmlformats.org/drawingml/2006/main" prst="rect">
            <a:avLst/>
          </a:prstGeom>
          <a:solidFill xmlns:a="http://schemas.openxmlformats.org/drawingml/2006/main">
            <a:srgbClr val="FF701B"/>
          </a:solidFill>
          <a:ln xmlns:a="http://schemas.openxmlformats.org/drawingml/2006/main" w="0">
            <a:noFill/>
          </a:ln>
        </p:spPr>
      </p:sp>
      <p:sp>
        <p:nvSpPr>
          <p:cNvPr id="5" name="footer-left">
            <a:extLst xmlns:a="http://schemas.openxmlformats.org/drawingml/2006/main">
              <a:ext uri="{FF2B5EF4-FFF2-40B4-BE49-F238E27FC236}">
                <a16:creationId xmlns:a16="http://schemas.microsoft.com/office/drawing/2014/main" id="{773C42E9-3427-45A2-A38B-F935DF296E6D}"/>
              </a:ext>
            </a:extLst>
          </p:cNvPr>
          <p:cNvSpPr>
            <a:spLocks xmlns:a="http://schemas.openxmlformats.org/drawingml/2006/main" noGrp="1"/>
          </p:cNvSpPr>
          <p:nvPr/>
        </p:nvSpPr>
        <p:spPr>
          <a:xfrm xmlns:a="http://schemas.openxmlformats.org/drawingml/2006/main">
            <a:off x="514350" y="64293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125" b="0">
                <a:solidFill>
                  <a:srgbClr val="62728A"/>
                </a:solidFill>
                <a:latin typeface="Calibri"/>
                <a:ea typeface="Calibri"/>
                <a:cs typeface="Calibri"/>
              </a:defRPr>
            </a:pPr>
            <a:r>
              <a:rPr sz="1125" b="0">
                <a:solidFill>
                  <a:srgbClr val="62728A"/>
                </a:solidFill>
                <a:latin typeface="Calibri"/>
                <a:ea typeface="Calibri"/>
                <a:cs typeface="Calibri"/>
              </a:rPr>
              <a:t>COMP6991031  |  Cloud Services</a:t>
            </a:r>
          </a:p>
        </p:txBody>
      </p:sp>
      <p:sp>
        <p:nvSpPr>
          <p:cNvPr id="6" name="footer-right">
            <a:extLst xmlns:a="http://schemas.openxmlformats.org/drawingml/2006/main">
              <a:ext uri="{FF2B5EF4-FFF2-40B4-BE49-F238E27FC236}">
                <a16:creationId xmlns:a16="http://schemas.microsoft.com/office/drawing/2014/main" id="{AF914939-072F-47FC-BBD5-188C6C68A1FA}"/>
              </a:ext>
            </a:extLst>
          </p:cNvPr>
          <p:cNvSpPr>
            <a:spLocks xmlns:a="http://schemas.openxmlformats.org/drawingml/2006/main" noGrp="1"/>
          </p:cNvSpPr>
          <p:nvPr/>
        </p:nvSpPr>
        <p:spPr>
          <a:xfrm xmlns:a="http://schemas.openxmlformats.org/drawingml/2006/main">
            <a:off x="11430000" y="64293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125" b="0">
                <a:solidFill>
                  <a:srgbClr val="62728A"/>
                </a:solidFill>
                <a:latin typeface="Calibri"/>
                <a:ea typeface="Calibri"/>
                <a:cs typeface="Calibri"/>
              </a:defRPr>
            </a:pPr>
            <a:r>
              <a:rPr sz="1125" b="0">
                <a:solidFill>
                  <a:srgbClr val="62728A"/>
                </a:solidFill>
                <a:latin typeface="Calibri"/>
                <a:ea typeface="Calibri"/>
                <a:cs typeface="Calibri"/>
              </a:rPr>
              <a:t>33</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5ba0110caaee48be"/>
          <a:stretch xmlns:a="http://schemas.openxmlformats.org/drawingml/2006/main"/>
        </p:blipFill>
        <p:spPr>
          <a:xfrm xmlns:a="http://schemas.openxmlformats.org/drawingml/2006/main">
            <a:off x="755121" y="1952625"/>
            <a:ext cx="6614583" cy="3810000"/>
          </a:xfrm>
          <a:prstGeom xmlns:a="http://schemas.openxmlformats.org/drawingml/2006/main" prst="rect">
            <a:avLst/>
          </a:prstGeom>
        </p:spPr>
      </p:pic>
      <p:sp>
        <p:nvSpPr>
          <p:cNvPr id="8" name="image-caption">
            <a:extLst xmlns:a="http://schemas.openxmlformats.org/drawingml/2006/main">
              <a:ext uri="{FF2B5EF4-FFF2-40B4-BE49-F238E27FC236}">
                <a16:creationId xmlns:a16="http://schemas.microsoft.com/office/drawing/2014/main" id="{63F24026-8B58-4BEF-B775-B8C91178C021}"/>
              </a:ext>
            </a:extLst>
          </p:cNvPr>
          <p:cNvSpPr>
            <a:spLocks xmlns:a="http://schemas.openxmlformats.org/drawingml/2006/main" noGrp="1"/>
          </p:cNvSpPr>
          <p:nvPr/>
        </p:nvSpPr>
        <p:spPr>
          <a:xfrm xmlns:a="http://schemas.openxmlformats.org/drawingml/2006/main">
            <a:off x="514350" y="5838825"/>
            <a:ext cx="709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0">
                <a:solidFill>
                  <a:srgbClr val="62728A"/>
                </a:solidFill>
                <a:latin typeface="Calibri"/>
                <a:ea typeface="Calibri"/>
                <a:cs typeface="Calibri"/>
              </a:defRPr>
            </a:pPr>
            <a:r>
              <a:rPr sz="1275" b="0">
                <a:solidFill>
                  <a:srgbClr val="62728A"/>
                </a:solidFill>
                <a:latin typeface="Calibri"/>
                <a:ea typeface="Calibri"/>
                <a:cs typeface="Calibri"/>
              </a:rPr>
              <a:t>Keluaran uji Lab 02: operasi berkas, pipeline, permission, dan skrip Bash tervalidasi.</a:t>
            </a:r>
          </a:p>
        </p:txBody>
      </p:sp>
      <p:sp>
        <p:nvSpPr>
          <p:cNvPr id="9" name="lab-link-label">
            <a:extLst xmlns:a="http://schemas.openxmlformats.org/drawingml/2006/main">
              <a:ext uri="{FF2B5EF4-FFF2-40B4-BE49-F238E27FC236}">
                <a16:creationId xmlns:a16="http://schemas.microsoft.com/office/drawing/2014/main" id="{5F7E3145-3CB7-48D4-8B6A-8C7B907D2C66}"/>
              </a:ext>
            </a:extLst>
          </p:cNvPr>
          <p:cNvSpPr>
            <a:spLocks xmlns:a="http://schemas.openxmlformats.org/drawingml/2006/main" noGrp="1"/>
          </p:cNvSpPr>
          <p:nvPr/>
        </p:nvSpPr>
        <p:spPr>
          <a:xfrm xmlns:a="http://schemas.openxmlformats.org/drawingml/2006/main">
            <a:off x="7953375" y="1952625"/>
            <a:ext cx="3333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650" b="1">
                <a:solidFill>
                  <a:srgbClr val="FF701B"/>
                </a:solidFill>
                <a:latin typeface="Calibri"/>
                <a:ea typeface="Calibri"/>
                <a:cs typeface="Calibri"/>
              </a:defRPr>
            </a:pPr>
            <a:r>
              <a:rPr sz="1650" b="1">
                <a:solidFill>
                  <a:srgbClr val="FF701B"/>
                </a:solidFill>
                <a:latin typeface="Calibri"/>
                <a:ea typeface="Calibri"/>
                <a:cs typeface="Calibri"/>
              </a:rPr>
              <a:t>LAB 02</a:t>
            </a:r>
          </a:p>
        </p:txBody>
      </p:sp>
      <p:sp>
        <p:nvSpPr>
          <p:cNvPr id="10" name="bridge-points">
            <a:extLst xmlns:a="http://schemas.openxmlformats.org/drawingml/2006/main">
              <a:ext uri="{FF2B5EF4-FFF2-40B4-BE49-F238E27FC236}">
                <a16:creationId xmlns:a16="http://schemas.microsoft.com/office/drawing/2014/main" id="{BF749014-C0D7-4F69-A0CA-C53EA1484F51}"/>
              </a:ext>
            </a:extLst>
          </p:cNvPr>
          <p:cNvSpPr>
            <a:spLocks xmlns:a="http://schemas.openxmlformats.org/drawingml/2006/main" noGrp="1"/>
          </p:cNvSpPr>
          <p:nvPr/>
        </p:nvSpPr>
        <p:spPr>
          <a:xfrm xmlns:a="http://schemas.openxmlformats.org/drawingml/2006/main">
            <a:off x="7953375" y="2333625"/>
            <a:ext cx="3429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650" b="0">
                <a:solidFill>
                  <a:srgbClr val="13243B"/>
                </a:solidFill>
                <a:latin typeface="Calibri"/>
                <a:ea typeface="Calibri"/>
                <a:cs typeface="Calibri"/>
              </a:defRPr>
            </a:pPr>
            <a:r>
              <a:rPr sz="1650" b="0">
                <a:solidFill>
                  <a:srgbClr val="13243B"/>
                </a:solidFill>
                <a:latin typeface="Calibri"/>
                <a:ea typeface="Calibri"/>
                <a:cs typeface="Calibri"/>
              </a:rPr>
              <a:t>1. Filesystem menunjukkan lokasi data. grep dan pipe memilih baris yang relevan dari log.</a:t>
            </a:r>
          </a:p>
          <a:p xmlns:a="http://schemas.openxmlformats.org/drawingml/2006/main">
            <a:r>
              <a:t/>
            </a:r>
          </a:p>
          <a:p xmlns:a="http://schemas.openxmlformats.org/drawingml/2006/main">
            <a:pPr>
              <a:defRPr sz="1650" b="0">
                <a:solidFill>
                  <a:srgbClr val="13243B"/>
                </a:solidFill>
                <a:latin typeface="Calibri"/>
                <a:ea typeface="Calibri"/>
                <a:cs typeface="Calibri"/>
              </a:defRPr>
            </a:pPr>
            <a:r>
              <a:rPr sz="1650" b="0">
                <a:solidFill>
                  <a:srgbClr val="13243B"/>
                </a:solidFill>
                <a:latin typeface="Calibri"/>
                <a:ea typeface="Calibri"/>
                <a:cs typeface="Calibri"/>
              </a:rPr>
              <a:t>2. Redirection menulis temuan ke results/ agar log sumber tetap dapat diaudit.</a:t>
            </a:r>
          </a:p>
          <a:p xmlns:a="http://schemas.openxmlformats.org/drawingml/2006/main">
            <a:r>
              <a:t/>
            </a:r>
          </a:p>
          <a:p xmlns:a="http://schemas.openxmlformats.org/drawingml/2006/main">
            <a:pPr>
              <a:defRPr sz="1650" b="0">
                <a:solidFill>
                  <a:srgbClr val="13243B"/>
                </a:solidFill>
                <a:latin typeface="Calibri"/>
                <a:ea typeface="Calibri"/>
                <a:cs typeface="Calibri"/>
              </a:defRPr>
            </a:pPr>
            <a:r>
              <a:rPr sz="1650" b="0">
                <a:solidFill>
                  <a:srgbClr val="13243B"/>
                </a:solidFill>
                <a:latin typeface="Calibri"/>
                <a:ea typeface="Calibri"/>
                <a:cs typeface="Calibri"/>
              </a:rPr>
              <a:t>3. Di Lab 02, verifikasi hasil dengan skrip yang memberi exit code jelas.</a:t>
            </a:r>
          </a:p>
        </p:txBody>
      </p:sp>
      <p:sp>
        <p:nvSpPr>
          <p:cNvPr id="11" name="command-label">
            <a:extLst xmlns:a="http://schemas.openxmlformats.org/drawingml/2006/main">
              <a:ext uri="{FF2B5EF4-FFF2-40B4-BE49-F238E27FC236}">
                <a16:creationId xmlns:a16="http://schemas.microsoft.com/office/drawing/2014/main" id="{DA9BFAED-9F9B-4597-8AF0-42663A59FBBB}"/>
              </a:ext>
            </a:extLst>
          </p:cNvPr>
          <p:cNvSpPr>
            <a:spLocks xmlns:a="http://schemas.openxmlformats.org/drawingml/2006/main" noGrp="1"/>
          </p:cNvSpPr>
          <p:nvPr/>
        </p:nvSpPr>
        <p:spPr>
          <a:xfrm xmlns:a="http://schemas.openxmlformats.org/drawingml/2006/main">
            <a:off x="7953375" y="5286375"/>
            <a:ext cx="342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072A79"/>
                </a:solidFill>
                <a:latin typeface="Calibri"/>
                <a:ea typeface="Calibri"/>
                <a:cs typeface="Calibri"/>
              </a:defRPr>
            </a:pPr>
            <a:r>
              <a:rPr sz="1275" b="1">
                <a:solidFill>
                  <a:srgbClr val="072A79"/>
                </a:solidFill>
                <a:latin typeface="Calibri"/>
                <a:ea typeface="Calibri"/>
                <a:cs typeface="Calibri"/>
              </a:rPr>
              <a:t>Perintah pertama yang akan dicoba</a:t>
            </a:r>
          </a:p>
        </p:txBody>
      </p:sp>
      <p:sp>
        <p:nvSpPr>
          <p:cNvPr id="12" name="bridge-command">
            <a:extLst xmlns:a="http://schemas.openxmlformats.org/drawingml/2006/main">
              <a:ext uri="{FF2B5EF4-FFF2-40B4-BE49-F238E27FC236}">
                <a16:creationId xmlns:a16="http://schemas.microsoft.com/office/drawing/2014/main" id="{4DC765CD-8553-4FBB-A939-42E640640A4A}"/>
              </a:ext>
            </a:extLst>
          </p:cNvPr>
          <p:cNvSpPr>
            <a:spLocks xmlns:a="http://schemas.openxmlformats.org/drawingml/2006/main" noGrp="1"/>
          </p:cNvSpPr>
          <p:nvPr/>
        </p:nvSpPr>
        <p:spPr>
          <a:xfrm xmlns:a="http://schemas.openxmlformats.org/drawingml/2006/main">
            <a:off x="7953375" y="5591175"/>
            <a:ext cx="3476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031D5B"/>
                </a:solidFill>
                <a:latin typeface="Calibri"/>
                <a:ea typeface="Calibri"/>
                <a:cs typeface="Calibri"/>
              </a:defRPr>
            </a:pPr>
            <a:r>
              <a:rPr sz="1425" b="1">
                <a:solidFill>
                  <a:srgbClr val="031D5B"/>
                </a:solidFill>
                <a:latin typeface="Calibri"/>
                <a:ea typeface="Calibri"/>
                <a:cs typeface="Calibri"/>
              </a:rPr>
              <a:t>grep 'ERROR' workspace/logs/app.log</a:t>
            </a:r>
          </a:p>
        </p:txBody>
      </p:sp>
    </p:spTree>
    <p:extLst>
      <p:ext uri="{BB962C8B-B14F-4D97-AF65-F5344CB8AC3E}">
        <p14:creationId xmlns:p14="http://schemas.microsoft.com/office/powerpoint/2010/main" val="211934796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course-label">
            <a:extLst xmlns:a="http://schemas.openxmlformats.org/drawingml/2006/main">
              <a:ext uri="{FF2B5EF4-FFF2-40B4-BE49-F238E27FC236}">
                <a16:creationId xmlns:a16="http://schemas.microsoft.com/office/drawing/2014/main" id="{53D6CE5E-F02C-4E31-908E-CE06D6D69ED0}"/>
              </a:ext>
            </a:extLst>
          </p:cNvPr>
          <p:cNvSpPr>
            <a:spLocks xmlns:a="http://schemas.openxmlformats.org/drawingml/2006/main" noGrp="1"/>
          </p:cNvSpPr>
          <p:nvPr/>
        </p:nvSpPr>
        <p:spPr>
          <a:xfrm xmlns:a="http://schemas.openxmlformats.org/drawingml/2006/main">
            <a:off x="514350" y="257175"/>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0">
                <a:solidFill>
                  <a:srgbClr val="62728A"/>
                </a:solidFill>
                <a:latin typeface="Calibri"/>
                <a:ea typeface="Calibri"/>
                <a:cs typeface="Calibri"/>
              </a:defRPr>
            </a:pPr>
            <a:r>
              <a:rPr sz="1275" b="0">
                <a:solidFill>
                  <a:srgbClr val="62728A"/>
                </a:solidFill>
                <a:latin typeface="Calibri"/>
                <a:ea typeface="Calibri"/>
                <a:cs typeface="Calibri"/>
              </a:rPr>
              <a:t>BINUS UNIVERSITY  |  Cloud Services  |  Pertemuan 2</a:t>
            </a:r>
          </a:p>
        </p:txBody>
      </p:sp>
      <p:sp>
        <p:nvSpPr>
          <p:cNvPr id="2" name="main-title">
            <a:extLst xmlns:a="http://schemas.openxmlformats.org/drawingml/2006/main">
              <a:ext uri="{FF2B5EF4-FFF2-40B4-BE49-F238E27FC236}">
                <a16:creationId xmlns:a16="http://schemas.microsoft.com/office/drawing/2014/main" id="{2C839CEE-79E6-480F-A30D-294550609A36}"/>
              </a:ext>
            </a:extLst>
          </p:cNvPr>
          <p:cNvSpPr>
            <a:spLocks xmlns:a="http://schemas.openxmlformats.org/drawingml/2006/main" noGrp="1"/>
          </p:cNvSpPr>
          <p:nvPr/>
        </p:nvSpPr>
        <p:spPr>
          <a:xfrm xmlns:a="http://schemas.openxmlformats.org/drawingml/2006/main">
            <a:off x="514350" y="58102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850" b="1">
                <a:solidFill>
                  <a:srgbClr val="072A79"/>
                </a:solidFill>
                <a:latin typeface="Calibri"/>
                <a:ea typeface="Calibri"/>
                <a:cs typeface="Calibri"/>
              </a:defRPr>
            </a:pPr>
            <a:r>
              <a:rPr sz="2850" b="1">
                <a:solidFill>
                  <a:srgbClr val="072A79"/>
                </a:solidFill>
                <a:latin typeface="Calibri"/>
                <a:ea typeface="Calibri"/>
                <a:cs typeface="Calibri"/>
              </a:rPr>
              <a:t>Sebelum Lab 02: baca log dengan Bash</a:t>
            </a:r>
          </a:p>
        </p:txBody>
      </p:sp>
      <p:sp>
        <p:nvSpPr>
          <p:cNvPr id="3" name="subtitle">
            <a:extLst xmlns:a="http://schemas.openxmlformats.org/drawingml/2006/main">
              <a:ext uri="{FF2B5EF4-FFF2-40B4-BE49-F238E27FC236}">
                <a16:creationId xmlns:a16="http://schemas.microsoft.com/office/drawing/2014/main" id="{86D4341D-7A10-43DF-B211-A65E6D19538F}"/>
              </a:ext>
            </a:extLst>
          </p:cNvPr>
          <p:cNvSpPr>
            <a:spLocks xmlns:a="http://schemas.openxmlformats.org/drawingml/2006/main" noGrp="1"/>
          </p:cNvSpPr>
          <p:nvPr/>
        </p:nvSpPr>
        <p:spPr>
          <a:xfrm xmlns:a="http://schemas.openxmlformats.org/drawingml/2006/main">
            <a:off x="514350" y="120015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75" b="0">
                <a:solidFill>
                  <a:srgbClr val="62728A"/>
                </a:solidFill>
                <a:latin typeface="Calibri"/>
                <a:ea typeface="Calibri"/>
                <a:cs typeface="Calibri"/>
              </a:defRPr>
            </a:pPr>
            <a:r>
              <a:rPr sz="1575" b="0">
                <a:solidFill>
                  <a:srgbClr val="62728A"/>
                </a:solidFill>
                <a:latin typeface="Calibri"/>
                <a:ea typeface="Calibri"/>
                <a:cs typeface="Calibri"/>
              </a:rPr>
              <a:t>Bagaimana membuktikan hanya baris ERROR yang ditulis ke berkas hasil?</a:t>
            </a:r>
          </a:p>
        </p:txBody>
      </p:sp>
      <p:sp>
        <p:nvSpPr>
          <p:cNvPr id="4" name="orange-rule">
            <a:extLst xmlns:a="http://schemas.openxmlformats.org/drawingml/2006/main">
              <a:ext uri="{FF2B5EF4-FFF2-40B4-BE49-F238E27FC236}">
                <a16:creationId xmlns:a16="http://schemas.microsoft.com/office/drawing/2014/main" id="{BBD68B3D-0DB0-4FCF-9FFC-5B83ED201427}"/>
              </a:ext>
            </a:extLst>
          </p:cNvPr>
          <p:cNvSpPr>
            <a:spLocks xmlns:a="http://schemas.openxmlformats.org/drawingml/2006/main" noGrp="1"/>
          </p:cNvSpPr>
          <p:nvPr/>
        </p:nvSpPr>
        <p:spPr>
          <a:xfrm xmlns:a="http://schemas.openxmlformats.org/drawingml/2006/main">
            <a:off x="514350" y="1657350"/>
            <a:ext cx="876300" cy="47625"/>
          </a:xfrm>
          <a:prstGeom xmlns:a="http://schemas.openxmlformats.org/drawingml/2006/main" prst="rect">
            <a:avLst/>
          </a:prstGeom>
          <a:solidFill xmlns:a="http://schemas.openxmlformats.org/drawingml/2006/main">
            <a:srgbClr val="FF701B"/>
          </a:solidFill>
          <a:ln xmlns:a="http://schemas.openxmlformats.org/drawingml/2006/main" w="0">
            <a:noFill/>
          </a:ln>
        </p:spPr>
      </p:sp>
      <p:sp>
        <p:nvSpPr>
          <p:cNvPr id="5" name="footer-left">
            <a:extLst xmlns:a="http://schemas.openxmlformats.org/drawingml/2006/main">
              <a:ext uri="{FF2B5EF4-FFF2-40B4-BE49-F238E27FC236}">
                <a16:creationId xmlns:a16="http://schemas.microsoft.com/office/drawing/2014/main" id="{39F35F64-3A1F-45B1-B645-D18C4CCEADEB}"/>
              </a:ext>
            </a:extLst>
          </p:cNvPr>
          <p:cNvSpPr>
            <a:spLocks xmlns:a="http://schemas.openxmlformats.org/drawingml/2006/main" noGrp="1"/>
          </p:cNvSpPr>
          <p:nvPr/>
        </p:nvSpPr>
        <p:spPr>
          <a:xfrm xmlns:a="http://schemas.openxmlformats.org/drawingml/2006/main">
            <a:off x="514350" y="64293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125" b="0">
                <a:solidFill>
                  <a:srgbClr val="62728A"/>
                </a:solidFill>
                <a:latin typeface="Calibri"/>
                <a:ea typeface="Calibri"/>
                <a:cs typeface="Calibri"/>
              </a:defRPr>
            </a:pPr>
            <a:r>
              <a:rPr sz="1125" b="0">
                <a:solidFill>
                  <a:srgbClr val="62728A"/>
                </a:solidFill>
                <a:latin typeface="Calibri"/>
                <a:ea typeface="Calibri"/>
                <a:cs typeface="Calibri"/>
              </a:rPr>
              <a:t>COMP6991031  |  Cloud Services</a:t>
            </a:r>
          </a:p>
        </p:txBody>
      </p:sp>
      <p:sp>
        <p:nvSpPr>
          <p:cNvPr id="6" name="footer-right">
            <a:extLst xmlns:a="http://schemas.openxmlformats.org/drawingml/2006/main">
              <a:ext uri="{FF2B5EF4-FFF2-40B4-BE49-F238E27FC236}">
                <a16:creationId xmlns:a16="http://schemas.microsoft.com/office/drawing/2014/main" id="{9B3580A7-5C1D-4487-80F5-CAAD56194832}"/>
              </a:ext>
            </a:extLst>
          </p:cNvPr>
          <p:cNvSpPr>
            <a:spLocks xmlns:a="http://schemas.openxmlformats.org/drawingml/2006/main" noGrp="1"/>
          </p:cNvSpPr>
          <p:nvPr/>
        </p:nvSpPr>
        <p:spPr>
          <a:xfrm xmlns:a="http://schemas.openxmlformats.org/drawingml/2006/main">
            <a:off x="11430000" y="64293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125" b="0">
                <a:solidFill>
                  <a:srgbClr val="62728A"/>
                </a:solidFill>
                <a:latin typeface="Calibri"/>
                <a:ea typeface="Calibri"/>
                <a:cs typeface="Calibri"/>
              </a:defRPr>
            </a:pPr>
            <a:r>
              <a:rPr sz="1125" b="0">
                <a:solidFill>
                  <a:srgbClr val="62728A"/>
                </a:solidFill>
                <a:latin typeface="Calibri"/>
                <a:ea typeface="Calibri"/>
                <a:cs typeface="Calibri"/>
              </a:rPr>
              <a:t>34</a:t>
            </a:r>
          </a:p>
        </p:txBody>
      </p:sp>
      <p:sp>
        <p:nvSpPr>
          <p:cNvPr id="7" name="watch-label">
            <a:extLst xmlns:a="http://schemas.openxmlformats.org/drawingml/2006/main">
              <a:ext uri="{FF2B5EF4-FFF2-40B4-BE49-F238E27FC236}">
                <a16:creationId xmlns:a16="http://schemas.microsoft.com/office/drawing/2014/main" id="{928083BA-CAA0-48DB-89C7-8F1E9434E2A1}"/>
              </a:ext>
            </a:extLst>
          </p:cNvPr>
          <p:cNvSpPr>
            <a:spLocks xmlns:a="http://schemas.openxmlformats.org/drawingml/2006/main" noGrp="1"/>
          </p:cNvSpPr>
          <p:nvPr/>
        </p:nvSpPr>
        <p:spPr>
          <a:xfrm xmlns:a="http://schemas.openxmlformats.org/drawingml/2006/main">
            <a:off x="514350" y="200025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FF701B"/>
                </a:solidFill>
                <a:latin typeface="Calibri"/>
                <a:ea typeface="Calibri"/>
                <a:cs typeface="Calibri"/>
              </a:defRPr>
            </a:pPr>
            <a:r>
              <a:rPr sz="1425" b="1">
                <a:solidFill>
                  <a:srgbClr val="FF701B"/>
                </a:solidFill>
                <a:latin typeface="Calibri"/>
                <a:ea typeface="Calibri"/>
                <a:cs typeface="Calibri"/>
              </a:rPr>
              <a:t>TONTON</a:t>
            </a:r>
          </a:p>
        </p:txBody>
      </p:sp>
      <p:sp>
        <p:nvSpPr>
          <p:cNvPr id="8" name="video-link">
            <a:extLst xmlns:a="http://schemas.openxmlformats.org/drawingml/2006/main">
              <a:ext uri="{FF2B5EF4-FFF2-40B4-BE49-F238E27FC236}">
                <a16:creationId xmlns:a16="http://schemas.microsoft.com/office/drawing/2014/main" id="{E1171308-B4C2-497E-BA86-99367150F07D}"/>
              </a:ext>
            </a:extLst>
          </p:cNvPr>
          <p:cNvSpPr>
            <a:spLocks xmlns:a="http://schemas.openxmlformats.org/drawingml/2006/main" noGrp="1"/>
          </p:cNvSpPr>
          <p:nvPr/>
        </p:nvSpPr>
        <p:spPr>
          <a:xfrm xmlns:a="http://schemas.openxmlformats.org/drawingml/2006/main">
            <a:off x="514350" y="2352675"/>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b="0">
                <a:solidFill>
                  <a:srgbClr val="1477D4"/>
                </a:solidFill>
                <a:latin typeface="Calibri"/>
                <a:ea typeface="Calibri"/>
                <a:cs typeface="Calibri"/>
              </a:defRPr>
            </a:pPr>
            <a:r>
              <a:rPr sz="1725" u="sng">
                <a:solidFill>
                  <a:srgbClr val="1477D4"/>
                </a:solidFill>
                <a:latin typeface="Calibri"/>
                <a:ea typeface="Calibri"/>
                <a:cs typeface="Calibri"/>
                <a:hlinkClick xmlns:r="http://schemas.openxmlformats.org/officeDocument/2006/relationships" r:id="Rf54c405dedd64aed"/>
              </a:rPr>
              <a:t>Microsoft Learn: Bash for Beginners (seri video)</a:t>
            </a:r>
          </a:p>
        </p:txBody>
      </p:sp>
      <p:sp>
        <p:nvSpPr>
          <p:cNvPr id="9" name="video-why">
            <a:extLst xmlns:a="http://schemas.openxmlformats.org/drawingml/2006/main">
              <a:ext uri="{FF2B5EF4-FFF2-40B4-BE49-F238E27FC236}">
                <a16:creationId xmlns:a16="http://schemas.microsoft.com/office/drawing/2014/main" id="{E3213C64-59E4-49D5-88CF-4EFA54549DB4}"/>
              </a:ext>
            </a:extLst>
          </p:cNvPr>
          <p:cNvSpPr>
            <a:spLocks xmlns:a="http://schemas.openxmlformats.org/drawingml/2006/main" noGrp="1"/>
          </p:cNvSpPr>
          <p:nvPr/>
        </p:nvSpPr>
        <p:spPr>
          <a:xfrm xmlns:a="http://schemas.openxmlformats.org/drawingml/2006/main">
            <a:off x="514350" y="2762250"/>
            <a:ext cx="628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b="0">
                <a:solidFill>
                  <a:srgbClr val="13243B"/>
                </a:solidFill>
                <a:latin typeface="Calibri"/>
                <a:ea typeface="Calibri"/>
                <a:cs typeface="Calibri"/>
              </a:defRPr>
            </a:pPr>
            <a:r>
              <a:rPr sz="1500" b="0">
                <a:solidFill>
                  <a:srgbClr val="13243B"/>
                </a:solidFill>
                <a:latin typeface="Calibri"/>
                <a:ea typeface="Calibri"/>
                <a:cs typeface="Calibri"/>
              </a:rPr>
              <a:t>Amati variabel, pipe, dan exit code sebelum mengedit skrip Bash pada Lab 02.</a:t>
            </a:r>
          </a:p>
        </p:txBody>
      </p:sp>
      <p:sp>
        <p:nvSpPr>
          <p:cNvPr id="10" name="read-label">
            <a:extLst xmlns:a="http://schemas.openxmlformats.org/drawingml/2006/main">
              <a:ext uri="{FF2B5EF4-FFF2-40B4-BE49-F238E27FC236}">
                <a16:creationId xmlns:a16="http://schemas.microsoft.com/office/drawing/2014/main" id="{36ADC04F-B3E2-4D6C-AF43-4E735464FFC8}"/>
              </a:ext>
            </a:extLst>
          </p:cNvPr>
          <p:cNvSpPr>
            <a:spLocks xmlns:a="http://schemas.openxmlformats.org/drawingml/2006/main" noGrp="1"/>
          </p:cNvSpPr>
          <p:nvPr/>
        </p:nvSpPr>
        <p:spPr>
          <a:xfrm xmlns:a="http://schemas.openxmlformats.org/drawingml/2006/main">
            <a:off x="514350" y="352425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FF701B"/>
                </a:solidFill>
                <a:latin typeface="Calibri"/>
                <a:ea typeface="Calibri"/>
                <a:cs typeface="Calibri"/>
              </a:defRPr>
            </a:pPr>
            <a:r>
              <a:rPr sz="1425" b="1">
                <a:solidFill>
                  <a:srgbClr val="FF701B"/>
                </a:solidFill>
                <a:latin typeface="Calibri"/>
                <a:ea typeface="Calibri"/>
                <a:cs typeface="Calibri"/>
              </a:rPr>
              <a:t>BACA</a:t>
            </a:r>
          </a:p>
        </p:txBody>
      </p:sp>
      <p:sp>
        <p:nvSpPr>
          <p:cNvPr id="11" name="article-link">
            <a:extLst xmlns:a="http://schemas.openxmlformats.org/drawingml/2006/main">
              <a:ext uri="{FF2B5EF4-FFF2-40B4-BE49-F238E27FC236}">
                <a16:creationId xmlns:a16="http://schemas.microsoft.com/office/drawing/2014/main" id="{A9FCCE11-BC89-477D-9A48-D3C6C63E83F6}"/>
              </a:ext>
            </a:extLst>
          </p:cNvPr>
          <p:cNvSpPr>
            <a:spLocks xmlns:a="http://schemas.openxmlformats.org/drawingml/2006/main" noGrp="1"/>
          </p:cNvSpPr>
          <p:nvPr/>
        </p:nvSpPr>
        <p:spPr>
          <a:xfrm xmlns:a="http://schemas.openxmlformats.org/drawingml/2006/main">
            <a:off x="514350" y="3867150"/>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b="0">
                <a:solidFill>
                  <a:srgbClr val="1477D4"/>
                </a:solidFill>
                <a:latin typeface="Calibri"/>
                <a:ea typeface="Calibri"/>
                <a:cs typeface="Calibri"/>
              </a:defRPr>
            </a:pPr>
            <a:r>
              <a:rPr sz="1725" u="sng">
                <a:solidFill>
                  <a:srgbClr val="1477D4"/>
                </a:solidFill>
                <a:latin typeface="Calibri"/>
                <a:ea typeface="Calibri"/>
                <a:cs typeface="Calibri"/>
                <a:hlinkClick xmlns:r="http://schemas.openxmlformats.org/officeDocument/2006/relationships" r:id="Rea3fcba2ee244377"/>
              </a:rPr>
              <a:t>Microsoft Learn: Linux di WSL (panduan)</a:t>
            </a:r>
          </a:p>
        </p:txBody>
      </p:sp>
      <p:sp>
        <p:nvSpPr>
          <p:cNvPr id="12" name="extra-link">
            <a:extLst xmlns:a="http://schemas.openxmlformats.org/drawingml/2006/main">
              <a:ext uri="{FF2B5EF4-FFF2-40B4-BE49-F238E27FC236}">
                <a16:creationId xmlns:a16="http://schemas.microsoft.com/office/drawing/2014/main" id="{B1C6D1E5-9A47-4385-9853-F18D71845910}"/>
              </a:ext>
            </a:extLst>
          </p:cNvPr>
          <p:cNvSpPr>
            <a:spLocks xmlns:a="http://schemas.openxmlformats.org/drawingml/2006/main" noGrp="1"/>
          </p:cNvSpPr>
          <p:nvPr/>
        </p:nvSpPr>
        <p:spPr>
          <a:xfrm xmlns:a="http://schemas.openxmlformats.org/drawingml/2006/main">
            <a:off x="514350" y="4381500"/>
            <a:ext cx="647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b="0">
                <a:solidFill>
                  <a:srgbClr val="1477D4"/>
                </a:solidFill>
                <a:latin typeface="Calibri"/>
                <a:ea typeface="Calibri"/>
                <a:cs typeface="Calibri"/>
              </a:defRPr>
            </a:pPr>
            <a:r>
              <a:rPr sz="1500" u="sng">
                <a:solidFill>
                  <a:srgbClr val="1477D4"/>
                </a:solidFill>
                <a:latin typeface="Calibri"/>
                <a:ea typeface="Calibri"/>
                <a:cs typeface="Calibri"/>
                <a:hlinkClick xmlns:r="http://schemas.openxmlformats.org/officeDocument/2006/relationships" r:id="R86900fee7b3e4974"/>
              </a:rPr>
              <a:t>GNU Bash Reference Manual</a:t>
            </a:r>
          </a:p>
        </p:txBody>
      </p:sp>
      <p:sp>
        <p:nvSpPr>
          <p:cNvPr id="13" name="try-label">
            <a:extLst xmlns:a="http://schemas.openxmlformats.org/drawingml/2006/main">
              <a:ext uri="{FF2B5EF4-FFF2-40B4-BE49-F238E27FC236}">
                <a16:creationId xmlns:a16="http://schemas.microsoft.com/office/drawing/2014/main" id="{04ACA6C0-5243-4DE7-A67C-3EF96D5013CA}"/>
              </a:ext>
            </a:extLst>
          </p:cNvPr>
          <p:cNvSpPr>
            <a:spLocks xmlns:a="http://schemas.openxmlformats.org/drawingml/2006/main" noGrp="1"/>
          </p:cNvSpPr>
          <p:nvPr/>
        </p:nvSpPr>
        <p:spPr>
          <a:xfrm xmlns:a="http://schemas.openxmlformats.org/drawingml/2006/main">
            <a:off x="7286625" y="20002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FF701B"/>
                </a:solidFill>
                <a:latin typeface="Calibri"/>
                <a:ea typeface="Calibri"/>
                <a:cs typeface="Calibri"/>
              </a:defRPr>
            </a:pPr>
            <a:r>
              <a:rPr sz="1425" b="1">
                <a:solidFill>
                  <a:srgbClr val="FF701B"/>
                </a:solidFill>
                <a:latin typeface="Calibri"/>
                <a:ea typeface="Calibri"/>
                <a:cs typeface="Calibri"/>
              </a:rPr>
              <a:t>COBA 5 MENIT</a:t>
            </a:r>
          </a:p>
        </p:txBody>
      </p:sp>
      <p:sp>
        <p:nvSpPr>
          <p:cNvPr id="14" name="code-lines">
            <a:extLst xmlns:a="http://schemas.openxmlformats.org/drawingml/2006/main">
              <a:ext uri="{FF2B5EF4-FFF2-40B4-BE49-F238E27FC236}">
                <a16:creationId xmlns:a16="http://schemas.microsoft.com/office/drawing/2014/main" id="{70AD101E-5D1A-436D-8BE9-D5F4845EA5AE}"/>
              </a:ext>
            </a:extLst>
          </p:cNvPr>
          <p:cNvSpPr>
            <a:spLocks xmlns:a="http://schemas.openxmlformats.org/drawingml/2006/main" noGrp="1"/>
          </p:cNvSpPr>
          <p:nvPr/>
        </p:nvSpPr>
        <p:spPr>
          <a:xfrm xmlns:a="http://schemas.openxmlformats.org/drawingml/2006/main">
            <a:off x="7286625" y="2352675"/>
            <a:ext cx="4286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650" b="1">
                <a:solidFill>
                  <a:srgbClr val="031D5B"/>
                </a:solidFill>
                <a:latin typeface="Calibri"/>
                <a:ea typeface="Calibri"/>
                <a:cs typeface="Calibri"/>
              </a:defRPr>
            </a:pPr>
            <a:r>
              <a:rPr sz="1650" b="1">
                <a:solidFill>
                  <a:srgbClr val="031D5B"/>
                </a:solidFill>
                <a:latin typeface="Calibri"/>
                <a:ea typeface="Calibri"/>
                <a:cs typeface="Calibri"/>
              </a:rPr>
              <a:t>bash scripts/setup.sh</a:t>
            </a:r>
          </a:p>
          <a:p xmlns:a="http://schemas.openxmlformats.org/drawingml/2006/main">
            <a:pPr>
              <a:defRPr sz="1650" b="1">
                <a:solidFill>
                  <a:srgbClr val="031D5B"/>
                </a:solidFill>
                <a:latin typeface="Calibri"/>
                <a:ea typeface="Calibri"/>
                <a:cs typeface="Calibri"/>
              </a:defRPr>
            </a:pPr>
            <a:r>
              <a:rPr sz="1650" b="1">
                <a:solidFill>
                  <a:srgbClr val="031D5B"/>
                </a:solidFill>
                <a:latin typeface="Calibri"/>
                <a:ea typeface="Calibri"/>
                <a:cs typeface="Calibri"/>
              </a:rPr>
              <a:t>bash scripts/inspect.sh</a:t>
            </a:r>
          </a:p>
          <a:p xmlns:a="http://schemas.openxmlformats.org/drawingml/2006/main">
            <a:pPr>
              <a:defRPr sz="1650" b="1">
                <a:solidFill>
                  <a:srgbClr val="031D5B"/>
                </a:solidFill>
                <a:latin typeface="Calibri"/>
                <a:ea typeface="Calibri"/>
                <a:cs typeface="Calibri"/>
              </a:defRPr>
            </a:pPr>
            <a:r>
              <a:rPr sz="1650" b="1">
                <a:solidFill>
                  <a:srgbClr val="031D5B"/>
                </a:solidFill>
                <a:latin typeface="Calibri"/>
                <a:ea typeface="Calibri"/>
                <a:cs typeface="Calibri"/>
              </a:rPr>
              <a:t>grep 'ERROR' workspace/logs/app.log</a:t>
            </a:r>
          </a:p>
        </p:txBody>
      </p:sp>
      <p:sp>
        <p:nvSpPr>
          <p:cNvPr id="15" name="code-explain">
            <a:extLst xmlns:a="http://schemas.openxmlformats.org/drawingml/2006/main">
              <a:ext uri="{FF2B5EF4-FFF2-40B4-BE49-F238E27FC236}">
                <a16:creationId xmlns:a16="http://schemas.microsoft.com/office/drawing/2014/main" id="{EF71E996-5F0A-4246-9953-016A6679CB6C}"/>
              </a:ext>
            </a:extLst>
          </p:cNvPr>
          <p:cNvSpPr>
            <a:spLocks xmlns:a="http://schemas.openxmlformats.org/drawingml/2006/main" noGrp="1"/>
          </p:cNvSpPr>
          <p:nvPr/>
        </p:nvSpPr>
        <p:spPr>
          <a:xfrm xmlns:a="http://schemas.openxmlformats.org/drawingml/2006/main">
            <a:off x="7286625" y="4171950"/>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0">
                <a:solidFill>
                  <a:srgbClr val="13243B"/>
                </a:solidFill>
                <a:latin typeface="Calibri"/>
                <a:ea typeface="Calibri"/>
                <a:cs typeface="Calibri"/>
              </a:defRPr>
            </a:pPr>
            <a:r>
              <a:rPr sz="1425" b="0">
                <a:solidFill>
                  <a:srgbClr val="13243B"/>
                </a:solidFill>
                <a:latin typeface="Calibri"/>
                <a:ea typeface="Calibri"/>
                <a:cs typeface="Calibri"/>
              </a:rPr>
              <a:t>Setup membuat data latihan; inspect membaca; grep menyaring baris ERROR.</a:t>
            </a:r>
          </a:p>
        </p:txBody>
      </p:sp>
      <p:sp>
        <p:nvSpPr>
          <p:cNvPr id="16" name="repo-label">
            <a:extLst xmlns:a="http://schemas.openxmlformats.org/drawingml/2006/main">
              <a:ext uri="{FF2B5EF4-FFF2-40B4-BE49-F238E27FC236}">
                <a16:creationId xmlns:a16="http://schemas.microsoft.com/office/drawing/2014/main" id="{617D8B6F-BA45-461A-9A04-D7428B1B3C63}"/>
              </a:ext>
            </a:extLst>
          </p:cNvPr>
          <p:cNvSpPr>
            <a:spLocks xmlns:a="http://schemas.openxmlformats.org/drawingml/2006/main" noGrp="1"/>
          </p:cNvSpPr>
          <p:nvPr/>
        </p:nvSpPr>
        <p:spPr>
          <a:xfrm xmlns:a="http://schemas.openxmlformats.org/drawingml/2006/main">
            <a:off x="514350" y="5343525"/>
            <a:ext cx="381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FF701B"/>
                </a:solidFill>
                <a:latin typeface="Calibri"/>
                <a:ea typeface="Calibri"/>
                <a:cs typeface="Calibri"/>
              </a:defRPr>
            </a:pPr>
            <a:r>
              <a:rPr sz="1350" b="1">
                <a:solidFill>
                  <a:srgbClr val="FF701B"/>
                </a:solidFill>
                <a:latin typeface="Calibri"/>
                <a:ea typeface="Calibri"/>
                <a:cs typeface="Calibri"/>
              </a:rPr>
              <a:t>MODUL DAN KODE LAB</a:t>
            </a:r>
          </a:p>
        </p:txBody>
      </p:sp>
      <p:sp>
        <p:nvSpPr>
          <p:cNvPr id="17" name="repo-link">
            <a:extLst xmlns:a="http://schemas.openxmlformats.org/drawingml/2006/main">
              <a:ext uri="{FF2B5EF4-FFF2-40B4-BE49-F238E27FC236}">
                <a16:creationId xmlns:a16="http://schemas.microsoft.com/office/drawing/2014/main" id="{5FE81A4A-8989-46C1-8A94-74508AD526E7}"/>
              </a:ext>
            </a:extLst>
          </p:cNvPr>
          <p:cNvSpPr>
            <a:spLocks xmlns:a="http://schemas.openxmlformats.org/drawingml/2006/main" noGrp="1"/>
          </p:cNvSpPr>
          <p:nvPr/>
        </p:nvSpPr>
        <p:spPr>
          <a:xfrm xmlns:a="http://schemas.openxmlformats.org/drawingml/2006/main">
            <a:off x="514350" y="5657850"/>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b="0">
                <a:solidFill>
                  <a:srgbClr val="1477D4"/>
                </a:solidFill>
                <a:latin typeface="Calibri"/>
                <a:ea typeface="Calibri"/>
                <a:cs typeface="Calibri"/>
              </a:defRPr>
            </a:pPr>
            <a:r>
              <a:rPr sz="1725" u="sng">
                <a:solidFill>
                  <a:srgbClr val="1477D4"/>
                </a:solidFill>
                <a:latin typeface="Calibri"/>
                <a:ea typeface="Calibri"/>
                <a:cs typeface="Calibri"/>
                <a:hlinkClick xmlns:r="http://schemas.openxmlformats.org/officeDocument/2006/relationships" r:id="Rbb72e6dea0ac4cfa"/>
              </a:rPr>
              <a:t>github.com/SeedFlora/meet2CloudService</a:t>
            </a:r>
          </a:p>
        </p:txBody>
      </p:sp>
    </p:spTree>
    <p:extLst>
      <p:ext uri="{BB962C8B-B14F-4D97-AF65-F5344CB8AC3E}">
        <p14:creationId xmlns:p14="http://schemas.microsoft.com/office/powerpoint/2010/main" val="25119440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2026-10-07T19:08:35.9160000Z</dcterms:created>
  <dcterms:modified xsi:type="dcterms:W3CDTF">2026-10-07T19:08:35.9160000Z</dcterms:modified>
</coreProperties>
</file>